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开场定位：这是 AI + 储能决策问题。不要把 LightGBM 说成创新。过渡：既然预测服务于决策，传统预测指标是否真的能选出更好的储能方案？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用这一页制造核心张力。只说“在冻结项目范围内出现排序反转”，不说预测精度无关，也不把很小的差异升级为普遍因果机制。下一页解释预测如何进入调度链。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让 AI 与电气评委建立共同心智模型：历史负荷→次日预测→受约束电池调度→真实削峰结果。概念图不是实验结果。过渡：既然下游目标不同，模型选择标准也要重新对齐。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这一页只讲一个改变：selection criterion。组件预测不变，电池约束不变。DOEF 不是联合训练、双层优化或新的 LightGBM。下一页给完整冻结信息流。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算法只解释一次。强调三段：Train 拟合组件；Validation 把候选权重送入同一电池优化，以 mean daily regret 选择并冻结；Test 只报告。Oracle 只作不可部署 hindsight 上界。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这是最强结果页。先落 6.36% 与 3.61%，再落 6/2/0。主动指出最差建筑 peak reduction 为 -1.017%，负结果没有被删。不要说 SOTA、普适最优、经济收益。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用“回答不同问题”化解 M02 的反转，避免讲成“峰时误差一定导致 regret”这种未经证明的普遍机制。核心句：预测指标仍然必要，但下游工程评价不能缺席。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用完整 8 栋反驳单楼/挑楼质疑。强调选楼不看 Validation/Test 性能，只基于质量和 Train 期形态。证据只支持固定范围的 multi-building robustness，不支持 unseen-building transfer。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这页专门防“你们是不是看 Test 调出来的？”权重只在 Validation 选，并在 Test 前冻结。也不要说 Test 从未被历史阶段看过，只能说 Phase 8/DOEF 选择不使用 Test。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把方法翻译成工程工作流：第二天怎么从历史数据走到调度。明确“repeatable workflow ≠ field deployment”，不声称工业实时验证。下一页提炼创新。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创新表述必须守边界：基础预测器不是创新，普通线性加权也不是创新。创新是 Validation 下游 regret 选权重 + 冻结信息边界 + 全八栋证据 + 同一储能评价链。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只收束，不引入新结果。最后一句：对储能削峰这样的下游任务，评价预测模型时应同时看预测误差和它支持的工程决策。停在这里，进入评委提问。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Q&amp;A：解释 296→82→8。强调模型成绩没有参与选楼。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_DARK">
    <p:bg>
      <p:bgPr>
        <a:solidFill>
          <a:srgbClr val="0711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4C7FF"/>
          </a:solidFill>
          <a:ln w="12700">
            <a:solidFill>
              <a:srgbClr val="24C7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F829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_LIGHT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677FF"/>
          </a:solidFill>
          <a:ln w="12700">
            <a:solidFill>
              <a:srgbClr val="1677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8A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PENDIX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6F4E9C"/>
          </a:solidFill>
          <a:ln w="12700">
            <a:solidFill>
              <a:srgbClr val="6F4E9C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8A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F829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24C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SB-M01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890A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OPENING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594360" y="1143000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900" b="1" spc="100" kern="0" dirty="0">
                <a:solidFill>
                  <a:srgbClr val="24C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DOEF</a:t>
            </a:r>
            <a:endParaRPr lang="en-US" sz="4900" dirty="0"/>
          </a:p>
        </p:txBody>
      </p:sp>
      <p:sp>
        <p:nvSpPr>
          <p:cNvPr id="5" name="Text 3"/>
          <p:cNvSpPr/>
          <p:nvPr/>
        </p:nvSpPr>
        <p:spPr>
          <a:xfrm>
            <a:off x="594360" y="1993392"/>
            <a:ext cx="5852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让负荷预测服务于</a:t>
            </a:r>
            <a:endParaRPr lang="en-US" sz="3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储能削峰决策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12648" y="36576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6C5D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面向储能决策的集成负荷预测方法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20840" y="1170432"/>
            <a:ext cx="4709160" cy="4297680"/>
          </a:xfrm>
          <a:prstGeom prst="roundRect">
            <a:avLst>
              <a:gd name="adj" fmla="val 2553"/>
            </a:avLst>
          </a:prstGeom>
          <a:solidFill>
            <a:srgbClr val="0D1F33">
              <a:alpha val="98000"/>
            </a:srgbClr>
          </a:solidFill>
          <a:ln w="12700">
            <a:solidFill>
              <a:srgbClr val="1D3A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86600" y="1965960"/>
            <a:ext cx="932688" cy="932688"/>
          </a:xfrm>
          <a:prstGeom prst="ellipse">
            <a:avLst/>
          </a:prstGeom>
          <a:solidFill>
            <a:srgbClr val="D55E00">
              <a:alpha val="18000"/>
            </a:srgbClr>
          </a:solidFill>
          <a:ln w="25400">
            <a:solidFill>
              <a:srgbClr val="D55E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78040" y="2212848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55E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24h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949440" y="3090672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负荷预测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522208" y="1965960"/>
            <a:ext cx="932688" cy="932688"/>
          </a:xfrm>
          <a:prstGeom prst="ellipse">
            <a:avLst/>
          </a:prstGeom>
          <a:solidFill>
            <a:srgbClr val="6F4E9C">
              <a:alpha val="18000"/>
            </a:srgbClr>
          </a:solidFill>
          <a:ln w="25400">
            <a:solidFill>
              <a:srgbClr val="6F4E9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13648" y="2212848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85048" y="3090672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约束调度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948672" y="1965960"/>
            <a:ext cx="932688" cy="932688"/>
          </a:xfrm>
          <a:prstGeom prst="ellipse">
            <a:avLst/>
          </a:prstGeom>
          <a:solidFill>
            <a:srgbClr val="24C7FF">
              <a:alpha val="18000"/>
            </a:srgbClr>
          </a:solidFill>
          <a:ln w="25400">
            <a:solidFill>
              <a:srgbClr val="24C7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40112" y="2212848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C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811512" y="3090672"/>
            <a:ext cx="1207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实际削峰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37576" y="2432304"/>
            <a:ext cx="402336" cy="0"/>
          </a:xfrm>
          <a:prstGeom prst="line">
            <a:avLst/>
          </a:prstGeom>
          <a:noFill/>
          <a:ln w="25400">
            <a:solidFill>
              <a:srgbClr val="54728C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464040" y="2432304"/>
            <a:ext cx="402336" cy="0"/>
          </a:xfrm>
          <a:prstGeom prst="line">
            <a:avLst/>
          </a:prstGeom>
          <a:noFill/>
          <a:ln w="25400">
            <a:solidFill>
              <a:srgbClr val="54728C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059168" y="4608576"/>
            <a:ext cx="0" cy="164592"/>
          </a:xfrm>
          <a:prstGeom prst="line">
            <a:avLst/>
          </a:prstGeom>
          <a:noFill/>
          <a:ln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4460128"/>
            <a:ext cx="0" cy="461488"/>
          </a:xfrm>
          <a:prstGeom prst="line">
            <a:avLst/>
          </a:prstGeom>
          <a:noFill/>
          <a:ln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0" y="4408208"/>
            <a:ext cx="0" cy="565328"/>
          </a:xfrm>
          <a:prstGeom prst="line">
            <a:avLst/>
          </a:prstGeom>
          <a:noFill/>
          <a:ln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91856" y="4486577"/>
            <a:ext cx="0" cy="408590"/>
          </a:xfrm>
          <a:prstGeom prst="line">
            <a:avLst/>
          </a:prstGeom>
          <a:noFill/>
          <a:ln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302752" y="4572876"/>
            <a:ext cx="0" cy="235992"/>
          </a:xfrm>
          <a:prstGeom prst="line">
            <a:avLst/>
          </a:prstGeom>
          <a:noFill/>
          <a:ln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13648" y="4438391"/>
            <a:ext cx="0" cy="504962"/>
          </a:xfrm>
          <a:prstGeom prst="line">
            <a:avLst/>
          </a:prstGeom>
          <a:noFill/>
          <a:ln w="25400">
            <a:solidFill>
              <a:srgbClr val="32647D">
                <a:alpha val="6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24544" y="4414569"/>
            <a:ext cx="0" cy="552607"/>
          </a:xfrm>
          <a:prstGeom prst="line">
            <a:avLst/>
          </a:prstGeom>
          <a:noFill/>
          <a:ln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35440" y="4516899"/>
            <a:ext cx="0" cy="347946"/>
          </a:xfrm>
          <a:prstGeom prst="line">
            <a:avLst/>
          </a:prstGeom>
          <a:noFill/>
          <a:ln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546336" y="4538310"/>
            <a:ext cx="0" cy="305124"/>
          </a:xfrm>
          <a:prstGeom prst="line">
            <a:avLst/>
          </a:prstGeom>
          <a:noFill/>
          <a:ln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57232" y="4422057"/>
            <a:ext cx="0" cy="537630"/>
          </a:xfrm>
          <a:prstGeom prst="line">
            <a:avLst/>
          </a:prstGeom>
          <a:noFill/>
          <a:ln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168128" y="4427088"/>
            <a:ext cx="0" cy="527568"/>
          </a:xfrm>
          <a:prstGeom prst="line">
            <a:avLst/>
          </a:prstGeom>
          <a:noFill/>
          <a:ln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479024" y="4550131"/>
            <a:ext cx="0" cy="281482"/>
          </a:xfrm>
          <a:prstGeom prst="line">
            <a:avLst/>
          </a:prstGeom>
          <a:noFill/>
          <a:ln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789920" y="4505974"/>
            <a:ext cx="0" cy="369796"/>
          </a:xfrm>
          <a:prstGeom prst="line">
            <a:avLst/>
          </a:prstGeom>
          <a:noFill/>
          <a:ln w="25400">
            <a:solidFill>
              <a:srgbClr val="24C7FF">
                <a:alpha val="9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205472" y="3803904"/>
            <a:ext cx="3584448" cy="292608"/>
          </a:xfrm>
          <a:prstGeom prst="roundRect">
            <a:avLst>
              <a:gd name="adj" fmla="val 18750"/>
            </a:avLst>
          </a:prstGeom>
          <a:solidFill>
            <a:srgbClr val="173A54"/>
          </a:solidFill>
          <a:ln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78624" y="3845052"/>
            <a:ext cx="3438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4C7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预测是输入，不是终点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150608" y="4270248"/>
            <a:ext cx="3703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20" dirty="0">
                <a:solidFill>
                  <a:srgbClr val="9EB3C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24 小时前瞻预测  →  冻结电池优化  →  实际负荷上的决策结果</a:t>
            </a:r>
            <a:endParaRPr lang="en-US" sz="1120" dirty="0"/>
          </a:p>
        </p:txBody>
      </p:sp>
      <p:sp>
        <p:nvSpPr>
          <p:cNvPr id="35" name="Text 33"/>
          <p:cNvSpPr/>
          <p:nvPr/>
        </p:nvSpPr>
        <p:spPr>
          <a:xfrm>
            <a:off x="621792" y="5989320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47B9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工作标题 · 正式赛题名称待核验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F82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SB-M01 · 固定 8 栋办公建筑 · Validation 选规则 · Test 仅评估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F829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SB-M02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A88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TENSION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566928" y="4754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更低的预测 RMSE，并未带来更低的储能决策 regret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10789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C68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冻结八栋建筑 Test 汇总中，XGBoost 与 LightGBM 在预测误差与决策 regret 上出现排序反转。</a:t>
            </a:r>
            <a:endParaRPr lang="en-US" sz="1240" dirty="0"/>
          </a:p>
        </p:txBody>
      </p:sp>
      <p:sp>
        <p:nvSpPr>
          <p:cNvPr id="6" name="Shape 4"/>
          <p:cNvSpPr/>
          <p:nvPr/>
        </p:nvSpPr>
        <p:spPr>
          <a:xfrm>
            <a:off x="585216" y="1490472"/>
            <a:ext cx="8366760" cy="4425696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19050" dist="50800" dir="2700000">
              <a:srgbClr val="000000">
                <a:alpha val="16000"/>
              </a:srgbClr>
            </a:outerShdw>
          </a:effectLst>
        </p:spPr>
      </p:sp>
      <p:pic>
        <p:nvPicPr>
          <p:cNvPr id="7" name="Image 0" descr="/home/runner/work/zhichu-yunkong/zhichu-yunkong/outputs/phase13_1/figures/sci_01_forecast_decision_misma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180" y="1545336"/>
            <a:ext cx="7672832" cy="431596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217152" y="1490472"/>
            <a:ext cx="2395728" cy="4425696"/>
          </a:xfrm>
          <a:prstGeom prst="roundRect">
            <a:avLst>
              <a:gd name="adj" fmla="val 3435"/>
            </a:avLst>
          </a:prstGeom>
          <a:solidFill>
            <a:srgbClr val="0B192B"/>
          </a:solidFill>
          <a:ln w="10160">
            <a:solidFill>
              <a:srgbClr val="0B19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491472" y="1783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4C7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核心矛盾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9491472" y="22402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FC4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491472" y="2532888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E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XGBoost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9E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0.216751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9491472" y="33467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dirty="0">
                <a:solidFill>
                  <a:srgbClr val="AFC4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regret</a:t>
            </a:r>
            <a:endParaRPr lang="en-US" sz="1130" dirty="0"/>
          </a:p>
        </p:txBody>
      </p:sp>
      <p:sp>
        <p:nvSpPr>
          <p:cNvPr id="13" name="Text 10"/>
          <p:cNvSpPr/>
          <p:nvPr/>
        </p:nvSpPr>
        <p:spPr>
          <a:xfrm>
            <a:off x="9491472" y="365760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55E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LightGBM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55E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0.116127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9464040" y="4517136"/>
            <a:ext cx="1783080" cy="0"/>
          </a:xfrm>
          <a:prstGeom prst="line">
            <a:avLst/>
          </a:prstGeom>
          <a:noFill/>
          <a:ln w="12700">
            <a:solidFill>
              <a:srgbClr val="31506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491472" y="4736592"/>
            <a:ext cx="17190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7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同一个“更准”</a:t>
            </a:r>
            <a:endParaRPr lang="en-US" sz="1170" dirty="0"/>
          </a:p>
          <a:p>
            <a:pPr indent="0" marL="0">
              <a:buNone/>
            </a:pPr>
            <a:r>
              <a:rPr lang="en-US" sz="117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不一定意味着同一个“更好调度”</a:t>
            </a:r>
            <a:endParaRPr lang="en-US" sz="1170" dirty="0"/>
          </a:p>
        </p:txBody>
      </p:sp>
      <p:sp>
        <p:nvSpPr>
          <p:cNvPr id="16" name="Shape 13"/>
          <p:cNvSpPr/>
          <p:nvPr/>
        </p:nvSpPr>
        <p:spPr>
          <a:xfrm>
            <a:off x="9400032" y="5504688"/>
            <a:ext cx="1993392" cy="292608"/>
          </a:xfrm>
          <a:prstGeom prst="roundRect">
            <a:avLst>
              <a:gd name="adj" fmla="val 18750"/>
            </a:avLst>
          </a:prstGeom>
          <a:solidFill>
            <a:srgbClr val="40291B"/>
          </a:solidFill>
          <a:ln w="12700">
            <a:solidFill>
              <a:srgbClr val="73513C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473184" y="5545836"/>
            <a:ext cx="18470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C49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范围内反例 ≠ 预测精度无用</a:t>
            </a:r>
            <a:endParaRPr lang="en-US" sz="730" dirty="0"/>
          </a:p>
        </p:txBody>
      </p:sp>
      <p:sp>
        <p:nvSpPr>
          <p:cNvPr id="18" name="Text 15"/>
          <p:cNvSpPr/>
          <p:nvPr/>
        </p:nvSpPr>
        <p:spPr>
          <a:xfrm>
            <a:off x="566928" y="6153912"/>
            <a:ext cx="10744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97A2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source: outputs/phase13_1/figures/sci_01_forecast_decision_mismatch.png · Phase 9 final benchmark</a:t>
            </a:r>
            <a:endParaRPr lang="en-US" sz="67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996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SB-M02 · 固定 8 栋办公建筑 · Validation 选规则 · Test 仅评估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8A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24C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SB-M03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890A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566928" y="4754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预测只是中间环节，调度结果才是工程终点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85216" y="10789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DB0C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负荷预测会改变储能充放电计划；最终评价发生在真实负荷与电池动作叠加后的结果上。</a:t>
            </a:r>
            <a:endParaRPr lang="en-US" sz="1240" dirty="0"/>
          </a:p>
        </p:txBody>
      </p:sp>
      <p:sp>
        <p:nvSpPr>
          <p:cNvPr id="6" name="Shape 4"/>
          <p:cNvSpPr/>
          <p:nvPr/>
        </p:nvSpPr>
        <p:spPr>
          <a:xfrm>
            <a:off x="694944" y="1545336"/>
            <a:ext cx="10808208" cy="3968496"/>
          </a:xfrm>
          <a:prstGeom prst="roundRect">
            <a:avLst>
              <a:gd name="adj" fmla="val 2074"/>
            </a:avLst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241935000" dist="645160000" dir="162000000000">
              <a:srgbClr val="000000">
                <a:alpha val="1600000000"/>
              </a:srgbClr>
            </a:outerShdw>
          </a:effectLst>
        </p:spPr>
      </p:sp>
      <p:pic>
        <p:nvPicPr>
          <p:cNvPr id="7" name="Image 0" descr="/home/runner/work/zhichu-yunkong/zhichu-yunkong/outputs/phase13_1/presentation_assets/con_01_prediction_decision_brid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9032" y="1600200"/>
            <a:ext cx="6860032" cy="385876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68680" y="5596128"/>
            <a:ext cx="2212848" cy="292608"/>
          </a:xfrm>
          <a:prstGeom prst="roundRect">
            <a:avLst>
              <a:gd name="adj" fmla="val 18750"/>
            </a:avLst>
          </a:prstGeom>
          <a:solidFill>
            <a:srgbClr val="173A54"/>
          </a:solidFill>
          <a:ln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41832" y="5637276"/>
            <a:ext cx="2066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4C7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CONCEPTUAL / EXPLANATORY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273552" y="5605272"/>
            <a:ext cx="7726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A9B9C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所有预测方法进入同一套冻结电池约束，保证比较的是“预测带来的决策差异”，不是不同优化器。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566928" y="6153912"/>
            <a:ext cx="10744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59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Conceptual asset: outputs/phase13_1/presentation_assets/con_01_prediction_decision_bridge.png</a:t>
            </a:r>
            <a:endParaRPr lang="en-US" sz="670" dirty="0"/>
          </a:p>
        </p:txBody>
      </p:sp>
      <p:sp>
        <p:nvSpPr>
          <p:cNvPr id="12" name="Text 9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F82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SB-M03 · 固定 8 栋办公建筑 · Validation 选规则 · Test 仅评估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F829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24C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SB-M04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890A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TENSION → SOLUTION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566928" y="4754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模型不只要预测得准，还要在 Validation 上支持更好的储能决策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10789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DB0C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保持预测组件与电池约束不变，只改变“选择依据”：从预测误差，转向 Validation 下游决策 regret。</a:t>
            </a:r>
            <a:endParaRPr lang="en-US" sz="1240" dirty="0"/>
          </a:p>
        </p:txBody>
      </p:sp>
      <p:sp>
        <p:nvSpPr>
          <p:cNvPr id="6" name="Text 4"/>
          <p:cNvSpPr/>
          <p:nvPr/>
        </p:nvSpPr>
        <p:spPr>
          <a:xfrm>
            <a:off x="713232" y="182880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2708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传统预测选择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331720" y="1682496"/>
            <a:ext cx="2724912" cy="658368"/>
          </a:xfrm>
          <a:prstGeom prst="roundRect">
            <a:avLst>
              <a:gd name="adj" fmla="val 12500"/>
            </a:avLst>
          </a:prstGeom>
          <a:solidFill>
            <a:srgbClr val="0E1D2C"/>
          </a:solidFill>
          <a:ln w="10160">
            <a:solidFill>
              <a:srgbClr val="28405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04872" y="1874520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F8F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93208" y="2011680"/>
            <a:ext cx="192024" cy="0"/>
          </a:xfrm>
          <a:prstGeom prst="line">
            <a:avLst/>
          </a:prstGeom>
          <a:noFill/>
          <a:ln w="19050">
            <a:solidFill>
              <a:srgbClr val="466078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312664" y="1682496"/>
            <a:ext cx="2724912" cy="658368"/>
          </a:xfrm>
          <a:prstGeom prst="roundRect">
            <a:avLst>
              <a:gd name="adj" fmla="val 12500"/>
            </a:avLst>
          </a:prstGeom>
          <a:solidFill>
            <a:srgbClr val="0E1D2C"/>
          </a:solidFill>
          <a:ln w="10160">
            <a:solidFill>
              <a:srgbClr val="28405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85816" y="1874520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F8F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MAE / RMSE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74152" y="2011680"/>
            <a:ext cx="192024" cy="0"/>
          </a:xfrm>
          <a:prstGeom prst="line">
            <a:avLst/>
          </a:prstGeom>
          <a:noFill/>
          <a:ln w="19050">
            <a:solidFill>
              <a:srgbClr val="527087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293608" y="1682496"/>
            <a:ext cx="2724912" cy="658368"/>
          </a:xfrm>
          <a:prstGeom prst="roundRect">
            <a:avLst>
              <a:gd name="adj" fmla="val 12500"/>
            </a:avLst>
          </a:prstGeom>
          <a:solidFill>
            <a:srgbClr val="102338"/>
          </a:solidFill>
          <a:ln w="10160">
            <a:solidFill>
              <a:srgbClr val="52708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6760" y="1874520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7C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646920" y="250545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2708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预测误差最小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13232" y="37307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F4E9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DOEF 选择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331720" y="3584448"/>
            <a:ext cx="1979676" cy="658368"/>
          </a:xfrm>
          <a:prstGeom prst="roundRect">
            <a:avLst>
              <a:gd name="adj" fmla="val 12500"/>
            </a:avLst>
          </a:prstGeom>
          <a:solidFill>
            <a:srgbClr val="0E1D2C"/>
          </a:solidFill>
          <a:ln w="10160">
            <a:solidFill>
              <a:srgbClr val="28405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04872" y="3776472"/>
            <a:ext cx="18333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F8F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47972" y="3913632"/>
            <a:ext cx="192024" cy="0"/>
          </a:xfrm>
          <a:prstGeom prst="line">
            <a:avLst/>
          </a:prstGeom>
          <a:noFill/>
          <a:ln w="19050">
            <a:solidFill>
              <a:srgbClr val="466078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567428" y="3584448"/>
            <a:ext cx="1979676" cy="658368"/>
          </a:xfrm>
          <a:prstGeom prst="roundRect">
            <a:avLst>
              <a:gd name="adj" fmla="val 12500"/>
            </a:avLst>
          </a:prstGeom>
          <a:solidFill>
            <a:srgbClr val="0E1D2C"/>
          </a:solidFill>
          <a:ln w="10160">
            <a:solidFill>
              <a:srgbClr val="28405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40580" y="3776472"/>
            <a:ext cx="18333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F8F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Battery dispatch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83680" y="3913632"/>
            <a:ext cx="192024" cy="0"/>
          </a:xfrm>
          <a:prstGeom prst="line">
            <a:avLst/>
          </a:prstGeom>
          <a:noFill/>
          <a:ln w="19050">
            <a:solidFill>
              <a:srgbClr val="466078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803136" y="3584448"/>
            <a:ext cx="1979676" cy="658368"/>
          </a:xfrm>
          <a:prstGeom prst="roundRect">
            <a:avLst>
              <a:gd name="adj" fmla="val 12500"/>
            </a:avLst>
          </a:prstGeom>
          <a:solidFill>
            <a:srgbClr val="0E1D2C"/>
          </a:solidFill>
          <a:ln w="10160">
            <a:solidFill>
              <a:srgbClr val="28405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76288" y="3776472"/>
            <a:ext cx="18333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F8F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regret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819388" y="3913632"/>
            <a:ext cx="192024" cy="0"/>
          </a:xfrm>
          <a:prstGeom prst="line">
            <a:avLst/>
          </a:prstGeom>
          <a:noFill/>
          <a:ln w="19050">
            <a:solidFill>
              <a:srgbClr val="6F4E9C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038844" y="3584448"/>
            <a:ext cx="1979676" cy="658368"/>
          </a:xfrm>
          <a:prstGeom prst="roundRect">
            <a:avLst>
              <a:gd name="adj" fmla="val 12500"/>
            </a:avLst>
          </a:prstGeom>
          <a:solidFill>
            <a:srgbClr val="1A2740"/>
          </a:solidFill>
          <a:ln w="10160">
            <a:solidFill>
              <a:srgbClr val="6F4E9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1996" y="3776472"/>
            <a:ext cx="18333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8CC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FREEZE  wᵦ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646920" y="44074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F4E9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决策 regret 最小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005840" y="3264408"/>
            <a:ext cx="10149840" cy="0"/>
          </a:xfrm>
          <a:prstGeom prst="line">
            <a:avLst/>
          </a:prstGeom>
          <a:noFill/>
          <a:ln w="12700">
            <a:solidFill>
              <a:srgbClr val="23405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59352" y="5504688"/>
            <a:ext cx="4297680" cy="292608"/>
          </a:xfrm>
          <a:prstGeom prst="roundRect">
            <a:avLst>
              <a:gd name="adj" fmla="val 18750"/>
            </a:avLst>
          </a:prstGeom>
          <a:solidFill>
            <a:srgbClr val="251D43"/>
          </a:solidFill>
          <a:ln w="12700">
            <a:solidFill>
              <a:srgbClr val="5F45A8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032504" y="5545836"/>
            <a:ext cx="4151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D9CC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唯一强调的改变：SELECTION OBJECTIVE</a:t>
            </a:r>
            <a:endParaRPr lang="en-US" sz="1020" dirty="0"/>
          </a:p>
        </p:txBody>
      </p:sp>
      <p:sp>
        <p:nvSpPr>
          <p:cNvPr id="32" name="Text 30"/>
          <p:cNvSpPr/>
          <p:nvPr/>
        </p:nvSpPr>
        <p:spPr>
          <a:xfrm>
            <a:off x="3182112" y="5925312"/>
            <a:ext cx="5715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8298A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不是联合训练 · 不是新基础模型 · 不是用 Test 调权重</a:t>
            </a:r>
            <a:endParaRPr lang="en-US" sz="1020" dirty="0"/>
          </a:p>
        </p:txBody>
      </p:sp>
      <p:sp>
        <p:nvSpPr>
          <p:cNvPr id="33" name="Text 31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F82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SB-M04 · 固定 8 栋办公建筑 · Validation 选规则 · Test 仅评估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F829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SB-M05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A88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566928" y="4754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DOEF 在 Validation 上按决策 regret 冻结权重，再进入 Test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10789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C68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每栋建筑的 DayWeek–LightGBM 权重只在 Validation 选择；Test 对训练、权重、tie-break 和电池配置没有反馈路径。</a:t>
            </a:r>
            <a:endParaRPr lang="en-US" sz="1240" dirty="0"/>
          </a:p>
        </p:txBody>
      </p:sp>
      <p:sp>
        <p:nvSpPr>
          <p:cNvPr id="6" name="Shape 4"/>
          <p:cNvSpPr/>
          <p:nvPr/>
        </p:nvSpPr>
        <p:spPr>
          <a:xfrm>
            <a:off x="530352" y="1417320"/>
            <a:ext cx="11109960" cy="4690872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3072574500000" dist="8193532000000" dir="9720000000000000">
              <a:srgbClr val="000000">
                <a:alpha val="160000000000000"/>
              </a:srgbClr>
            </a:outerShdw>
          </a:effectLst>
        </p:spPr>
      </p:sp>
      <p:pic>
        <p:nvPicPr>
          <p:cNvPr id="7" name="Image 0" descr="/home/runner/work/zhichu-yunkong/zhichu-yunkong/outputs/phase13_1/architecture/doef_architecture_ma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8180" y="1435608"/>
            <a:ext cx="8274304" cy="465429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6153912"/>
            <a:ext cx="10744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97A2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method visual: outputs/phase13_1/architecture/doef_architecture_master.png · formula: wᵦ·LightGBM + (1−wᵦ)·DayWeek</a:t>
            </a:r>
            <a:endParaRPr lang="en-US" sz="670" dirty="0"/>
          </a:p>
        </p:txBody>
      </p:sp>
      <p:sp>
        <p:nvSpPr>
          <p:cNvPr id="9" name="Text 6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996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SB-M05 · 固定 8 栋办公建筑 · Validation 选规则 · Test 仅评估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8A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SB-M06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A88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566928" y="4754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DOEF 同时降低预测误差与储能决策 regret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85216" y="10789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C68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对比冻结 LightGBM：八栋建筑等权聚合的 normalized MAE 与 normalized decision regret 均下降。</a:t>
            </a:r>
            <a:endParaRPr lang="en-US" sz="1240" dirty="0"/>
          </a:p>
        </p:txBody>
      </p:sp>
      <p:sp>
        <p:nvSpPr>
          <p:cNvPr id="6" name="Shape 4"/>
          <p:cNvSpPr/>
          <p:nvPr/>
        </p:nvSpPr>
        <p:spPr>
          <a:xfrm>
            <a:off x="576072" y="1444752"/>
            <a:ext cx="8430768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39021696150000000" dist="104057856400000000" dir="583200000000000000000">
              <a:srgbClr val="000000">
                <a:alpha val="16000000000000000000"/>
              </a:srgbClr>
            </a:outerShdw>
          </a:effectLst>
        </p:spPr>
      </p:sp>
      <p:pic>
        <p:nvPicPr>
          <p:cNvPr id="7" name="Image 0" descr="/home/runner/work/zhichu-yunkong/zhichu-yunkong/outputs/phase13_1/figures/sci_02_doef_main_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656" y="1490472"/>
            <a:ext cx="7721600" cy="43434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235440" y="1444752"/>
            <a:ext cx="2331720" cy="4434840"/>
          </a:xfrm>
          <a:prstGeom prst="roundRect">
            <a:avLst>
              <a:gd name="adj" fmla="val 3529"/>
            </a:avLst>
          </a:prstGeom>
          <a:solidFill>
            <a:srgbClr val="0B192B"/>
          </a:solidFill>
          <a:ln w="10160">
            <a:solidFill>
              <a:srgbClr val="0B19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491472" y="184708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4C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6.36%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491472" y="250545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A9B8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normalized MAE 相对改善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9491472" y="313639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BBA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3.61%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9491472" y="379476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A9B8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normalized regret 相对改善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491472" y="4471416"/>
            <a:ext cx="1783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  /  2  /  0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491472" y="4956048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9FB1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 / tie / loss</a:t>
            </a:r>
            <a:endParaRPr lang="en-US" sz="920" dirty="0"/>
          </a:p>
        </p:txBody>
      </p:sp>
      <p:sp>
        <p:nvSpPr>
          <p:cNvPr id="15" name="Shape 12"/>
          <p:cNvSpPr/>
          <p:nvPr/>
        </p:nvSpPr>
        <p:spPr>
          <a:xfrm>
            <a:off x="9436608" y="5358384"/>
            <a:ext cx="1920240" cy="292608"/>
          </a:xfrm>
          <a:prstGeom prst="roundRect">
            <a:avLst>
              <a:gd name="adj" fmla="val 18750"/>
            </a:avLst>
          </a:prstGeom>
          <a:solidFill>
            <a:srgbClr val="40291B"/>
          </a:solidFill>
          <a:ln w="12700">
            <a:solidFill>
              <a:srgbClr val="73513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509760" y="5399532"/>
            <a:ext cx="1773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C49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负峰值案例保留：min = −1.017%</a:t>
            </a:r>
            <a:endParaRPr lang="en-US" sz="780" dirty="0"/>
          </a:p>
        </p:txBody>
      </p:sp>
      <p:sp>
        <p:nvSpPr>
          <p:cNvPr id="17" name="Text 14"/>
          <p:cNvSpPr/>
          <p:nvPr/>
        </p:nvSpPr>
        <p:spPr>
          <a:xfrm>
            <a:off x="566928" y="6153912"/>
            <a:ext cx="10744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97A2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source: outputs/phase13_1/figures/sci_02_doef_main_results.png · Oracle-relative regret ≠ monetary regret</a:t>
            </a:r>
            <a:endParaRPr lang="en-US" sz="670" dirty="0"/>
          </a:p>
        </p:txBody>
      </p:sp>
      <p:sp>
        <p:nvSpPr>
          <p:cNvPr id="18" name="Text 15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996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SB-M06 · 固定 8 栋办公建筑 · Validation 选规则 · Test 仅评估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8A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24C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SB-M07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890A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INTERPRETATION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566928" y="4754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RMSE 衡量预测误差；regret 衡量误差经过调度后的工程后果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10789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DB0C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两个指标回答不同问题，因此在项目范围内不保证给出相同的模型排序。</a:t>
            </a:r>
            <a:endParaRPr lang="en-US" sz="1240" dirty="0"/>
          </a:p>
        </p:txBody>
      </p:sp>
      <p:sp>
        <p:nvSpPr>
          <p:cNvPr id="6" name="Shape 4"/>
          <p:cNvSpPr/>
          <p:nvPr/>
        </p:nvSpPr>
        <p:spPr>
          <a:xfrm>
            <a:off x="713232" y="1627632"/>
            <a:ext cx="4983480" cy="4187952"/>
          </a:xfrm>
          <a:prstGeom prst="roundRect">
            <a:avLst>
              <a:gd name="adj" fmla="val 1965"/>
            </a:avLst>
          </a:prstGeom>
          <a:solidFill>
            <a:srgbClr val="0E1D2C"/>
          </a:solidFill>
          <a:ln w="10160">
            <a:solidFill>
              <a:srgbClr val="28405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92240" y="1627632"/>
            <a:ext cx="4983480" cy="4187952"/>
          </a:xfrm>
          <a:prstGeom prst="roundRect">
            <a:avLst>
              <a:gd name="adj" fmla="val 1965"/>
            </a:avLst>
          </a:prstGeom>
          <a:solidFill>
            <a:srgbClr val="0E1D2C"/>
          </a:solidFill>
          <a:ln w="10160">
            <a:solidFill>
              <a:srgbClr val="28405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2416" y="1938528"/>
            <a:ext cx="1572768" cy="292608"/>
          </a:xfrm>
          <a:prstGeom prst="roundRect">
            <a:avLst>
              <a:gd name="adj" fmla="val 18750"/>
            </a:avLst>
          </a:prstGeom>
          <a:solidFill>
            <a:srgbClr val="1A3448"/>
          </a:solidFill>
          <a:ln w="12700">
            <a:solidFill>
              <a:srgbClr val="1A3448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1979676"/>
            <a:ext cx="1426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9D9F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FORECAST METRIC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1033272" y="244144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C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033272" y="30083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“预测偏了多少？”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33272" y="3566160"/>
            <a:ext cx="3886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5B7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对所有时间点的误差做平方惩罚并聚合。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5B7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它是必要的预测质量检查，但不是储能决策本身。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21424" y="1938528"/>
            <a:ext cx="1755648" cy="292608"/>
          </a:xfrm>
          <a:prstGeom prst="roundRect">
            <a:avLst>
              <a:gd name="adj" fmla="val 18750"/>
            </a:avLst>
          </a:prstGeom>
          <a:solidFill>
            <a:srgbClr val="2B2148"/>
          </a:solidFill>
          <a:ln w="12700">
            <a:solidFill>
              <a:srgbClr val="2B2148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94576" y="1979676"/>
            <a:ext cx="16093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D8CC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DOWNSTREAM METRIC</a:t>
            </a:r>
            <a:endParaRPr lang="en-US" sz="820" dirty="0"/>
          </a:p>
        </p:txBody>
      </p:sp>
      <p:sp>
        <p:nvSpPr>
          <p:cNvPr id="15" name="Text 13"/>
          <p:cNvSpPr/>
          <p:nvPr/>
        </p:nvSpPr>
        <p:spPr>
          <a:xfrm>
            <a:off x="6812280" y="244144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CA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regret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812280" y="300837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2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“这次预测让调度损失了多少？”</a:t>
            </a:r>
            <a:endParaRPr lang="en-US" sz="1520" dirty="0"/>
          </a:p>
        </p:txBody>
      </p:sp>
      <p:sp>
        <p:nvSpPr>
          <p:cNvPr id="17" name="Text 15"/>
          <p:cNvSpPr/>
          <p:nvPr/>
        </p:nvSpPr>
        <p:spPr>
          <a:xfrm>
            <a:off x="6812280" y="356616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5B7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预测 → 电池优化 → 实际负荷，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5B7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再与不可部署 Oracle 的最优决策结果比较。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97296" y="4407408"/>
            <a:ext cx="585216" cy="0"/>
          </a:xfrm>
          <a:prstGeom prst="line">
            <a:avLst/>
          </a:prstGeom>
          <a:noFill/>
          <a:ln w="25400">
            <a:solidFill>
              <a:srgbClr val="566F85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5779008" y="3986784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8298A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不同终点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3785616" y="6007608"/>
            <a:ext cx="4617720" cy="292608"/>
          </a:xfrm>
          <a:prstGeom prst="roundRect">
            <a:avLst>
              <a:gd name="adj" fmla="val 18750"/>
            </a:avLst>
          </a:prstGeom>
          <a:solidFill>
            <a:srgbClr val="173A54"/>
          </a:solidFill>
          <a:ln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58768" y="6048756"/>
            <a:ext cx="4471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10" b="1" dirty="0">
                <a:solidFill>
                  <a:srgbClr val="24C7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结论：两者都要看，不把一个替代另一个</a:t>
            </a:r>
            <a:endParaRPr lang="en-US" sz="1010" dirty="0"/>
          </a:p>
        </p:txBody>
      </p:sp>
      <p:sp>
        <p:nvSpPr>
          <p:cNvPr id="22" name="Text 20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F82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SB-M07 · 固定 8 栋办公建筑 · Validation 选规则 · Test 仅评估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F829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SB-M08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A88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BREADTH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566928" y="4754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全部八栋固定建筑均被展示：六胜、两平、零负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85216" y="10789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C68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建筑在结果评估前冻结：296 个 office 候选 → 82 个质量通过 → 仅用 Train 期形态预选 8 栋。</a:t>
            </a:r>
            <a:endParaRPr lang="en-US" sz="124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9464040" cy="4507992"/>
          </a:xfrm>
          <a:prstGeom prst="roundRect">
            <a:avLst>
              <a:gd name="adj" fmla="val 1826"/>
            </a:avLst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495575541105000000000" dist="1.32153477628e+21" dir="3.4992e+25">
              <a:srgbClr val="000000">
                <a:alpha val="1.6e+24"/>
              </a:srgbClr>
            </a:outerShdw>
          </a:effectLst>
        </p:spPr>
      </p:sp>
      <p:pic>
        <p:nvPicPr>
          <p:cNvPr id="7" name="Image 0" descr="/home/runner/work/zhichu-yunkong/zhichu-yunkong/outputs/phase13_1/figures/sci_03_multibuilding_regr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8580" y="1499616"/>
            <a:ext cx="7884160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222992" y="1463040"/>
            <a:ext cx="1389888" cy="4507992"/>
          </a:xfrm>
          <a:prstGeom prst="roundRect">
            <a:avLst>
              <a:gd name="adj" fmla="val 5921"/>
            </a:avLst>
          </a:prstGeom>
          <a:solidFill>
            <a:srgbClr val="0B192B"/>
          </a:solidFill>
          <a:ln w="10160">
            <a:solidFill>
              <a:srgbClr val="0B19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405872" y="1874520"/>
            <a:ext cx="1024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24C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/ 8</a:t>
            </a:r>
            <a:endParaRPr lang="en-US" sz="2500" dirty="0"/>
          </a:p>
        </p:txBody>
      </p:sp>
      <p:sp>
        <p:nvSpPr>
          <p:cNvPr id="10" name="Text 7"/>
          <p:cNvSpPr/>
          <p:nvPr/>
        </p:nvSpPr>
        <p:spPr>
          <a:xfrm>
            <a:off x="10378440" y="2395728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2C1C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全部展示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10424160" y="2816352"/>
            <a:ext cx="987552" cy="0"/>
          </a:xfrm>
          <a:prstGeom prst="line">
            <a:avLst/>
          </a:prstGeom>
          <a:noFill/>
          <a:ln w="12700">
            <a:solidFill>
              <a:srgbClr val="314B6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42448" y="30632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AD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0442448" y="3493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9EB0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</a:t>
            </a:r>
            <a:endParaRPr lang="en-US" sz="880" dirty="0"/>
          </a:p>
        </p:txBody>
      </p:sp>
      <p:sp>
        <p:nvSpPr>
          <p:cNvPr id="14" name="Text 11"/>
          <p:cNvSpPr/>
          <p:nvPr/>
        </p:nvSpPr>
        <p:spPr>
          <a:xfrm>
            <a:off x="10442448" y="391363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7E2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0442448" y="43434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9EB0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ties</a:t>
            </a:r>
            <a:endParaRPr lang="en-US" sz="880" dirty="0"/>
          </a:p>
        </p:txBody>
      </p:sp>
      <p:sp>
        <p:nvSpPr>
          <p:cNvPr id="16" name="Text 13"/>
          <p:cNvSpPr/>
          <p:nvPr/>
        </p:nvSpPr>
        <p:spPr>
          <a:xfrm>
            <a:off x="10442448" y="475488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D9A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10442448" y="51846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9EB0B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higher</a:t>
            </a:r>
            <a:endParaRPr lang="en-US" sz="880" dirty="0"/>
          </a:p>
        </p:txBody>
      </p:sp>
      <p:sp>
        <p:nvSpPr>
          <p:cNvPr id="18" name="Text 15"/>
          <p:cNvSpPr/>
          <p:nvPr/>
        </p:nvSpPr>
        <p:spPr>
          <a:xfrm>
            <a:off x="566928" y="6153912"/>
            <a:ext cx="10744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97A2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source: SCI-03 · buildings preserved in preselected frozen order; no sorting/deletion</a:t>
            </a:r>
            <a:endParaRPr lang="en-US" sz="67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996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SB-M08 · 固定 8 栋办公建筑 · Validation 选规则 · Test 仅评估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8A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SB-M09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A88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CREDIBILITY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566928" y="4754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权重在 Validation 冻结，Test 不参与选择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85216" y="10789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C68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11 个候选权重在预先声明的 Validation 网格上选择；Test 只用于最终评价，不反馈到模型、权重或 tie-break。</a:t>
            </a:r>
            <a:endParaRPr lang="en-US" sz="1240" dirty="0"/>
          </a:p>
        </p:txBody>
      </p:sp>
      <p:sp>
        <p:nvSpPr>
          <p:cNvPr id="6" name="Shape 4"/>
          <p:cNvSpPr/>
          <p:nvPr/>
        </p:nvSpPr>
        <p:spPr>
          <a:xfrm>
            <a:off x="566928" y="1508760"/>
            <a:ext cx="8183880" cy="4315968"/>
          </a:xfrm>
          <a:prstGeom prst="roundRect">
            <a:avLst>
              <a:gd name="adj" fmla="val 1907"/>
            </a:avLst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6.2938093720335e+24" dist="1.6783491658756e+25" dir="2.09952e+30">
              <a:srgbClr val="000000">
                <a:alpha val="1.6e+29"/>
              </a:srgbClr>
            </a:outerShdw>
          </a:effectLst>
        </p:spPr>
      </p:sp>
      <p:pic>
        <p:nvPicPr>
          <p:cNvPr id="7" name="Image 0" descr="/home/runner/work/zhichu-yunkong/zhichu-yunkong/outputs/phase13_1/figures/sci_04_validation_weight_sel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476" y="1545336"/>
            <a:ext cx="7542784" cy="424281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979408" y="1508760"/>
            <a:ext cx="2578608" cy="4315968"/>
          </a:xfrm>
          <a:prstGeom prst="roundRect">
            <a:avLst>
              <a:gd name="adj" fmla="val 3191"/>
            </a:avLst>
          </a:prstGeom>
          <a:solidFill>
            <a:srgbClr val="0B192B"/>
          </a:solidFill>
          <a:ln w="10160">
            <a:solidFill>
              <a:srgbClr val="0B192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53728" y="1856232"/>
            <a:ext cx="2011680" cy="292608"/>
          </a:xfrm>
          <a:prstGeom prst="roundRect">
            <a:avLst>
              <a:gd name="adj" fmla="val 18750"/>
            </a:avLst>
          </a:prstGeom>
          <a:solidFill>
            <a:srgbClr val="37285E"/>
          </a:solidFill>
          <a:ln w="12700">
            <a:solidFill>
              <a:srgbClr val="37285E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26880" y="1897380"/>
            <a:ext cx="1865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E2D8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NO TEST-TIME TUNING</a:t>
            </a:r>
            <a:endParaRPr lang="en-US" sz="860" dirty="0"/>
          </a:p>
        </p:txBody>
      </p:sp>
      <p:sp>
        <p:nvSpPr>
          <p:cNvPr id="11" name="Text 8"/>
          <p:cNvSpPr/>
          <p:nvPr/>
        </p:nvSpPr>
        <p:spPr>
          <a:xfrm>
            <a:off x="9308592" y="2578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BD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308592" y="2907792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搜索 0.0 → 1.0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步长 0.1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354312" y="3767328"/>
            <a:ext cx="1527048" cy="0"/>
          </a:xfrm>
          <a:prstGeom prst="line">
            <a:avLst/>
          </a:prstGeom>
          <a:noFill/>
          <a:ln w="27940">
            <a:solidFill>
              <a:srgbClr val="6F4E9C"/>
            </a:solidFill>
            <a:prstDash val="solid"/>
            <a:headEnd type="none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9710928" y="4023360"/>
            <a:ext cx="1170432" cy="292608"/>
          </a:xfrm>
          <a:prstGeom prst="roundRect">
            <a:avLst>
              <a:gd name="adj" fmla="val 18750"/>
            </a:avLst>
          </a:prstGeom>
          <a:solidFill>
            <a:srgbClr val="6F4E9C"/>
          </a:solidFill>
          <a:ln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784080" y="4064508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FREEZE  wᵦ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10314432" y="4434840"/>
            <a:ext cx="0" cy="484632"/>
          </a:xfrm>
          <a:prstGeom prst="line">
            <a:avLst/>
          </a:prstGeom>
          <a:noFill/>
          <a:ln w="20320">
            <a:solidFill>
              <a:srgbClr val="8291A1"/>
            </a:solidFill>
            <a:prstDash val="solid"/>
            <a:headEnd type="none"/>
            <a:tailEnd type="triangle"/>
          </a:ln>
        </p:spPr>
      </p:sp>
      <p:sp>
        <p:nvSpPr>
          <p:cNvPr id="17" name="Text 14"/>
          <p:cNvSpPr/>
          <p:nvPr/>
        </p:nvSpPr>
        <p:spPr>
          <a:xfrm>
            <a:off x="9308592" y="5047488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CB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012680" y="5074920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8FA1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only</a:t>
            </a:r>
            <a:endParaRPr lang="en-US" sz="930" dirty="0"/>
          </a:p>
        </p:txBody>
      </p:sp>
      <p:sp>
        <p:nvSpPr>
          <p:cNvPr id="19" name="Text 16"/>
          <p:cNvSpPr/>
          <p:nvPr/>
        </p:nvSpPr>
        <p:spPr>
          <a:xfrm>
            <a:off x="566928" y="6153912"/>
            <a:ext cx="10744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97A2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source: SCI-04 · candidate grid = 11 weights · prior historical Test visibility means “pristine blind test” is not claimed</a:t>
            </a:r>
            <a:endParaRPr lang="en-US" sz="670" dirty="0"/>
          </a:p>
        </p:txBody>
      </p:sp>
      <p:sp>
        <p:nvSpPr>
          <p:cNvPr id="20" name="Text 17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996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SB-M09 · 固定 8 栋办公建筑 · Validation 选规则 · Test 仅评估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8A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24C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SB-M10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890A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ENGINEERING WORKFLOW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566928" y="4754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冻结流程明确了次日预测如何生成储能调度，但尚非现场部署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85216" y="10789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DB0C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这是可复现的 next-day operating sequence，而不是已在真实楼宇上线的控制系统。</a:t>
            </a:r>
            <a:endParaRPr lang="en-US" sz="124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2615184" cy="3172968"/>
          </a:xfrm>
          <a:prstGeom prst="roundRect">
            <a:avLst>
              <a:gd name="adj" fmla="val 3147"/>
            </a:avLst>
          </a:prstGeom>
          <a:solidFill>
            <a:srgbClr val="0E1D2C"/>
          </a:solidFill>
          <a:ln w="10160">
            <a:solidFill>
              <a:srgbClr val="28405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993392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889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4672" y="2487168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已知历史负荷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3255264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A4B5C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截至预测时刻可用的正滞后与日历状态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00984" y="3429000"/>
            <a:ext cx="146304" cy="0"/>
          </a:xfrm>
          <a:prstGeom prst="line">
            <a:avLst/>
          </a:prstGeom>
          <a:noFill/>
          <a:ln w="20320">
            <a:solidFill>
              <a:srgbClr val="41677F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474720" y="1783080"/>
            <a:ext cx="2615184" cy="3172968"/>
          </a:xfrm>
          <a:prstGeom prst="roundRect">
            <a:avLst>
              <a:gd name="adj" fmla="val 3147"/>
            </a:avLst>
          </a:prstGeom>
          <a:solidFill>
            <a:srgbClr val="0E1D2C"/>
          </a:solidFill>
          <a:ln w="10160">
            <a:solidFill>
              <a:srgbClr val="245D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39312" y="1993392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889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39312" y="2487168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生成次日预测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39312" y="3255264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A4B5C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冻结 DayWeek + LightGBM，使用已冻结 wᵦ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35624" y="3429000"/>
            <a:ext cx="146304" cy="0"/>
          </a:xfrm>
          <a:prstGeom prst="line">
            <a:avLst/>
          </a:prstGeom>
          <a:noFill/>
          <a:ln w="20320">
            <a:solidFill>
              <a:srgbClr val="41677F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309360" y="1783080"/>
            <a:ext cx="2615184" cy="3172968"/>
          </a:xfrm>
          <a:prstGeom prst="roundRect">
            <a:avLst>
              <a:gd name="adj" fmla="val 3147"/>
            </a:avLst>
          </a:prstGeom>
          <a:solidFill>
            <a:srgbClr val="0E1D2C"/>
          </a:solidFill>
          <a:ln w="10160">
            <a:solidFill>
              <a:srgbClr val="245D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73952" y="1993392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C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73952" y="2487168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求解 24h 电池计划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73952" y="3255264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A4B5C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同一容量 / 功率 / SOC / 效率 / daily reset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70264" y="3429000"/>
            <a:ext cx="146304" cy="0"/>
          </a:xfrm>
          <a:prstGeom prst="line">
            <a:avLst/>
          </a:prstGeom>
          <a:noFill/>
          <a:ln w="20320">
            <a:solidFill>
              <a:srgbClr val="41677F"/>
            </a:solidFill>
            <a:prstDash val="solid"/>
            <a:headEnd type="none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144000" y="1783080"/>
            <a:ext cx="2615184" cy="3172968"/>
          </a:xfrm>
          <a:prstGeom prst="roundRect">
            <a:avLst>
              <a:gd name="adj" fmla="val 3147"/>
            </a:avLst>
          </a:prstGeom>
          <a:solidFill>
            <a:srgbClr val="0E1D2C"/>
          </a:solidFill>
          <a:ln w="10160">
            <a:solidFill>
              <a:srgbClr val="28405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08592" y="1993392"/>
            <a:ext cx="530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889A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308592" y="2487168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真实负荷后评估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308592" y="3255264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A4B5C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MAE/RMSE + peak + Oracle-relative regret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87552" y="5413248"/>
            <a:ext cx="1234440" cy="292608"/>
          </a:xfrm>
          <a:prstGeom prst="roundRect">
            <a:avLst>
              <a:gd name="adj" fmla="val 18750"/>
            </a:avLst>
          </a:prstGeom>
          <a:solidFill>
            <a:srgbClr val="173A54"/>
          </a:solidFill>
          <a:ln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" y="5454396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24C7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REPEATABLE</a:t>
            </a:r>
            <a:endParaRPr lang="en-US" sz="840" dirty="0"/>
          </a:p>
        </p:txBody>
      </p:sp>
      <p:sp>
        <p:nvSpPr>
          <p:cNvPr id="27" name="Shape 25"/>
          <p:cNvSpPr/>
          <p:nvPr/>
        </p:nvSpPr>
        <p:spPr>
          <a:xfrm>
            <a:off x="2423160" y="5413248"/>
            <a:ext cx="1005840" cy="292608"/>
          </a:xfrm>
          <a:prstGeom prst="roundRect">
            <a:avLst>
              <a:gd name="adj" fmla="val 18750"/>
            </a:avLst>
          </a:prstGeom>
          <a:solidFill>
            <a:srgbClr val="251D43"/>
          </a:solidFill>
          <a:ln w="12700">
            <a:solidFill>
              <a:srgbClr val="251D43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96312" y="5454396"/>
            <a:ext cx="8595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CFC1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FROZEN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3657600" y="5413248"/>
            <a:ext cx="1444752" cy="292608"/>
          </a:xfrm>
          <a:prstGeom prst="roundRect">
            <a:avLst>
              <a:gd name="adj" fmla="val 18750"/>
            </a:avLst>
          </a:prstGeom>
          <a:solidFill>
            <a:srgbClr val="3A281D"/>
          </a:solidFill>
          <a:ln w="12700">
            <a:solidFill>
              <a:srgbClr val="3A281D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30752" y="5454396"/>
            <a:ext cx="1298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FFC49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NOT DEPLOYED</a:t>
            </a:r>
            <a:endParaRPr lang="en-US" sz="840" dirty="0"/>
          </a:p>
        </p:txBody>
      </p:sp>
      <p:sp>
        <p:nvSpPr>
          <p:cNvPr id="31" name="Text 29"/>
          <p:cNvSpPr/>
          <p:nvPr/>
        </p:nvSpPr>
        <p:spPr>
          <a:xfrm>
            <a:off x="5532120" y="5431536"/>
            <a:ext cx="5413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C6D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工程价值：把 AI 预测、储能约束、决策评价连成一条可审计链。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F82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SB-M10 · 固定 8 栋办公建筑 · Validation 选规则 · Test 仅评估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F829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24C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SB-M11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890A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CONTRIBUTION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566928" y="4754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创新不在基础预测器，而在把模型选择对齐储能决策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85216" y="10789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9DB0C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DOEF 的贡献是可审计的 decision-oriented framework，而不是把 LightGBM 或简单加权包装成新模型。</a:t>
            </a:r>
            <a:endParaRPr lang="en-US" sz="1240" dirty="0"/>
          </a:p>
        </p:txBody>
      </p:sp>
      <p:sp>
        <p:nvSpPr>
          <p:cNvPr id="6" name="Shape 4"/>
          <p:cNvSpPr/>
          <p:nvPr/>
        </p:nvSpPr>
        <p:spPr>
          <a:xfrm>
            <a:off x="685800" y="1490472"/>
            <a:ext cx="10826496" cy="4297680"/>
          </a:xfrm>
          <a:prstGeom prst="roundRect">
            <a:avLst>
              <a:gd name="adj" fmla="val 1915"/>
            </a:avLst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7.993137902482545e+28" dist="2.1315034406620118e+29" dir="1.259712e+35">
              <a:srgbClr val="000000">
                <a:alpha val="1.6e+34"/>
              </a:srgbClr>
            </a:outerShdw>
          </a:effectLst>
        </p:spPr>
      </p:sp>
      <p:pic>
        <p:nvPicPr>
          <p:cNvPr id="7" name="Image 0" descr="/home/runner/work/zhichu-yunkong/zhichu-yunkong/outputs/phase13_1/presentation_assets/con_02_contribution_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0168" y="1536192"/>
            <a:ext cx="7477760" cy="4206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6153912"/>
            <a:ext cx="10744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5970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Conceptual asset: CON-02 · no first/world-first/SOTA/end-to-end deployment claim</a:t>
            </a:r>
            <a:endParaRPr lang="en-US" sz="670" dirty="0"/>
          </a:p>
        </p:txBody>
      </p:sp>
      <p:sp>
        <p:nvSpPr>
          <p:cNvPr id="9" name="Text 6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F82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SB-M11 · 固定 8 栋办公建筑 · Validation 选规则 · Test 仅评估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F829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24C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SB-M12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890A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</a:t>
            </a:r>
            <a:endParaRPr lang="en-US" sz="830" dirty="0"/>
          </a:p>
        </p:txBody>
      </p:sp>
      <p:sp>
        <p:nvSpPr>
          <p:cNvPr id="4" name="Text 2"/>
          <p:cNvSpPr/>
          <p:nvPr/>
        </p:nvSpPr>
        <p:spPr>
          <a:xfrm>
            <a:off x="676656" y="1115568"/>
            <a:ext cx="5760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让预测评价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与最终储能决策对齐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13232" y="27249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24C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BATTERY PEAK SHAVING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656832" y="1216152"/>
            <a:ext cx="4663440" cy="1115568"/>
          </a:xfrm>
          <a:prstGeom prst="roundRect">
            <a:avLst>
              <a:gd name="adj" fmla="val 7377"/>
            </a:avLst>
          </a:prstGeom>
          <a:solidFill>
            <a:srgbClr val="0E1D2C"/>
          </a:solidFill>
          <a:ln w="10160">
            <a:solidFill>
              <a:srgbClr val="2946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94576" y="1435608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C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498080" y="1380744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预测误差 ≠ 决策价值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498080" y="1810512"/>
            <a:ext cx="3364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7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RMSE 与 regret 回答不同问题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656832" y="2660904"/>
            <a:ext cx="4663440" cy="1115568"/>
          </a:xfrm>
          <a:prstGeom prst="roundRect">
            <a:avLst>
              <a:gd name="adj" fmla="val 7377"/>
            </a:avLst>
          </a:prstGeom>
          <a:solidFill>
            <a:srgbClr val="0E1D2C"/>
          </a:solidFill>
          <a:ln w="10160">
            <a:solidFill>
              <a:srgbClr val="2946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94576" y="2880360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C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498080" y="2825496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Validation 对齐选择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498080" y="3255264"/>
            <a:ext cx="3364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7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按储能 regret 冻结 wᵦ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656832" y="4105656"/>
            <a:ext cx="4663440" cy="1115568"/>
          </a:xfrm>
          <a:prstGeom prst="roundRect">
            <a:avLst>
              <a:gd name="adj" fmla="val 7377"/>
            </a:avLst>
          </a:prstGeom>
          <a:solidFill>
            <a:srgbClr val="0E1D2C"/>
          </a:solidFill>
          <a:ln w="10160">
            <a:solidFill>
              <a:srgbClr val="2946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94576" y="432511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C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498080" y="4270248"/>
            <a:ext cx="3364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Test 只做最终评价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498080" y="4700016"/>
            <a:ext cx="3364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7B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固定 8 栋 · 全部结果保留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04088" y="3877056"/>
            <a:ext cx="5257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B8C8D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预测模型不仅要“预测得准”，也要验证它是否支持更好的工程决策。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13232" y="5138928"/>
            <a:ext cx="2066544" cy="292608"/>
          </a:xfrm>
          <a:prstGeom prst="roundRect">
            <a:avLst>
              <a:gd name="adj" fmla="val 18750"/>
            </a:avLst>
          </a:prstGeom>
          <a:solidFill>
            <a:srgbClr val="173A54"/>
          </a:solidFill>
          <a:ln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" y="518007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24C7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DOEF v1.0 · frozen evidence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713232" y="5650992"/>
            <a:ext cx="5715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70" dirty="0">
                <a:solidFill>
                  <a:srgbClr val="71889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八栋固定办公建筑 · 单一未来 Test 月 · 24 h horizon · 无成本/碳/现场部署结论</a:t>
            </a:r>
            <a:endParaRPr lang="en-US" sz="970" dirty="0"/>
          </a:p>
        </p:txBody>
      </p:sp>
      <p:sp>
        <p:nvSpPr>
          <p:cNvPr id="22" name="Text 20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6F829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SB-M12 · 固定 8 栋办公建筑 · Validation 选规则 · Test 仅评估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F8295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SB-A01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A88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· SCOPE</a:t>
            </a:r>
            <a:endParaRPr lang="en-US" sz="830" dirty="0"/>
          </a:p>
        </p:txBody>
      </p:sp>
      <p:sp>
        <p:nvSpPr>
          <p:cNvPr id="4" name="Shape 2"/>
          <p:cNvSpPr/>
          <p:nvPr/>
        </p:nvSpPr>
        <p:spPr>
          <a:xfrm>
            <a:off x="10561320" y="173736"/>
            <a:ext cx="896112" cy="292608"/>
          </a:xfrm>
          <a:prstGeom prst="roundRect">
            <a:avLst>
              <a:gd name="adj" fmla="val 18750"/>
            </a:avLst>
          </a:prstGeom>
          <a:solidFill>
            <a:srgbClr val="6F4E9C"/>
          </a:solidFill>
          <a:ln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214884"/>
            <a:ext cx="749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Q&amp;A ONLY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建筑范围在结果评估前冻结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85216" y="10789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C68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质量筛选 + Train-only 负荷形态覆盖，Validation/Test 模型或决策性能不参与建筑预选。</a:t>
            </a:r>
            <a:endParaRPr lang="en-US" sz="1240" dirty="0"/>
          </a:p>
        </p:txBody>
      </p:sp>
      <p:sp>
        <p:nvSpPr>
          <p:cNvPr id="8" name="Shape 6"/>
          <p:cNvSpPr/>
          <p:nvPr/>
        </p:nvSpPr>
        <p:spPr>
          <a:xfrm>
            <a:off x="658368" y="1527048"/>
            <a:ext cx="246888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0160">
            <a:solidFill>
              <a:srgbClr val="E0E7EF"/>
            </a:solidFill>
            <a:prstDash val="solid"/>
          </a:ln>
          <a:effectLst>
            <a:outerShdw sx="100000" sy="100000" kx="0" ky="0" algn="bl" rotWithShape="0" blurRad="1.0151285136152831e+33" dist="2.707009369640755e+33" dir="7.558272e+39">
              <a:srgbClr val="000000">
                <a:alpha val="1.6e+39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2960" y="1719072"/>
            <a:ext cx="1280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1,578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822960" y="21762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building series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154680" y="2084832"/>
            <a:ext cx="228600" cy="0"/>
          </a:xfrm>
          <a:prstGeom prst="line">
            <a:avLst/>
          </a:prstGeom>
          <a:noFill/>
          <a:ln w="16510">
            <a:solidFill>
              <a:srgbClr val="A9B6C2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47288" y="1527048"/>
            <a:ext cx="246888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0160">
            <a:solidFill>
              <a:srgbClr val="E0E7EF"/>
            </a:solidFill>
            <a:prstDash val="solid"/>
          </a:ln>
          <a:effectLst>
            <a:outerShdw sx="100000" sy="100000" kx="0" ky="0" algn="bl" rotWithShape="0" blurRad="1.2892132122914095e+37" dist="3.437901899443759e+37" dir="4.5349632000000006e+44">
              <a:srgbClr val="000000">
                <a:alpha val="1.6e+44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611880" y="1719072"/>
            <a:ext cx="1280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296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3611880" y="21762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office candidates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43600" y="2084832"/>
            <a:ext cx="228600" cy="0"/>
          </a:xfrm>
          <a:prstGeom prst="line">
            <a:avLst/>
          </a:prstGeom>
          <a:noFill/>
          <a:ln w="16510">
            <a:solidFill>
              <a:srgbClr val="A9B6C2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236208" y="1527048"/>
            <a:ext cx="2468880" cy="1115568"/>
          </a:xfrm>
          <a:prstGeom prst="roundRect">
            <a:avLst>
              <a:gd name="adj" fmla="val 7377"/>
            </a:avLst>
          </a:prstGeom>
          <a:solidFill>
            <a:srgbClr val="FFFFFF"/>
          </a:solidFill>
          <a:ln w="10160">
            <a:solidFill>
              <a:srgbClr val="E0E7EF"/>
            </a:solidFill>
            <a:prstDash val="solid"/>
          </a:ln>
          <a:effectLst>
            <a:outerShdw sx="100000" sy="100000" kx="0" ky="0" algn="bl" rotWithShape="0" blurRad="1.6373007796100902e+41" dist="4.366135412293574e+41" dir="2.72097792e+49">
              <a:srgbClr val="000000">
                <a:alpha val="1.6e+49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0" y="1719072"/>
            <a:ext cx="1280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82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6400800" y="21762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pass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732520" y="2084832"/>
            <a:ext cx="228600" cy="0"/>
          </a:xfrm>
          <a:prstGeom prst="line">
            <a:avLst/>
          </a:prstGeom>
          <a:noFill/>
          <a:ln w="16510">
            <a:solidFill>
              <a:srgbClr val="A9B6C2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9025128" y="1527048"/>
            <a:ext cx="2468880" cy="1115568"/>
          </a:xfrm>
          <a:prstGeom prst="roundRect">
            <a:avLst>
              <a:gd name="adj" fmla="val 7377"/>
            </a:avLst>
          </a:prstGeom>
          <a:solidFill>
            <a:srgbClr val="EAF5FF"/>
          </a:solidFill>
          <a:ln w="10160">
            <a:solidFill>
              <a:srgbClr val="A9D7F6"/>
            </a:solidFill>
            <a:prstDash val="solid"/>
          </a:ln>
          <a:effectLst>
            <a:outerShdw sx="100000" sy="100000" kx="0" ky="0" algn="bl" rotWithShape="0" blurRad="2.0793719901048145e+45" dist="5.544991973612839e+45" dir="1.6325867520000003e+54">
              <a:srgbClr val="000000">
                <a:alpha val="1.6e+54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89720" y="1719072"/>
            <a:ext cx="12801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72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9189720" y="21762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offices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58368" y="2953512"/>
            <a:ext cx="4709160" cy="2916936"/>
          </a:xfrm>
          <a:prstGeom prst="roundRect">
            <a:avLst>
              <a:gd name="adj" fmla="val 2821"/>
            </a:avLst>
          </a:prstGeom>
          <a:solidFill>
            <a:srgbClr val="FFFFFF"/>
          </a:solidFill>
          <a:ln w="10160">
            <a:solidFill>
              <a:srgbClr val="E0E7EF"/>
            </a:solidFill>
            <a:prstDash val="solid"/>
          </a:ln>
          <a:effectLst>
            <a:outerShdw sx="100000" sy="100000" kx="0" ky="0" algn="bl" rotWithShape="0" blurRad="2.640802427433114e+49" dist="7.042139806488305e+49" dir="9.795520512000002e+58">
              <a:srgbClr val="000000">
                <a:alpha val="1.6e+59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14400" y="321868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冻结建筑顺序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14400" y="3703320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 Hog · Rolando</a:t>
            </a:r>
            <a:endParaRPr lang="en-US" sz="1010" dirty="0"/>
          </a:p>
        </p:txBody>
      </p:sp>
      <p:sp>
        <p:nvSpPr>
          <p:cNvPr id="26" name="Text 24"/>
          <p:cNvSpPr/>
          <p:nvPr/>
        </p:nvSpPr>
        <p:spPr>
          <a:xfrm>
            <a:off x="914400" y="4178808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 Hog · Lavon</a:t>
            </a:r>
            <a:endParaRPr lang="en-US" sz="1010" dirty="0"/>
          </a:p>
        </p:txBody>
      </p:sp>
      <p:sp>
        <p:nvSpPr>
          <p:cNvPr id="27" name="Text 25"/>
          <p:cNvSpPr/>
          <p:nvPr/>
        </p:nvSpPr>
        <p:spPr>
          <a:xfrm>
            <a:off x="914400" y="4654296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 Hog · Joey</a:t>
            </a:r>
            <a:endParaRPr lang="en-US" sz="1010" dirty="0"/>
          </a:p>
        </p:txBody>
      </p:sp>
      <p:sp>
        <p:nvSpPr>
          <p:cNvPr id="28" name="Text 26"/>
          <p:cNvSpPr/>
          <p:nvPr/>
        </p:nvSpPr>
        <p:spPr>
          <a:xfrm>
            <a:off x="914400" y="5129784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 Lamb · Caitlin</a:t>
            </a:r>
            <a:endParaRPr lang="en-US" sz="1010" dirty="0"/>
          </a:p>
        </p:txBody>
      </p:sp>
      <p:sp>
        <p:nvSpPr>
          <p:cNvPr id="29" name="Text 27"/>
          <p:cNvSpPr/>
          <p:nvPr/>
        </p:nvSpPr>
        <p:spPr>
          <a:xfrm>
            <a:off x="3044952" y="3703320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 Robin · Addie</a:t>
            </a:r>
            <a:endParaRPr lang="en-US" sz="1010" dirty="0"/>
          </a:p>
        </p:txBody>
      </p:sp>
      <p:sp>
        <p:nvSpPr>
          <p:cNvPr id="30" name="Text 28"/>
          <p:cNvSpPr/>
          <p:nvPr/>
        </p:nvSpPr>
        <p:spPr>
          <a:xfrm>
            <a:off x="3044952" y="4178808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 Lamb · Gerardo</a:t>
            </a:r>
            <a:endParaRPr lang="en-US" sz="1010" dirty="0"/>
          </a:p>
        </p:txBody>
      </p:sp>
      <p:sp>
        <p:nvSpPr>
          <p:cNvPr id="31" name="Text 29"/>
          <p:cNvSpPr/>
          <p:nvPr/>
        </p:nvSpPr>
        <p:spPr>
          <a:xfrm>
            <a:off x="3044952" y="4654296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 Hog · Alexis</a:t>
            </a:r>
            <a:endParaRPr lang="en-US" sz="1010" dirty="0"/>
          </a:p>
        </p:txBody>
      </p:sp>
      <p:sp>
        <p:nvSpPr>
          <p:cNvPr id="32" name="Text 30"/>
          <p:cNvSpPr/>
          <p:nvPr/>
        </p:nvSpPr>
        <p:spPr>
          <a:xfrm>
            <a:off x="3044952" y="5129784"/>
            <a:ext cx="1901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1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 Hog · Byron</a:t>
            </a:r>
            <a:endParaRPr lang="en-US" sz="1010" dirty="0"/>
          </a:p>
        </p:txBody>
      </p:sp>
      <p:sp>
        <p:nvSpPr>
          <p:cNvPr id="33" name="Shape 31"/>
          <p:cNvSpPr/>
          <p:nvPr/>
        </p:nvSpPr>
        <p:spPr>
          <a:xfrm>
            <a:off x="5623560" y="2953512"/>
            <a:ext cx="5925312" cy="2916936"/>
          </a:xfrm>
          <a:prstGeom prst="roundRect">
            <a:avLst>
              <a:gd name="adj" fmla="val 2821"/>
            </a:avLst>
          </a:prstGeom>
          <a:solidFill>
            <a:srgbClr val="0B192B"/>
          </a:solidFill>
          <a:ln w="10160">
            <a:solidFill>
              <a:srgbClr val="0B192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25312" y="323697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4C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Train-only morphology features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43600" y="3730752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B4C3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log mean load</a:t>
            </a:r>
            <a:endParaRPr lang="en-US" sz="930" dirty="0"/>
          </a:p>
        </p:txBody>
      </p:sp>
      <p:sp>
        <p:nvSpPr>
          <p:cNvPr id="36" name="Text 34"/>
          <p:cNvSpPr/>
          <p:nvPr/>
        </p:nvSpPr>
        <p:spPr>
          <a:xfrm>
            <a:off x="8458200" y="3730752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B4C3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coefficient of variation</a:t>
            </a:r>
            <a:endParaRPr lang="en-US" sz="930" dirty="0"/>
          </a:p>
        </p:txBody>
      </p:sp>
      <p:sp>
        <p:nvSpPr>
          <p:cNvPr id="37" name="Text 35"/>
          <p:cNvSpPr/>
          <p:nvPr/>
        </p:nvSpPr>
        <p:spPr>
          <a:xfrm>
            <a:off x="5943600" y="4123944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B4C3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peak-to-average ratio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8458200" y="4123944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B4C3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peak–valley range</a:t>
            </a:r>
            <a:endParaRPr lang="en-US" sz="930" dirty="0"/>
          </a:p>
        </p:txBody>
      </p:sp>
      <p:sp>
        <p:nvSpPr>
          <p:cNvPr id="39" name="Text 37"/>
          <p:cNvSpPr/>
          <p:nvPr/>
        </p:nvSpPr>
        <p:spPr>
          <a:xfrm>
            <a:off x="5943600" y="451713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B4C3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lag-24 autocorrelation</a:t>
            </a:r>
            <a:endParaRPr lang="en-US" sz="930" dirty="0"/>
          </a:p>
        </p:txBody>
      </p:sp>
      <p:sp>
        <p:nvSpPr>
          <p:cNvPr id="40" name="Text 38"/>
          <p:cNvSpPr/>
          <p:nvPr/>
        </p:nvSpPr>
        <p:spPr>
          <a:xfrm>
            <a:off x="8458200" y="4517136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B4C3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lag-168 autocorrelation</a:t>
            </a:r>
            <a:endParaRPr lang="en-US" sz="930" dirty="0"/>
          </a:p>
        </p:txBody>
      </p:sp>
      <p:sp>
        <p:nvSpPr>
          <p:cNvPr id="41" name="Text 39"/>
          <p:cNvSpPr/>
          <p:nvPr/>
        </p:nvSpPr>
        <p:spPr>
          <a:xfrm>
            <a:off x="5943600" y="4910328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B4C3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weekday–weekend difference</a:t>
            </a:r>
            <a:endParaRPr lang="en-US" sz="930" dirty="0"/>
          </a:p>
        </p:txBody>
      </p:sp>
      <p:sp>
        <p:nvSpPr>
          <p:cNvPr id="42" name="Text 40"/>
          <p:cNvSpPr/>
          <p:nvPr/>
        </p:nvSpPr>
        <p:spPr>
          <a:xfrm>
            <a:off x="8458200" y="4910328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B4C3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daily-profile variability</a:t>
            </a:r>
            <a:endParaRPr lang="en-US" sz="930" dirty="0"/>
          </a:p>
        </p:txBody>
      </p:sp>
      <p:sp>
        <p:nvSpPr>
          <p:cNvPr id="43" name="Text 41"/>
          <p:cNvSpPr/>
          <p:nvPr/>
        </p:nvSpPr>
        <p:spPr>
          <a:xfrm>
            <a:off x="5943600" y="5303520"/>
            <a:ext cx="2267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B4C3C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robust outlier fraction</a:t>
            </a:r>
            <a:endParaRPr lang="en-US" sz="930" dirty="0"/>
          </a:p>
        </p:txBody>
      </p:sp>
      <p:sp>
        <p:nvSpPr>
          <p:cNvPr id="44" name="Shape 42"/>
          <p:cNvSpPr/>
          <p:nvPr/>
        </p:nvSpPr>
        <p:spPr>
          <a:xfrm>
            <a:off x="7525512" y="5504688"/>
            <a:ext cx="2084832" cy="292608"/>
          </a:xfrm>
          <a:prstGeom prst="roundRect">
            <a:avLst>
              <a:gd name="adj" fmla="val 18750"/>
            </a:avLst>
          </a:prstGeom>
          <a:solidFill>
            <a:srgbClr val="2D2548"/>
          </a:solidFill>
          <a:ln w="12700">
            <a:solidFill>
              <a:srgbClr val="2D2548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598664" y="5545836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90" b="1" dirty="0">
                <a:solidFill>
                  <a:srgbClr val="D9CC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NO Validation/Test performance used</a:t>
            </a:r>
            <a:endParaRPr lang="en-US" sz="790" dirty="0"/>
          </a:p>
        </p:txBody>
      </p:sp>
      <p:sp>
        <p:nvSpPr>
          <p:cNvPr id="46" name="Text 44"/>
          <p:cNvSpPr/>
          <p:nvPr/>
        </p:nvSpPr>
        <p:spPr>
          <a:xfrm>
            <a:off x="566928" y="6153912"/>
            <a:ext cx="10744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97A2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source: outputs/phase7/selected_buildings.json</a:t>
            </a:r>
            <a:endParaRPr lang="en-US" sz="670" dirty="0"/>
          </a:p>
        </p:txBody>
      </p:sp>
      <p:sp>
        <p:nvSpPr>
          <p:cNvPr id="47" name="Text 45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996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Appendix · open for “why only 8 / cherry-picking?”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8A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SB-A02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A88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· PROTOCOL</a:t>
            </a:r>
            <a:endParaRPr lang="en-US" sz="830" dirty="0"/>
          </a:p>
        </p:txBody>
      </p:sp>
      <p:sp>
        <p:nvSpPr>
          <p:cNvPr id="4" name="Shape 2"/>
          <p:cNvSpPr/>
          <p:nvPr/>
        </p:nvSpPr>
        <p:spPr>
          <a:xfrm>
            <a:off x="10561320" y="173736"/>
            <a:ext cx="896112" cy="292608"/>
          </a:xfrm>
          <a:prstGeom prst="roundRect">
            <a:avLst>
              <a:gd name="adj" fmla="val 18750"/>
            </a:avLst>
          </a:prstGeom>
          <a:solidFill>
            <a:srgbClr val="6F4E9C"/>
          </a:solidFill>
          <a:ln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214884"/>
            <a:ext cx="749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Q&amp;A ONLY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因果特征与时间切分共同约束信息边界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85216" y="10789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C68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24 h horizon；只使用预测时刻可获得的负荷历史与日历信息；Validation 选择，Test 最终评估。</a:t>
            </a:r>
            <a:endParaRPr lang="en-US" sz="1240" dirty="0"/>
          </a:p>
        </p:txBody>
      </p:sp>
      <p:sp>
        <p:nvSpPr>
          <p:cNvPr id="8" name="Shape 6"/>
          <p:cNvSpPr/>
          <p:nvPr/>
        </p:nvSpPr>
        <p:spPr>
          <a:xfrm>
            <a:off x="640080" y="1444752"/>
            <a:ext cx="873252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3.353819082840055e+53" dist="8.943517554240149e+53" dir="5.877312307200001e+63">
              <a:srgbClr val="000000">
                <a:alpha val="1.5999999999999998e+64"/>
              </a:srgbClr>
            </a:outerShdw>
          </a:effectLst>
        </p:spPr>
      </p:sp>
      <p:pic>
        <p:nvPicPr>
          <p:cNvPr id="9" name="Image 0" descr="/home/runner/work/zhichu-yunkong/zhichu-yunkong/outputs/phase13_1/architecture/doef_architecture_ma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028" y="1472184"/>
            <a:ext cx="7786624" cy="437997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582912" y="1444752"/>
            <a:ext cx="1947672" cy="4434840"/>
          </a:xfrm>
          <a:prstGeom prst="roundRect">
            <a:avLst>
              <a:gd name="adj" fmla="val 4225"/>
            </a:avLst>
          </a:prstGeom>
          <a:solidFill>
            <a:srgbClr val="0B192B"/>
          </a:solidFill>
          <a:ln w="10160">
            <a:solidFill>
              <a:srgbClr val="0B192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829800" y="179222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4C7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信息边界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829800" y="22677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B5C4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positive lags</a:t>
            </a:r>
            <a:endParaRPr lang="en-US" sz="930" dirty="0"/>
          </a:p>
        </p:txBody>
      </p:sp>
      <p:sp>
        <p:nvSpPr>
          <p:cNvPr id="13" name="Text 10"/>
          <p:cNvSpPr/>
          <p:nvPr/>
        </p:nvSpPr>
        <p:spPr>
          <a:xfrm>
            <a:off x="9829800" y="2697480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B5C4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shifted history</a:t>
            </a:r>
            <a:endParaRPr lang="en-US" sz="930" dirty="0"/>
          </a:p>
        </p:txBody>
      </p:sp>
      <p:sp>
        <p:nvSpPr>
          <p:cNvPr id="14" name="Text 11"/>
          <p:cNvSpPr/>
          <p:nvPr/>
        </p:nvSpPr>
        <p:spPr>
          <a:xfrm>
            <a:off x="9829800" y="312724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B5C4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calendar state</a:t>
            </a:r>
            <a:endParaRPr lang="en-US" sz="930" dirty="0"/>
          </a:p>
        </p:txBody>
      </p:sp>
      <p:sp>
        <p:nvSpPr>
          <p:cNvPr id="15" name="Text 12"/>
          <p:cNvSpPr/>
          <p:nvPr/>
        </p:nvSpPr>
        <p:spPr>
          <a:xfrm>
            <a:off x="9829800" y="3557016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B5C4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 weather</a:t>
            </a:r>
            <a:endParaRPr lang="en-US" sz="930" dirty="0"/>
          </a:p>
        </p:txBody>
      </p:sp>
      <p:sp>
        <p:nvSpPr>
          <p:cNvPr id="16" name="Text 13"/>
          <p:cNvSpPr/>
          <p:nvPr/>
        </p:nvSpPr>
        <p:spPr>
          <a:xfrm>
            <a:off x="9829800" y="398678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B5C4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 target leakage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>
            <a:off x="9784080" y="4773168"/>
            <a:ext cx="1536192" cy="292608"/>
          </a:xfrm>
          <a:prstGeom prst="roundRect">
            <a:avLst>
              <a:gd name="adj" fmla="val 18750"/>
            </a:avLst>
          </a:prstGeom>
          <a:solidFill>
            <a:srgbClr val="3B2B20"/>
          </a:solidFill>
          <a:ln w="12700">
            <a:solidFill>
              <a:srgbClr val="3B2B20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857232" y="4814316"/>
            <a:ext cx="13898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C49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TEST ≠ pristine blind set</a:t>
            </a:r>
            <a:endParaRPr lang="en-US" sz="710" dirty="0"/>
          </a:p>
        </p:txBody>
      </p:sp>
      <p:sp>
        <p:nvSpPr>
          <p:cNvPr id="19" name="Text 16"/>
          <p:cNvSpPr/>
          <p:nvPr/>
        </p:nvSpPr>
        <p:spPr>
          <a:xfrm>
            <a:off x="566928" y="6153912"/>
            <a:ext cx="10744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97A2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source: ARCH-01 · prior Test visibility caveat retained</a:t>
            </a:r>
            <a:endParaRPr lang="en-US" sz="670" dirty="0"/>
          </a:p>
        </p:txBody>
      </p:sp>
      <p:sp>
        <p:nvSpPr>
          <p:cNvPr id="20" name="Text 17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996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Appendix · leakage / chronology answer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8A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SB-A03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A88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· MODELS</a:t>
            </a:r>
            <a:endParaRPr lang="en-US" sz="830" dirty="0"/>
          </a:p>
        </p:txBody>
      </p:sp>
      <p:sp>
        <p:nvSpPr>
          <p:cNvPr id="4" name="Shape 2"/>
          <p:cNvSpPr/>
          <p:nvPr/>
        </p:nvSpPr>
        <p:spPr>
          <a:xfrm>
            <a:off x="10561320" y="173736"/>
            <a:ext cx="896112" cy="292608"/>
          </a:xfrm>
          <a:prstGeom prst="roundRect">
            <a:avLst>
              <a:gd name="adj" fmla="val 18750"/>
            </a:avLst>
          </a:prstGeom>
          <a:solidFill>
            <a:srgbClr val="6F4E9C"/>
          </a:solidFill>
          <a:ln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214884"/>
            <a:ext cx="749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Q&amp;A ONLY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基础模型是对照与组件，不是被包装的创新点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85216" y="10789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C68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DOEF 只组合 DayWeek 与逐建筑 LightGBM；其他模型用于基线或受控对照。</a:t>
            </a:r>
            <a:endParaRPr lang="en-US" sz="1240" dirty="0"/>
          </a:p>
        </p:txBody>
      </p:sp>
      <p:sp>
        <p:nvSpPr>
          <p:cNvPr id="8" name="Shape 6"/>
          <p:cNvSpPr/>
          <p:nvPr/>
        </p:nvSpPr>
        <p:spPr>
          <a:xfrm>
            <a:off x="658368" y="1627632"/>
            <a:ext cx="2057400" cy="438912"/>
          </a:xfrm>
          <a:prstGeom prst="rect">
            <a:avLst/>
          </a:prstGeom>
          <a:solidFill>
            <a:srgbClr val="182B3F"/>
          </a:solidFill>
          <a:ln w="12700">
            <a:solidFill>
              <a:srgbClr val="182B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74650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2715768" y="1627632"/>
            <a:ext cx="3017520" cy="438912"/>
          </a:xfrm>
          <a:prstGeom prst="rect">
            <a:avLst/>
          </a:prstGeom>
          <a:solidFill>
            <a:srgbClr val="182B3F"/>
          </a:solidFill>
          <a:ln w="12700">
            <a:solidFill>
              <a:srgbClr val="182B3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07208" y="174650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Definition / input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5733288" y="1627632"/>
            <a:ext cx="3017520" cy="438912"/>
          </a:xfrm>
          <a:prstGeom prst="rect">
            <a:avLst/>
          </a:prstGeom>
          <a:solidFill>
            <a:srgbClr val="182B3F"/>
          </a:solidFill>
          <a:ln w="12700">
            <a:solidFill>
              <a:srgbClr val="182B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24728" y="174650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 in benchmark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750808" y="1627632"/>
            <a:ext cx="1920240" cy="438912"/>
          </a:xfrm>
          <a:prstGeom prst="rect">
            <a:avLst/>
          </a:prstGeom>
          <a:solidFill>
            <a:srgbClr val="182B3F"/>
          </a:solidFill>
          <a:ln w="12700">
            <a:solidFill>
              <a:srgbClr val="182B3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42248" y="17465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Novelty claim?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658368" y="2066544"/>
            <a:ext cx="205740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217627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Persistence</a:t>
            </a:r>
            <a:endParaRPr lang="en-US" sz="940" dirty="0"/>
          </a:p>
        </p:txBody>
      </p:sp>
      <p:sp>
        <p:nvSpPr>
          <p:cNvPr id="18" name="Shape 16"/>
          <p:cNvSpPr/>
          <p:nvPr/>
        </p:nvSpPr>
        <p:spPr>
          <a:xfrm>
            <a:off x="2715768" y="2066544"/>
            <a:ext cx="30175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07208" y="217627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t−24 h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5733288" y="2066544"/>
            <a:ext cx="30175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24728" y="217627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Baseline</a:t>
            </a:r>
            <a:endParaRPr lang="en-US" sz="940" dirty="0"/>
          </a:p>
        </p:txBody>
      </p:sp>
      <p:sp>
        <p:nvSpPr>
          <p:cNvPr id="22" name="Shape 20"/>
          <p:cNvSpPr/>
          <p:nvPr/>
        </p:nvSpPr>
        <p:spPr>
          <a:xfrm>
            <a:off x="8750808" y="2066544"/>
            <a:ext cx="19202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42248" y="217627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No</a:t>
            </a:r>
            <a:endParaRPr lang="en-US" sz="940" dirty="0"/>
          </a:p>
        </p:txBody>
      </p:sp>
      <p:sp>
        <p:nvSpPr>
          <p:cNvPr id="24" name="Shape 22"/>
          <p:cNvSpPr/>
          <p:nvPr/>
        </p:nvSpPr>
        <p:spPr>
          <a:xfrm>
            <a:off x="658368" y="2560320"/>
            <a:ext cx="2057400" cy="493776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9808" y="267004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715768" y="2560320"/>
            <a:ext cx="3017520" cy="493776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807208" y="267004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t−168 h</a:t>
            </a:r>
            <a:endParaRPr lang="en-US" sz="940" dirty="0"/>
          </a:p>
        </p:txBody>
      </p:sp>
      <p:sp>
        <p:nvSpPr>
          <p:cNvPr id="28" name="Shape 26"/>
          <p:cNvSpPr/>
          <p:nvPr/>
        </p:nvSpPr>
        <p:spPr>
          <a:xfrm>
            <a:off x="5733288" y="2560320"/>
            <a:ext cx="3017520" cy="493776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24728" y="267004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Baseline</a:t>
            </a:r>
            <a:endParaRPr lang="en-US" sz="940" dirty="0"/>
          </a:p>
        </p:txBody>
      </p:sp>
      <p:sp>
        <p:nvSpPr>
          <p:cNvPr id="30" name="Shape 28"/>
          <p:cNvSpPr/>
          <p:nvPr/>
        </p:nvSpPr>
        <p:spPr>
          <a:xfrm>
            <a:off x="8750808" y="2560320"/>
            <a:ext cx="1920240" cy="493776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42248" y="267004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No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658368" y="3054096"/>
            <a:ext cx="205740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" y="316382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DayWeek</a:t>
            </a:r>
            <a:endParaRPr lang="en-US" sz="940" dirty="0"/>
          </a:p>
        </p:txBody>
      </p:sp>
      <p:sp>
        <p:nvSpPr>
          <p:cNvPr id="34" name="Shape 32"/>
          <p:cNvSpPr/>
          <p:nvPr/>
        </p:nvSpPr>
        <p:spPr>
          <a:xfrm>
            <a:off x="2715768" y="3054096"/>
            <a:ext cx="30175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807208" y="31638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0.5·Day + 0.5·Week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5733288" y="3054096"/>
            <a:ext cx="30175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824728" y="31638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DOEF component</a:t>
            </a:r>
            <a:endParaRPr lang="en-US" sz="940" dirty="0"/>
          </a:p>
        </p:txBody>
      </p:sp>
      <p:sp>
        <p:nvSpPr>
          <p:cNvPr id="38" name="Shape 36"/>
          <p:cNvSpPr/>
          <p:nvPr/>
        </p:nvSpPr>
        <p:spPr>
          <a:xfrm>
            <a:off x="8750808" y="3054096"/>
            <a:ext cx="19202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42248" y="316382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No</a:t>
            </a:r>
            <a:endParaRPr lang="en-US" sz="940" dirty="0"/>
          </a:p>
        </p:txBody>
      </p:sp>
      <p:sp>
        <p:nvSpPr>
          <p:cNvPr id="40" name="Shape 38"/>
          <p:cNvSpPr/>
          <p:nvPr/>
        </p:nvSpPr>
        <p:spPr>
          <a:xfrm>
            <a:off x="658368" y="3547872"/>
            <a:ext cx="2057400" cy="493776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9808" y="365760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LightGBM</a:t>
            </a:r>
            <a:endParaRPr lang="en-US" sz="940" dirty="0"/>
          </a:p>
        </p:txBody>
      </p:sp>
      <p:sp>
        <p:nvSpPr>
          <p:cNvPr id="42" name="Shape 40"/>
          <p:cNvSpPr/>
          <p:nvPr/>
        </p:nvSpPr>
        <p:spPr>
          <a:xfrm>
            <a:off x="2715768" y="3547872"/>
            <a:ext cx="3017520" cy="493776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07208" y="36576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causal features</a:t>
            </a:r>
            <a:endParaRPr lang="en-US" sz="940" dirty="0"/>
          </a:p>
        </p:txBody>
      </p:sp>
      <p:sp>
        <p:nvSpPr>
          <p:cNvPr id="44" name="Shape 42"/>
          <p:cNvSpPr/>
          <p:nvPr/>
        </p:nvSpPr>
        <p:spPr>
          <a:xfrm>
            <a:off x="5733288" y="3547872"/>
            <a:ext cx="3017520" cy="493776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824728" y="36576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DOEF component / baseline</a:t>
            </a:r>
            <a:endParaRPr lang="en-US" sz="940" dirty="0"/>
          </a:p>
        </p:txBody>
      </p:sp>
      <p:sp>
        <p:nvSpPr>
          <p:cNvPr id="46" name="Shape 44"/>
          <p:cNvSpPr/>
          <p:nvPr/>
        </p:nvSpPr>
        <p:spPr>
          <a:xfrm>
            <a:off x="8750808" y="3547872"/>
            <a:ext cx="1920240" cy="493776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42248" y="365760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No</a:t>
            </a:r>
            <a:endParaRPr lang="en-US" sz="940" dirty="0"/>
          </a:p>
        </p:txBody>
      </p:sp>
      <p:sp>
        <p:nvSpPr>
          <p:cNvPr id="48" name="Shape 46"/>
          <p:cNvSpPr/>
          <p:nvPr/>
        </p:nvSpPr>
        <p:spPr>
          <a:xfrm>
            <a:off x="658368" y="4041648"/>
            <a:ext cx="205740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49808" y="4151376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XGBoost</a:t>
            </a:r>
            <a:endParaRPr lang="en-US" sz="940" dirty="0"/>
          </a:p>
        </p:txBody>
      </p:sp>
      <p:sp>
        <p:nvSpPr>
          <p:cNvPr id="50" name="Shape 48"/>
          <p:cNvSpPr/>
          <p:nvPr/>
        </p:nvSpPr>
        <p:spPr>
          <a:xfrm>
            <a:off x="2715768" y="4041648"/>
            <a:ext cx="30175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807208" y="415137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causal features</a:t>
            </a:r>
            <a:endParaRPr lang="en-US" sz="940" dirty="0"/>
          </a:p>
        </p:txBody>
      </p:sp>
      <p:sp>
        <p:nvSpPr>
          <p:cNvPr id="52" name="Shape 50"/>
          <p:cNvSpPr/>
          <p:nvPr/>
        </p:nvSpPr>
        <p:spPr>
          <a:xfrm>
            <a:off x="5733288" y="4041648"/>
            <a:ext cx="30175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24728" y="415137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Comparator</a:t>
            </a:r>
            <a:endParaRPr lang="en-US" sz="940" dirty="0"/>
          </a:p>
        </p:txBody>
      </p:sp>
      <p:sp>
        <p:nvSpPr>
          <p:cNvPr id="54" name="Shape 52"/>
          <p:cNvSpPr/>
          <p:nvPr/>
        </p:nvSpPr>
        <p:spPr>
          <a:xfrm>
            <a:off x="8750808" y="4041648"/>
            <a:ext cx="19202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842248" y="415137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No</a:t>
            </a:r>
            <a:endParaRPr lang="en-US" sz="940" dirty="0"/>
          </a:p>
        </p:txBody>
      </p:sp>
      <p:sp>
        <p:nvSpPr>
          <p:cNvPr id="56" name="Shape 54"/>
          <p:cNvSpPr/>
          <p:nvPr/>
        </p:nvSpPr>
        <p:spPr>
          <a:xfrm>
            <a:off x="658368" y="4535424"/>
            <a:ext cx="2057400" cy="493776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49808" y="4645152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CatBoost</a:t>
            </a:r>
            <a:endParaRPr lang="en-US" sz="940" dirty="0"/>
          </a:p>
        </p:txBody>
      </p:sp>
      <p:sp>
        <p:nvSpPr>
          <p:cNvPr id="58" name="Shape 56"/>
          <p:cNvSpPr/>
          <p:nvPr/>
        </p:nvSpPr>
        <p:spPr>
          <a:xfrm>
            <a:off x="2715768" y="4535424"/>
            <a:ext cx="3017520" cy="493776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807208" y="464515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causal features</a:t>
            </a:r>
            <a:endParaRPr lang="en-US" sz="940" dirty="0"/>
          </a:p>
        </p:txBody>
      </p:sp>
      <p:sp>
        <p:nvSpPr>
          <p:cNvPr id="60" name="Shape 58"/>
          <p:cNvSpPr/>
          <p:nvPr/>
        </p:nvSpPr>
        <p:spPr>
          <a:xfrm>
            <a:off x="5733288" y="4535424"/>
            <a:ext cx="3017520" cy="493776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24728" y="464515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Comparator</a:t>
            </a:r>
            <a:endParaRPr lang="en-US" sz="940" dirty="0"/>
          </a:p>
        </p:txBody>
      </p:sp>
      <p:sp>
        <p:nvSpPr>
          <p:cNvPr id="62" name="Shape 60"/>
          <p:cNvSpPr/>
          <p:nvPr/>
        </p:nvSpPr>
        <p:spPr>
          <a:xfrm>
            <a:off x="8750808" y="4535424"/>
            <a:ext cx="1920240" cy="493776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842248" y="46451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No</a:t>
            </a:r>
            <a:endParaRPr lang="en-US" sz="940" dirty="0"/>
          </a:p>
        </p:txBody>
      </p:sp>
      <p:sp>
        <p:nvSpPr>
          <p:cNvPr id="64" name="Shape 62"/>
          <p:cNvSpPr/>
          <p:nvPr/>
        </p:nvSpPr>
        <p:spPr>
          <a:xfrm>
            <a:off x="658368" y="5029200"/>
            <a:ext cx="2057400" cy="493776"/>
          </a:xfrm>
          <a:prstGeom prst="rect">
            <a:avLst/>
          </a:prstGeom>
          <a:solidFill>
            <a:srgbClr val="EAF5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49808" y="5138928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0072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DOEF</a:t>
            </a:r>
            <a:endParaRPr lang="en-US" sz="940" dirty="0"/>
          </a:p>
        </p:txBody>
      </p:sp>
      <p:sp>
        <p:nvSpPr>
          <p:cNvPr id="66" name="Shape 64"/>
          <p:cNvSpPr/>
          <p:nvPr/>
        </p:nvSpPr>
        <p:spPr>
          <a:xfrm>
            <a:off x="2715768" y="5029200"/>
            <a:ext cx="3017520" cy="493776"/>
          </a:xfrm>
          <a:prstGeom prst="rect">
            <a:avLst/>
          </a:prstGeom>
          <a:solidFill>
            <a:srgbClr val="EAF5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807208" y="51389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wᵦ·LGBM+(1−wᵦ)·DayWeek</a:t>
            </a:r>
            <a:endParaRPr lang="en-US" sz="940" dirty="0"/>
          </a:p>
        </p:txBody>
      </p:sp>
      <p:sp>
        <p:nvSpPr>
          <p:cNvPr id="68" name="Shape 66"/>
          <p:cNvSpPr/>
          <p:nvPr/>
        </p:nvSpPr>
        <p:spPr>
          <a:xfrm>
            <a:off x="5733288" y="5029200"/>
            <a:ext cx="3017520" cy="493776"/>
          </a:xfrm>
          <a:prstGeom prst="rect">
            <a:avLst/>
          </a:prstGeom>
          <a:solidFill>
            <a:srgbClr val="EAF5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824728" y="51389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Final frozen method</a:t>
            </a:r>
            <a:endParaRPr lang="en-US" sz="940" dirty="0"/>
          </a:p>
        </p:txBody>
      </p:sp>
      <p:sp>
        <p:nvSpPr>
          <p:cNvPr id="70" name="Shape 68"/>
          <p:cNvSpPr/>
          <p:nvPr/>
        </p:nvSpPr>
        <p:spPr>
          <a:xfrm>
            <a:off x="8750808" y="5029200"/>
            <a:ext cx="1920240" cy="493776"/>
          </a:xfrm>
          <a:prstGeom prst="rect">
            <a:avLst/>
          </a:prstGeom>
          <a:solidFill>
            <a:srgbClr val="EAF5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842248" y="51389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Framework</a:t>
            </a:r>
            <a:endParaRPr lang="en-US" sz="940" dirty="0"/>
          </a:p>
        </p:txBody>
      </p:sp>
      <p:sp>
        <p:nvSpPr>
          <p:cNvPr id="72" name="Shape 70"/>
          <p:cNvSpPr/>
          <p:nvPr/>
        </p:nvSpPr>
        <p:spPr>
          <a:xfrm>
            <a:off x="658368" y="5522976"/>
            <a:ext cx="2057400" cy="493776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49808" y="5632704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Peak-aware LGBM</a:t>
            </a:r>
            <a:endParaRPr lang="en-US" sz="940" dirty="0"/>
          </a:p>
        </p:txBody>
      </p:sp>
      <p:sp>
        <p:nvSpPr>
          <p:cNvPr id="74" name="Shape 72"/>
          <p:cNvSpPr/>
          <p:nvPr/>
        </p:nvSpPr>
        <p:spPr>
          <a:xfrm>
            <a:off x="2715768" y="5522976"/>
            <a:ext cx="3017520" cy="493776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807208" y="563270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supporting experiment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5733288" y="5522976"/>
            <a:ext cx="3017520" cy="493776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5824728" y="563270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Rejected support</a:t>
            </a:r>
            <a:endParaRPr lang="en-US" sz="940" dirty="0"/>
          </a:p>
        </p:txBody>
      </p:sp>
      <p:sp>
        <p:nvSpPr>
          <p:cNvPr id="78" name="Shape 76"/>
          <p:cNvSpPr/>
          <p:nvPr/>
        </p:nvSpPr>
        <p:spPr>
          <a:xfrm>
            <a:off x="8750808" y="5522976"/>
            <a:ext cx="1920240" cy="493776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42248" y="563270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No</a:t>
            </a:r>
            <a:endParaRPr lang="en-US" sz="940" dirty="0"/>
          </a:p>
        </p:txBody>
      </p:sp>
      <p:sp>
        <p:nvSpPr>
          <p:cNvPr id="80" name="Text 78"/>
          <p:cNvSpPr/>
          <p:nvPr/>
        </p:nvSpPr>
        <p:spPr>
          <a:xfrm>
            <a:off x="566928" y="6153912"/>
            <a:ext cx="10744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97A2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benchmark definitions · no model-family catalogue in main deck</a:t>
            </a:r>
            <a:endParaRPr lang="en-US" sz="670" dirty="0"/>
          </a:p>
        </p:txBody>
      </p:sp>
      <p:sp>
        <p:nvSpPr>
          <p:cNvPr id="81" name="Text 79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996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Appendix · algorithm-component answer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8A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SB-A04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A88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· DECISION MODEL</a:t>
            </a:r>
            <a:endParaRPr lang="en-US" sz="830" dirty="0"/>
          </a:p>
        </p:txBody>
      </p:sp>
      <p:sp>
        <p:nvSpPr>
          <p:cNvPr id="4" name="Shape 2"/>
          <p:cNvSpPr/>
          <p:nvPr/>
        </p:nvSpPr>
        <p:spPr>
          <a:xfrm>
            <a:off x="10561320" y="173736"/>
            <a:ext cx="896112" cy="292608"/>
          </a:xfrm>
          <a:prstGeom prst="roundRect">
            <a:avLst>
              <a:gd name="adj" fmla="val 18750"/>
            </a:avLst>
          </a:prstGeom>
          <a:solidFill>
            <a:srgbClr val="6F4E9C"/>
          </a:solidFill>
          <a:ln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214884"/>
            <a:ext cx="749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Q&amp;A ONLY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同一冻结电池约束保证方法间可比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85216" y="10789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C68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所有预测方法进入完全相同的储能优化器；参数按每栋建筑 Train 期负荷尺度冻结。</a:t>
            </a:r>
            <a:endParaRPr lang="en-US" sz="1240" dirty="0"/>
          </a:p>
        </p:txBody>
      </p:sp>
      <p:sp>
        <p:nvSpPr>
          <p:cNvPr id="8" name="Shape 6"/>
          <p:cNvSpPr/>
          <p:nvPr/>
        </p:nvSpPr>
        <p:spPr>
          <a:xfrm>
            <a:off x="713232" y="1709928"/>
            <a:ext cx="518464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10160">
            <a:solidFill>
              <a:srgbClr val="E1E7ED"/>
            </a:solidFill>
            <a:prstDash val="solid"/>
          </a:ln>
          <a:effectLst>
            <a:outerShdw sx="100000" sy="100000" kx="0" ky="0" algn="bl" rotWithShape="0" blurRad="4.2593502352068695e+57" dist="1.1358267293884988e+58" dir="3.526387384320001e+68">
              <a:srgbClr val="000000">
                <a:alpha val="1.5999999999999997e+69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96112" y="187452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2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Capacity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359152" y="186537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10% of mean daily energy</a:t>
            </a:r>
            <a:endParaRPr lang="en-US" sz="1120" dirty="0"/>
          </a:p>
        </p:txBody>
      </p:sp>
      <p:sp>
        <p:nvSpPr>
          <p:cNvPr id="11" name="Text 9"/>
          <p:cNvSpPr/>
          <p:nvPr/>
        </p:nvSpPr>
        <p:spPr>
          <a:xfrm>
            <a:off x="2359152" y="2249424"/>
            <a:ext cx="2743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kWh</a:t>
            </a:r>
            <a:endParaRPr lang="en-US" sz="860" dirty="0"/>
          </a:p>
        </p:txBody>
      </p:sp>
      <p:sp>
        <p:nvSpPr>
          <p:cNvPr id="12" name="Shape 10"/>
          <p:cNvSpPr/>
          <p:nvPr/>
        </p:nvSpPr>
        <p:spPr>
          <a:xfrm>
            <a:off x="6263640" y="1709928"/>
            <a:ext cx="518464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10160">
            <a:solidFill>
              <a:srgbClr val="E1E7ED"/>
            </a:solidFill>
            <a:prstDash val="solid"/>
          </a:ln>
          <a:effectLst>
            <a:outerShdw sx="100000" sy="100000" kx="0" ky="0" algn="bl" rotWithShape="0" blurRad="5.409374798712724e+61" dist="1.4424999463233936e+62" dir="2.1158324305920003e+73">
              <a:srgbClr val="000000">
                <a:alpha val="1.5999999999999997e+74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46520" y="187452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2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Pcharge / Pdischarge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909560" y="186537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25% of capacity per hour</a:t>
            </a:r>
            <a:endParaRPr lang="en-US" sz="1120" dirty="0"/>
          </a:p>
        </p:txBody>
      </p:sp>
      <p:sp>
        <p:nvSpPr>
          <p:cNvPr id="15" name="Text 13"/>
          <p:cNvSpPr/>
          <p:nvPr/>
        </p:nvSpPr>
        <p:spPr>
          <a:xfrm>
            <a:off x="7909560" y="2249424"/>
            <a:ext cx="2743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kW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713232" y="2935224"/>
            <a:ext cx="518464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10160">
            <a:solidFill>
              <a:srgbClr val="E1E7ED"/>
            </a:solidFill>
            <a:prstDash val="solid"/>
          </a:ln>
          <a:effectLst>
            <a:outerShdw sx="100000" sy="100000" kx="0" ky="0" algn="bl" rotWithShape="0" blurRad="6.86990599436516e+65" dist="1.83197493183071e+66" dir="1.2694994583552002e+78">
              <a:srgbClr val="000000">
                <a:alpha val="1.5999999999999997e+79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6112" y="3099816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2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SOC range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359152" y="309067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10% → 90%</a:t>
            </a:r>
            <a:endParaRPr lang="en-US" sz="1120" dirty="0"/>
          </a:p>
        </p:txBody>
      </p:sp>
      <p:sp>
        <p:nvSpPr>
          <p:cNvPr id="19" name="Text 17"/>
          <p:cNvSpPr/>
          <p:nvPr/>
        </p:nvSpPr>
        <p:spPr>
          <a:xfrm>
            <a:off x="2359152" y="3474720"/>
            <a:ext cx="2743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kWh state</a:t>
            </a:r>
            <a:endParaRPr lang="en-US" sz="860" dirty="0"/>
          </a:p>
        </p:txBody>
      </p:sp>
      <p:sp>
        <p:nvSpPr>
          <p:cNvPr id="20" name="Shape 18"/>
          <p:cNvSpPr/>
          <p:nvPr/>
        </p:nvSpPr>
        <p:spPr>
          <a:xfrm>
            <a:off x="6263640" y="2935224"/>
            <a:ext cx="518464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10160">
            <a:solidFill>
              <a:srgbClr val="E1E7ED"/>
            </a:solidFill>
            <a:prstDash val="solid"/>
          </a:ln>
          <a:effectLst>
            <a:outerShdw sx="100000" sy="100000" kx="0" ky="0" algn="bl" rotWithShape="0" blurRad="8.724780612843754e+69" dist="2.3266081634250016e+70" dir="7.616996750131201e+82">
              <a:srgbClr val="000000">
                <a:alpha val="1.5999999999999996e+84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46520" y="3099816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2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Initial / terminal SOC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909560" y="309067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50% / 50%</a:t>
            </a:r>
            <a:endParaRPr lang="en-US" sz="1120" dirty="0"/>
          </a:p>
        </p:txBody>
      </p:sp>
      <p:sp>
        <p:nvSpPr>
          <p:cNvPr id="23" name="Text 21"/>
          <p:cNvSpPr/>
          <p:nvPr/>
        </p:nvSpPr>
        <p:spPr>
          <a:xfrm>
            <a:off x="7909560" y="3474720"/>
            <a:ext cx="2743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daily reset</a:t>
            </a:r>
            <a:endParaRPr lang="en-US" sz="860" dirty="0"/>
          </a:p>
        </p:txBody>
      </p:sp>
      <p:sp>
        <p:nvSpPr>
          <p:cNvPr id="24" name="Shape 22"/>
          <p:cNvSpPr/>
          <p:nvPr/>
        </p:nvSpPr>
        <p:spPr>
          <a:xfrm>
            <a:off x="713232" y="4160520"/>
            <a:ext cx="518464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10160">
            <a:solidFill>
              <a:srgbClr val="E1E7ED"/>
            </a:solidFill>
            <a:prstDash val="solid"/>
          </a:ln>
          <a:effectLst>
            <a:outerShdw sx="100000" sy="100000" kx="0" ky="0" algn="bl" rotWithShape="0" blurRad="1.1080471378311567e+74" dist="2.954792367549752e+74" dir="4.57019805007872e+87">
              <a:srgbClr val="000000">
                <a:alpha val="1.5999999999999997e+89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6112" y="4325112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2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ηcharge / ηdischarge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359152" y="431596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0.94868 / 0.94868</a:t>
            </a:r>
            <a:endParaRPr lang="en-US" sz="1120" dirty="0"/>
          </a:p>
        </p:txBody>
      </p:sp>
      <p:sp>
        <p:nvSpPr>
          <p:cNvPr id="27" name="Text 25"/>
          <p:cNvSpPr/>
          <p:nvPr/>
        </p:nvSpPr>
        <p:spPr>
          <a:xfrm>
            <a:off x="2359152" y="4700016"/>
            <a:ext cx="2743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round-trip 0.90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6263640" y="4160520"/>
            <a:ext cx="518464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 w="10160">
            <a:solidFill>
              <a:srgbClr val="E1E7ED"/>
            </a:solidFill>
            <a:prstDash val="solid"/>
          </a:ln>
          <a:effectLst>
            <a:outerShdw sx="100000" sy="100000" kx="0" ky="0" algn="bl" rotWithShape="0" blurRad="1.407219865045569e+78" dist="3.752586306788185e+78" dir="2.742118830047232e+92">
              <a:srgbClr val="000000">
                <a:alpha val="1.5999999999999997e+94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46520" y="4325112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72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Optimizer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909560" y="431596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daily peak shaving</a:t>
            </a:r>
            <a:endParaRPr lang="en-US" sz="1120" dirty="0"/>
          </a:p>
        </p:txBody>
      </p:sp>
      <p:sp>
        <p:nvSpPr>
          <p:cNvPr id="31" name="Text 29"/>
          <p:cNvSpPr/>
          <p:nvPr/>
        </p:nvSpPr>
        <p:spPr>
          <a:xfrm>
            <a:off x="7909560" y="4700016"/>
            <a:ext cx="2743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scipy.optimize.milp</a:t>
            </a:r>
            <a:endParaRPr lang="en-US" sz="860" dirty="0"/>
          </a:p>
        </p:txBody>
      </p:sp>
      <p:sp>
        <p:nvSpPr>
          <p:cNvPr id="32" name="Shape 30"/>
          <p:cNvSpPr/>
          <p:nvPr/>
        </p:nvSpPr>
        <p:spPr>
          <a:xfrm>
            <a:off x="2194560" y="5669280"/>
            <a:ext cx="7790688" cy="292608"/>
          </a:xfrm>
          <a:prstGeom prst="roundRect">
            <a:avLst>
              <a:gd name="adj" fmla="val 18750"/>
            </a:avLst>
          </a:prstGeom>
          <a:solidFill>
            <a:srgbClr val="EAF5FF"/>
          </a:solidFill>
          <a:ln w="12700">
            <a:solidFill>
              <a:srgbClr val="C8E5F8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67712" y="5710428"/>
            <a:ext cx="76443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072B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1-hour interval: load energy kWh · dispatch power kW · capacity/SOC kWh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566928" y="6153912"/>
            <a:ext cx="10744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97A2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source: outputs/phase7/building_battery_configs.csv · same battery/optimizer for all forecast methods</a:t>
            </a:r>
            <a:endParaRPr lang="en-US" sz="670" dirty="0"/>
          </a:p>
        </p:txBody>
      </p:sp>
      <p:sp>
        <p:nvSpPr>
          <p:cNvPr id="35" name="Text 33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996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Appendix · physical constraint / unit answer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8A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SB-A05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A88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· FORECAST RESULTS</a:t>
            </a:r>
            <a:endParaRPr lang="en-US" sz="830" dirty="0"/>
          </a:p>
        </p:txBody>
      </p:sp>
      <p:sp>
        <p:nvSpPr>
          <p:cNvPr id="4" name="Shape 2"/>
          <p:cNvSpPr/>
          <p:nvPr/>
        </p:nvSpPr>
        <p:spPr>
          <a:xfrm>
            <a:off x="10561320" y="173736"/>
            <a:ext cx="896112" cy="292608"/>
          </a:xfrm>
          <a:prstGeom prst="roundRect">
            <a:avLst>
              <a:gd name="adj" fmla="val 18750"/>
            </a:avLst>
          </a:prstGeom>
          <a:solidFill>
            <a:srgbClr val="6F4E9C"/>
          </a:solidFill>
          <a:ln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214884"/>
            <a:ext cx="749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Q&amp;A ONLY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完整预测指标用于核查，不替代下游决策评价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85216" y="10789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C68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冻结八栋 Test 等权聚合；normalized metrics 均按每栋 Train mean load 归一化。</a:t>
            </a:r>
            <a:endParaRPr lang="en-US" sz="1240" dirty="0"/>
          </a:p>
        </p:txBody>
      </p:sp>
      <p:sp>
        <p:nvSpPr>
          <p:cNvPr id="8" name="Shape 6"/>
          <p:cNvSpPr/>
          <p:nvPr/>
        </p:nvSpPr>
        <p:spPr>
          <a:xfrm>
            <a:off x="594360" y="1609344"/>
            <a:ext cx="2578608" cy="457200"/>
          </a:xfrm>
          <a:prstGeom prst="rect">
            <a:avLst/>
          </a:prstGeom>
          <a:solidFill>
            <a:srgbClr val="182B3F"/>
          </a:solidFill>
          <a:ln w="12700">
            <a:solidFill>
              <a:srgbClr val="182B3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172821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3172968" y="1609344"/>
            <a:ext cx="1993392" cy="457200"/>
          </a:xfrm>
          <a:prstGeom prst="rect">
            <a:avLst/>
          </a:prstGeom>
          <a:solidFill>
            <a:srgbClr val="182B3F"/>
          </a:solidFill>
          <a:ln w="12700">
            <a:solidFill>
              <a:srgbClr val="182B3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46120" y="1728216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normalized MAE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166360" y="1609344"/>
            <a:ext cx="1993392" cy="457200"/>
          </a:xfrm>
          <a:prstGeom prst="rect">
            <a:avLst/>
          </a:prstGeom>
          <a:solidFill>
            <a:srgbClr val="182B3F"/>
          </a:solidFill>
          <a:ln w="12700">
            <a:solidFill>
              <a:srgbClr val="182B3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39512" y="1728216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normalized RMSE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7159752" y="1609344"/>
            <a:ext cx="2176272" cy="457200"/>
          </a:xfrm>
          <a:prstGeom prst="rect">
            <a:avLst/>
          </a:prstGeom>
          <a:solidFill>
            <a:srgbClr val="182B3F"/>
          </a:solidFill>
          <a:ln w="12700">
            <a:solidFill>
              <a:srgbClr val="182B3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32904" y="1728216"/>
            <a:ext cx="2029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normalized regret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9336024" y="1609344"/>
            <a:ext cx="1993392" cy="457200"/>
          </a:xfrm>
          <a:prstGeom prst="rect">
            <a:avLst/>
          </a:prstGeom>
          <a:solidFill>
            <a:srgbClr val="182B3F"/>
          </a:solidFill>
          <a:ln w="12700">
            <a:solidFill>
              <a:srgbClr val="182B3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09176" y="1728216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peak reduction mean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594360" y="2066544"/>
            <a:ext cx="2578608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7512" y="2185416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Persistence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172968" y="2066544"/>
            <a:ext cx="199339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46120" y="218541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.225885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166360" y="2066544"/>
            <a:ext cx="199339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39512" y="218541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.430193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159752" y="2066544"/>
            <a:ext cx="217627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2904" y="2185416"/>
            <a:ext cx="2029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.162986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9336024" y="2066544"/>
            <a:ext cx="199339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09176" y="218541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−1.878%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94360" y="2569464"/>
            <a:ext cx="2578608" cy="502920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7512" y="2688336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172968" y="2569464"/>
            <a:ext cx="1993392" cy="502920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46120" y="268833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.201578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166360" y="2569464"/>
            <a:ext cx="1993392" cy="502920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9512" y="268833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.328414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159752" y="2569464"/>
            <a:ext cx="2176272" cy="502920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232904" y="2688336"/>
            <a:ext cx="2029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.144323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336024" y="2569464"/>
            <a:ext cx="1993392" cy="502920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09176" y="268833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3.085%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94360" y="3072384"/>
            <a:ext cx="2578608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7512" y="3191256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DayWeek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172968" y="3072384"/>
            <a:ext cx="199339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46120" y="319125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.183478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166360" y="3072384"/>
            <a:ext cx="199339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39512" y="319125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.296621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7159752" y="3072384"/>
            <a:ext cx="217627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32904" y="3191256"/>
            <a:ext cx="2029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.143019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336024" y="3072384"/>
            <a:ext cx="199339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409176" y="319125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4.907%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94360" y="3575304"/>
            <a:ext cx="2578608" cy="502920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7512" y="3694176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LightGBM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172968" y="3575304"/>
            <a:ext cx="1993392" cy="502920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46120" y="369417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.147338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5166360" y="3575304"/>
            <a:ext cx="1993392" cy="502920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39512" y="369417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.216942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7159752" y="3575304"/>
            <a:ext cx="2176272" cy="502920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232904" y="3694176"/>
            <a:ext cx="2029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.116127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9336024" y="3575304"/>
            <a:ext cx="1993392" cy="502920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409176" y="369417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1.008%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594360" y="4078224"/>
            <a:ext cx="2578608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67512" y="4197096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XGBoost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3172968" y="4078224"/>
            <a:ext cx="199339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46120" y="419709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.149781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5166360" y="4078224"/>
            <a:ext cx="199339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239512" y="419709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.216751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7159752" y="4078224"/>
            <a:ext cx="217627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32904" y="4197096"/>
            <a:ext cx="2029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.117534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9336024" y="4078224"/>
            <a:ext cx="1993392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409176" y="419709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0.453%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94360" y="4581144"/>
            <a:ext cx="2578608" cy="502920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7512" y="4700016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CatBoost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3172968" y="4581144"/>
            <a:ext cx="1993392" cy="502920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246120" y="470001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.173604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5166360" y="4581144"/>
            <a:ext cx="1993392" cy="502920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239512" y="470001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.239211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7159752" y="4581144"/>
            <a:ext cx="2176272" cy="502920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232904" y="4700016"/>
            <a:ext cx="2029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.118740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9336024" y="4581144"/>
            <a:ext cx="1993392" cy="502920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409176" y="470001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−24.482%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594360" y="5084064"/>
            <a:ext cx="2578608" cy="502920"/>
          </a:xfrm>
          <a:prstGeom prst="rect">
            <a:avLst/>
          </a:prstGeom>
          <a:solidFill>
            <a:srgbClr val="E8F5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67512" y="5202936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0072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DOEF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3172968" y="5084064"/>
            <a:ext cx="1993392" cy="502920"/>
          </a:xfrm>
          <a:prstGeom prst="rect">
            <a:avLst/>
          </a:prstGeom>
          <a:solidFill>
            <a:srgbClr val="E8F5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246120" y="520293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0072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.137970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5166360" y="5084064"/>
            <a:ext cx="1993392" cy="502920"/>
          </a:xfrm>
          <a:prstGeom prst="rect">
            <a:avLst/>
          </a:prstGeom>
          <a:solidFill>
            <a:srgbClr val="E8F5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239512" y="520293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0072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.207822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7159752" y="5084064"/>
            <a:ext cx="2176272" cy="502920"/>
          </a:xfrm>
          <a:prstGeom prst="rect">
            <a:avLst/>
          </a:prstGeom>
          <a:solidFill>
            <a:srgbClr val="E8F5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232904" y="5202936"/>
            <a:ext cx="2029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0072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.111929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9336024" y="5084064"/>
            <a:ext cx="1993392" cy="502920"/>
          </a:xfrm>
          <a:prstGeom prst="rect">
            <a:avLst/>
          </a:prstGeom>
          <a:solidFill>
            <a:srgbClr val="E8F5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9409176" y="520293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0072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6.442%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594360" y="5586984"/>
            <a:ext cx="2578608" cy="502920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67512" y="5705856"/>
            <a:ext cx="2432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Peak-aware LGBM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172968" y="5586984"/>
            <a:ext cx="1993392" cy="502920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246120" y="570585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.147587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5166360" y="5586984"/>
            <a:ext cx="1993392" cy="502920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5239512" y="570585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.217284</a:t>
            </a:r>
            <a:endParaRPr lang="en-US" sz="950" dirty="0"/>
          </a:p>
        </p:txBody>
      </p:sp>
      <p:sp>
        <p:nvSpPr>
          <p:cNvPr id="94" name="Shape 92"/>
          <p:cNvSpPr/>
          <p:nvPr/>
        </p:nvSpPr>
        <p:spPr>
          <a:xfrm>
            <a:off x="7159752" y="5586984"/>
            <a:ext cx="2176272" cy="502920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232904" y="5705856"/>
            <a:ext cx="20299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.116202</a:t>
            </a:r>
            <a:endParaRPr lang="en-US" sz="950" dirty="0"/>
          </a:p>
        </p:txBody>
      </p:sp>
      <p:sp>
        <p:nvSpPr>
          <p:cNvPr id="96" name="Shape 94"/>
          <p:cNvSpPr/>
          <p:nvPr/>
        </p:nvSpPr>
        <p:spPr>
          <a:xfrm>
            <a:off x="9336024" y="5586984"/>
            <a:ext cx="1993392" cy="502920"/>
          </a:xfrm>
          <a:prstGeom prst="rect">
            <a:avLst/>
          </a:prstGeom>
          <a:solidFill>
            <a:srgbClr val="FAFCFD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409176" y="5705856"/>
            <a:ext cx="18470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1.129%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566928" y="6153912"/>
            <a:ext cx="10744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97A2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Canonical source: outputs/phase9/final_benchmark.csv · lower is better for normalized MAE/RMSE/regret</a:t>
            </a:r>
            <a:endParaRPr lang="en-US" sz="670" dirty="0"/>
          </a:p>
        </p:txBody>
      </p:sp>
      <p:sp>
        <p:nvSpPr>
          <p:cNvPr id="99" name="Text 97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996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Appendix · full forecast table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8A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SB-A06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A88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· DECISION RESULTS</a:t>
            </a:r>
            <a:endParaRPr lang="en-US" sz="830" dirty="0"/>
          </a:p>
        </p:txBody>
      </p:sp>
      <p:sp>
        <p:nvSpPr>
          <p:cNvPr id="4" name="Shape 2"/>
          <p:cNvSpPr/>
          <p:nvPr/>
        </p:nvSpPr>
        <p:spPr>
          <a:xfrm>
            <a:off x="10561320" y="173736"/>
            <a:ext cx="896112" cy="292608"/>
          </a:xfrm>
          <a:prstGeom prst="roundRect">
            <a:avLst>
              <a:gd name="adj" fmla="val 18750"/>
            </a:avLst>
          </a:prstGeom>
          <a:solidFill>
            <a:srgbClr val="6F4E9C"/>
          </a:solidFill>
          <a:ln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214884"/>
            <a:ext cx="749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Q&amp;A ONLY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决策指标必须连同范围与聚合口径一起解释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85216" y="10789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C68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mean 与 median 可能给出完全不同的直觉；负例必须和有利统计一起展示。</a:t>
            </a:r>
            <a:endParaRPr lang="en-US" sz="1240" dirty="0"/>
          </a:p>
        </p:txBody>
      </p:sp>
      <p:sp>
        <p:nvSpPr>
          <p:cNvPr id="8" name="Shape 6"/>
          <p:cNvSpPr/>
          <p:nvPr/>
        </p:nvSpPr>
        <p:spPr>
          <a:xfrm>
            <a:off x="658368" y="1554480"/>
            <a:ext cx="3712464" cy="4517136"/>
          </a:xfrm>
          <a:prstGeom prst="roundRect">
            <a:avLst>
              <a:gd name="adj" fmla="val 2217"/>
            </a:avLst>
          </a:prstGeom>
          <a:solidFill>
            <a:srgbClr val="0B192B"/>
          </a:solidFill>
          <a:ln w="10160">
            <a:solidFill>
              <a:srgbClr val="0B1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1856232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为什么不能只看一个平均数？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932688" y="2542032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C1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CatBoost peak reduction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32688" y="288950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9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−24.48%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932688" y="354787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A9B8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mean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23744" y="2889504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4C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+4.82%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523744" y="354787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A9B8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median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32688" y="4224528"/>
            <a:ext cx="28529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A8B8C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极端负例会强烈拖动 mean；因此报告必须同时给出 method / building / split / aggregation。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932688" y="5321808"/>
            <a:ext cx="1554480" cy="292608"/>
          </a:xfrm>
          <a:prstGeom prst="roundRect">
            <a:avLst>
              <a:gd name="adj" fmla="val 18750"/>
            </a:avLst>
          </a:prstGeom>
          <a:solidFill>
            <a:srgbClr val="452A23"/>
          </a:solidFill>
          <a:ln w="12700">
            <a:solidFill>
              <a:srgbClr val="452A23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536295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C0A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min = −245.94%</a:t>
            </a:r>
            <a:endParaRPr lang="en-US" sz="810" dirty="0"/>
          </a:p>
        </p:txBody>
      </p:sp>
      <p:sp>
        <p:nvSpPr>
          <p:cNvPr id="18" name="Shape 16"/>
          <p:cNvSpPr/>
          <p:nvPr/>
        </p:nvSpPr>
        <p:spPr>
          <a:xfrm>
            <a:off x="4590288" y="1847088"/>
            <a:ext cx="1591056" cy="438912"/>
          </a:xfrm>
          <a:prstGeom prst="rect">
            <a:avLst/>
          </a:prstGeom>
          <a:solidFill>
            <a:srgbClr val="182B3F"/>
          </a:solidFill>
          <a:ln w="12700">
            <a:solidFill>
              <a:srgbClr val="182B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1965960"/>
            <a:ext cx="1444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Method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181344" y="1847088"/>
            <a:ext cx="1243584" cy="438912"/>
          </a:xfrm>
          <a:prstGeom prst="rect">
            <a:avLst/>
          </a:prstGeom>
          <a:solidFill>
            <a:srgbClr val="182B3F"/>
          </a:solidFill>
          <a:ln w="12700">
            <a:solidFill>
              <a:srgbClr val="182B3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54496" y="196596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 regret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424928" y="1847088"/>
            <a:ext cx="1335024" cy="438912"/>
          </a:xfrm>
          <a:prstGeom prst="rect">
            <a:avLst/>
          </a:prstGeom>
          <a:solidFill>
            <a:srgbClr val="182B3F"/>
          </a:solidFill>
          <a:ln w="12700">
            <a:solidFill>
              <a:srgbClr val="182B3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0" y="19659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peak mean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759952" y="1847088"/>
            <a:ext cx="1335024" cy="438912"/>
          </a:xfrm>
          <a:prstGeom prst="rect">
            <a:avLst/>
          </a:prstGeom>
          <a:solidFill>
            <a:srgbClr val="182B3F"/>
          </a:solidFill>
          <a:ln w="12700">
            <a:solidFill>
              <a:srgbClr val="182B3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33104" y="19659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peak median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0094976" y="1847088"/>
            <a:ext cx="1335024" cy="438912"/>
          </a:xfrm>
          <a:prstGeom prst="rect">
            <a:avLst/>
          </a:prstGeom>
          <a:solidFill>
            <a:srgbClr val="182B3F"/>
          </a:solidFill>
          <a:ln w="12700">
            <a:solidFill>
              <a:srgbClr val="182B3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168128" y="19659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peak min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590288" y="2286000"/>
            <a:ext cx="1591056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2468880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LightGBM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181344" y="2286000"/>
            <a:ext cx="1243584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54496" y="24688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.116127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424928" y="2286000"/>
            <a:ext cx="1335024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0" y="24688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1.008%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759952" y="2286000"/>
            <a:ext cx="1335024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833104" y="24688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5.057%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094976" y="2286000"/>
            <a:ext cx="1335024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168128" y="24688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−41.192%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590288" y="2953512"/>
            <a:ext cx="1591056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63440" y="3136392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XGBoost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181344" y="2953512"/>
            <a:ext cx="1243584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54496" y="3136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.117534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424928" y="2953512"/>
            <a:ext cx="1335024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98080" y="3136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0.453%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8759952" y="2953512"/>
            <a:ext cx="1335024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833104" y="3136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4.588%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10094976" y="2953512"/>
            <a:ext cx="1335024" cy="667512"/>
          </a:xfrm>
          <a:prstGeom prst="rect">
            <a:avLst/>
          </a:prstGeom>
          <a:solidFill>
            <a:srgbClr val="FFFF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168128" y="3136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−44.357%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590288" y="3621024"/>
            <a:ext cx="1591056" cy="667512"/>
          </a:xfrm>
          <a:prstGeom prst="rect">
            <a:avLst/>
          </a:prstGeom>
          <a:solidFill>
            <a:srgbClr val="FFF1E8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63440" y="3803904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B35C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CatBoost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181344" y="3621024"/>
            <a:ext cx="1243584" cy="667512"/>
          </a:xfrm>
          <a:prstGeom prst="rect">
            <a:avLst/>
          </a:prstGeom>
          <a:solidFill>
            <a:srgbClr val="FFF1E8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54496" y="380390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B35C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.118740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7424928" y="3621024"/>
            <a:ext cx="1335024" cy="667512"/>
          </a:xfrm>
          <a:prstGeom prst="rect">
            <a:avLst/>
          </a:prstGeom>
          <a:solidFill>
            <a:srgbClr val="FFF1E8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98080" y="380390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B35C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−24.482%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8759952" y="3621024"/>
            <a:ext cx="1335024" cy="667512"/>
          </a:xfrm>
          <a:prstGeom prst="rect">
            <a:avLst/>
          </a:prstGeom>
          <a:solidFill>
            <a:srgbClr val="FFF1E8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833104" y="380390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B35C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4.821%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10094976" y="3621024"/>
            <a:ext cx="1335024" cy="667512"/>
          </a:xfrm>
          <a:prstGeom prst="rect">
            <a:avLst/>
          </a:prstGeom>
          <a:solidFill>
            <a:srgbClr val="FFF1E8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168128" y="380390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B35C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−245.943%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590288" y="4288536"/>
            <a:ext cx="1591056" cy="667512"/>
          </a:xfrm>
          <a:prstGeom prst="rect">
            <a:avLst/>
          </a:prstGeom>
          <a:solidFill>
            <a:srgbClr val="EAF5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63440" y="4471416"/>
            <a:ext cx="1444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0072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DOEF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181344" y="4288536"/>
            <a:ext cx="1243584" cy="667512"/>
          </a:xfrm>
          <a:prstGeom prst="rect">
            <a:avLst/>
          </a:prstGeom>
          <a:solidFill>
            <a:srgbClr val="EAF5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254496" y="447141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0072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.111929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7424928" y="4288536"/>
            <a:ext cx="1335024" cy="667512"/>
          </a:xfrm>
          <a:prstGeom prst="rect">
            <a:avLst/>
          </a:prstGeom>
          <a:solidFill>
            <a:srgbClr val="EAF5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498080" y="447141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0072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6.442%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8759952" y="4288536"/>
            <a:ext cx="1335024" cy="667512"/>
          </a:xfrm>
          <a:prstGeom prst="rect">
            <a:avLst/>
          </a:prstGeom>
          <a:solidFill>
            <a:srgbClr val="EAF5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833104" y="447141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0072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5.629%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10094976" y="4288536"/>
            <a:ext cx="1335024" cy="667512"/>
          </a:xfrm>
          <a:prstGeom prst="rect">
            <a:avLst/>
          </a:prstGeom>
          <a:solidFill>
            <a:srgbClr val="EAF5FF"/>
          </a:solidFill>
          <a:ln w="6350">
            <a:solidFill>
              <a:srgbClr val="E0E7E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0168128" y="447141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0072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−1.017%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566928" y="6153912"/>
            <a:ext cx="10744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97A2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source: outputs/phase9/final_benchmark.csv + decision metrics · peak reduction is not a universal scalar</a:t>
            </a:r>
            <a:endParaRPr lang="en-US" sz="670" dirty="0"/>
          </a:p>
        </p:txBody>
      </p:sp>
      <p:sp>
        <p:nvSpPr>
          <p:cNvPr id="69" name="Text 67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996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Appendix · aggregation caveat / negative cases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8A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SB-A07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A88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· MECHANISM TRACE</a:t>
            </a:r>
            <a:endParaRPr lang="en-US" sz="830" dirty="0"/>
          </a:p>
        </p:txBody>
      </p:sp>
      <p:sp>
        <p:nvSpPr>
          <p:cNvPr id="4" name="Shape 2"/>
          <p:cNvSpPr/>
          <p:nvPr/>
        </p:nvSpPr>
        <p:spPr>
          <a:xfrm>
            <a:off x="10561320" y="173736"/>
            <a:ext cx="896112" cy="292608"/>
          </a:xfrm>
          <a:prstGeom prst="roundRect">
            <a:avLst>
              <a:gd name="adj" fmla="val 18750"/>
            </a:avLst>
          </a:prstGeom>
          <a:solidFill>
            <a:srgbClr val="6F4E9C"/>
          </a:solidFill>
          <a:ln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214884"/>
            <a:ext cx="749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Q&amp;A ONLY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冻结调度轨迹只用于说明流程，不代表普遍表现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85216" y="10789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C68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Phase 8 预先冻结的代表性 Test case；只作为“预测如何改变 realized grid load”的机制说明。</a:t>
            </a:r>
            <a:endParaRPr lang="en-US" sz="1240" dirty="0"/>
          </a:p>
        </p:txBody>
      </p:sp>
      <p:sp>
        <p:nvSpPr>
          <p:cNvPr id="8" name="Shape 6"/>
          <p:cNvSpPr/>
          <p:nvPr/>
        </p:nvSpPr>
        <p:spPr>
          <a:xfrm>
            <a:off x="658368" y="1572768"/>
            <a:ext cx="7827264" cy="4370832"/>
          </a:xfrm>
          <a:prstGeom prst="roundRect">
            <a:avLst>
              <a:gd name="adj" fmla="val 1883"/>
            </a:avLst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1.7871692286078725e+82" dist="4.765784609620995e+82" dir="1.6452712980283393e+97">
              <a:srgbClr val="000000">
                <a:alpha val="1.5999999999999998e+99"/>
              </a:srgbClr>
            </a:outerShdw>
          </a:effectLst>
        </p:spPr>
      </p:sp>
      <p:pic>
        <p:nvPicPr>
          <p:cNvPr id="9" name="Image 0" descr="/home/runner/work/zhichu-yunkong/zhichu-yunkong/outputs/phase13_1/figures/sci_05_storage_dispatch_froz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840" y="1609344"/>
            <a:ext cx="7640320" cy="42976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732520" y="1572768"/>
            <a:ext cx="2788920" cy="4370832"/>
          </a:xfrm>
          <a:prstGeom prst="roundRect">
            <a:avLst>
              <a:gd name="adj" fmla="val 2951"/>
            </a:avLst>
          </a:prstGeom>
          <a:solidFill>
            <a:srgbClr val="0B192B"/>
          </a:solidFill>
          <a:ln w="10160">
            <a:solidFill>
              <a:srgbClr val="0B192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061704" y="1901952"/>
            <a:ext cx="1444752" cy="292608"/>
          </a:xfrm>
          <a:prstGeom prst="roundRect">
            <a:avLst>
              <a:gd name="adj" fmla="val 18750"/>
            </a:avLst>
          </a:prstGeom>
          <a:solidFill>
            <a:srgbClr val="3B2B20"/>
          </a:solidFill>
          <a:ln w="12700">
            <a:solidFill>
              <a:srgbClr val="3B2B20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34856" y="1943100"/>
            <a:ext cx="12984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C49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BACKUP ONLY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9052560" y="2578608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B6C4C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预冻结 Test case</a:t>
            </a:r>
            <a:endParaRPr lang="en-US" sz="1020" dirty="0"/>
          </a:p>
        </p:txBody>
      </p:sp>
      <p:sp>
        <p:nvSpPr>
          <p:cNvPr id="14" name="Text 11"/>
          <p:cNvSpPr/>
          <p:nvPr/>
        </p:nvSpPr>
        <p:spPr>
          <a:xfrm>
            <a:off x="9052560" y="305409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B6C4C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不代表普遍表现</a:t>
            </a:r>
            <a:endParaRPr lang="en-US" sz="1020" dirty="0"/>
          </a:p>
        </p:txBody>
      </p:sp>
      <p:sp>
        <p:nvSpPr>
          <p:cNvPr id="15" name="Text 12"/>
          <p:cNvSpPr/>
          <p:nvPr/>
        </p:nvSpPr>
        <p:spPr>
          <a:xfrm>
            <a:off x="9052560" y="352958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B6C4C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不做 case reselection</a:t>
            </a:r>
            <a:endParaRPr lang="en-US" sz="1020" dirty="0"/>
          </a:p>
        </p:txBody>
      </p:sp>
      <p:sp>
        <p:nvSpPr>
          <p:cNvPr id="16" name="Text 13"/>
          <p:cNvSpPr/>
          <p:nvPr/>
        </p:nvSpPr>
        <p:spPr>
          <a:xfrm>
            <a:off x="9052560" y="4005072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B6C4C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不提取新数值</a:t>
            </a:r>
            <a:endParaRPr lang="en-US" sz="1020" dirty="0"/>
          </a:p>
        </p:txBody>
      </p:sp>
      <p:sp>
        <p:nvSpPr>
          <p:cNvPr id="17" name="Text 14"/>
          <p:cNvSpPr/>
          <p:nvPr/>
        </p:nvSpPr>
        <p:spPr>
          <a:xfrm>
            <a:off x="9052560" y="448056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B6C4C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不改变坐标/标签</a:t>
            </a:r>
            <a:endParaRPr lang="en-US" sz="1020" dirty="0"/>
          </a:p>
        </p:txBody>
      </p:sp>
      <p:sp>
        <p:nvSpPr>
          <p:cNvPr id="18" name="Text 15"/>
          <p:cNvSpPr/>
          <p:nvPr/>
        </p:nvSpPr>
        <p:spPr>
          <a:xfrm>
            <a:off x="566928" y="6153912"/>
            <a:ext cx="10744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97A2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 frozen source: outputs/phase13_1/figures/sci_05_storage_dispatch_frozen.png · no value extraction or case reselection</a:t>
            </a:r>
            <a:endParaRPr lang="en-US" sz="67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996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Appendix · dispatch mechanism question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8A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SB-A08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A88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· SELECTION</a:t>
            </a:r>
            <a:endParaRPr lang="en-US" sz="830" dirty="0"/>
          </a:p>
        </p:txBody>
      </p:sp>
      <p:sp>
        <p:nvSpPr>
          <p:cNvPr id="4" name="Shape 2"/>
          <p:cNvSpPr/>
          <p:nvPr/>
        </p:nvSpPr>
        <p:spPr>
          <a:xfrm>
            <a:off x="10561320" y="173736"/>
            <a:ext cx="896112" cy="292608"/>
          </a:xfrm>
          <a:prstGeom prst="roundRect">
            <a:avLst>
              <a:gd name="adj" fmla="val 18750"/>
            </a:avLst>
          </a:prstGeom>
          <a:solidFill>
            <a:srgbClr val="6F4E9C"/>
          </a:solidFill>
          <a:ln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214884"/>
            <a:ext cx="749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Q&amp;A ONLY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逐建筑权重来自预先声明的 Validation 搜索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85216" y="10789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C68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候选 wᵦ = {0.0, 0.1, …, 1.0}；确定性 tie-break；Test 完全排除。</a:t>
            </a:r>
            <a:endParaRPr lang="en-US" sz="1240" dirty="0"/>
          </a:p>
        </p:txBody>
      </p:sp>
      <p:sp>
        <p:nvSpPr>
          <p:cNvPr id="8" name="Shape 6"/>
          <p:cNvSpPr/>
          <p:nvPr/>
        </p:nvSpPr>
        <p:spPr>
          <a:xfrm>
            <a:off x="621792" y="1572768"/>
            <a:ext cx="6766560" cy="4306824"/>
          </a:xfrm>
          <a:prstGeom prst="roundRect">
            <a:avLst>
              <a:gd name="adj" fmla="val 1911"/>
            </a:avLst>
          </a:prstGeom>
          <a:solidFill>
            <a:srgbClr val="FFFFFF"/>
          </a:solidFill>
          <a:ln w="10160">
            <a:solidFill>
              <a:srgbClr val="E2E8F0"/>
            </a:solidFill>
            <a:prstDash val="solid"/>
          </a:ln>
          <a:effectLst>
            <a:outerShdw sx="100000" sy="100000" kx="0" ky="0" algn="bl" rotWithShape="0" blurRad="2.269704920331998e+86" dist="6.052546454218663e+86" dir="9.871627788170037e+101">
              <a:srgbClr val="000000">
                <a:alpha val="1.5999999999999997e+104"/>
              </a:srgbClr>
            </a:outerShdw>
          </a:effectLst>
        </p:spPr>
      </p:sp>
      <p:pic>
        <p:nvPicPr>
          <p:cNvPr id="9" name="Image 0" descr="/home/runner/work/zhichu-yunkong/zhichu-yunkong/outputs/phase13_1/figures/sci_04_validation_weight_sel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43659"/>
            <a:ext cx="6693408" cy="3765042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607808" y="1792224"/>
            <a:ext cx="1627632" cy="384048"/>
          </a:xfrm>
          <a:prstGeom prst="rect">
            <a:avLst/>
          </a:prstGeom>
          <a:solidFill>
            <a:srgbClr val="182B3F"/>
          </a:solidFill>
          <a:ln w="12700">
            <a:solidFill>
              <a:srgbClr val="182B3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62672" y="1892808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Building</a:t>
            </a:r>
            <a:endParaRPr lang="en-US" sz="770" dirty="0"/>
          </a:p>
        </p:txBody>
      </p:sp>
      <p:sp>
        <p:nvSpPr>
          <p:cNvPr id="12" name="Shape 9"/>
          <p:cNvSpPr/>
          <p:nvPr/>
        </p:nvSpPr>
        <p:spPr>
          <a:xfrm>
            <a:off x="9235440" y="1792224"/>
            <a:ext cx="1152144" cy="384048"/>
          </a:xfrm>
          <a:prstGeom prst="rect">
            <a:avLst/>
          </a:prstGeom>
          <a:solidFill>
            <a:srgbClr val="182B3F"/>
          </a:solidFill>
          <a:ln w="12700">
            <a:solidFill>
              <a:srgbClr val="182B3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290304" y="1892808"/>
            <a:ext cx="1042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 forecast</a:t>
            </a:r>
            <a:endParaRPr lang="en-US" sz="770" dirty="0"/>
          </a:p>
        </p:txBody>
      </p:sp>
      <p:sp>
        <p:nvSpPr>
          <p:cNvPr id="14" name="Shape 11"/>
          <p:cNvSpPr/>
          <p:nvPr/>
        </p:nvSpPr>
        <p:spPr>
          <a:xfrm>
            <a:off x="10387584" y="1792224"/>
            <a:ext cx="1152144" cy="384048"/>
          </a:xfrm>
          <a:prstGeom prst="rect">
            <a:avLst/>
          </a:prstGeom>
          <a:solidFill>
            <a:srgbClr val="182B3F"/>
          </a:solidFill>
          <a:ln w="12700">
            <a:solidFill>
              <a:srgbClr val="182B3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442448" y="1892808"/>
            <a:ext cx="1042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 decision</a:t>
            </a:r>
            <a:endParaRPr lang="en-US" sz="770" dirty="0"/>
          </a:p>
        </p:txBody>
      </p:sp>
      <p:sp>
        <p:nvSpPr>
          <p:cNvPr id="16" name="Shape 13"/>
          <p:cNvSpPr/>
          <p:nvPr/>
        </p:nvSpPr>
        <p:spPr>
          <a:xfrm>
            <a:off x="7607808" y="2176272"/>
            <a:ext cx="1627632" cy="429768"/>
          </a:xfrm>
          <a:prstGeom prst="rect">
            <a:avLst/>
          </a:prstGeom>
          <a:solidFill>
            <a:srgbClr val="FFFFFF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62672" y="228600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Rolando</a:t>
            </a:r>
            <a:endParaRPr lang="en-US" sz="880" dirty="0"/>
          </a:p>
        </p:txBody>
      </p:sp>
      <p:sp>
        <p:nvSpPr>
          <p:cNvPr id="18" name="Shape 15"/>
          <p:cNvSpPr/>
          <p:nvPr/>
        </p:nvSpPr>
        <p:spPr>
          <a:xfrm>
            <a:off x="9235440" y="2176272"/>
            <a:ext cx="1152144" cy="429768"/>
          </a:xfrm>
          <a:prstGeom prst="rect">
            <a:avLst/>
          </a:prstGeom>
          <a:solidFill>
            <a:srgbClr val="FFFFFF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290304" y="2286000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.9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10387584" y="2176272"/>
            <a:ext cx="1152144" cy="429768"/>
          </a:xfrm>
          <a:prstGeom prst="rect">
            <a:avLst/>
          </a:prstGeom>
          <a:solidFill>
            <a:srgbClr val="FFFFFF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442448" y="2286000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.7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7607808" y="2606040"/>
            <a:ext cx="1627632" cy="429768"/>
          </a:xfrm>
          <a:prstGeom prst="rect">
            <a:avLst/>
          </a:prstGeom>
          <a:solidFill>
            <a:srgbClr val="FAFCFD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662672" y="2715768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Lavon</a:t>
            </a:r>
            <a:endParaRPr lang="en-US" sz="880" dirty="0"/>
          </a:p>
        </p:txBody>
      </p:sp>
      <p:sp>
        <p:nvSpPr>
          <p:cNvPr id="24" name="Shape 21"/>
          <p:cNvSpPr/>
          <p:nvPr/>
        </p:nvSpPr>
        <p:spPr>
          <a:xfrm>
            <a:off x="9235440" y="2606040"/>
            <a:ext cx="1152144" cy="429768"/>
          </a:xfrm>
          <a:prstGeom prst="rect">
            <a:avLst/>
          </a:prstGeom>
          <a:solidFill>
            <a:srgbClr val="FAFCFD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290304" y="2715768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880" dirty="0"/>
          </a:p>
        </p:txBody>
      </p:sp>
      <p:sp>
        <p:nvSpPr>
          <p:cNvPr id="26" name="Shape 23"/>
          <p:cNvSpPr/>
          <p:nvPr/>
        </p:nvSpPr>
        <p:spPr>
          <a:xfrm>
            <a:off x="10387584" y="2606040"/>
            <a:ext cx="1152144" cy="429768"/>
          </a:xfrm>
          <a:prstGeom prst="rect">
            <a:avLst/>
          </a:prstGeom>
          <a:solidFill>
            <a:srgbClr val="FAFCFD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442448" y="2715768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880" dirty="0"/>
          </a:p>
        </p:txBody>
      </p:sp>
      <p:sp>
        <p:nvSpPr>
          <p:cNvPr id="28" name="Shape 25"/>
          <p:cNvSpPr/>
          <p:nvPr/>
        </p:nvSpPr>
        <p:spPr>
          <a:xfrm>
            <a:off x="7607808" y="3035808"/>
            <a:ext cx="1627632" cy="429768"/>
          </a:xfrm>
          <a:prstGeom prst="rect">
            <a:avLst/>
          </a:prstGeom>
          <a:solidFill>
            <a:srgbClr val="F0EBFA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662672" y="31455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Joey</a:t>
            </a:r>
            <a:endParaRPr lang="en-US" sz="880" dirty="0"/>
          </a:p>
        </p:txBody>
      </p:sp>
      <p:sp>
        <p:nvSpPr>
          <p:cNvPr id="30" name="Shape 27"/>
          <p:cNvSpPr/>
          <p:nvPr/>
        </p:nvSpPr>
        <p:spPr>
          <a:xfrm>
            <a:off x="9235440" y="3035808"/>
            <a:ext cx="1152144" cy="429768"/>
          </a:xfrm>
          <a:prstGeom prst="rect">
            <a:avLst/>
          </a:prstGeom>
          <a:solidFill>
            <a:srgbClr val="F0EBFA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290304" y="3145536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.6</a:t>
            </a:r>
            <a:endParaRPr lang="en-US" sz="880" dirty="0"/>
          </a:p>
        </p:txBody>
      </p:sp>
      <p:sp>
        <p:nvSpPr>
          <p:cNvPr id="32" name="Shape 29"/>
          <p:cNvSpPr/>
          <p:nvPr/>
        </p:nvSpPr>
        <p:spPr>
          <a:xfrm>
            <a:off x="10387584" y="3035808"/>
            <a:ext cx="1152144" cy="429768"/>
          </a:xfrm>
          <a:prstGeom prst="rect">
            <a:avLst/>
          </a:prstGeom>
          <a:solidFill>
            <a:srgbClr val="F0EBFA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442448" y="3145536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.3</a:t>
            </a:r>
            <a:endParaRPr lang="en-US" sz="880" dirty="0"/>
          </a:p>
        </p:txBody>
      </p:sp>
      <p:sp>
        <p:nvSpPr>
          <p:cNvPr id="34" name="Shape 31"/>
          <p:cNvSpPr/>
          <p:nvPr/>
        </p:nvSpPr>
        <p:spPr>
          <a:xfrm>
            <a:off x="7607808" y="3465576"/>
            <a:ext cx="1627632" cy="429768"/>
          </a:xfrm>
          <a:prstGeom prst="rect">
            <a:avLst/>
          </a:prstGeom>
          <a:solidFill>
            <a:srgbClr val="FAFCFD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662672" y="357530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Caitlin</a:t>
            </a:r>
            <a:endParaRPr lang="en-US" sz="880" dirty="0"/>
          </a:p>
        </p:txBody>
      </p:sp>
      <p:sp>
        <p:nvSpPr>
          <p:cNvPr id="36" name="Shape 33"/>
          <p:cNvSpPr/>
          <p:nvPr/>
        </p:nvSpPr>
        <p:spPr>
          <a:xfrm>
            <a:off x="9235440" y="3465576"/>
            <a:ext cx="1152144" cy="429768"/>
          </a:xfrm>
          <a:prstGeom prst="rect">
            <a:avLst/>
          </a:prstGeom>
          <a:solidFill>
            <a:srgbClr val="FAFCFD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290304" y="3575304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.4</a:t>
            </a:r>
            <a:endParaRPr lang="en-US" sz="880" dirty="0"/>
          </a:p>
        </p:txBody>
      </p:sp>
      <p:sp>
        <p:nvSpPr>
          <p:cNvPr id="38" name="Shape 35"/>
          <p:cNvSpPr/>
          <p:nvPr/>
        </p:nvSpPr>
        <p:spPr>
          <a:xfrm>
            <a:off x="10387584" y="3465576"/>
            <a:ext cx="1152144" cy="429768"/>
          </a:xfrm>
          <a:prstGeom prst="rect">
            <a:avLst/>
          </a:prstGeom>
          <a:solidFill>
            <a:srgbClr val="FAFCFD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0442448" y="3575304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.8</a:t>
            </a:r>
            <a:endParaRPr lang="en-US" sz="880" dirty="0"/>
          </a:p>
        </p:txBody>
      </p:sp>
      <p:sp>
        <p:nvSpPr>
          <p:cNvPr id="40" name="Shape 37"/>
          <p:cNvSpPr/>
          <p:nvPr/>
        </p:nvSpPr>
        <p:spPr>
          <a:xfrm>
            <a:off x="7607808" y="3895344"/>
            <a:ext cx="1627632" cy="429768"/>
          </a:xfrm>
          <a:prstGeom prst="rect">
            <a:avLst/>
          </a:prstGeom>
          <a:solidFill>
            <a:srgbClr val="FFFFFF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662672" y="400507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Addie</a:t>
            </a:r>
            <a:endParaRPr lang="en-US" sz="880" dirty="0"/>
          </a:p>
        </p:txBody>
      </p:sp>
      <p:sp>
        <p:nvSpPr>
          <p:cNvPr id="42" name="Shape 39"/>
          <p:cNvSpPr/>
          <p:nvPr/>
        </p:nvSpPr>
        <p:spPr>
          <a:xfrm>
            <a:off x="9235440" y="3895344"/>
            <a:ext cx="1152144" cy="429768"/>
          </a:xfrm>
          <a:prstGeom prst="rect">
            <a:avLst/>
          </a:prstGeom>
          <a:solidFill>
            <a:srgbClr val="FFFFFF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290304" y="4005072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80" dirty="0"/>
          </a:p>
        </p:txBody>
      </p:sp>
      <p:sp>
        <p:nvSpPr>
          <p:cNvPr id="44" name="Shape 41"/>
          <p:cNvSpPr/>
          <p:nvPr/>
        </p:nvSpPr>
        <p:spPr>
          <a:xfrm>
            <a:off x="10387584" y="3895344"/>
            <a:ext cx="1152144" cy="429768"/>
          </a:xfrm>
          <a:prstGeom prst="rect">
            <a:avLst/>
          </a:prstGeom>
          <a:solidFill>
            <a:srgbClr val="FFFFFF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0442448" y="4005072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80" dirty="0"/>
          </a:p>
        </p:txBody>
      </p:sp>
      <p:sp>
        <p:nvSpPr>
          <p:cNvPr id="46" name="Shape 43"/>
          <p:cNvSpPr/>
          <p:nvPr/>
        </p:nvSpPr>
        <p:spPr>
          <a:xfrm>
            <a:off x="7607808" y="4325112"/>
            <a:ext cx="1627632" cy="429768"/>
          </a:xfrm>
          <a:prstGeom prst="rect">
            <a:avLst/>
          </a:prstGeom>
          <a:solidFill>
            <a:srgbClr val="FAFCFD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662672" y="443484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Gerardo</a:t>
            </a:r>
            <a:endParaRPr lang="en-US" sz="880" dirty="0"/>
          </a:p>
        </p:txBody>
      </p:sp>
      <p:sp>
        <p:nvSpPr>
          <p:cNvPr id="48" name="Shape 45"/>
          <p:cNvSpPr/>
          <p:nvPr/>
        </p:nvSpPr>
        <p:spPr>
          <a:xfrm>
            <a:off x="9235440" y="4325112"/>
            <a:ext cx="1152144" cy="429768"/>
          </a:xfrm>
          <a:prstGeom prst="rect">
            <a:avLst/>
          </a:prstGeom>
          <a:solidFill>
            <a:srgbClr val="FAFCFD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290304" y="4434840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880" dirty="0"/>
          </a:p>
        </p:txBody>
      </p:sp>
      <p:sp>
        <p:nvSpPr>
          <p:cNvPr id="50" name="Shape 47"/>
          <p:cNvSpPr/>
          <p:nvPr/>
        </p:nvSpPr>
        <p:spPr>
          <a:xfrm>
            <a:off x="10387584" y="4325112"/>
            <a:ext cx="1152144" cy="429768"/>
          </a:xfrm>
          <a:prstGeom prst="rect">
            <a:avLst/>
          </a:prstGeom>
          <a:solidFill>
            <a:srgbClr val="FAFCFD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442448" y="4434840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80" dirty="0"/>
          </a:p>
        </p:txBody>
      </p:sp>
      <p:sp>
        <p:nvSpPr>
          <p:cNvPr id="52" name="Shape 49"/>
          <p:cNvSpPr/>
          <p:nvPr/>
        </p:nvSpPr>
        <p:spPr>
          <a:xfrm>
            <a:off x="7607808" y="4754880"/>
            <a:ext cx="1627632" cy="429768"/>
          </a:xfrm>
          <a:prstGeom prst="rect">
            <a:avLst/>
          </a:prstGeom>
          <a:solidFill>
            <a:srgbClr val="FFFFFF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7662672" y="4864608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Alexis</a:t>
            </a:r>
            <a:endParaRPr lang="en-US" sz="880" dirty="0"/>
          </a:p>
        </p:txBody>
      </p:sp>
      <p:sp>
        <p:nvSpPr>
          <p:cNvPr id="54" name="Shape 51"/>
          <p:cNvSpPr/>
          <p:nvPr/>
        </p:nvSpPr>
        <p:spPr>
          <a:xfrm>
            <a:off x="9235440" y="4754880"/>
            <a:ext cx="1152144" cy="429768"/>
          </a:xfrm>
          <a:prstGeom prst="rect">
            <a:avLst/>
          </a:prstGeom>
          <a:solidFill>
            <a:srgbClr val="FFFFFF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9290304" y="4864608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.6</a:t>
            </a:r>
            <a:endParaRPr lang="en-US" sz="880" dirty="0"/>
          </a:p>
        </p:txBody>
      </p:sp>
      <p:sp>
        <p:nvSpPr>
          <p:cNvPr id="56" name="Shape 53"/>
          <p:cNvSpPr/>
          <p:nvPr/>
        </p:nvSpPr>
        <p:spPr>
          <a:xfrm>
            <a:off x="10387584" y="4754880"/>
            <a:ext cx="1152144" cy="429768"/>
          </a:xfrm>
          <a:prstGeom prst="rect">
            <a:avLst/>
          </a:prstGeom>
          <a:solidFill>
            <a:srgbClr val="FFFFFF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0442448" y="4864608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.7</a:t>
            </a:r>
            <a:endParaRPr lang="en-US" sz="880" dirty="0"/>
          </a:p>
        </p:txBody>
      </p:sp>
      <p:sp>
        <p:nvSpPr>
          <p:cNvPr id="58" name="Shape 55"/>
          <p:cNvSpPr/>
          <p:nvPr/>
        </p:nvSpPr>
        <p:spPr>
          <a:xfrm>
            <a:off x="7607808" y="5184648"/>
            <a:ext cx="1627632" cy="429768"/>
          </a:xfrm>
          <a:prstGeom prst="rect">
            <a:avLst/>
          </a:prstGeom>
          <a:solidFill>
            <a:srgbClr val="FAFCFD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7662672" y="529437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Byron</a:t>
            </a:r>
            <a:endParaRPr lang="en-US" sz="880" dirty="0"/>
          </a:p>
        </p:txBody>
      </p:sp>
      <p:sp>
        <p:nvSpPr>
          <p:cNvPr id="60" name="Shape 57"/>
          <p:cNvSpPr/>
          <p:nvPr/>
        </p:nvSpPr>
        <p:spPr>
          <a:xfrm>
            <a:off x="9235440" y="5184648"/>
            <a:ext cx="1152144" cy="429768"/>
          </a:xfrm>
          <a:prstGeom prst="rect">
            <a:avLst/>
          </a:prstGeom>
          <a:solidFill>
            <a:srgbClr val="FAFCFD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9290304" y="5294376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.9</a:t>
            </a:r>
            <a:endParaRPr lang="en-US" sz="880" dirty="0"/>
          </a:p>
        </p:txBody>
      </p:sp>
      <p:sp>
        <p:nvSpPr>
          <p:cNvPr id="62" name="Shape 59"/>
          <p:cNvSpPr/>
          <p:nvPr/>
        </p:nvSpPr>
        <p:spPr>
          <a:xfrm>
            <a:off x="10387584" y="5184648"/>
            <a:ext cx="1152144" cy="429768"/>
          </a:xfrm>
          <a:prstGeom prst="rect">
            <a:avLst/>
          </a:prstGeom>
          <a:solidFill>
            <a:srgbClr val="FAFCFD"/>
          </a:solidFill>
          <a:ln w="5715">
            <a:solidFill>
              <a:srgbClr val="E0E7E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10442448" y="5294376"/>
            <a:ext cx="10424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.8</a:t>
            </a:r>
            <a:endParaRPr lang="en-US" sz="880" dirty="0"/>
          </a:p>
        </p:txBody>
      </p:sp>
      <p:sp>
        <p:nvSpPr>
          <p:cNvPr id="64" name="Shape 61"/>
          <p:cNvSpPr/>
          <p:nvPr/>
        </p:nvSpPr>
        <p:spPr>
          <a:xfrm>
            <a:off x="9144000" y="1362456"/>
            <a:ext cx="1984248" cy="292608"/>
          </a:xfrm>
          <a:prstGeom prst="roundRect">
            <a:avLst>
              <a:gd name="adj" fmla="val 18750"/>
            </a:avLst>
          </a:prstGeom>
          <a:solidFill>
            <a:srgbClr val="F0EBFA"/>
          </a:solidFill>
          <a:ln w="12700">
            <a:solidFill>
              <a:srgbClr val="D9CCEF">
                <a:alpha val="0"/>
              </a:srgbClr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217152" y="1403604"/>
            <a:ext cx="1837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6F4E9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Joey: 0.6 → 0.3</a:t>
            </a:r>
            <a:endParaRPr lang="en-US" sz="880" dirty="0"/>
          </a:p>
        </p:txBody>
      </p:sp>
      <p:sp>
        <p:nvSpPr>
          <p:cNvPr id="66" name="Text 63"/>
          <p:cNvSpPr/>
          <p:nvPr/>
        </p:nvSpPr>
        <p:spPr>
          <a:xfrm>
            <a:off x="566928" y="6153912"/>
            <a:ext cx="10744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97A2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source: selected_weights.csv + SCI-04 · no interpolation between grid points</a:t>
            </a:r>
            <a:endParaRPr lang="en-US" sz="670" dirty="0"/>
          </a:p>
        </p:txBody>
      </p:sp>
      <p:sp>
        <p:nvSpPr>
          <p:cNvPr id="67" name="Text 64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996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Appendix · full weight-selection answer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8A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SB-A09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A88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· UNCERTAINTY</a:t>
            </a:r>
            <a:endParaRPr lang="en-US" sz="830" dirty="0"/>
          </a:p>
        </p:txBody>
      </p:sp>
      <p:sp>
        <p:nvSpPr>
          <p:cNvPr id="4" name="Shape 2"/>
          <p:cNvSpPr/>
          <p:nvPr/>
        </p:nvSpPr>
        <p:spPr>
          <a:xfrm>
            <a:off x="10561320" y="173736"/>
            <a:ext cx="896112" cy="292608"/>
          </a:xfrm>
          <a:prstGeom prst="roundRect">
            <a:avLst>
              <a:gd name="adj" fmla="val 18750"/>
            </a:avLst>
          </a:prstGeom>
          <a:solidFill>
            <a:srgbClr val="6F4E9C"/>
          </a:solidFill>
          <a:ln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214884"/>
            <a:ext cx="749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Q&amp;A ONLY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冻结 bootstrap 支持固定八栋建筑范围内的差异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85216" y="10789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C68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paired building-level bootstrap；resampling unit = building；不扩展为跨建筑普遍显著性结论。</a:t>
            </a:r>
            <a:endParaRPr lang="en-US" sz="1240" dirty="0"/>
          </a:p>
        </p:txBody>
      </p:sp>
      <p:sp>
        <p:nvSpPr>
          <p:cNvPr id="8" name="Shape 6"/>
          <p:cNvSpPr/>
          <p:nvPr/>
        </p:nvSpPr>
        <p:spPr>
          <a:xfrm>
            <a:off x="667512" y="1673352"/>
            <a:ext cx="7882128" cy="3273552"/>
          </a:xfrm>
          <a:prstGeom prst="roundRect">
            <a:avLst>
              <a:gd name="adj" fmla="val 2514"/>
            </a:avLst>
          </a:prstGeom>
          <a:solidFill>
            <a:srgbClr val="FFFFFF"/>
          </a:solidFill>
          <a:ln w="10160">
            <a:solidFill>
              <a:srgbClr val="E0E7EF"/>
            </a:solidFill>
            <a:prstDash val="solid"/>
          </a:ln>
          <a:effectLst>
            <a:outerShdw sx="100000" sy="100000" kx="0" ky="0" algn="bl" rotWithShape="0" blurRad="2.8825252488216374e+90" dist="7.6867339968577025e+90" dir="5.9229766729020215e+106">
              <a:srgbClr val="000000">
                <a:alpha val="1.5999999999999996e+109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234440" y="3319272"/>
            <a:ext cx="6656832" cy="0"/>
          </a:xfrm>
          <a:prstGeom prst="line">
            <a:avLst/>
          </a:prstGeom>
          <a:noFill/>
          <a:ln w="16510">
            <a:solidFill>
              <a:srgbClr val="B9C6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51624" y="2267712"/>
            <a:ext cx="0" cy="2084832"/>
          </a:xfrm>
          <a:prstGeom prst="line">
            <a:avLst/>
          </a:prstGeom>
          <a:noFill/>
          <a:ln w="15240">
            <a:solidFill>
              <a:srgbClr val="B35C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60184" y="3657600"/>
            <a:ext cx="182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35C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085035" y="3319272"/>
            <a:ext cx="3795134" cy="0"/>
          </a:xfrm>
          <a:prstGeom prst="line">
            <a:avLst/>
          </a:prstGeom>
          <a:noFill/>
          <a:ln w="63500">
            <a:solidFill>
              <a:srgbClr val="6F4E9C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3964286" y="3236976"/>
            <a:ext cx="164592" cy="164592"/>
          </a:xfrm>
          <a:prstGeom prst="ellipse">
            <a:avLst/>
          </a:prstGeom>
          <a:solidFill>
            <a:srgbClr val="0072B2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2148840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95% bootstrap interval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16230" y="2596896"/>
            <a:ext cx="1060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0072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estimate</a:t>
            </a:r>
            <a:endParaRPr lang="en-US" sz="830" dirty="0"/>
          </a:p>
        </p:txBody>
      </p:sp>
      <p:sp>
        <p:nvSpPr>
          <p:cNvPr id="16" name="Text 14"/>
          <p:cNvSpPr/>
          <p:nvPr/>
        </p:nvSpPr>
        <p:spPr>
          <a:xfrm>
            <a:off x="5376672" y="2148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8A7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interval remains below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823960" y="1673352"/>
            <a:ext cx="2670048" cy="3273552"/>
          </a:xfrm>
          <a:prstGeom prst="roundRect">
            <a:avLst>
              <a:gd name="adj" fmla="val 3082"/>
            </a:avLst>
          </a:prstGeom>
          <a:solidFill>
            <a:srgbClr val="0B192B"/>
          </a:solidFill>
          <a:ln w="10160">
            <a:solidFill>
              <a:srgbClr val="0B1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25712" y="2048256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4C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10,000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125712" y="2706624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A9B8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resamples · seed 42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125712" y="3273552"/>
            <a:ext cx="2057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C7B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−0.004198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9125712" y="393192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A9B8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point estimate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41832" y="5266944"/>
            <a:ext cx="12984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95% interval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331720" y="518464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2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[ −0.006850 ,  −0.001719 ]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869680" y="5212080"/>
            <a:ext cx="2130552" cy="292608"/>
          </a:xfrm>
          <a:prstGeom prst="roundRect">
            <a:avLst>
              <a:gd name="adj" fmla="val 18750"/>
            </a:avLst>
          </a:prstGeom>
          <a:solidFill>
            <a:srgbClr val="FFF1E8"/>
          </a:solidFill>
          <a:ln w="12700">
            <a:solidFill>
              <a:srgbClr val="F0D6C4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42832" y="5253228"/>
            <a:ext cx="1984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35C0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fixed 8-building scope only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66928" y="6153912"/>
            <a:ext cx="10744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97A2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source: outputs/phase9_1/final_reporting_summary.json · no new resampling</a:t>
            </a:r>
            <a:endParaRPr lang="en-US" sz="670" dirty="0"/>
          </a:p>
        </p:txBody>
      </p:sp>
      <p:sp>
        <p:nvSpPr>
          <p:cNvPr id="27" name="Text 25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996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Appendix · uncertainty answer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8A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SB-A10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A88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· REPRODUCIBILITY</a:t>
            </a:r>
            <a:endParaRPr lang="en-US" sz="830" dirty="0"/>
          </a:p>
        </p:txBody>
      </p:sp>
      <p:sp>
        <p:nvSpPr>
          <p:cNvPr id="4" name="Shape 2"/>
          <p:cNvSpPr/>
          <p:nvPr/>
        </p:nvSpPr>
        <p:spPr>
          <a:xfrm>
            <a:off x="10561320" y="173736"/>
            <a:ext cx="896112" cy="292608"/>
          </a:xfrm>
          <a:prstGeom prst="roundRect">
            <a:avLst>
              <a:gd name="adj" fmla="val 18750"/>
            </a:avLst>
          </a:prstGeom>
          <a:solidFill>
            <a:srgbClr val="6F4E9C"/>
          </a:solidFill>
          <a:ln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214884"/>
            <a:ext cx="749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Q&amp;A ONLY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报告公式与冻结预测逐值一致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585216" y="10789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C68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这是 identity audit：显式 DOEF 公式复算与冻结 Phase 8 ensemble_prediction 逐值对齐，不是新训练或独立重复实验。</a:t>
            </a:r>
            <a:endParaRPr lang="en-US" sz="1240" dirty="0"/>
          </a:p>
        </p:txBody>
      </p:sp>
      <p:sp>
        <p:nvSpPr>
          <p:cNvPr id="8" name="Shape 6"/>
          <p:cNvSpPr/>
          <p:nvPr/>
        </p:nvSpPr>
        <p:spPr>
          <a:xfrm>
            <a:off x="713232" y="1627632"/>
            <a:ext cx="5074920" cy="4279392"/>
          </a:xfrm>
          <a:prstGeom prst="roundRect">
            <a:avLst>
              <a:gd name="adj" fmla="val 1923"/>
            </a:avLst>
          </a:prstGeom>
          <a:solidFill>
            <a:srgbClr val="0B192B"/>
          </a:solidFill>
          <a:ln w="10160">
            <a:solidFill>
              <a:srgbClr val="0B1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2176272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8F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wᵦ × LightGBM + (1 − wᵦ) × DayWeek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2798064" y="2999232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4C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=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600200" y="3584448"/>
            <a:ext cx="3246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4C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Phase 8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B4C5D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ensemble_prediction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020824" y="4974336"/>
            <a:ext cx="2487168" cy="292608"/>
          </a:xfrm>
          <a:prstGeom prst="roundRect">
            <a:avLst>
              <a:gd name="adj" fmla="val 18750"/>
            </a:avLst>
          </a:prstGeom>
          <a:solidFill>
            <a:srgbClr val="173A54"/>
          </a:solidFill>
          <a:ln w="12700">
            <a:solidFill>
              <a:srgbClr val="173A54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93976" y="5015484"/>
            <a:ext cx="2340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4C7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IDENTITY AUDIT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089904" y="1627632"/>
            <a:ext cx="5413248" cy="4279392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0160">
            <a:solidFill>
              <a:srgbClr val="E0E7EF"/>
            </a:solidFill>
            <a:prstDash val="solid"/>
          </a:ln>
          <a:effectLst>
            <a:outerShdw sx="100000" sy="100000" kx="0" ky="0" algn="bl" rotWithShape="0" blurRad="3.6608070660034796e+94" dist="9.762152176009283e+94" dir="3.553786003741213e+111">
              <a:srgbClr val="000000">
                <a:alpha val="1.5999999999999998e+114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83680" y="2157984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72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5,760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583680" y="2816352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68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frozen predictions checked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842248" y="2157984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8A76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 kW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8842248" y="2816352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68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max absolute difference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0" y="3520440"/>
            <a:ext cx="4187952" cy="0"/>
          </a:xfrm>
          <a:prstGeom prst="line">
            <a:avLst/>
          </a:prstGeom>
          <a:noFill/>
          <a:ln w="12700">
            <a:solidFill>
              <a:srgbClr val="D5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38404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buildings × 720 Test hours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0" y="4370832"/>
            <a:ext cx="3931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audited definition = frozen prediction artifact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C68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within tolerance 1e−12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6153912"/>
            <a:ext cx="10744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97A2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source: Phase 9.1 reporting summary · identity check only</a:t>
            </a:r>
            <a:endParaRPr lang="en-US" sz="67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996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Appendix · lineage / reproducibility answer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8A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8912" y="19202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30" kern="0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SB-A11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1143000" y="1920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spc="100" kern="0" dirty="0">
                <a:solidFill>
                  <a:srgbClr val="7A88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· FALSIFICATION</a:t>
            </a:r>
            <a:endParaRPr lang="en-US" sz="830" dirty="0"/>
          </a:p>
        </p:txBody>
      </p:sp>
      <p:sp>
        <p:nvSpPr>
          <p:cNvPr id="4" name="Shape 2"/>
          <p:cNvSpPr/>
          <p:nvPr/>
        </p:nvSpPr>
        <p:spPr>
          <a:xfrm>
            <a:off x="10561320" y="173736"/>
            <a:ext cx="896112" cy="292608"/>
          </a:xfrm>
          <a:prstGeom prst="roundRect">
            <a:avLst>
              <a:gd name="adj" fmla="val 18750"/>
            </a:avLst>
          </a:prstGeom>
          <a:solidFill>
            <a:srgbClr val="6F4E9C"/>
          </a:solidFill>
          <a:ln w="12700">
            <a:solidFill>
              <a:srgbClr val="6F4E9C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34472" y="214884"/>
            <a:ext cx="749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Q&amp;A ONLY</a:t>
            </a:r>
            <a:endParaRPr lang="en-US" sz="820" dirty="0"/>
          </a:p>
        </p:txBody>
      </p:sp>
      <p:sp>
        <p:nvSpPr>
          <p:cNvPr id="6" name="Text 4"/>
          <p:cNvSpPr/>
          <p:nvPr/>
        </p:nvSpPr>
        <p:spPr>
          <a:xfrm>
            <a:off x="566928" y="4754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8212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负结果被保留，但不用于 Test 后反向改选算法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85216" y="107899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5C68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Validation-selected robust variant 在 Test 上明显退化，因此被保留为负结果并排除出 DOEF v1.0。</a:t>
            </a:r>
            <a:endParaRPr lang="en-US" sz="1240" dirty="0"/>
          </a:p>
        </p:txBody>
      </p:sp>
      <p:sp>
        <p:nvSpPr>
          <p:cNvPr id="8" name="Shape 6"/>
          <p:cNvSpPr/>
          <p:nvPr/>
        </p:nvSpPr>
        <p:spPr>
          <a:xfrm>
            <a:off x="713232" y="1572768"/>
            <a:ext cx="5001768" cy="4315968"/>
          </a:xfrm>
          <a:prstGeom prst="roundRect">
            <a:avLst>
              <a:gd name="adj" fmla="val 1907"/>
            </a:avLst>
          </a:prstGeom>
          <a:solidFill>
            <a:srgbClr val="FFFFFF"/>
          </a:solidFill>
          <a:ln w="10160">
            <a:solidFill>
              <a:srgbClr val="E0E7EF"/>
            </a:solidFill>
            <a:prstDash val="solid"/>
          </a:ln>
          <a:effectLst>
            <a:outerShdw sx="100000" sy="100000" kx="0" ky="0" algn="bl" rotWithShape="0" blurRad="4.649224973824419e+98" dist="1.2397933263531789e+99" dir="2.1322716022447277e+116">
              <a:srgbClr val="000000">
                <a:alpha val="1.5999999999999998e+119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05840" y="190195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4E9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selection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05840" y="233172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robust λ = 0.5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05840" y="3017520"/>
            <a:ext cx="39593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C687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预先按 Validation 规则选出，随后进入 Test；没有因为 Test 结果差而换 λ。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05840" y="5029200"/>
            <a:ext cx="1609344" cy="292608"/>
          </a:xfrm>
          <a:prstGeom prst="roundRect">
            <a:avLst>
              <a:gd name="adj" fmla="val 18750"/>
            </a:avLst>
          </a:prstGeom>
          <a:solidFill>
            <a:srgbClr val="F0EBFA"/>
          </a:solidFill>
          <a:ln w="12700">
            <a:solidFill>
              <a:srgbClr val="DBD0F0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8992" y="50703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6F4E9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selection integrity</a:t>
            </a:r>
            <a:endParaRPr lang="en-US" sz="840" dirty="0"/>
          </a:p>
        </p:txBody>
      </p:sp>
      <p:sp>
        <p:nvSpPr>
          <p:cNvPr id="14" name="Shape 12"/>
          <p:cNvSpPr/>
          <p:nvPr/>
        </p:nvSpPr>
        <p:spPr>
          <a:xfrm>
            <a:off x="5971032" y="1572768"/>
            <a:ext cx="5532120" cy="4315968"/>
          </a:xfrm>
          <a:prstGeom prst="roundRect">
            <a:avLst>
              <a:gd name="adj" fmla="val 1907"/>
            </a:avLst>
          </a:prstGeom>
          <a:solidFill>
            <a:srgbClr val="0B192B"/>
          </a:solidFill>
          <a:ln w="10160">
            <a:solidFill>
              <a:srgbClr val="0B1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27648" y="190195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FC1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mean regret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27648" y="23317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9C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20.4635 kW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327648" y="299008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A9B8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robust variant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823960" y="23317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4C7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11.1274 kW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823960" y="299008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A9B8C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deterministic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327648" y="3721608"/>
            <a:ext cx="4498848" cy="0"/>
          </a:xfrm>
          <a:prstGeom prst="line">
            <a:avLst/>
          </a:prstGeom>
          <a:noFill/>
          <a:ln w="12700">
            <a:solidFill>
              <a:srgbClr val="3150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27648" y="4096512"/>
            <a:ext cx="4480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结论：robust optimization 没有改善 Test，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8FB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因此不进入 DOEF，不做 Test 后反向修正。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479792" y="5166360"/>
            <a:ext cx="2240280" cy="292608"/>
          </a:xfrm>
          <a:prstGeom prst="roundRect">
            <a:avLst>
              <a:gd name="adj" fmla="val 18750"/>
            </a:avLst>
          </a:prstGeom>
          <a:solidFill>
            <a:srgbClr val="452A23"/>
          </a:solidFill>
          <a:ln w="12700">
            <a:solidFill>
              <a:srgbClr val="452A2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52944" y="5207508"/>
            <a:ext cx="2093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90" b="1" dirty="0">
                <a:solidFill>
                  <a:srgbClr val="FFC0A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NEGATIVE RESULT RETAINED</a:t>
            </a:r>
            <a:endParaRPr lang="en-US" sz="790" dirty="0"/>
          </a:p>
        </p:txBody>
      </p:sp>
      <p:sp>
        <p:nvSpPr>
          <p:cNvPr id="24" name="Text 22"/>
          <p:cNvSpPr/>
          <p:nvPr/>
        </p:nvSpPr>
        <p:spPr>
          <a:xfrm>
            <a:off x="566928" y="6153912"/>
            <a:ext cx="10744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70" dirty="0">
                <a:solidFill>
                  <a:srgbClr val="97A2A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Frozen Phase 5.7 negative result · robust λ=0.5 · no rerun</a:t>
            </a:r>
            <a:endParaRPr lang="en-US" sz="670" dirty="0"/>
          </a:p>
        </p:txBody>
      </p:sp>
      <p:sp>
        <p:nvSpPr>
          <p:cNvPr id="25" name="Text 23"/>
          <p:cNvSpPr/>
          <p:nvPr/>
        </p:nvSpPr>
        <p:spPr>
          <a:xfrm>
            <a:off x="566928" y="6437376"/>
            <a:ext cx="10332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50" dirty="0">
                <a:solidFill>
                  <a:srgbClr val="8996A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Appendix · falsification / failed idea answer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46520"/>
            <a:ext cx="41148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8A98A8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Competition presentation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DOEF：让负荷预测服务于储能削峰决策</dc:title>
  <dc:subject>DOEF competition defense deck based on frozen Phase 13.2 storyboard</dc:subject>
  <dc:creator>OpenAI · Phase 13.3 presentation production</dc:creator>
  <cp:lastModifiedBy>OpenAI · Phase 13.3 presentation production</cp:lastModifiedBy>
  <cp:revision>1</cp:revision>
  <dcterms:created xsi:type="dcterms:W3CDTF">2026-09-03T03:32:58Z</dcterms:created>
  <dcterms:modified xsi:type="dcterms:W3CDTF">2026-09-03T03:32:58Z</dcterms:modified>
</cp:coreProperties>
</file>