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18ac4aeb9c4305" /><Relationship Type="http://schemas.openxmlformats.org/officeDocument/2006/relationships/extended-properties" Target="/docProps/app.xml" Id="Rb0046872617744ea" /><Relationship Type="http://schemas.openxmlformats.org/officeDocument/2006/relationships/officeDocument" Target="/ppt/presentation.xml" Id="R1d8c4106a0f645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7e73fe40214a06"/>
  </p:sldMasterIdLst>
  <p:notesMasterIdLst>
    <p:notesMasterId xmlns:r="http://schemas.openxmlformats.org/officeDocument/2006/relationships" r:id="R23ceb006c93e45d6"/>
  </p:notesMasterIdLst>
  <p:sldIdLst>
    <p:sldId xmlns:r="http://schemas.openxmlformats.org/officeDocument/2006/relationships" id="256" r:id="R37e29f1dc6f64aa0"/>
    <p:sldId xmlns:r="http://schemas.openxmlformats.org/officeDocument/2006/relationships" id="257" r:id="R7d3cddcea36e418c"/>
    <p:sldId xmlns:r="http://schemas.openxmlformats.org/officeDocument/2006/relationships" id="258" r:id="Rf4d8f4162da54ad1"/>
    <p:sldId xmlns:r="http://schemas.openxmlformats.org/officeDocument/2006/relationships" id="259" r:id="R28efa29cc7ba4a9d"/>
    <p:sldId xmlns:r="http://schemas.openxmlformats.org/officeDocument/2006/relationships" id="260" r:id="R417bdccc367e4342"/>
    <p:sldId xmlns:r="http://schemas.openxmlformats.org/officeDocument/2006/relationships" id="261" r:id="R434c75ba05484f27"/>
    <p:sldId xmlns:r="http://schemas.openxmlformats.org/officeDocument/2006/relationships" id="262" r:id="R4a78279356f448d6"/>
    <p:sldId xmlns:r="http://schemas.openxmlformats.org/officeDocument/2006/relationships" id="263" r:id="Rb7c787da1d284311"/>
    <p:sldId xmlns:r="http://schemas.openxmlformats.org/officeDocument/2006/relationships" id="264" r:id="Rec4207316cb74a6a"/>
    <p:sldId xmlns:r="http://schemas.openxmlformats.org/officeDocument/2006/relationships" id="265" r:id="R178ab290cce0462e"/>
    <p:sldId xmlns:r="http://schemas.openxmlformats.org/officeDocument/2006/relationships" id="266" r:id="R9663cae067564634"/>
    <p:sldId xmlns:r="http://schemas.openxmlformats.org/officeDocument/2006/relationships" id="267" r:id="R800329dd806242d0"/>
    <p:sldId xmlns:r="http://schemas.openxmlformats.org/officeDocument/2006/relationships" id="268" r:id="R6a0fc486508a4d06"/>
    <p:sldId xmlns:r="http://schemas.openxmlformats.org/officeDocument/2006/relationships" id="269" r:id="R0550534aa06c4e42"/>
    <p:sldId xmlns:r="http://schemas.openxmlformats.org/officeDocument/2006/relationships" id="270" r:id="Rdb0e4da281174719"/>
    <p:sldId xmlns:r="http://schemas.openxmlformats.org/officeDocument/2006/relationships" id="271" r:id="R85591d0c25bf4fea"/>
    <p:sldId xmlns:r="http://schemas.openxmlformats.org/officeDocument/2006/relationships" id="272" r:id="Rb695c0ea25aa4c1c"/>
    <p:sldId xmlns:r="http://schemas.openxmlformats.org/officeDocument/2006/relationships" id="273" r:id="R5e33c65bf92f4742"/>
    <p:sldId xmlns:r="http://schemas.openxmlformats.org/officeDocument/2006/relationships" id="274" r:id="Ra7678e0d2ace4587"/>
    <p:sldId xmlns:r="http://schemas.openxmlformats.org/officeDocument/2006/relationships" id="275" r:id="Rb1179f9f31b1457d"/>
    <p:sldId xmlns:r="http://schemas.openxmlformats.org/officeDocument/2006/relationships" id="276" r:id="R9db359ba99bf49b1"/>
    <p:sldId xmlns:r="http://schemas.openxmlformats.org/officeDocument/2006/relationships" id="277" r:id="R02bc0c5fee4440e9"/>
    <p:sldId xmlns:r="http://schemas.openxmlformats.org/officeDocument/2006/relationships" id="278" r:id="R8154083119a349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89cdeb8fd64e7b" /><Relationship Type="http://schemas.openxmlformats.org/officeDocument/2006/relationships/slideMaster" Target="/ppt/slideMasters/slideMaster1.xml" Id="R157e73fe40214a06" /><Relationship Type="http://schemas.openxmlformats.org/officeDocument/2006/relationships/notesMaster" Target="/ppt/notesMasters/notesMaster1.xml" Id="R23ceb006c93e45d6" /><Relationship Type="http://schemas.openxmlformats.org/officeDocument/2006/relationships/presProps" Target="/ppt/presProps.xml" Id="R6bf297153730439b" /><Relationship Type="http://schemas.openxmlformats.org/officeDocument/2006/relationships/viewProps" Target="/ppt/viewProps.xml" Id="Rc160fffe7f86484d" /><Relationship Type="http://schemas.openxmlformats.org/officeDocument/2006/relationships/tableStyles" Target="/ppt/tableStyles.xml" Id="R3f440f5747a84c92" /><Relationship Type="http://schemas.openxmlformats.org/officeDocument/2006/relationships/slide" Target="/ppt/slides/slide1.xml" Id="R37e29f1dc6f64aa0" /><Relationship Type="http://schemas.openxmlformats.org/officeDocument/2006/relationships/slide" Target="/ppt/slides/slide2.xml" Id="R7d3cddcea36e418c" /><Relationship Type="http://schemas.openxmlformats.org/officeDocument/2006/relationships/slide" Target="/ppt/slides/slide3.xml" Id="Rf4d8f4162da54ad1" /><Relationship Type="http://schemas.openxmlformats.org/officeDocument/2006/relationships/slide" Target="/ppt/slides/slide4.xml" Id="R28efa29cc7ba4a9d" /><Relationship Type="http://schemas.openxmlformats.org/officeDocument/2006/relationships/slide" Target="/ppt/slides/slide5.xml" Id="R417bdccc367e4342" /><Relationship Type="http://schemas.openxmlformats.org/officeDocument/2006/relationships/slide" Target="/ppt/slides/slide6.xml" Id="R434c75ba05484f27" /><Relationship Type="http://schemas.openxmlformats.org/officeDocument/2006/relationships/slide" Target="/ppt/slides/slide7.xml" Id="R4a78279356f448d6" /><Relationship Type="http://schemas.openxmlformats.org/officeDocument/2006/relationships/slide" Target="/ppt/slides/slide8.xml" Id="Rb7c787da1d284311" /><Relationship Type="http://schemas.openxmlformats.org/officeDocument/2006/relationships/slide" Target="/ppt/slides/slide9.xml" Id="Rec4207316cb74a6a" /><Relationship Type="http://schemas.openxmlformats.org/officeDocument/2006/relationships/slide" Target="/ppt/slides/slide10.xml" Id="R178ab290cce0462e" /><Relationship Type="http://schemas.openxmlformats.org/officeDocument/2006/relationships/slide" Target="/ppt/slides/slide11.xml" Id="R9663cae067564634" /><Relationship Type="http://schemas.openxmlformats.org/officeDocument/2006/relationships/slide" Target="/ppt/slides/slide12.xml" Id="R800329dd806242d0" /><Relationship Type="http://schemas.openxmlformats.org/officeDocument/2006/relationships/slide" Target="/ppt/slides/slide13.xml" Id="R6a0fc486508a4d06" /><Relationship Type="http://schemas.openxmlformats.org/officeDocument/2006/relationships/slide" Target="/ppt/slides/slide14.xml" Id="R0550534aa06c4e42" /><Relationship Type="http://schemas.openxmlformats.org/officeDocument/2006/relationships/slide" Target="/ppt/slides/slide15.xml" Id="Rdb0e4da281174719" /><Relationship Type="http://schemas.openxmlformats.org/officeDocument/2006/relationships/slide" Target="/ppt/slides/slide16.xml" Id="R85591d0c25bf4fea" /><Relationship Type="http://schemas.openxmlformats.org/officeDocument/2006/relationships/slide" Target="/ppt/slides/slide17.xml" Id="Rb695c0ea25aa4c1c" /><Relationship Type="http://schemas.openxmlformats.org/officeDocument/2006/relationships/slide" Target="/ppt/slides/slide18.xml" Id="R5e33c65bf92f4742" /><Relationship Type="http://schemas.openxmlformats.org/officeDocument/2006/relationships/slide" Target="/ppt/slides/slide19.xml" Id="Ra7678e0d2ace4587" /><Relationship Type="http://schemas.openxmlformats.org/officeDocument/2006/relationships/slide" Target="/ppt/slides/slide20.xml" Id="Rb1179f9f31b1457d" /><Relationship Type="http://schemas.openxmlformats.org/officeDocument/2006/relationships/slide" Target="/ppt/slides/slide21.xml" Id="R9db359ba99bf49b1" /><Relationship Type="http://schemas.openxmlformats.org/officeDocument/2006/relationships/slide" Target="/ppt/slides/slide22.xml" Id="R02bc0c5fee4440e9" /><Relationship Type="http://schemas.openxmlformats.org/officeDocument/2006/relationships/slide" Target="/ppt/slides/slide23.xml" Id="R8154083119a349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6977c30e314a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44b0cc4f7c4358" /><Relationship Type="http://schemas.openxmlformats.org/officeDocument/2006/relationships/notesMaster" Target="/ppt/notesMasters/notesMaster1.xml" Id="R04cceec7294c43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a603205ece493c" /><Relationship Type="http://schemas.openxmlformats.org/officeDocument/2006/relationships/notesMaster" Target="/ppt/notesMasters/notesMaster1.xml" Id="R19ff566fe9c842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1ec4fc3ebe4dfb" /><Relationship Type="http://schemas.openxmlformats.org/officeDocument/2006/relationships/notesMaster" Target="/ppt/notesMasters/notesMaster1.xml" Id="R2b32a920b4384d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3f38b91a214e88" /><Relationship Type="http://schemas.openxmlformats.org/officeDocument/2006/relationships/notesMaster" Target="/ppt/notesMasters/notesMaster1.xml" Id="Rb2d5dafbdc744aa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4ce687ca334b14" /><Relationship Type="http://schemas.openxmlformats.org/officeDocument/2006/relationships/notesMaster" Target="/ppt/notesMasters/notesMaster1.xml" Id="R72295f3306b042d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53f8cdb1214a08" /><Relationship Type="http://schemas.openxmlformats.org/officeDocument/2006/relationships/notesMaster" Target="/ppt/notesMasters/notesMaster1.xml" Id="R4cc7b4c6be9147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a91ae90c624ea4" /><Relationship Type="http://schemas.openxmlformats.org/officeDocument/2006/relationships/notesMaster" Target="/ppt/notesMasters/notesMaster1.xml" Id="Rd507174a8f0c4f4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9e56665bff43b6" /><Relationship Type="http://schemas.openxmlformats.org/officeDocument/2006/relationships/notesMaster" Target="/ppt/notesMasters/notesMaster1.xml" Id="Rb8465be3b15c4cb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dc26c14e4944a96" /><Relationship Type="http://schemas.openxmlformats.org/officeDocument/2006/relationships/notesMaster" Target="/ppt/notesMasters/notesMaster1.xml" Id="Ra94d2928638647d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50019fb3c44468" /><Relationship Type="http://schemas.openxmlformats.org/officeDocument/2006/relationships/notesMaster" Target="/ppt/notesMasters/notesMaster1.xml" Id="Rf9c4bce905324d7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82c445e6804f71" /><Relationship Type="http://schemas.openxmlformats.org/officeDocument/2006/relationships/notesMaster" Target="/ppt/notesMasters/notesMaster1.xml" Id="Ra8f4e68c251d416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e66301226014ce7" /><Relationship Type="http://schemas.openxmlformats.org/officeDocument/2006/relationships/notesMaster" Target="/ppt/notesMasters/notesMaster1.xml" Id="Rf00388977be847c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f2c53de4db84c7f" /><Relationship Type="http://schemas.openxmlformats.org/officeDocument/2006/relationships/notesMaster" Target="/ppt/notesMasters/notesMaster1.xml" Id="R6df424210cf8419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ac1b20ee3e743ad" /><Relationship Type="http://schemas.openxmlformats.org/officeDocument/2006/relationships/notesMaster" Target="/ppt/notesMasters/notesMaster1.xml" Id="R2d5fd1405b88419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3e49c40a2c84c6a" /><Relationship Type="http://schemas.openxmlformats.org/officeDocument/2006/relationships/notesMaster" Target="/ppt/notesMasters/notesMaster1.xml" Id="R88127597897b45c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a5fc48b3b65425c" /><Relationship Type="http://schemas.openxmlformats.org/officeDocument/2006/relationships/notesMaster" Target="/ppt/notesMasters/notesMaster1.xml" Id="R39282e06fe29479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1ee1ff993964110" /><Relationship Type="http://schemas.openxmlformats.org/officeDocument/2006/relationships/notesMaster" Target="/ppt/notesMasters/notesMaster1.xml" Id="R8c378fb795b7434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bf09601fc7a4683" /><Relationship Type="http://schemas.openxmlformats.org/officeDocument/2006/relationships/notesMaster" Target="/ppt/notesMasters/notesMaster1.xml" Id="Rf08c053c8c87405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7acf882cd7240c7" /><Relationship Type="http://schemas.openxmlformats.org/officeDocument/2006/relationships/notesMaster" Target="/ppt/notesMasters/notesMaster1.xml" Id="R6941ec1be4cd40d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6b6f085ced7476d" /><Relationship Type="http://schemas.openxmlformats.org/officeDocument/2006/relationships/notesMaster" Target="/ppt/notesMasters/notesMaster1.xml" Id="R54b24b5866f84e5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4974f71d9294f14" /><Relationship Type="http://schemas.openxmlformats.org/officeDocument/2006/relationships/notesMaster" Target="/ppt/notesMasters/notesMaster1.xml" Id="Rd292c35faad3467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ca13ca3348f4bcd" /><Relationship Type="http://schemas.openxmlformats.org/officeDocument/2006/relationships/notesMaster" Target="/ppt/notesMasters/notesMaster1.xml" Id="R46debf653eb845d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591aa81fce94a2a" /><Relationship Type="http://schemas.openxmlformats.org/officeDocument/2006/relationships/notesMaster" Target="/ppt/notesMasters/notesMaster1.xml" Id="R2b821f88fd5e4f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开场定位：这是 AI + 储能决策问题。不要把 LightGBM 说成创新。过渡：既然预测服务于决策，传统预测指标是否真的能选出更好的储能方案？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用这一页制造核心张力。只说“在冻结项目范围内出现排序反转”，不说预测精度无关，也不把很小的差异升级为普遍因果机制。下一页解释预测如何进入调度链。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 AI 与电气评委建立共同心智模型：历史负荷→次日预测→受约束电池调度→真实削峰结果。概念图不是实验结果。过渡：既然下游目标不同，模型选择标准也要重新对齐。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这一页只讲一个改变：selection criterion。组件预测不变，电池约束不变。DOEF 不是联合训练、双层优化或新的 LightGBM。下一页给完整冻结信息流。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算法只解释一次。强调三段：Train 拟合组件；Validation 把候选权重送入同一电池优化，以 mean daily regret 选择并冻结；Test 只报告。Oracle 只作不可部署 hindsight 上界。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这是最强结果页。先落 6.36% 与 3.61%，再落 6/2/0。主动指出最差建筑 peak reduction 为 -1.017%，负结果没有被删。不要说 SOTA、普适最优、经济收益。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用“回答不同问题”化解 M02 的反转，避免讲成“峰时误差一定导致 regret”这种未经证明的普遍机制。核心句：预测指标仍然必要，但下游工程评价不能缺席。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用完整 8 栋反驳单楼/挑楼质疑。强调选楼不看 Validation/Test 性能，只基于质量和 Train 期形态。证据只支持固定范围的 multi-building robustness，不支持 unseen-building transfer。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这页专门防“你们是不是看 Test 调出来的？”权重只在 Validation 选，并在 Test 前冻结。也不要说 Test 从未被历史阶段看过，只能说 Phase 8/DOEF 选择不使用 Test。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把方法翻译成工程工作流：第二天怎么从历史数据走到调度。明确“repeatable workflow ≠ field deployment”，不声称工业实时验证。下一页提炼创新。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创新表述必须守边界：基础预测器不是创新，普通线性加权也不是创新。创新是 Validation 下游 regret 选权重 + 冻结信息边界 + 全八栋证据 + 同一储能评价链。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只收束，不引入新结果。最后一句：对储能削峰这样的下游任务，评价预测模型时应同时看预测误差和它支持的工程决策。停在这里，进入评委提问。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Q&amp;A：解释 296→82→8。强调模型成绩没有参与选楼。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3d19b2b3a6417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a3f5877e14473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a680e19beb49b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8e7e4d6ffb48a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MAIN_DARK">
    <p:bg>
      <p:bgPr>
        <a:solidFill xmlns:a="http://schemas.openxmlformats.org/drawingml/2006/main">
          <a:srgbClr val="0711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3843BA8-39A6-4771-9C54-DF424AB6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C7FF"/>
          </a:solidFill>
          <a:ln xmlns:a="http://schemas.openxmlformats.org/drawingml/2006/main" w="12700">
            <a:solidFill>
              <a:srgbClr val="24C7FF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47E221D-B303-4D57-B5E4-83A882954FB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MAIN_LIGHT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A5CFEE4-9A8B-4121-BCE1-0211625C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12700">
            <a:solidFill>
              <a:srgbClr val="1677FF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D2E87E9-4453-491F-A4FE-C16BA479FE9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1003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APPENDIX"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AC0703C-36A7-409F-81C6-6462EA9B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D3FBE6E-E7BA-413A-B164-7FA0FC5B4DE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1004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79f67367734b91" /><Relationship Type="http://schemas.openxmlformats.org/officeDocument/2006/relationships/slideLayout" Target="/ppt/slideLayouts/slideLayout1.xml" Id="Rbf4a3d7280964a70" /><Relationship Type="http://schemas.openxmlformats.org/officeDocument/2006/relationships/slideLayout" Target="/ppt/slideLayouts/slideLayout2.xml" Id="Rda19d7de9ac444fd" /><Relationship Type="http://schemas.openxmlformats.org/officeDocument/2006/relationships/slideLayout" Target="/ppt/slideLayouts/slideLayout3.xml" Id="R44b83b3e2b9f4d1d" /><Relationship Type="http://schemas.openxmlformats.org/officeDocument/2006/relationships/slideLayout" Target="/ppt/slideLayouts/slideLayout4.xml" Id="R3a21d2272ae8494a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3B109C8-6E74-4FB9-99CC-A5CF1D3F272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4a3d7280964a70"/>
    <p:sldLayoutId xmlns:r="http://schemas.openxmlformats.org/officeDocument/2006/relationships" id="2147483650" r:id="Rda19d7de9ac444fd"/>
    <p:sldLayoutId xmlns:r="http://schemas.openxmlformats.org/officeDocument/2006/relationships" id="2147483651" r:id="R44b83b3e2b9f4d1d"/>
    <p:sldLayoutId xmlns:r="http://schemas.openxmlformats.org/officeDocument/2006/relationships" id="2147483652" r:id="R3a21d2272ae8494a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e11e4c8b484c7d" /><Relationship Type="http://schemas.openxmlformats.org/officeDocument/2006/relationships/notesSlide" Target="/ppt/notesSlides/notesSlide1.xml" Id="Rd7235b074ccd4d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afbd1bedb25448b" /><Relationship Type="http://schemas.openxmlformats.org/officeDocument/2006/relationships/image" Target="/ppt/media/image.png" Id="R1de5648c6c964100" /><Relationship Type="http://schemas.openxmlformats.org/officeDocument/2006/relationships/notesSlide" Target="/ppt/notesSlides/notesSlide2.xml" Id="R14deb428aaf64c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f56a3bb54d46e5" /><Relationship Type="http://schemas.openxmlformats.org/officeDocument/2006/relationships/image" Target="/ppt/media/image2.png" Id="R505338f4e7164af2" /><Relationship Type="http://schemas.openxmlformats.org/officeDocument/2006/relationships/notesSlide" Target="/ppt/notesSlides/notesSlide3.xml" Id="R5aa6a617997347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adbc14b3c74a0e" /><Relationship Type="http://schemas.openxmlformats.org/officeDocument/2006/relationships/notesSlide" Target="/ppt/notesSlides/notesSlide4.xml" Id="R7710108f02d246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843e016d8564a0d" /><Relationship Type="http://schemas.openxmlformats.org/officeDocument/2006/relationships/image" Target="/ppt/media/image3.png" Id="R4cc0ea8a080249b6" /><Relationship Type="http://schemas.openxmlformats.org/officeDocument/2006/relationships/notesSlide" Target="/ppt/notesSlides/notesSlide5.xml" Id="R54bfc1cd76eb48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80e59b43f494610" /><Relationship Type="http://schemas.openxmlformats.org/officeDocument/2006/relationships/image" Target="/ppt/media/image4.png" Id="Rb875b7564cf94e65" /><Relationship Type="http://schemas.openxmlformats.org/officeDocument/2006/relationships/notesSlide" Target="/ppt/notesSlides/notesSlide6.xml" Id="R0ba2cbfe726d43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fc3784b1d74a95" /><Relationship Type="http://schemas.openxmlformats.org/officeDocument/2006/relationships/notesSlide" Target="/ppt/notesSlides/notesSlide7.xml" Id="Rcb4a2f96e20a44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f8320e6d49e41e7" /><Relationship Type="http://schemas.openxmlformats.org/officeDocument/2006/relationships/image" Target="/ppt/media/image5.png" Id="Ra433682c71384f7b" /><Relationship Type="http://schemas.openxmlformats.org/officeDocument/2006/relationships/notesSlide" Target="/ppt/notesSlides/notesSlide8.xml" Id="R5a6f531b39de493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7a3df4d1d3e4221" /><Relationship Type="http://schemas.openxmlformats.org/officeDocument/2006/relationships/image" Target="/ppt/media/image6.png" Id="R1a1bd9b77b3c494b" /><Relationship Type="http://schemas.openxmlformats.org/officeDocument/2006/relationships/notesSlide" Target="/ppt/notesSlides/notesSlide9.xml" Id="R3abaf641b09e483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80e11824af4251" /><Relationship Type="http://schemas.openxmlformats.org/officeDocument/2006/relationships/notesSlide" Target="/ppt/notesSlides/notesSlide10.xml" Id="R17a254cfa2254bc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8d5d8394b94063" /><Relationship Type="http://schemas.openxmlformats.org/officeDocument/2006/relationships/image" Target="/ppt/media/image7.png" Id="Rd9682b2b9cef43dd" /><Relationship Type="http://schemas.openxmlformats.org/officeDocument/2006/relationships/notesSlide" Target="/ppt/notesSlides/notesSlide11.xml" Id="R9cff1f5bfd344ba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9e1416453b43d4" /><Relationship Type="http://schemas.openxmlformats.org/officeDocument/2006/relationships/notesSlide" Target="/ppt/notesSlides/notesSlide12.xml" Id="R46a776e20695417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dff0e6cd4a34384" /><Relationship Type="http://schemas.openxmlformats.org/officeDocument/2006/relationships/notesSlide" Target="/ppt/notesSlides/notesSlide13.xml" Id="R951d3f84b25f47a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92328ad3dbb4d2b" /><Relationship Type="http://schemas.openxmlformats.org/officeDocument/2006/relationships/image" Target="/ppt/media/image8.png" Id="Racf7b65abb7d415e" /><Relationship Type="http://schemas.openxmlformats.org/officeDocument/2006/relationships/notesSlide" Target="/ppt/notesSlides/notesSlide14.xml" Id="Rd5a4feef3df241f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e947de880914aea" /><Relationship Type="http://schemas.openxmlformats.org/officeDocument/2006/relationships/notesSlide" Target="/ppt/notesSlides/notesSlide15.xml" Id="Rbda2c5f5245d4b9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347238788a14867" /><Relationship Type="http://schemas.openxmlformats.org/officeDocument/2006/relationships/notesSlide" Target="/ppt/notesSlides/notesSlide16.xml" Id="Red48fb65776a424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83ea1f6cce54066" /><Relationship Type="http://schemas.openxmlformats.org/officeDocument/2006/relationships/notesSlide" Target="/ppt/notesSlides/notesSlide17.xml" Id="Ra8910c50e5ce419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e8941995c6f4e41" /><Relationship Type="http://schemas.openxmlformats.org/officeDocument/2006/relationships/notesSlide" Target="/ppt/notesSlides/notesSlide18.xml" Id="R4d53c939d8ab422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9d53a42e04394b60" /><Relationship Type="http://schemas.openxmlformats.org/officeDocument/2006/relationships/image" Target="/ppt/media/image9.png" Id="R6c2560181ecb4168" /><Relationship Type="http://schemas.openxmlformats.org/officeDocument/2006/relationships/notesSlide" Target="/ppt/notesSlides/notesSlide19.xml" Id="R313213f62d16429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c3920f4dee042ab" /><Relationship Type="http://schemas.openxmlformats.org/officeDocument/2006/relationships/image" Target="/ppt/media/image10.png" Id="R0da5c60cbba644db" /><Relationship Type="http://schemas.openxmlformats.org/officeDocument/2006/relationships/notesSlide" Target="/ppt/notesSlides/notesSlide20.xml" Id="R6ea2a1941e7349b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e20edfb33234c1a" /><Relationship Type="http://schemas.openxmlformats.org/officeDocument/2006/relationships/notesSlide" Target="/ppt/notesSlides/notesSlide21.xml" Id="R203c54fe5c10450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f5dffc535114aa7" /><Relationship Type="http://schemas.openxmlformats.org/officeDocument/2006/relationships/notesSlide" Target="/ppt/notesSlides/notesSlide22.xml" Id="Rc232e9c450e94e0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a380b874a3a4406" /><Relationship Type="http://schemas.openxmlformats.org/officeDocument/2006/relationships/notesSlide" Target="/ppt/notesSlides/notesSlide23.xml" Id="Rc3d32babcbf14a5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90CD821-9732-4C9F-A5AA-03CC4954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SB-M01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8486760-E34C-4AB2-9F02-8584A5B5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OPENING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FFB7FB3-EC16-4DD9-BF17-395BFD8D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143000"/>
            <a:ext cx="310896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900" b="1" spc="10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49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8638341-A2E6-4629-8056-F1029EDC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93392"/>
            <a:ext cx="585216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让负荷预测服务于</a:t>
            </a:r>
            <a:endParaRPr sz="3400"/>
          </a:p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储能削峰决策</a:t>
            </a:r>
            <a:endParaRPr sz="3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C0EB102-BB9A-43E8-B463-91C22108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3657600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6C5D2"/>
                </a:solidFill>
                <a:latin typeface="Microsoft YaHei"/>
                <a:ea typeface="Microsoft YaHei"/>
                <a:cs typeface="Microsoft YaHei"/>
              </a:rPr>
              <a:t>面向储能决策的集成负荷预测方法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4C1CA01-3CE6-4747-BF7C-007B2D2B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170432"/>
            <a:ext cx="4709160" cy="429768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0D1F33">
              <a:alpha val="98000"/>
            </a:srgbClr>
          </a:solidFill>
          <a:ln xmlns:a="http://schemas.openxmlformats.org/drawingml/2006/main" w="12700">
            <a:solidFill>
              <a:srgbClr val="1D3A57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2FCDD32-5BC5-4476-8930-7FA8C206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965960"/>
            <a:ext cx="932688" cy="9326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5E00">
              <a:alpha val="18000"/>
            </a:srgbClr>
          </a:solidFill>
          <a:ln xmlns:a="http://schemas.openxmlformats.org/drawingml/2006/main" w="25400">
            <a:solidFill>
              <a:srgbClr val="D55E00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7EF8BEA-9901-4363-8AFA-94BD73DC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212848"/>
            <a:ext cx="74980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24h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12AE4B5-75B7-49F8-AAFD-78BBBFB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090672"/>
            <a:ext cx="12070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负荷预测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42BD93A-E255-4F0F-AB68-8D48C16D1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1965960"/>
            <a:ext cx="932688" cy="9326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4E9C">
              <a:alpha val="18000"/>
            </a:srgbClr>
          </a:solidFill>
          <a:ln xmlns:a="http://schemas.openxmlformats.org/drawingml/2006/main" w="25400">
            <a:solidFill>
              <a:srgbClr val="6F4E9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FEFC49E-FE7B-4926-8783-702D5437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212848"/>
            <a:ext cx="74980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BESS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2A6B962-D35E-4101-B62F-D9E0787A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48" y="3090672"/>
            <a:ext cx="12070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约束调度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892CE1C-A07D-47D1-A2CD-784C03C3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1965960"/>
            <a:ext cx="932688" cy="9326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C7FF">
              <a:alpha val="18000"/>
            </a:srgbClr>
          </a:solidFill>
          <a:ln xmlns:a="http://schemas.openxmlformats.org/drawingml/2006/main" w="25400">
            <a:solidFill>
              <a:srgbClr val="24C7F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A429FE-79CB-443C-BFF2-A149600B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0112" y="2212848"/>
            <a:ext cx="74980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PEAK</a:t>
            </a:r>
            <a:endParaRPr sz="1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498ECE3-89E9-44CB-8064-41BE487E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1512" y="3090672"/>
            <a:ext cx="12070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实际削峰</a:t>
            </a:r>
            <a:endParaRPr sz="11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9772022-AA36-42FB-BB4F-BBF39A2F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576" y="2432304"/>
            <a:ext cx="402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4728C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66CF7CF-F16C-42D9-82D3-0E80985C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32304"/>
            <a:ext cx="402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4728C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CD63F6E-C533-499F-AB17-94B301F5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4608576"/>
            <a:ext cx="0" cy="16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F264D56-C4B6-4A6D-BF9F-112E92B9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4460128"/>
            <a:ext cx="0" cy="4614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BE11494-01CB-4BF3-B810-B9F26D58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408208"/>
            <a:ext cx="0" cy="5653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F3AEE82-EC3A-4FF0-8E71-14F0644A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856" y="4486577"/>
            <a:ext cx="0" cy="4085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817E39E-B4AE-40B6-892A-0F2D4D7E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4572876"/>
            <a:ext cx="0" cy="2359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76720378-5B18-4301-81D8-E3EBB079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438391"/>
            <a:ext cx="0" cy="5049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06200309-109E-4167-83B2-B69D2BD9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544" y="4414569"/>
            <a:ext cx="0" cy="55260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770A72E-7BA1-4F40-B545-9E23FB73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516899"/>
            <a:ext cx="0" cy="34794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C830BCF9-B7C6-4E96-B575-9905D19F2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6336" y="4538310"/>
            <a:ext cx="0" cy="3051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7190D10E-7AA1-4978-B6F6-D1579F7E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4422057"/>
            <a:ext cx="0" cy="53763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62AB1F6-304D-4396-8219-66F1BD94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4427088"/>
            <a:ext cx="0" cy="52756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C16CDC9-44FC-49BC-9E54-86E6FB70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9024" y="4550131"/>
            <a:ext cx="0" cy="28148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10790A8-C6A9-4F7F-8A21-06B09E14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4505974"/>
            <a:ext cx="0" cy="3697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0B36AF09-6AFD-43A1-B864-058E88A7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3803904"/>
            <a:ext cx="35844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14E0A43-090B-4A12-BBEB-A244EDC6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8624" y="3845052"/>
            <a:ext cx="34381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预测是输入，不是终点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5FC077B9-3A8F-4419-B2FB-67E89F7D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4270248"/>
            <a:ext cx="370332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>
                <a:solidFill>
                  <a:srgbClr val="9EB3C5"/>
                </a:solidFill>
                <a:latin typeface="Microsoft YaHei"/>
                <a:ea typeface="Microsoft YaHei"/>
                <a:cs typeface="Microsoft YaHei"/>
              </a:rPr>
              <a:t>24 小时前瞻预测  →  冻结电池优化  →  实际负荷上的决策结果</a:t>
            </a:r>
            <a:endParaRPr sz="112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DB0AD9B-5D73-4F10-8762-5312BC98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5989320"/>
            <a:ext cx="3749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>
                <a:solidFill>
                  <a:srgbClr val="647B90"/>
                </a:solidFill>
                <a:latin typeface="Microsoft YaHei"/>
                <a:ea typeface="Microsoft YaHei"/>
                <a:cs typeface="Microsoft YaHei"/>
              </a:rPr>
              <a:t>全球人工智能算法精英大赛 · AI+能源主题赛</a:t>
            </a:r>
            <a:endParaRPr sz="82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3E5D053C-9F24-4ADF-8A74-F2D50DA8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SB-M01 · 固定 8 栋办公建筑 · Validation 选规则 · Test 仅评估</a:t>
            </a:r>
            <a:endParaRPr sz="750"/>
          </a:p>
        </p:txBody>
      </p:sp>
      <p:sp>
        <p:nvSpPr>
          <p:cNvPr id="3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C7A2344-16A5-46C5-916B-604D80E4A53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565658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553293B-E85C-4DD3-BBDC-C4C01A9E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SB-M02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ED8A8BB-B89C-4D28-A41C-D6729C89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TENSION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8F7BC12-BB11-41E1-B1B7-9EE0CD8F4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更低的预测 RMSE，并未带来更低的储能决策 regret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132F44A-06BF-4895-98E8-77BA911C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冻结八栋建筑 Test 汇总中，XGBoost 与 LightGBM 在预测误差与决策 regret 上出现排序反转。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4116E38-F365-4355-9E72-105BBB8E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490472"/>
            <a:ext cx="8366760" cy="4425696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e5648c6c9641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2180" y="1545336"/>
            <a:ext cx="7672832" cy="4315968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9BC1CD3-C17E-4E98-A1A2-43CB5D7D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490472"/>
            <a:ext cx="2395728" cy="4425696"/>
          </a:xfrm>
          <a:prstGeom xmlns:a="http://schemas.openxmlformats.org/drawingml/2006/main" prst="roundRect">
            <a:avLst>
              <a:gd name="adj" fmla="val 3435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F4969C3-6789-4F25-8A59-20B6E3F5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1783080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核心矛盾</a:t>
            </a:r>
            <a:endParaRPr sz="1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5BCEE96-A99F-48ED-9913-CDDD5213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240280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AFC4D6"/>
                </a:solidFill>
                <a:latin typeface="Arial"/>
                <a:ea typeface="Arial"/>
                <a:cs typeface="Arial"/>
              </a:rPr>
              <a:t>RMSE</a:t>
            </a:r>
            <a:endParaRPr sz="13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D1B9183-36CA-4EF2-9597-582083F0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532888"/>
            <a:ext cx="173736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9E73"/>
                </a:solidFill>
                <a:latin typeface="Arial"/>
                <a:ea typeface="Arial"/>
                <a:cs typeface="Arial"/>
              </a:rPr>
              <a:t>XGBoost</a:t>
            </a:r>
            <a:endParaRPr sz="1800"/>
          </a:p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9E73"/>
                </a:solidFill>
                <a:latin typeface="Arial"/>
                <a:ea typeface="Arial"/>
                <a:cs typeface="Arial"/>
              </a:rPr>
              <a:t>0.216751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A84BB52-92F9-45BE-A124-16F0E838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346704"/>
            <a:ext cx="1645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30" b="1">
                <a:solidFill>
                  <a:srgbClr val="AFC4D6"/>
                </a:solidFill>
                <a:latin typeface="Arial"/>
                <a:ea typeface="Arial"/>
                <a:cs typeface="Arial"/>
              </a:rPr>
              <a:t>Decision regret</a:t>
            </a:r>
            <a:endParaRPr sz="113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BE8EB1-42D6-4432-851E-232286B4E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657600"/>
            <a:ext cx="173736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LightGBM</a:t>
            </a:r>
            <a:endParaRPr sz="1800"/>
          </a:p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0.116127</a:t>
            </a:r>
            <a:endParaRPr sz="18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AC6247FD-0514-4103-9C36-7D7588EC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4517136"/>
            <a:ext cx="17830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1506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6199B4A-AAC6-4C9D-892A-31CBEE26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736592"/>
            <a:ext cx="1719072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7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同一个“更准”</a:t>
            </a:r>
            <a:endParaRPr sz="1170"/>
          </a:p>
          <a:p xmlns:a="http://schemas.openxmlformats.org/drawingml/2006/main">
            <a:pPr marL="0" indent="0">
              <a:buNone/>
            </a:pPr>
            <a:r>
              <a:rPr sz="117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不一定意味着同一个“更好调度”</a:t>
            </a:r>
            <a:endParaRPr sz="117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F6643E1-D2B6-4EE4-976E-BFDE1396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0032" y="5504688"/>
            <a:ext cx="199339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0291B"/>
          </a:solidFill>
          <a:ln xmlns:a="http://schemas.openxmlformats.org/drawingml/2006/main" w="12700">
            <a:solidFill>
              <a:srgbClr val="73513C">
                <a:alpha val="0"/>
              </a:srgbClr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A847062-D94E-48E0-BB50-BD72FEB2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3184" y="5545836"/>
            <a:ext cx="18470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3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范围内反例 ≠ 预测精度无用</a:t>
            </a:r>
            <a:endParaRPr sz="73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832E764-9801-4F24-88C9-A281DC59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outputs/phase13_1/figures/sci_01_forecast_decision_mismatch.png · Phase 9 final benchmark</a:t>
            </a:r>
            <a:endParaRPr sz="67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EB37C96-8A49-4B6C-BC33-E9D7053A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SB-M02 · 固定 8 栋办公建筑 · Validation 选规则 · Test 仅评估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47E7AAA-B7C5-4E44-9FFC-E171F718407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5917697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4B14463-CF0B-43AC-ADFF-D66B6882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SB-M03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6CD10D7-D6F6-4DCE-B797-F7A27141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PROBLEM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4F385DB-B692-4D82-B020-43E209A2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预测只是中间环节，调度结果才是工程终点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6B45EBE-E7D8-46D9-B22C-49A2050C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负荷预测会改变储能充放电计划；最终评价发生在真实负荷与电池动作叠加后的结果上。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57A3DA5-3234-4478-BFF2-97B82AD1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545336"/>
            <a:ext cx="10808208" cy="3968496"/>
          </a:xfrm>
          <a:prstGeom xmlns:a="http://schemas.openxmlformats.org/drawingml/2006/main" prst="roundRect">
            <a:avLst>
              <a:gd name="adj" fmla="val 2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338f4e7164a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69032" y="1600200"/>
            <a:ext cx="6860032" cy="3858768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C788BA4-DD35-4A55-82E7-3E37C3EF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691640"/>
            <a:ext cx="65379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6AA9A2E-FAB3-4868-86B8-DD1504F4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773936"/>
            <a:ext cx="65379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Prediction is an input to the decision — not the endpoint</a:t>
            </a:r>
            <a:endParaRPr sz="13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775D21A3-994D-4F36-A36B-D3B409DD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96128"/>
            <a:ext cx="22128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BCC0BA83-23AC-497D-9A98-424AF513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5637276"/>
            <a:ext cx="20665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CONCEPTUAL / EXPLANATORY</a:t>
            </a:r>
            <a:endParaRPr sz="85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5A2B04A-B302-46CE-9F02-11FCD1E8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5605272"/>
            <a:ext cx="7726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80">
                <a:solidFill>
                  <a:srgbClr val="A9B9C8"/>
                </a:solidFill>
                <a:latin typeface="Microsoft YaHei"/>
                <a:ea typeface="Microsoft YaHei"/>
                <a:cs typeface="Microsoft YaHei"/>
              </a:rPr>
              <a:t>所有预测方法进入同一套冻结电池约束，保证比较的是“预测带来的决策差异”，不是不同优化器。</a:t>
            </a:r>
            <a:endParaRPr sz="108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36CF236-26A7-43E9-9A42-1EB38CBB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597087"/>
                </a:solidFill>
                <a:latin typeface="Arial"/>
                <a:ea typeface="Arial"/>
                <a:cs typeface="Arial"/>
              </a:rPr>
              <a:t>Conceptual asset: outputs/phase13_1/presentation_assets/con_01_prediction_decision_bridge.png</a:t>
            </a:r>
            <a:endParaRPr sz="67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7A347A7-BBA1-4685-BB99-1F141A74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SB-M03 · 固定 8 栋办公建筑 · Validation 选规则 · Test 仅评估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159328D-452C-47EE-B342-F25DBC5E741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609552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DDCDB50-7D1A-4618-BCB5-A8B5DA20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SB-M04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66A4EBF-AF76-41E8-A44A-88BA4CAD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TENSION → SOLUTION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4FFAC1B-EC63-48A7-B8EB-FFD8D3FC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模型不只要预测得准，还要在 Validation 上支持更好的储能决策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D5F3437-D2BF-48C9-901D-771BD27D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保持预测组件与电池约束不变，只改变“选择依据”：从预测误差，转向 Validation 下游决策 regret。</a:t>
            </a:r>
            <a:endParaRPr sz="124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6A9B97D-CFEB-480B-AB7E-910AC512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28800"/>
            <a:ext cx="1508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527087"/>
                </a:solidFill>
                <a:latin typeface="Microsoft YaHei"/>
                <a:ea typeface="Microsoft YaHei"/>
                <a:cs typeface="Microsoft YaHei"/>
              </a:rPr>
              <a:t>传统预测选择</a:t>
            </a:r>
            <a:endParaRPr sz="11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85D2763-C9A4-4422-BD82-6C7760F5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682496"/>
            <a:ext cx="2724912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9375396-0A99-4661-9D83-1E8853FD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1874520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Forecast</a:t>
            </a:r>
            <a:endParaRPr sz="11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0D35E49-F994-4EEB-AE95-BD11311A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208" y="2011680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19456CA-2235-44AC-ACD0-864F6FE3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664" y="1682496"/>
            <a:ext cx="2724912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433D3A7-3DA8-44BE-A986-369627AB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1874520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MAE / RMSE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58AB783-2D72-4D97-BBFF-4B3A58F0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2011680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27087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BDA4C04-9407-4461-8255-4F1C6FC7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1682496"/>
            <a:ext cx="2724912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338"/>
          </a:solidFill>
          <a:ln xmlns:a="http://schemas.openxmlformats.org/drawingml/2006/main" w="10160">
            <a:solidFill>
              <a:srgbClr val="52708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FF7CD67-EE84-4CD3-9D7B-3D2E6C24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74520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B7C5D0"/>
                </a:solidFill>
                <a:latin typeface="Arial"/>
                <a:ea typeface="Arial"/>
                <a:cs typeface="Arial"/>
              </a:rPr>
              <a:t>Select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C38B18D-7C96-43D8-BE45-BB28A36B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05456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527087"/>
                </a:solidFill>
                <a:latin typeface="Microsoft YaHei"/>
                <a:ea typeface="Microsoft YaHei"/>
                <a:cs typeface="Microsoft YaHei"/>
              </a:rPr>
              <a:t>预测误差最小</a:t>
            </a:r>
            <a:endParaRPr sz="9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30A074F-7F2F-4825-BA9F-1BD0C1C2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730752"/>
            <a:ext cx="1508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DOEF 选择</a:t>
            </a:r>
            <a:endParaRPr sz="11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DE6E2A7-4962-48CC-9062-A99D5203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792C0B6-0FCF-44AA-97C6-726EC2D5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Forecast</a:t>
            </a:r>
            <a:endParaRPr sz="11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19E9BA9-E042-4C22-87BF-33E3AFBC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7972" y="3913632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9673F53E-A445-41D6-AB89-7E2E355F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7428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6EE7283-CFF3-460E-99F2-E80FC43D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580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Battery dispatch</a:t>
            </a:r>
            <a:endParaRPr sz="11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82F4385-E70A-4D27-927B-62F677A9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913632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4B1586A-ECD2-4F67-9BB4-73D41E00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3136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AAF7312-9B83-41FB-9839-5D10A254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Decision regret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FE85434-5DF7-4F1B-BF8B-D8F1BB82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9388" y="3913632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4E9C"/>
            </a:solidFill>
            <a:prstDash val="solid"/>
            <a:headEnd type="none"/>
            <a:tailEnd type="triangle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35B0ACF-4745-47B3-88E0-3C2B6E8F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8844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A2740"/>
          </a:solidFill>
          <a:ln xmlns:a="http://schemas.openxmlformats.org/drawingml/2006/main" w="10160">
            <a:solidFill>
              <a:srgbClr val="6F4E9C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0128753-7A96-445D-BC70-2F23983AF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1996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D8CCFF"/>
                </a:solidFill>
                <a:latin typeface="Arial"/>
                <a:ea typeface="Arial"/>
                <a:cs typeface="Arial"/>
              </a:rPr>
              <a:t>FREEZE  wᵦ</a:t>
            </a:r>
            <a:endParaRPr sz="11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96AF692-4394-4A02-AA5E-082E66FF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440740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决策 regret 最小</a:t>
            </a:r>
            <a:endParaRPr sz="9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95ED486B-42EC-4335-A77F-F4FD0304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264408"/>
            <a:ext cx="10149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34057"/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5889A64-6092-4EE3-84CC-630EC8BF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9352" y="5504688"/>
            <a:ext cx="42976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51D43"/>
          </a:solidFill>
          <a:ln xmlns:a="http://schemas.openxmlformats.org/drawingml/2006/main" w="12700">
            <a:solidFill>
              <a:srgbClr val="5F45A8">
                <a:alpha val="0"/>
              </a:srgbClr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CE4AA329-E674-4E31-928B-4D1DAB55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2504" y="5545836"/>
            <a:ext cx="4151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20" b="1">
                <a:solidFill>
                  <a:srgbClr val="D9CCFF"/>
                </a:solidFill>
                <a:latin typeface="Microsoft YaHei"/>
                <a:ea typeface="Microsoft YaHei"/>
                <a:cs typeface="Microsoft YaHei"/>
              </a:rPr>
              <a:t>唯一强调的改变：SELECTION OBJECTIVE</a:t>
            </a:r>
            <a:endParaRPr sz="102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1761D0E-34DA-4881-8D9C-F96FF41A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5925312"/>
            <a:ext cx="5715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20">
                <a:solidFill>
                  <a:srgbClr val="8298AA"/>
                </a:solidFill>
                <a:latin typeface="Microsoft YaHei"/>
                <a:ea typeface="Microsoft YaHei"/>
                <a:cs typeface="Microsoft YaHei"/>
              </a:rPr>
              <a:t>不是联合训练 · 不是新基础模型 · 不是用 Test 调权重</a:t>
            </a:r>
            <a:endParaRPr sz="102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BF5C68EC-658F-4EEF-A05E-1AF99EE37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SB-M04 · 固定 8 栋办公建筑 · Validation 选规则 · Test 仅评估</a:t>
            </a:r>
            <a:endParaRPr sz="750"/>
          </a:p>
        </p:txBody>
      </p:sp>
      <p:sp>
        <p:nvSpPr>
          <p:cNvPr id="3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517052B-9F6E-4F2A-B968-12BE6FE1DD7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749040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3F183E-E003-41CB-B4F6-84BEBC30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SB-M05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2C29741-12CA-4C6E-8E4B-F106F9E8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SOLUTION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F5FF1A3-33CB-4598-922B-51B466B5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 在 Validation 上按决策 regret 冻结权重，再进入 Test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B2C97A2-985D-4304-A1E0-8B23926D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每栋建筑的 DayWeek–LightGBM 权重只在 Validation 选择；Test 对训练、权重、tie-break 和电池配置没有反馈路径。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98140EE-F0B8-45CA-BCCE-DC302E65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17320"/>
            <a:ext cx="11109960" cy="4690872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c0ea8a080249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8180" y="1435608"/>
            <a:ext cx="8274304" cy="4654296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5476C92-0CCE-49C9-B87A-5C53EBE6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method visual: outputs/phase13_1/architecture/doef_architecture_master.png · formula: wᵦ·LightGBM + (1−wᵦ)·DayWeek</a:t>
            </a:r>
            <a:endParaRPr sz="67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D2D8D9F-B038-4D07-8313-5F8BEE89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SB-M05 · 固定 8 栋办公建筑 · Validation 选规则 · Test 仅评估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A7B49FC-08B4-4B5B-A2B2-EF4105581B9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7294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2D80439-A068-4FE6-94DF-1614BCA6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SB-M06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A8A88E-81E9-47A9-9D3A-A149945B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EVIDENCE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5FE4DE5-CFA8-4B29-B736-4EC6A4BB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 同时降低预测误差与储能决策 regret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7472F3C-32A2-4824-AB09-098A49A0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对比冻结 LightGBM：八栋建筑等权聚合的 normalized MAE 与 normalized decision regret 均下降。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8B98557-9608-4309-BF24-6D486046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444752"/>
            <a:ext cx="8430768" cy="4434840"/>
          </a:xfrm>
          <a:prstGeom xmlns:a="http://schemas.openxmlformats.org/drawingml/2006/main" prst="roundRect">
            <a:avLst>
              <a:gd name="adj" fmla="val 18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75b7564cf94e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0656" y="1490472"/>
            <a:ext cx="7721600" cy="4343400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91CE7C2-2D18-46E4-B668-FDD2287C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444752"/>
            <a:ext cx="2331720" cy="443484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704F7F7-FD24-46A7-B567-D27B924A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1847088"/>
            <a:ext cx="1783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6.36%</a:t>
            </a:r>
            <a:endParaRPr sz="2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E12A633-FB82-4172-AC51-68940017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505456"/>
            <a:ext cx="1783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normalized MAE 相对改善</a:t>
            </a:r>
            <a:endParaRPr sz="11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8B1F9620-1DC7-462E-93FE-0693F301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136392"/>
            <a:ext cx="1783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BBA7FF"/>
                </a:solidFill>
                <a:latin typeface="Arial"/>
                <a:ea typeface="Arial"/>
                <a:cs typeface="Arial"/>
              </a:rPr>
              <a:t>3.61%</a:t>
            </a:r>
            <a:endParaRPr sz="2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350A3A5-CC3C-47D8-8DF5-D4C1BFB6D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794760"/>
            <a:ext cx="1783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normalized regret 相对改善</a:t>
            </a:r>
            <a:endParaRPr sz="11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AB2C5A7D-FF1A-4C24-8C33-A6DCDE4B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471416"/>
            <a:ext cx="17830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6  /  2  /  0</a:t>
            </a:r>
            <a:endParaRPr sz="22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C8DF1E9-6B2E-4B47-B843-9C20B5EB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956048"/>
            <a:ext cx="1783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9FB1C1"/>
                </a:solidFill>
                <a:latin typeface="Arial"/>
                <a:ea typeface="Arial"/>
                <a:cs typeface="Arial"/>
              </a:rPr>
              <a:t>win / tie / loss</a:t>
            </a:r>
            <a:endParaRPr sz="92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CDDF6C1F-E51C-436E-9611-1B9B46D5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6608" y="5358384"/>
            <a:ext cx="192024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0291B"/>
          </a:solidFill>
          <a:ln xmlns:a="http://schemas.openxmlformats.org/drawingml/2006/main" w="12700">
            <a:solidFill>
              <a:srgbClr val="73513C">
                <a:alpha val="0"/>
              </a:srgbClr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D8F98B36-8E82-4981-B3CC-BBB59DE2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5399532"/>
            <a:ext cx="177393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负峰值案例保留：min = −1.017%</a:t>
            </a:r>
            <a:endParaRPr sz="78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A94D0F7B-5EC3-44C3-9426-504826CF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outputs/phase13_1/figures/sci_02_doef_main_results.png · Oracle-relative regret ≠ monetary regret</a:t>
            </a:r>
            <a:endParaRPr sz="67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799B3A-9FBA-479F-BC36-8C0846A3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SB-M06 · 固定 8 栋办公建筑 · Validation 选规则 · Test 仅评估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8DFC7CB-3C5D-4562-842B-BE83A71E691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078562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37CFE7E-26ED-4947-AFB8-50447D40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SB-M07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7B44899-EF7B-44A2-A929-25F25437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INTERPRETATION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B511782-A6B5-4F41-B3A6-14AAC18D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RMSE 衡量预测误差；regret 衡量误差经过调度后的工程后果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A0BE42C-03F8-419E-AFCF-CE4A95A1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两个指标回答不同问题，因此在项目范围内不保证给出相同的模型排序。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1F2195C-D544-4CCA-A368-D2BBFA42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27632"/>
            <a:ext cx="4983480" cy="4187952"/>
          </a:xfrm>
          <a:prstGeom xmlns:a="http://schemas.openxmlformats.org/drawingml/2006/main" prst="roundRect">
            <a:avLst>
              <a:gd name="adj" fmla="val 1965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34BD989-823E-42BA-B72D-56DB73D30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27632"/>
            <a:ext cx="4983480" cy="4187952"/>
          </a:xfrm>
          <a:prstGeom xmlns:a="http://schemas.openxmlformats.org/drawingml/2006/main" prst="roundRect">
            <a:avLst>
              <a:gd name="adj" fmla="val 1965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23BFE2A-C6AE-4D66-B827-9FE6E5F5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" y="1938528"/>
            <a:ext cx="157276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A3448"/>
          </a:solidFill>
          <a:ln xmlns:a="http://schemas.openxmlformats.org/drawingml/2006/main" w="12700">
            <a:solidFill>
              <a:srgbClr val="1A3448">
                <a:alpha val="0"/>
              </a:srgbClr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8CF2717-CC13-4BCF-859F-2D7BCEFA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1979676"/>
            <a:ext cx="142646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60" b="1">
                <a:solidFill>
                  <a:srgbClr val="A9D9F2"/>
                </a:solidFill>
                <a:latin typeface="Microsoft YaHei"/>
                <a:ea typeface="Microsoft YaHei"/>
                <a:cs typeface="Microsoft YaHei"/>
              </a:rPr>
              <a:t>FORECAST METRIC</a:t>
            </a:r>
            <a:endParaRPr sz="86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6017CD8-A5F9-4240-A681-1EBD9670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441448"/>
            <a:ext cx="20116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RMSE</a:t>
            </a:r>
            <a:endParaRPr sz="3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3D2906B-367F-4308-861C-D2802B0A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008376"/>
            <a:ext cx="3566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“预测偏了多少？”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4D04127-AE5D-43B4-98F1-234D0DBE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566160"/>
            <a:ext cx="38862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对所有时间点的误差做平方惩罚并聚合。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它是必要的预测质量检查，但不是储能决策本身。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06A1CE1-9E74-4327-AFCF-493906FD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424" y="1938528"/>
            <a:ext cx="17556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B2148"/>
          </a:solidFill>
          <a:ln xmlns:a="http://schemas.openxmlformats.org/drawingml/2006/main" w="12700">
            <a:solidFill>
              <a:srgbClr val="2B2148">
                <a:alpha val="0"/>
              </a:srgbClr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0430381-750C-49C5-A0BB-830D2C6B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1979676"/>
            <a:ext cx="16093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D8CCFF"/>
                </a:solidFill>
                <a:latin typeface="Microsoft YaHei"/>
                <a:ea typeface="Microsoft YaHei"/>
                <a:cs typeface="Microsoft YaHei"/>
              </a:rPr>
              <a:t>DOWNSTREAM METRIC</a:t>
            </a:r>
            <a:endParaRPr sz="82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4A24C5F-BC0A-41DF-B6B3-46C7365B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441448"/>
            <a:ext cx="21945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BCA9FF"/>
                </a:solidFill>
                <a:latin typeface="Arial"/>
                <a:ea typeface="Arial"/>
                <a:cs typeface="Arial"/>
              </a:rPr>
              <a:t>regret</a:t>
            </a:r>
            <a:endParaRPr sz="3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2EAD8C0-4347-4A21-B439-D7C43A26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008376"/>
            <a:ext cx="3840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2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“这次预测让调度损失了多少？”</a:t>
            </a:r>
            <a:endParaRPr sz="152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B44D039-D671-4ED3-8EB5-67B0EA01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566160"/>
            <a:ext cx="384048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预测 → 电池优化 → 实际负荷，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再与不可部署 Oracle 的最优决策结果比较。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24BF975-9113-41D7-8254-0D8A0F8CC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4407408"/>
            <a:ext cx="5852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66F85"/>
            </a:solidFill>
            <a:prstDash val="solid"/>
            <a:headEnd type="none"/>
            <a:tailEnd type="triangle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AF0AED4-0201-45FF-8529-76C612BF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008" y="3986784"/>
            <a:ext cx="621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8298AA"/>
                </a:solidFill>
                <a:latin typeface="Microsoft YaHei"/>
                <a:ea typeface="Microsoft YaHei"/>
                <a:cs typeface="Microsoft YaHei"/>
              </a:rPr>
              <a:t>不同终点</a:t>
            </a:r>
            <a:endParaRPr sz="88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C046E0A-00FD-4C56-A4EC-03ADB6ED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616" y="6007608"/>
            <a:ext cx="461772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3D46ED4-AD9A-49F3-A4EF-4CFE35CA1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6048756"/>
            <a:ext cx="4471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1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结论：两者都要看，不把一个替代另一个</a:t>
            </a:r>
            <a:endParaRPr sz="101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8878999-9ED4-473D-A1A3-B12028B6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SB-M07 · 固定 8 栋办公建筑 · Validation 选规则 · Test 仅评估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B0D1CBB-38FC-4D73-82E9-BDF9A81E04C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7071256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4FA2DF5-21D5-4A56-A0F3-C274FFE0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SB-M08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C1171BE-19DA-4065-A0D5-AA489CAF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BREADTH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A8FF388-923D-43C2-BB7C-328F55F4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全部八栋固定建筑均被展示：六胜、两平、零负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17AADFB-31B1-4972-868E-9C29D291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建筑在结果评估前冻结：296 个 office 候选 → 82 个质量通过 → 仅用 Train 期形态预选 8 栋。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327DFFF-9CD0-4EF7-9A83-AEF68DB1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9464040" cy="4507992"/>
          </a:xfrm>
          <a:prstGeom xmlns:a="http://schemas.openxmlformats.org/drawingml/2006/main" prst="roundRect">
            <a:avLst>
              <a:gd name="adj" fmla="val 1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3682c71384f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8580" y="1499616"/>
            <a:ext cx="7884160" cy="4434840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AC1E9351-7D34-4A65-9C3D-1C33E7FC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2992" y="1463040"/>
            <a:ext cx="1389888" cy="4507992"/>
          </a:xfrm>
          <a:prstGeom xmlns:a="http://schemas.openxmlformats.org/drawingml/2006/main" prst="roundRect">
            <a:avLst>
              <a:gd name="adj" fmla="val 592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E1F8F96-6ED6-46EC-A8B4-AAE4ADA2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1874520"/>
            <a:ext cx="102412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5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8 / 8</a:t>
            </a:r>
            <a:endParaRPr sz="25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063E959-AD89-49F1-B9FD-CC6A2101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395728"/>
            <a:ext cx="10789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B2C1CD"/>
                </a:solidFill>
                <a:latin typeface="Microsoft YaHei"/>
                <a:ea typeface="Microsoft YaHei"/>
                <a:cs typeface="Microsoft YaHei"/>
              </a:rPr>
              <a:t>全部展示</a:t>
            </a:r>
            <a:endParaRPr sz="105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A37B33C-4202-4891-B877-DFBDB9AF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2816352"/>
            <a:ext cx="987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14B61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6FE42CD-B95E-442C-AF24-ADB32369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063240"/>
            <a:ext cx="914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6AD7FF"/>
                </a:solidFill>
                <a:latin typeface="Arial"/>
                <a:ea typeface="Arial"/>
                <a:cs typeface="Arial"/>
              </a:rPr>
              <a:t>6</a:t>
            </a:r>
            <a:endParaRPr sz="24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1C45F68-A272-4030-80A2-DA8C9BD0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493008"/>
            <a:ext cx="914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9EB0BE"/>
                </a:solidFill>
                <a:latin typeface="Arial"/>
                <a:ea typeface="Arial"/>
                <a:cs typeface="Arial"/>
              </a:rPr>
              <a:t>lower</a:t>
            </a:r>
            <a:endParaRPr sz="88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740A8F2-2867-4DEB-A015-6141FF50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913632"/>
            <a:ext cx="914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D7E2EA"/>
                </a:solidFill>
                <a:latin typeface="Arial"/>
                <a:ea typeface="Arial"/>
                <a:cs typeface="Arial"/>
              </a:rPr>
              <a:t>2</a:t>
            </a:r>
            <a:endParaRPr sz="2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7F490EB7-38E2-418E-B4F4-4CC017D1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343400"/>
            <a:ext cx="914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9EB0BE"/>
                </a:solidFill>
                <a:latin typeface="Arial"/>
                <a:ea typeface="Arial"/>
                <a:cs typeface="Arial"/>
              </a:rPr>
              <a:t>ties</a:t>
            </a:r>
            <a:endParaRPr sz="88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57C09F00-C11A-4102-9E20-A870A12C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754880"/>
            <a:ext cx="914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D9AA6"/>
                </a:solidFill>
                <a:latin typeface="Arial"/>
                <a:ea typeface="Arial"/>
                <a:cs typeface="Arial"/>
              </a:rPr>
              <a:t>0</a:t>
            </a:r>
            <a:endParaRPr sz="24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7D40378-2C8B-4FD9-82E2-49E9C492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5184648"/>
            <a:ext cx="914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9EB0BE"/>
                </a:solidFill>
                <a:latin typeface="Arial"/>
                <a:ea typeface="Arial"/>
                <a:cs typeface="Arial"/>
              </a:rPr>
              <a:t>higher</a:t>
            </a:r>
            <a:endParaRPr sz="88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0579ECF-7363-4DFA-A2FE-8BE47EE6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SCI-03 · buildings preserved in preselected frozen order; no sorting/deletion</a:t>
            </a:r>
            <a:endParaRPr sz="67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D82DACA6-6E7A-4F50-9C3D-74B82074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SB-M08 · 固定 8 栋办公建筑 · Validation 选规则 · Test 仅评估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7DC175F-C7E4-4D55-8E73-0E45D4F173F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8684501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EB07763-F485-4162-AA0D-0DB330E2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SB-M09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B583CBF-5E2C-4C1F-BA66-0CDBC3D5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CREDIBILITY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2D17DFB-FA1F-4F8C-9294-ADB9B2D8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权重在 Validation 冻结，Test 不参与选择</a:t>
            </a:r>
            <a:endParaRPr sz="27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AE3E723-82EC-4449-8F11-48BAE72DC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11 个候选权重在预先声明的 Validation 网格上选择；Test 只用于最终评价，不反馈到模型、权重或 tie-break。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0ECFCA4-A013-47EB-9578-A91CE0C6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08760"/>
            <a:ext cx="8183880" cy="4315968"/>
          </a:xfrm>
          <a:prstGeom xmlns:a="http://schemas.openxmlformats.org/drawingml/2006/main" prst="roundRect">
            <a:avLst>
              <a:gd name="adj" fmla="val 19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1bd9b77b3c49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7476" y="1545336"/>
            <a:ext cx="7542784" cy="4242816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A02B0E7-B67F-42D4-B22F-8FCBF01E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1508760"/>
            <a:ext cx="2578608" cy="4315968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68B56369-961D-41B0-A8D8-8F805EA7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1856232"/>
            <a:ext cx="20116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7285E"/>
          </a:solidFill>
          <a:ln xmlns:a="http://schemas.openxmlformats.org/drawingml/2006/main" w="12700">
            <a:solidFill>
              <a:srgbClr val="37285E">
                <a:alpha val="0"/>
              </a:srgbClr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0519651-B112-4FE3-8538-039B866B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897380"/>
            <a:ext cx="1865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60" b="1">
                <a:solidFill>
                  <a:srgbClr val="E2D8FF"/>
                </a:solidFill>
                <a:latin typeface="Microsoft YaHei"/>
                <a:ea typeface="Microsoft YaHei"/>
                <a:cs typeface="Microsoft YaHei"/>
              </a:rPr>
              <a:t>NO TEST-TIME TUNING</a:t>
            </a:r>
            <a:endParaRPr sz="86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4F65821-9359-49C5-807C-F8CD7E76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578608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ABDFF"/>
                </a:solidFill>
                <a:latin typeface="Arial"/>
                <a:ea typeface="Arial"/>
                <a:cs typeface="Arial"/>
              </a:rPr>
              <a:t>Validation</a:t>
            </a:r>
            <a:endParaRPr sz="1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D146C5D-D377-4AF5-B51D-184F8C3E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907792"/>
            <a:ext cx="1737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搜索 0.0 → 1.0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步长 0.1</a:t>
            </a:r>
            <a:endParaRPr sz="12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2B5FCC13-92B0-4AB1-A7DF-A8F28FEA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3767328"/>
            <a:ext cx="15270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940">
            <a:solidFill>
              <a:srgbClr val="6F4E9C"/>
            </a:solidFill>
            <a:prstDash val="solid"/>
            <a:headEnd type="none"/>
            <a:tailEnd type="triangle"/>
          </a:ln>
        </p:spPr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1F1FEBEA-C8FC-4044-956E-8E3DC199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4023360"/>
            <a:ext cx="117043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94998C5B-7100-42C0-A2F9-F0FAA89B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4064508"/>
            <a:ext cx="10241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FREEZE  wᵦ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8613DE7-D73D-48F2-AD71-D364A4A8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4432" y="4434840"/>
            <a:ext cx="0" cy="4846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8291A1"/>
            </a:solidFill>
            <a:prstDash val="solid"/>
            <a:headEnd type="none"/>
            <a:tailEnd type="triangle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60D987C-E17C-45A0-972A-22F50438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47488"/>
            <a:ext cx="658368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0CBD5"/>
                </a:solidFill>
                <a:latin typeface="Arial"/>
                <a:ea typeface="Arial"/>
                <a:cs typeface="Arial"/>
              </a:rPr>
              <a:t>Test</a:t>
            </a:r>
            <a:endParaRPr sz="1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2BCBB95-184C-4D31-B45A-89B98686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5074920"/>
            <a:ext cx="11155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8FA1B0"/>
                </a:solidFill>
                <a:latin typeface="Arial"/>
                <a:ea typeface="Arial"/>
                <a:cs typeface="Arial"/>
              </a:rPr>
              <a:t>evaluation only</a:t>
            </a:r>
            <a:endParaRPr sz="93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3E6305AC-3582-4FA4-9AEF-9EFA0EC8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SCI-04 · candidate grid = 11 weights · prior historical Test visibility means “pristine blind test” is not claimed</a:t>
            </a:r>
            <a:endParaRPr sz="67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DC00CC4-D80D-4034-899F-DB229A36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SB-M09 · 固定 8 栋办公建筑 · Validation 选规则 · Test 仅评估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38124D1-4C84-4CBD-9616-658438BC5A7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558768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9C237FD-709A-4E80-A007-24C2C5F7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SB-M10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15DA8D7-A2E1-4CDD-9914-DA9639F5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ENGINEERING WORKFLOW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0478554-40D1-4751-BDF2-5B3DCBF9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冻结流程明确了次日预测如何生成储能调度，但尚非现场部署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B1A2256-138E-42BB-B57D-6A8BCCD2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这是可复现的 next-day operating sequence，而不是已在真实楼宇上线的控制系统。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03F4263-6F8D-4C3D-9C3E-AF17F83D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C17C150-6BCC-47A1-AA12-72E6B3C8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889A2"/>
                </a:solidFill>
                <a:latin typeface="Arial"/>
                <a:ea typeface="Arial"/>
                <a:cs typeface="Arial"/>
              </a:rPr>
              <a:t>01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B766FF3-EAD0-47A9-9838-1A914544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已知历史负荷</a:t>
            </a:r>
            <a:endParaRPr sz="15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8C7A0B3-9FAC-4A5C-967A-074894B0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截至预测时刻可用的正滞后与日历状态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BCC2638-85E4-423F-AA10-7F0E0391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984" y="342900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DF07C76-F177-45E4-8FAF-E5C70B4E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45D7B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CD3F84C-BDC8-4864-B5B3-783AE862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889A2"/>
                </a:solidFill>
                <a:latin typeface="Arial"/>
                <a:ea typeface="Arial"/>
                <a:cs typeface="Arial"/>
              </a:rPr>
              <a:t>02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617E593-D3CB-4E0C-807C-3C3470E2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生成次日预测</a:t>
            </a:r>
            <a:endParaRPr sz="1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E512124-5D16-4B7B-A671-12E184F2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冻结 DayWeek + LightGBM，使用已冻结 wᵦ</a:t>
            </a:r>
            <a:endParaRPr sz="11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513976C-819D-42D8-9189-4E8A15D1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42900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9B6D026-6464-4C1A-8E62-E3D9CD92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45D7B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3F124CD-74D5-4D12-80F5-FAA1A507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03</a:t>
            </a:r>
            <a:endParaRPr sz="1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3DD30A0-6D5E-4AE9-8349-95AB9C5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求解 24h 电池计划</a:t>
            </a:r>
            <a:endParaRPr sz="15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B3A30AC-2989-4312-852A-500F867A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同一容量 / 功率 / SOC / 效率 / daily reset</a:t>
            </a:r>
            <a:endParaRPr sz="11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E6ED8AD-38F6-44C8-A8D3-6276B3EC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64" y="342900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C20C444-8898-4B96-B724-F97BDF74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D003782-1126-4E69-A08C-539B90C2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889A2"/>
                </a:solidFill>
                <a:latin typeface="Arial"/>
                <a:ea typeface="Arial"/>
                <a:cs typeface="Arial"/>
              </a:rPr>
              <a:t>04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E579E59-F65C-4BB3-9BF3-4794D49D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真实负荷后评估</a:t>
            </a:r>
            <a:endParaRPr sz="15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8DA79AF-B33E-4FBD-9498-371B79EF9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MAE/RMSE + peak + Oracle-relative regret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396A8D6-6342-4E2E-AA09-5965E5C6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5413248"/>
            <a:ext cx="123444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130287D-9B31-43B7-8018-597763728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5454396"/>
            <a:ext cx="108813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REPEATABLE</a:t>
            </a:r>
            <a:endParaRPr sz="84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8DCEBF7-1271-40DB-976A-C7001870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5413248"/>
            <a:ext cx="100584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51D43"/>
          </a:solidFill>
          <a:ln xmlns:a="http://schemas.openxmlformats.org/drawingml/2006/main" w="12700">
            <a:solidFill>
              <a:srgbClr val="251D43">
                <a:alpha val="0"/>
              </a:srgbClr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BAF7D32-A4B1-4AAD-A745-A6C27E73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6312" y="5454396"/>
            <a:ext cx="85953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CFC1FF"/>
                </a:solidFill>
                <a:latin typeface="Microsoft YaHei"/>
                <a:ea typeface="Microsoft YaHei"/>
                <a:cs typeface="Microsoft YaHei"/>
              </a:rPr>
              <a:t>FROZEN</a:t>
            </a:r>
            <a:endParaRPr sz="84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FF36FF0F-E614-4943-9074-8F60E1D6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413248"/>
            <a:ext cx="144475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A281D"/>
          </a:solidFill>
          <a:ln xmlns:a="http://schemas.openxmlformats.org/drawingml/2006/main" w="12700">
            <a:solidFill>
              <a:srgbClr val="3A281D">
                <a:alpha val="0"/>
              </a:srgbClr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E82CB1F-8B7B-4927-A59A-BF79E642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5454396"/>
            <a:ext cx="12984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NOT DEPLOYED</a:t>
            </a:r>
            <a:endParaRPr sz="84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A5CD13F-5F02-4AB2-8921-E5DB19B9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5431536"/>
            <a:ext cx="54132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B5C6D3"/>
                </a:solidFill>
                <a:latin typeface="Microsoft YaHei"/>
                <a:ea typeface="Microsoft YaHei"/>
                <a:cs typeface="Microsoft YaHei"/>
              </a:rPr>
              <a:t>工程价值：把 AI 预测、储能约束、决策评价连成一条可审计链。</a:t>
            </a:r>
            <a:endParaRPr sz="12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A523A89-2B96-4187-9776-F8D6DE49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SB-M10 · 固定 8 栋办公建筑 · Validation 选规则 · Test 仅评估</a:t>
            </a:r>
            <a:endParaRPr sz="750"/>
          </a:p>
        </p:txBody>
      </p:sp>
      <p:sp>
        <p:nvSpPr>
          <p:cNvPr id="33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7144754-1E97-4CF6-9F0D-9E038E6E7F3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529599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00F63AC-D176-4AF2-B9C3-B3ADA6A7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SB-M11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70D779-2372-475F-8B84-6070E89F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CONTRIBUTION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3CB0AFE-7074-456D-A475-6B2288AF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创新不在基础预测器，而在把模型选择对齐储能决策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974055D-CD2E-48FA-9E1D-3D4D13F9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DOEF 的贡献是可审计的 decision-oriented framework，而不是把 LightGBM 或简单加权包装成新模型。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A8127F5-3C17-4328-8FC8-50CA8AA7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0472"/>
            <a:ext cx="10826496" cy="4297680"/>
          </a:xfrm>
          <a:prstGeom xmlns:a="http://schemas.openxmlformats.org/drawingml/2006/main" prst="roundRect">
            <a:avLst>
              <a:gd name="adj" fmla="val 19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682b2b9cef43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60168" y="1536192"/>
            <a:ext cx="7477760" cy="4206240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14FC95D-A391-4E1A-B202-71D87F71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597087"/>
                </a:solidFill>
                <a:latin typeface="Arial"/>
                <a:ea typeface="Arial"/>
                <a:cs typeface="Arial"/>
              </a:rPr>
              <a:t>Conceptual asset: CON-02 · no first/world-first/SOTA/end-to-end deployment claim</a:t>
            </a:r>
            <a:endParaRPr sz="67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74520B6-CC30-46C3-8AE6-E652479D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SB-M11 · 固定 8 栋办公建筑 · Validation 选规则 · Test 仅评估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ECB2D2E-8F99-46DC-A9A6-5F30D5092FD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87135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D98C0FD-37D0-4B88-8B91-8BD1ED28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SB-M12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1B53AC-E07C-4B7C-B230-FA87A2D2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CONCLUSION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6D35D95-AFAB-46DB-A281-25761038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115568"/>
            <a:ext cx="576072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让预测评价</a:t>
            </a:r>
            <a:endParaRPr sz="3400"/>
          </a:p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与最终储能决策对齐</a:t>
            </a:r>
            <a:endParaRPr sz="3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CC99C8A-EA3E-4F4D-A6B7-17558496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24912"/>
            <a:ext cx="3749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80">
                <a:solidFill>
                  <a:srgbClr val="24C7FF"/>
                </a:solidFill>
                <a:latin typeface="Arial"/>
                <a:ea typeface="Arial"/>
                <a:cs typeface="Arial"/>
              </a:rPr>
              <a:t>FOR BATTERY PEAK SHAVING</a:t>
            </a:r>
            <a:endParaRPr sz="1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3221A83-3344-474E-B262-0E2B21B0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216152"/>
            <a:ext cx="466344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9465E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5832005-33A4-4778-BAFA-57242C76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1435608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01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8E11740-8B2B-4298-B99D-9B613B95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380744"/>
            <a:ext cx="3364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预测误差 ≠ 决策价值</a:t>
            </a:r>
            <a:endParaRPr sz="14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2C4C30B-5903-4455-9AFE-DC12ED33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810512"/>
            <a:ext cx="336499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93A7B8"/>
                </a:solidFill>
                <a:latin typeface="Microsoft YaHei"/>
                <a:ea typeface="Microsoft YaHei"/>
                <a:cs typeface="Microsoft YaHei"/>
              </a:rPr>
              <a:t>RMSE 与 regret 回答不同问题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A99DE95-92E4-4590-807F-874B187E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2660904"/>
            <a:ext cx="466344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9465E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C119684-790C-407B-8FBB-8EEBB14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2880360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CFC0FF"/>
                </a:solidFill>
                <a:latin typeface="Arial"/>
                <a:ea typeface="Arial"/>
                <a:cs typeface="Arial"/>
              </a:rPr>
              <a:t>02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A45F04C-2A5C-4C32-8A99-E9EF4B7A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825496"/>
            <a:ext cx="3364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Validation 对齐选择</a:t>
            </a:r>
            <a:endParaRPr sz="14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62F3199-DC1A-4FA6-902F-E209ED93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255264"/>
            <a:ext cx="336499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93A7B8"/>
                </a:solidFill>
                <a:latin typeface="Microsoft YaHei"/>
                <a:ea typeface="Microsoft YaHei"/>
                <a:cs typeface="Microsoft YaHei"/>
              </a:rPr>
              <a:t>按储能 regret 冻结 wᵦ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D9E784F-A988-42EF-8814-76BAB56C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4105656"/>
            <a:ext cx="466344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9465E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305E280-4676-46E4-B428-7E952EED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4325112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03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3D15B9C-2F89-4369-853E-225FE322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270248"/>
            <a:ext cx="3364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Test 只做最终评价</a:t>
            </a:r>
            <a:endParaRPr sz="14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5940668-96E9-4769-8453-F4EEE9D3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700016"/>
            <a:ext cx="336499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93A7B8"/>
                </a:solidFill>
                <a:latin typeface="Microsoft YaHei"/>
                <a:ea typeface="Microsoft YaHei"/>
                <a:cs typeface="Microsoft YaHei"/>
              </a:rPr>
              <a:t>固定 8 栋 · 全部结果保留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E374428-5909-4D03-B980-7D0FC0A6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77056"/>
            <a:ext cx="52578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B8C8D5"/>
                </a:solidFill>
                <a:latin typeface="Microsoft YaHei"/>
                <a:ea typeface="Microsoft YaHei"/>
                <a:cs typeface="Microsoft YaHei"/>
              </a:rPr>
              <a:t>预测模型不仅要“预测得准”，也要验证它是否支持更好的工程决策。</a:t>
            </a:r>
            <a:endParaRPr sz="17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15C0C5F-F708-4E1B-85E6-B4306C44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138928"/>
            <a:ext cx="2066544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5F7A70A-D67D-4C07-A0C6-0F82606C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80076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DOEF v1.0 · frozen evidence</a:t>
            </a:r>
            <a:endParaRPr sz="88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8C92B24-6AD0-4638-BE84-B724E962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650992"/>
            <a:ext cx="5715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0">
                <a:solidFill>
                  <a:srgbClr val="71889A"/>
                </a:solidFill>
                <a:latin typeface="Microsoft YaHei"/>
                <a:ea typeface="Microsoft YaHei"/>
                <a:cs typeface="Microsoft YaHei"/>
              </a:rPr>
              <a:t>八栋固定办公建筑 · 单一未来 Test 月 · 24 h horizon · 无成本/碳/现场部署结论</a:t>
            </a:r>
            <a:endParaRPr sz="97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63757A5-B65C-4414-B31F-4D29D9F9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SB-M12 · 固定 8 栋办公建筑 · Validation 选规则 · Test 仅评估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FA90857-565C-45F5-8F23-22BE32DACB5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1664602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CFAFA9B-7ECE-4876-A094-E5C33976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SB-A01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F5DA961-BEC2-4466-92E6-1C036DE2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APPENDIX · SCOPE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185AB35-A948-49CD-8320-EA72DE25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50E962E-E4F4-4B37-A24D-CE57DB40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ONLY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F189762-3E73-464A-89C4-6AD50B4B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建筑范围在结果评估前冻结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BCFBBF5-34BA-431D-AB6E-CAE307C2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质量筛选 + Train-only 负荷形态覆盖，Validation/Test 模型或决策性能不参与建筑预选。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57F0660-4B45-4367-B758-252AF428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A1B93B7-F0AB-40E1-A701-CFEB66F9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1,578</a:t>
            </a:r>
            <a:endParaRPr sz="25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5DF57EF-C044-4AA1-B59C-93BA836E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building series</a:t>
            </a:r>
            <a:endParaRPr sz="9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CFAEFCB-39C4-423C-81F2-D8E894C8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2084832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6932EF6-88B8-46A4-BA28-A6628746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491C8F-68D9-44E4-9C54-24F823B9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296</a:t>
            </a:r>
            <a:endParaRPr sz="2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7A0C719-952C-4306-815D-73D859E6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office candidates</a:t>
            </a:r>
            <a:endParaRPr sz="9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21245F44-36E3-4F4C-80D9-328EC66F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084832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F12F5CD-049B-4B1E-81E1-25B5A4A7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3D4492E-870B-481A-BDC9-FC2FCCFF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82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7005B90-A095-4803-AB0B-4ECC75A4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quality pass</a:t>
            </a:r>
            <a:endParaRPr sz="9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D6F409A-A429-4767-BCDB-C7C9A452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084832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3AB6E7C-0FE2-458B-AE11-012F2E8F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10160">
            <a:solidFill>
              <a:srgbClr val="A9D7F6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6716F6D-077E-4C57-89A7-CE3E5318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8</a:t>
            </a:r>
            <a:endParaRPr sz="25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3232A00-A0A0-4616-96C2-C7E46267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fixed offices</a:t>
            </a:r>
            <a:endParaRPr sz="9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6F15F7DD-31E1-4E00-8E69-DAE0D102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53512"/>
            <a:ext cx="4709160" cy="2916936"/>
          </a:xfrm>
          <a:prstGeom xmlns:a="http://schemas.openxmlformats.org/drawingml/2006/main" prst="roundRect">
            <a:avLst>
              <a:gd name="adj" fmla="val 28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074009B-5677-410B-BFC2-71B4E2BF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8688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冻结建筑顺序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1D39933-691B-47A5-8E9F-5988D184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03320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01  Hog · Rolando</a:t>
            </a:r>
            <a:endParaRPr sz="101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79F5766-EBDD-4560-AC38-2675BEAD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8808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02  Hog · Lavon</a:t>
            </a:r>
            <a:endParaRPr sz="101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618B933-582D-47B9-A0A0-C6E07A38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54296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03  Hog · Joey</a:t>
            </a:r>
            <a:endParaRPr sz="101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720D858-58F2-488C-B548-449F3B7A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29784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04  Lamb · Caitlin</a:t>
            </a:r>
            <a:endParaRPr sz="101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AD4590B-DE27-441D-A233-579D9BCA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3703320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05  Robin · Addie</a:t>
            </a:r>
            <a:endParaRPr sz="101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350748EE-A1BB-4CA2-A148-D04F878A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4178808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06  Lamb · Gerardo</a:t>
            </a:r>
            <a:endParaRPr sz="101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10BFCC8-78D7-462F-B9C2-B83B79F7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4654296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07  Hog · Alexis</a:t>
            </a:r>
            <a:endParaRPr sz="101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62056C3-D024-454F-913B-74D875F4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5129784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08  Hog · Byron</a:t>
            </a:r>
            <a:endParaRPr sz="101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A77B8AD8-9DFD-4CBC-B16C-374736C4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953512"/>
            <a:ext cx="5925312" cy="2916936"/>
          </a:xfrm>
          <a:prstGeom xmlns:a="http://schemas.openxmlformats.org/drawingml/2006/main" prst="roundRect">
            <a:avLst>
              <a:gd name="adj" fmla="val 282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0F65E7AA-8079-4D37-B502-1E0F0A19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2" y="3236976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Train-only morphology features</a:t>
            </a:r>
            <a:endParaRPr sz="11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0DAF2F2-4F38-4888-A444-9A3AB266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730752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log mean load</a:t>
            </a:r>
            <a:endParaRPr sz="93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2394D8ED-9294-44A1-A6E4-57E0351A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30752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coefficient of variation</a:t>
            </a:r>
            <a:endParaRPr sz="93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AD966039-030E-4C6A-9C99-DA5FE45E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123944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peak-to-average ratio</a:t>
            </a:r>
            <a:endParaRPr sz="93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543EA918-0629-48A4-BDA1-FF9FE3E4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23944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peak–valley range</a:t>
            </a:r>
            <a:endParaRPr sz="93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DCA51F4-7812-45AE-A7DF-5C758608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17136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lag-24 autocorrelation</a:t>
            </a:r>
            <a:endParaRPr sz="93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E78E095F-E280-4B63-8752-62F5F9C8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17136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lag-168 autocorrelation</a:t>
            </a:r>
            <a:endParaRPr sz="93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B698010F-8A15-456B-9ED4-EDA84BEB2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910328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weekday–weekend difference</a:t>
            </a:r>
            <a:endParaRPr sz="93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BB987306-CA35-4278-AE1C-9367FC65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910328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daily-profile variability</a:t>
            </a:r>
            <a:endParaRPr sz="93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CFDFED43-B6E9-46AF-872B-DF318FE2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303520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robust outlier fraction</a:t>
            </a:r>
            <a:endParaRPr sz="93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C1410F61-C558-4D7D-A3D1-5EBAF144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5504688"/>
            <a:ext cx="208483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D2548"/>
          </a:solidFill>
          <a:ln xmlns:a="http://schemas.openxmlformats.org/drawingml/2006/main" w="12700">
            <a:solidFill>
              <a:srgbClr val="2D2548">
                <a:alpha val="0"/>
              </a:srgbClr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28EC0BD4-E746-4EAE-9AC0-1EA91D27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664" y="5545836"/>
            <a:ext cx="19385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90" b="1">
                <a:solidFill>
                  <a:srgbClr val="D9CCFF"/>
                </a:solidFill>
                <a:latin typeface="Microsoft YaHei"/>
                <a:ea typeface="Microsoft YaHei"/>
                <a:cs typeface="Microsoft YaHei"/>
              </a:rPr>
              <a:t>NO Validation/Test performance used</a:t>
            </a:r>
            <a:endParaRPr sz="79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56911814-A160-475B-9C4D-DD39217E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outputs/phase7/selected_buildings.json</a:t>
            </a:r>
            <a:endParaRPr sz="67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29CC2554-0F77-4D21-BB57-FB41C63A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Appendix · open for “why only 8 / cherry-picking?”</a:t>
            </a:r>
            <a:endParaRPr sz="750"/>
          </a:p>
        </p:txBody>
      </p:sp>
      <p:sp>
        <p:nvSpPr>
          <p:cNvPr id="4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6293FC8-3C07-43F3-8404-A8834C45839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7066389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DE7829C-D122-432A-9BBB-06FDCDAD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SB-A02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460BB4E-A26F-468C-8433-5BA04F06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APPENDIX · PROTOCOL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78CD85A-814C-415B-8190-8CECC372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4C82F35-4BBB-4952-BF81-85561141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ONLY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362D3C-F0A2-4D13-A38B-1C8CFEA8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因果特征与时间切分共同约束信息边界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EF7C7B9-CDAA-46EC-A688-A73032C3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24 h horizon；只使用预测时刻可获得的负荷历史与日历信息；Validation 选择，Test 最终评估。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053C976-453B-4645-B2A5-7A526257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44752"/>
            <a:ext cx="8732520" cy="4434840"/>
          </a:xfrm>
          <a:prstGeom xmlns:a="http://schemas.openxmlformats.org/drawingml/2006/main" prst="roundRect">
            <a:avLst>
              <a:gd name="adj" fmla="val 18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f7b65abb7d41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3028" y="1472184"/>
            <a:ext cx="7786624" cy="4379976"/>
          </a:xfrm>
          <a:prstGeom xmlns:a="http://schemas.openxmlformats.org/drawingml/2006/main" prst="rect">
            <a:avLst/>
          </a:prstGeom>
        </p:spPr>
      </p:pic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7DCE6EE4-04DE-49F8-923E-156189D0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912" y="1444752"/>
            <a:ext cx="1947672" cy="443484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224014D-7836-43A5-BC95-83C7B2C4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2224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信息边界</a:t>
            </a:r>
            <a:endParaRPr sz="1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C0390A67-8F3C-4592-B787-BB95857F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267712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positive lags</a:t>
            </a:r>
            <a:endParaRPr sz="93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5AB5996-4E7A-4471-B837-C9840F98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97480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shifted history</a:t>
            </a:r>
            <a:endParaRPr sz="93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4A9AD1C-E88B-4D68-A185-D944C5F4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272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calendar state</a:t>
            </a:r>
            <a:endParaRPr sz="93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E5F977E-A37E-4303-BF9E-F13ECF05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557016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no weather</a:t>
            </a:r>
            <a:endParaRPr sz="93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CD7E86-D7EB-4E0A-A7D2-59D6FBEA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8678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no target leakage</a:t>
            </a:r>
            <a:endParaRPr sz="93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A1CC2E-9E05-481C-BA1F-024EEACE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4773168"/>
            <a:ext cx="153619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B2B20"/>
          </a:solidFill>
          <a:ln xmlns:a="http://schemas.openxmlformats.org/drawingml/2006/main" w="12700">
            <a:solidFill>
              <a:srgbClr val="3B2B20">
                <a:alpha val="0"/>
              </a:srgbClr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2B390A7-94B6-43AB-9D72-DDD0EE36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4814316"/>
            <a:ext cx="13898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1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TEST ≠ pristine blind set</a:t>
            </a:r>
            <a:endParaRPr sz="71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D68AD12A-F0C7-4FEC-8878-E2BD41AD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ARCH-01 · prior Test visibility caveat retained</a:t>
            </a:r>
            <a:endParaRPr sz="67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828029A-6190-40E5-9B58-C0D4D626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Appendix · leakage / chronology answer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9F0084D-D085-4133-A4E4-90259B0229A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364999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B71A4D9-A2E1-439D-9595-F309DEDE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SB-A03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6B44C25-5F8A-444B-9984-8C6449E5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APPENDIX · MODELS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FF56D50-328E-42A8-A1F3-5C2319BD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BA8349D-CFBE-4856-9EE3-C6A3DF17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ONLY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04B5648-F7D0-4B2C-A312-4338B41F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基础模型是对照与组件，不是被包装的创新点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8605C23-E656-47FE-8C23-4FCB9625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DOEF 只组合 DayWeek 与逐建筑 LightGBM；其他模型用于基线或受控对照。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D640F9F-26B3-4957-A943-41421E636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205740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7923097-DE60-4894-9AB9-D64700F68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46504"/>
            <a:ext cx="1874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Method</a:t>
            </a:r>
            <a:endParaRPr sz="92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AE3B202-3546-448F-9EE0-44721D4C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1627632"/>
            <a:ext cx="30175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F3A80EB-2E6A-41B4-8058-BD395D49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1746504"/>
            <a:ext cx="2834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Definition / input</a:t>
            </a:r>
            <a:endParaRPr sz="9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A39465E-8E7D-4CE2-8961-EBA7A57C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1627632"/>
            <a:ext cx="30175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C42A507-572D-4C8A-A8E9-E42AC729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1746504"/>
            <a:ext cx="2834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Role in benchmark</a:t>
            </a:r>
            <a:endParaRPr sz="92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B8E2BB2-07A9-43FF-BBB9-4914F706F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1627632"/>
            <a:ext cx="192024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8662601-7CF6-48BD-B7B2-6D921C51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1746504"/>
            <a:ext cx="1737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Novelty claim?</a:t>
            </a:r>
            <a:endParaRPr sz="92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9C3AF4B-EFD5-4898-A640-7E98EC86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66544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8835178-029A-45A6-9118-45A1B473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76272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 Persistence</a:t>
            </a:r>
            <a:endParaRPr sz="94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63EEB9D-E885-4482-8123-EB2630AE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206654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09D36DF-FB5D-4E5C-826C-62D9953D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17627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t−24 h</a:t>
            </a:r>
            <a:endParaRPr sz="94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1F77E62-68B0-4686-B802-F36DB44A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206654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BA39D38-A350-4D9E-B3DA-2047E117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7627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Baseline</a:t>
            </a:r>
            <a:endParaRPr sz="94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B380FB3-3A01-48DF-9DC1-8EA25975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2066544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098AB95-78D1-4566-9C28-E0F0E6C4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176272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9BB8D1C-C838-417F-A979-3A5BC6DB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560320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682D223-13D7-4568-9F57-D78C98F9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670048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Week</a:t>
            </a:r>
            <a:endParaRPr sz="94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2C2E5088-A310-4016-9BC2-1F6F67C3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256032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36DA6AE-D296-40DF-98D8-1F3EE170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67004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t−168 h</a:t>
            </a:r>
            <a:endParaRPr sz="94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44F00C63-EF3D-4825-A55A-E38FBB0C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256032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1EC11C3-DD6D-4D2A-ABAA-43A0340C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67004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Baseline</a:t>
            </a:r>
            <a:endParaRPr sz="94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C9123E16-48F1-4E7D-9598-222DDE28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2560320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F4C8FCD4-7CD2-435D-87FC-8C1D0B55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6700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FF0F16E0-4B63-44B8-B186-CF8EC927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54096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8070FC4-4D9D-491D-AEF2-B5988E5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163824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DayWeek</a:t>
            </a:r>
            <a:endParaRPr sz="94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15E103BC-705D-4DD4-81A4-83D2D684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305409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B765B24-9457-47B4-9073-B0F66D57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316382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0.5·Day + 0.5·Week</a:t>
            </a:r>
            <a:endParaRPr sz="94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7CC8D2DB-D84B-438E-B530-0C67F6B79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305409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A5B44908-103F-464C-BE97-B61749B6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16382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 component</a:t>
            </a:r>
            <a:endParaRPr sz="94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73933169-FBB7-4307-8F5B-FCCB28AC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3054096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0424C445-7B25-40B1-AFA7-9EBFC869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31638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94E9E0F1-718F-4F94-977F-CDDCB45D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47872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084C1900-D367-49BF-AB1D-E2941D816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57600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LightGBM</a:t>
            </a:r>
            <a:endParaRPr sz="94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B50934A9-6192-475E-8AEE-C8C55F86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3547872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383BE840-257F-403B-88AC-9CE71FE2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3657600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causal features</a:t>
            </a:r>
            <a:endParaRPr sz="94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8B83FCB1-089D-4E46-B221-8CAFA619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3547872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6A99D12F-490F-40B7-B105-CB2B83A3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657600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 component / baseline</a:t>
            </a:r>
            <a:endParaRPr sz="94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973AC2CE-AE85-4959-8A69-7D97F939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3547872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21E3D06F-A787-4643-A1DA-C15AC51B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3657600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B98A76A7-EB4D-4CE5-B67E-696573A4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41648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0700E04B-040F-4103-BCCF-B3792BAB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151376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XGBoost</a:t>
            </a:r>
            <a:endParaRPr sz="94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125CEE98-6807-4DBE-9D8B-1691600F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4041648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937909B2-C1B4-4256-A449-F7784FF4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4151376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causal features</a:t>
            </a:r>
            <a:endParaRPr sz="94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13A4AAD5-528E-4D5F-A404-7806842A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4041648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F5990996-1D56-4DAE-9706-A7FD146C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4151376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Comparator</a:t>
            </a:r>
            <a:endParaRPr sz="94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7BF3B466-7166-48F2-937B-BA994F6B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4041648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F7236F1D-CCC5-4A01-A638-8EC8B32D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4151376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E4C71D5C-DF03-4952-BEB6-3C029AA1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535424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3A7C5FB2-E612-421A-9102-D585BF9D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645152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CatBoost</a:t>
            </a:r>
            <a:endParaRPr sz="94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59F7D9B5-47DF-42A0-9E2F-F8C1EDCF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453542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1C698597-D36B-4BD7-B170-C6A69736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464515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causal features</a:t>
            </a:r>
            <a:endParaRPr sz="94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10E35AA6-1C44-456E-BA53-F6685BAD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453542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6E62B65C-A59F-4B89-9F30-D3F97718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464515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Comparator</a:t>
            </a:r>
            <a:endParaRPr sz="94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DCF33E3E-303B-48B8-B3B5-C99BB2C8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4535424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EBE81F4C-A05E-4513-B8D8-600B6D27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4645152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606365E0-98F7-4871-8D92-9817EB1E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29200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43BEA1C0-C139-45CA-9378-19A98995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138928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DOEF</a:t>
            </a:r>
            <a:endParaRPr sz="94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FC2FB8C5-876E-493F-9273-1E7E7297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502920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E3B93435-A64D-4C99-B838-F0CDC64B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513892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wᵦ·LGBM+(1−wᵦ)·DayWeek</a:t>
            </a:r>
            <a:endParaRPr sz="940"/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3FB711AA-A105-4C6F-92AA-881E2574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502920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33B472E4-BF20-444F-8B0D-D02D3F28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513892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Final frozen method</a:t>
            </a:r>
            <a:endParaRPr sz="940"/>
          </a:p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F1549A2B-C397-401A-806F-2030517A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5029200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1" name="Text 69">
            <a:extLst xmlns:a="http://schemas.openxmlformats.org/drawingml/2006/main">
              <a:ext uri="{FF2B5EF4-FFF2-40B4-BE49-F238E27FC236}">
                <a16:creationId xmlns:a16="http://schemas.microsoft.com/office/drawing/2014/main" id="{855CEAF5-795F-4CE9-8D54-673A69E2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513892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Framework</a:t>
            </a:r>
            <a:endParaRPr sz="940"/>
          </a:p>
        </p:txBody>
      </p:sp>
      <p:sp>
        <p:nvSpPr>
          <p:cNvPr id="72" name="Shape 70">
            <a:extLst xmlns:a="http://schemas.openxmlformats.org/drawingml/2006/main">
              <a:ext uri="{FF2B5EF4-FFF2-40B4-BE49-F238E27FC236}">
                <a16:creationId xmlns:a16="http://schemas.microsoft.com/office/drawing/2014/main" id="{F22B6794-C2DE-4081-8576-6C67CD37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22976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F49F6465-4C5A-4F96-918B-481BBF23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632704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Peak-aware LGBM</a:t>
            </a:r>
            <a:endParaRPr sz="940"/>
          </a:p>
        </p:txBody>
      </p:sp>
      <p:sp>
        <p:nvSpPr>
          <p:cNvPr id="74" name="Shape 72">
            <a:extLst xmlns:a="http://schemas.openxmlformats.org/drawingml/2006/main">
              <a:ext uri="{FF2B5EF4-FFF2-40B4-BE49-F238E27FC236}">
                <a16:creationId xmlns:a16="http://schemas.microsoft.com/office/drawing/2014/main" id="{40656048-84C5-472B-85ED-079CFF7A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552297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7D292A1A-AD62-4503-AF43-434C86CB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563270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supporting experiment</a:t>
            </a:r>
            <a:endParaRPr sz="940"/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03CEA4DD-BC65-4379-8E51-5C0A0DFA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552297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7" name="Text 75">
            <a:extLst xmlns:a="http://schemas.openxmlformats.org/drawingml/2006/main">
              <a:ext uri="{FF2B5EF4-FFF2-40B4-BE49-F238E27FC236}">
                <a16:creationId xmlns:a16="http://schemas.microsoft.com/office/drawing/2014/main" id="{8573DC63-AF1E-4991-880F-70452E0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563270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Rejected support</a:t>
            </a:r>
            <a:endParaRPr sz="940"/>
          </a:p>
        </p:txBody>
      </p:sp>
      <p:sp>
        <p:nvSpPr>
          <p:cNvPr id="78" name="Shape 76">
            <a:extLst xmlns:a="http://schemas.openxmlformats.org/drawingml/2006/main">
              <a:ext uri="{FF2B5EF4-FFF2-40B4-BE49-F238E27FC236}">
                <a16:creationId xmlns:a16="http://schemas.microsoft.com/office/drawing/2014/main" id="{6AF4B14A-0A79-4B92-8C3A-86DC1D4D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5522976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9" name="Text 77">
            <a:extLst xmlns:a="http://schemas.openxmlformats.org/drawingml/2006/main">
              <a:ext uri="{FF2B5EF4-FFF2-40B4-BE49-F238E27FC236}">
                <a16:creationId xmlns:a16="http://schemas.microsoft.com/office/drawing/2014/main" id="{67A4AD9E-3F10-482A-8F5A-64915530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563270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D92E946C-3F89-4D78-A914-A4F10F8F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benchmark definitions · no model-family catalogue in main deck</a:t>
            </a:r>
            <a:endParaRPr sz="670"/>
          </a:p>
        </p:txBody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9A5610FA-6749-4CE3-85D8-952F1E26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Appendix · algorithm-component answer</a:t>
            </a:r>
            <a:endParaRPr sz="750"/>
          </a:p>
        </p:txBody>
      </p:sp>
      <p:sp>
        <p:nvSpPr>
          <p:cNvPr id="8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7D5D571-185B-4E11-B25C-282CD418053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448137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11C3DA8-BF0F-4154-B790-58732647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SB-A04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7D7A71A-492F-4019-88DB-4BF269F7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APPENDIX · DECISION MODEL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6707449-3F19-410F-8859-E9F5BCA5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215E0FD-FE9C-4C2C-A709-7826DDAD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ONLY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B16F087-77F3-4CF3-912E-E1F502C6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同一冻结电池约束保证方法间可比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2CEE968-2998-4F85-96FB-E7E47F11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所有预测方法进入完全相同的储能优化器；参数按每栋建筑 Train 期负荷尺度冻结。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F9D9E64-077A-4B43-8EF4-076C3A60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709928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47260CB-D6AB-4878-BB7B-D42F01C3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874520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Capacity</a:t>
            </a:r>
            <a:endParaRPr sz="1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B98FEB2-5AAD-4E39-BAAB-03D9A585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1865376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10% of mean daily energy</a:t>
            </a:r>
            <a:endParaRPr sz="11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A1C2EAE-6C95-499A-9F4D-3DC83FD1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249424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kWh</a:t>
            </a:r>
            <a:endParaRPr sz="86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09436CC-ECBF-4492-98D5-DC31B2CF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09928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7CA5B50-6B58-45D4-ACEB-D17D62B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874520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Pcharge / Pdischarge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6C41F94-39AD-4DF3-864A-98625285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865376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25% of capacity per hour</a:t>
            </a:r>
            <a:endParaRPr sz="112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F1816EA-FFA4-4844-BFB3-85B36808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249424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kW</a:t>
            </a:r>
            <a:endParaRPr sz="86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94A6442-0677-41C8-BFA9-541B7E3D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935224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29964C-A88C-4445-86E0-F7C8CD6BB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099816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SOC range</a:t>
            </a:r>
            <a:endParaRPr sz="1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F45D324-80BA-471B-82BF-2EA579EC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090672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10% → 90%</a:t>
            </a:r>
            <a:endParaRPr sz="112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B74C6DA-8B28-427E-8A8D-DB7093B5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474720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kWh state</a:t>
            </a:r>
            <a:endParaRPr sz="86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36F69195-BDC5-4E71-B6A4-A10FE828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935224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68B1A11-442E-476B-8650-60356175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099816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Initial / terminal SOC</a:t>
            </a:r>
            <a:endParaRPr sz="1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4634E6B-462E-47E6-97FB-DC1D2E22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090672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50% / 50%</a:t>
            </a:r>
            <a:endParaRPr sz="112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C0749EB-CB9B-4D46-B9EE-376D5E61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474720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daily reset</a:t>
            </a:r>
            <a:endParaRPr sz="86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79BB295E-2CB2-41CF-A3B6-7AC37864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160520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809CD26F-45E3-4EDD-9CE6-6B295374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25112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ηcharge / ηdischarge</a:t>
            </a:r>
            <a:endParaRPr sz="10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8CD4A85-59C2-41B8-BB4A-A1364746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315968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0.94868 / 0.94868</a:t>
            </a:r>
            <a:endParaRPr sz="112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DF6F8CD-7F7B-4C0E-8CE6-F703E5C40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700016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round-trip 0.90</a:t>
            </a:r>
            <a:endParaRPr sz="86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D4B3570-56AC-4E37-884A-2699CE1A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160520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B907289-D6BE-4125-918B-87EFAAC4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25112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Optimizer</a:t>
            </a:r>
            <a:endParaRPr sz="10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087702E-04FC-4199-88D0-3136EE61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315968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deterministic daily peak shaving</a:t>
            </a:r>
            <a:endParaRPr sz="112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6C0FDB3-0E36-4973-ADB2-89607123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700016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scipy.optimize.milp</a:t>
            </a:r>
            <a:endParaRPr sz="86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096C64CE-1074-43F2-BA88-B5DA5142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5669280"/>
            <a:ext cx="779068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12700">
            <a:solidFill>
              <a:srgbClr val="C8E5F8">
                <a:alpha val="0"/>
              </a:srgbClr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D5B9BC2-FE3E-4153-A828-FFCE029A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5710428"/>
            <a:ext cx="764438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1-hour interval: load energy kWh · dispatch power kW · capacity/SOC kWh</a:t>
            </a:r>
            <a:endParaRPr sz="88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C6B81D8-36E1-4C13-86C7-EAADA5D2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outputs/phase7/building_battery_configs.csv · same battery/optimizer for all forecast methods</a:t>
            </a:r>
            <a:endParaRPr sz="67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D673836C-67F3-4181-B18D-7D87F940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Appendix · physical constraint / unit answer</a:t>
            </a:r>
            <a:endParaRPr sz="750"/>
          </a:p>
        </p:txBody>
      </p:sp>
      <p:sp>
        <p:nvSpPr>
          <p:cNvPr id="3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BBE0E45-0D91-479A-B125-C1D09A04661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3803140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8A4BE52-3C85-4E4E-B985-B6668EA3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SB-A05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635FF64-4C63-462B-99AB-8DF43FF6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APPENDIX · FORECAST RESULTS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C728371-6E7D-4B61-999A-BB8E5D92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DBB271D-136B-4081-83A8-A6CB261D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ONLY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6FF672F-E026-40FD-8297-65C14911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完整预测指标用于核查，不替代下游决策评价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0515AB9-B26F-46AC-BD7C-3DB737E7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冻结八栋 Test 等权聚合；normalized metrics 均按每栋 Train mean load 归一化。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694F4A2-697C-479C-8FF6-8DBB0D13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09344"/>
            <a:ext cx="257860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BA52E74-F799-4130-A427-92044D8F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728216"/>
            <a:ext cx="243230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Method</a:t>
            </a:r>
            <a:endParaRPr sz="88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1F84CF9-D343-41FC-A271-2D31AA6D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1609344"/>
            <a:ext cx="199339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A792929-190D-4ED9-98C6-DAECBBE2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728216"/>
            <a:ext cx="1847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normalized MAE</a:t>
            </a:r>
            <a:endParaRPr sz="88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F539F81-8E3B-4310-A203-40887C7C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1609344"/>
            <a:ext cx="199339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537D802-9A9A-4F9E-833F-05676E73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1728216"/>
            <a:ext cx="1847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normalized RMSE</a:t>
            </a:r>
            <a:endParaRPr sz="88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57B8734-EC7E-4117-97A1-27A65E92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1609344"/>
            <a:ext cx="21762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C37443C-571E-4594-863E-63834B48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1728216"/>
            <a:ext cx="20299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normalized regret</a:t>
            </a:r>
            <a:endParaRPr sz="88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AF802533-D7A4-4628-BACD-35CB2118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1609344"/>
            <a:ext cx="199339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C239A8D-1567-4203-85EB-39635046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1728216"/>
            <a:ext cx="1847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reduction mean</a:t>
            </a:r>
            <a:endParaRPr sz="88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FB06911-3546-445F-BAE7-DCA11764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6654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0FDE3973-2D29-441D-ACF7-3B85CDB3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18541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 Persistence</a:t>
            </a:r>
            <a:endParaRPr sz="9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0A7CBE2-6799-4FC4-BD80-90B23871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0665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6F6C916-8E3D-4F74-832F-25B8DB85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1854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.225885</a:t>
            </a:r>
            <a:endParaRPr sz="9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28F2B2E8-4B7C-4696-B4F3-9839A2F1D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20665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CAA1D0B-1D1E-4676-8C78-8931E9FB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21854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.430193</a:t>
            </a:r>
            <a:endParaRPr sz="9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C9DAE32-F8AD-4811-B14E-C5F49B12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206654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8D00D698-EBFB-4711-B39E-E26092FC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218541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.162986</a:t>
            </a:r>
            <a:endParaRPr sz="9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5F8188D3-A34C-4D64-8B78-6AC5A31E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0665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234CB6F9-6680-4DD7-B4C7-137D897E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1854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−1.878%</a:t>
            </a:r>
            <a:endParaRPr sz="9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FA6B40C-1B24-4CA3-B0FA-6575297A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56946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4647A04-2DBE-43BA-86CF-D87C56D1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68833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Week</a:t>
            </a:r>
            <a:endParaRPr sz="9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3E3B61CD-5992-4BF3-9BBF-582773FD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5694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54FE19E-DA6B-4DD1-9FDE-92C31A42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6883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.201578</a:t>
            </a:r>
            <a:endParaRPr sz="9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BD59B485-57BE-4C80-B025-08CD79BA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25694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374F486-2314-44C4-ADAC-CA46D77B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26883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.328414</a:t>
            </a:r>
            <a:endParaRPr sz="9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B6B8BBF-6DE9-409C-AD10-4A7F74ED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256946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2E8424F-868C-4EAA-BC19-0FFAD815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268833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.144323</a:t>
            </a:r>
            <a:endParaRPr sz="9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CFEE9375-6361-4416-95EB-C69F40F9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5694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6F61DF05-F231-4D40-BC95-7922F339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6883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3.085%</a:t>
            </a:r>
            <a:endParaRPr sz="9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C594A3AB-10E4-4BAE-93F4-4C7AEE51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7238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8DF35E0A-B566-4A53-BB20-602A482E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19125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DayWeek</a:t>
            </a:r>
            <a:endParaRPr sz="9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89B8AC44-85E4-4B33-97CA-61CA9770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30723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C28DD0F7-EC69-4F4F-BDBC-81DA12BA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1912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.183478</a:t>
            </a:r>
            <a:endParaRPr sz="9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454D85BC-8166-4B45-A6DB-D5AD749E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0723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A276E5C-7947-437B-81F2-812F0137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31912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.296621</a:t>
            </a:r>
            <a:endParaRPr sz="95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6BFE0051-B894-439F-B52A-B59674AC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307238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BD404287-2A63-4F53-B379-12218CFB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319125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.143019</a:t>
            </a:r>
            <a:endParaRPr sz="95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589129B6-F777-447A-A074-3A07F35C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30723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72CD02B9-8464-496F-BDE8-9C0A3C91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31912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4.907%</a:t>
            </a:r>
            <a:endParaRPr sz="95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0DB858D2-4432-432E-B485-E25821D3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57530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DD6246AB-1508-4558-98FF-8A8D1046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69417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LightGBM</a:t>
            </a:r>
            <a:endParaRPr sz="95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9FD9C130-E4C4-41FA-BB9E-CB6DA013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357530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B71662E8-15F1-4E97-B7EF-49D01CD8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69417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.147338</a:t>
            </a:r>
            <a:endParaRPr sz="95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56F1B2B8-CB93-4575-90AB-1EECF4C7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57530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8AA94FF3-418E-4966-91D4-0F368C44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369417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.216942</a:t>
            </a:r>
            <a:endParaRPr sz="95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F6B43CC9-6949-4A9A-914B-D6E7434F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357530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69C824B2-C5CB-4E92-AA22-AD7ADD10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369417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.116127</a:t>
            </a:r>
            <a:endParaRPr sz="95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B8FF5123-8A2B-45D1-9833-0B00AF7A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357530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03343513-F779-4BA4-90E8-BECB84CB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369417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1.008%</a:t>
            </a:r>
            <a:endParaRPr sz="95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97805A85-0303-4E85-A809-03208F2F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07822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C50D807E-D16D-45BC-BC49-8AA292D4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19709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XGBoost</a:t>
            </a:r>
            <a:endParaRPr sz="95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E9FE7CFE-2075-4B82-A020-2558DC2E4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407822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9B317B73-860C-41ED-99ED-73C8FA42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19709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.149781</a:t>
            </a:r>
            <a:endParaRPr sz="95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485105E1-31B8-4B1A-B7C3-5394BB2A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407822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AC348132-7779-4E6C-8F23-5EC301E6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419709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.216751</a:t>
            </a:r>
            <a:endParaRPr sz="95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1D206039-E75F-4EFA-B4C4-EA35D696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407822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A3812A16-3A39-4E18-A93A-4484A837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19709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.117534</a:t>
            </a:r>
            <a:endParaRPr sz="95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ED992A14-33C7-48AE-8C1D-4721034B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407822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293BD8AE-7759-4F43-AA06-4D771B8F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419709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0.453%</a:t>
            </a:r>
            <a:endParaRPr sz="950"/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6120E74F-41D6-439B-ABEE-C55E10D7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58114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6DA60F1B-7729-439A-9E17-2F58F792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70001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CatBoost</a:t>
            </a:r>
            <a:endParaRPr sz="950"/>
          </a:p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CF3F6B10-13DE-4231-B9F9-E01F59CB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45811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1" name="Text 69">
            <a:extLst xmlns:a="http://schemas.openxmlformats.org/drawingml/2006/main">
              <a:ext uri="{FF2B5EF4-FFF2-40B4-BE49-F238E27FC236}">
                <a16:creationId xmlns:a16="http://schemas.microsoft.com/office/drawing/2014/main" id="{CF79C9E9-87E6-4B03-8248-24146289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7000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.173604</a:t>
            </a:r>
            <a:endParaRPr sz="950"/>
          </a:p>
        </p:txBody>
      </p:sp>
      <p:sp>
        <p:nvSpPr>
          <p:cNvPr id="72" name="Shape 70">
            <a:extLst xmlns:a="http://schemas.openxmlformats.org/drawingml/2006/main">
              <a:ext uri="{FF2B5EF4-FFF2-40B4-BE49-F238E27FC236}">
                <a16:creationId xmlns:a16="http://schemas.microsoft.com/office/drawing/2014/main" id="{1B64E898-D4B7-47E4-AC70-802B84DE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45811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BE1F2712-579A-446F-AFD3-A4C08782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47000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.239211</a:t>
            </a:r>
            <a:endParaRPr sz="950"/>
          </a:p>
        </p:txBody>
      </p:sp>
      <p:sp>
        <p:nvSpPr>
          <p:cNvPr id="74" name="Shape 72">
            <a:extLst xmlns:a="http://schemas.openxmlformats.org/drawingml/2006/main">
              <a:ext uri="{FF2B5EF4-FFF2-40B4-BE49-F238E27FC236}">
                <a16:creationId xmlns:a16="http://schemas.microsoft.com/office/drawing/2014/main" id="{4829A8AA-8970-4A00-B257-C5A83CBDE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458114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34E1A168-1C1E-4CB5-9D80-7C0EE52D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70001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.118740</a:t>
            </a:r>
            <a:endParaRPr sz="950"/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19C0D7B5-71DA-4B31-98C2-436AA719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45811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7" name="Text 75">
            <a:extLst xmlns:a="http://schemas.openxmlformats.org/drawingml/2006/main">
              <a:ext uri="{FF2B5EF4-FFF2-40B4-BE49-F238E27FC236}">
                <a16:creationId xmlns:a16="http://schemas.microsoft.com/office/drawing/2014/main" id="{B09DB8DB-3750-40F1-8E53-7033B64C6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47000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−24.482%</a:t>
            </a:r>
            <a:endParaRPr sz="950"/>
          </a:p>
        </p:txBody>
      </p:sp>
      <p:sp>
        <p:nvSpPr>
          <p:cNvPr id="78" name="Shape 76">
            <a:extLst xmlns:a="http://schemas.openxmlformats.org/drawingml/2006/main">
              <a:ext uri="{FF2B5EF4-FFF2-40B4-BE49-F238E27FC236}">
                <a16:creationId xmlns:a16="http://schemas.microsoft.com/office/drawing/2014/main" id="{DB2DF553-FF92-47A4-9ED0-A8F89594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08406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9" name="Text 77">
            <a:extLst xmlns:a="http://schemas.openxmlformats.org/drawingml/2006/main">
              <a:ext uri="{FF2B5EF4-FFF2-40B4-BE49-F238E27FC236}">
                <a16:creationId xmlns:a16="http://schemas.microsoft.com/office/drawing/2014/main" id="{3D3EC178-28E6-4035-B0B0-8741F9E3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520293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DOEF</a:t>
            </a:r>
            <a:endParaRPr sz="950"/>
          </a:p>
        </p:txBody>
      </p:sp>
      <p:sp>
        <p:nvSpPr>
          <p:cNvPr id="80" name="Shape 78">
            <a:extLst xmlns:a="http://schemas.openxmlformats.org/drawingml/2006/main">
              <a:ext uri="{FF2B5EF4-FFF2-40B4-BE49-F238E27FC236}">
                <a16:creationId xmlns:a16="http://schemas.microsoft.com/office/drawing/2014/main" id="{547A894A-423A-4D94-908A-B23C16FB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50840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8D57B436-76B2-4458-A0E0-00B0FF58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2029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.137970</a:t>
            </a:r>
            <a:endParaRPr sz="950"/>
          </a:p>
        </p:txBody>
      </p:sp>
      <p:sp>
        <p:nvSpPr>
          <p:cNvPr id="82" name="Shape 80">
            <a:extLst xmlns:a="http://schemas.openxmlformats.org/drawingml/2006/main">
              <a:ext uri="{FF2B5EF4-FFF2-40B4-BE49-F238E27FC236}">
                <a16:creationId xmlns:a16="http://schemas.microsoft.com/office/drawing/2014/main" id="{33FF2D57-92E6-45BD-ACB2-6817F41E1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0840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3" name="Text 81">
            <a:extLst xmlns:a="http://schemas.openxmlformats.org/drawingml/2006/main">
              <a:ext uri="{FF2B5EF4-FFF2-40B4-BE49-F238E27FC236}">
                <a16:creationId xmlns:a16="http://schemas.microsoft.com/office/drawing/2014/main" id="{B540A72C-AD54-4B7F-BAE7-99C2908D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52029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.207822</a:t>
            </a:r>
            <a:endParaRPr sz="950"/>
          </a:p>
        </p:txBody>
      </p:sp>
      <p:sp>
        <p:nvSpPr>
          <p:cNvPr id="84" name="Shape 82">
            <a:extLst xmlns:a="http://schemas.openxmlformats.org/drawingml/2006/main">
              <a:ext uri="{FF2B5EF4-FFF2-40B4-BE49-F238E27FC236}">
                <a16:creationId xmlns:a16="http://schemas.microsoft.com/office/drawing/2014/main" id="{3893F22A-42DF-4EBF-98FF-B10E9DFB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508406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5" name="Text 83">
            <a:extLst xmlns:a="http://schemas.openxmlformats.org/drawingml/2006/main">
              <a:ext uri="{FF2B5EF4-FFF2-40B4-BE49-F238E27FC236}">
                <a16:creationId xmlns:a16="http://schemas.microsoft.com/office/drawing/2014/main" id="{93FE945D-9963-45BD-BBB6-169505FA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520293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.111929</a:t>
            </a:r>
            <a:endParaRPr sz="950"/>
          </a:p>
        </p:txBody>
      </p:sp>
      <p:sp>
        <p:nvSpPr>
          <p:cNvPr id="86" name="Shape 84">
            <a:extLst xmlns:a="http://schemas.openxmlformats.org/drawingml/2006/main">
              <a:ext uri="{FF2B5EF4-FFF2-40B4-BE49-F238E27FC236}">
                <a16:creationId xmlns:a16="http://schemas.microsoft.com/office/drawing/2014/main" id="{B4F3368B-397E-48A5-B7DE-C3034BB8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50840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7" name="Text 85">
            <a:extLst xmlns:a="http://schemas.openxmlformats.org/drawingml/2006/main">
              <a:ext uri="{FF2B5EF4-FFF2-40B4-BE49-F238E27FC236}">
                <a16:creationId xmlns:a16="http://schemas.microsoft.com/office/drawing/2014/main" id="{8CE3C177-147B-4EED-B874-E4DE9A24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52029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6.442%</a:t>
            </a:r>
            <a:endParaRPr sz="950"/>
          </a:p>
        </p:txBody>
      </p:sp>
      <p:sp>
        <p:nvSpPr>
          <p:cNvPr id="88" name="Shape 86">
            <a:extLst xmlns:a="http://schemas.openxmlformats.org/drawingml/2006/main">
              <a:ext uri="{FF2B5EF4-FFF2-40B4-BE49-F238E27FC236}">
                <a16:creationId xmlns:a16="http://schemas.microsoft.com/office/drawing/2014/main" id="{416FDF3D-96F1-415C-841A-1EA38F64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58698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9" name="Text 87">
            <a:extLst xmlns:a="http://schemas.openxmlformats.org/drawingml/2006/main">
              <a:ext uri="{FF2B5EF4-FFF2-40B4-BE49-F238E27FC236}">
                <a16:creationId xmlns:a16="http://schemas.microsoft.com/office/drawing/2014/main" id="{510F8080-3FAC-4091-A2F8-582FD801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570585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Peak-aware LGBM</a:t>
            </a:r>
            <a:endParaRPr sz="950"/>
          </a:p>
        </p:txBody>
      </p:sp>
      <p:sp>
        <p:nvSpPr>
          <p:cNvPr id="90" name="Shape 88">
            <a:extLst xmlns:a="http://schemas.openxmlformats.org/drawingml/2006/main">
              <a:ext uri="{FF2B5EF4-FFF2-40B4-BE49-F238E27FC236}">
                <a16:creationId xmlns:a16="http://schemas.microsoft.com/office/drawing/2014/main" id="{FD04A13D-3A17-4453-B924-5EE48F6A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55869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1" name="Text 89">
            <a:extLst xmlns:a="http://schemas.openxmlformats.org/drawingml/2006/main">
              <a:ext uri="{FF2B5EF4-FFF2-40B4-BE49-F238E27FC236}">
                <a16:creationId xmlns:a16="http://schemas.microsoft.com/office/drawing/2014/main" id="{BDA557A8-D6F0-44CD-8F45-18E20808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7058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.147587</a:t>
            </a:r>
            <a:endParaRPr sz="950"/>
          </a:p>
        </p:txBody>
      </p:sp>
      <p:sp>
        <p:nvSpPr>
          <p:cNvPr id="92" name="Shape 90">
            <a:extLst xmlns:a="http://schemas.openxmlformats.org/drawingml/2006/main">
              <a:ext uri="{FF2B5EF4-FFF2-40B4-BE49-F238E27FC236}">
                <a16:creationId xmlns:a16="http://schemas.microsoft.com/office/drawing/2014/main" id="{8435EB13-0D5A-4C5F-95A8-2E0B0E2D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5869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3" name="Text 91">
            <a:extLst xmlns:a="http://schemas.openxmlformats.org/drawingml/2006/main">
              <a:ext uri="{FF2B5EF4-FFF2-40B4-BE49-F238E27FC236}">
                <a16:creationId xmlns:a16="http://schemas.microsoft.com/office/drawing/2014/main" id="{6037FFF4-25A7-4C8E-9814-F24345F1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57058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.217284</a:t>
            </a:r>
            <a:endParaRPr sz="950"/>
          </a:p>
        </p:txBody>
      </p:sp>
      <p:sp>
        <p:nvSpPr>
          <p:cNvPr id="94" name="Shape 92">
            <a:extLst xmlns:a="http://schemas.openxmlformats.org/drawingml/2006/main">
              <a:ext uri="{FF2B5EF4-FFF2-40B4-BE49-F238E27FC236}">
                <a16:creationId xmlns:a16="http://schemas.microsoft.com/office/drawing/2014/main" id="{2C7B8C91-5947-411F-BCEC-2DFF608A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558698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F026B477-2D3A-45FE-BE09-61DF4676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570585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.116202</a:t>
            </a:r>
            <a:endParaRPr sz="950"/>
          </a:p>
        </p:txBody>
      </p:sp>
      <p:sp>
        <p:nvSpPr>
          <p:cNvPr id="96" name="Shape 94">
            <a:extLst xmlns:a="http://schemas.openxmlformats.org/drawingml/2006/main">
              <a:ext uri="{FF2B5EF4-FFF2-40B4-BE49-F238E27FC236}">
                <a16:creationId xmlns:a16="http://schemas.microsoft.com/office/drawing/2014/main" id="{DD0BE6AA-9B7E-4029-B25D-B7CE44F5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55869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7" name="Text 95">
            <a:extLst xmlns:a="http://schemas.openxmlformats.org/drawingml/2006/main">
              <a:ext uri="{FF2B5EF4-FFF2-40B4-BE49-F238E27FC236}">
                <a16:creationId xmlns:a16="http://schemas.microsoft.com/office/drawing/2014/main" id="{782B6F84-0F56-4EA9-BAE1-D766121A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57058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1.129%</a:t>
            </a:r>
            <a:endParaRPr sz="950"/>
          </a:p>
        </p:txBody>
      </p:sp>
      <p:sp>
        <p:nvSpPr>
          <p:cNvPr id="98" name="Text 96">
            <a:extLst xmlns:a="http://schemas.openxmlformats.org/drawingml/2006/main">
              <a:ext uri="{FF2B5EF4-FFF2-40B4-BE49-F238E27FC236}">
                <a16:creationId xmlns:a16="http://schemas.microsoft.com/office/drawing/2014/main" id="{47B0B56F-E907-46A3-A2CF-92BEA5C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Canonical source: outputs/phase9/final_benchmark.csv · lower is better for normalized MAE/RMSE/regret</a:t>
            </a:r>
            <a:endParaRPr sz="670"/>
          </a:p>
        </p:txBody>
      </p:sp>
      <p:sp>
        <p:nvSpPr>
          <p:cNvPr id="99" name="Text 97">
            <a:extLst xmlns:a="http://schemas.openxmlformats.org/drawingml/2006/main">
              <a:ext uri="{FF2B5EF4-FFF2-40B4-BE49-F238E27FC236}">
                <a16:creationId xmlns:a16="http://schemas.microsoft.com/office/drawing/2014/main" id="{23CEB64F-DF56-4F1F-8AC6-BB61F38E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Appendix · full forecast table</a:t>
            </a:r>
            <a:endParaRPr sz="750"/>
          </a:p>
        </p:txBody>
      </p:sp>
      <p:sp>
        <p:nvSpPr>
          <p:cNvPr id="10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B5C9161-B143-479E-A2CB-16F1D3A5390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8665121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1449935-AE70-4009-A7C1-49806428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SB-A06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361EAC-8D65-4970-A419-8175B70A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APPENDIX · DECISION RESULTS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1B8417A-7D34-40C0-80A4-F1B8B2FA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9037487-A9C0-4E4F-BEAE-2D752594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ONLY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D5C4320-5705-4F5C-9BB7-1AC002D6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决策指标必须连同范围与聚合口径一起解释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848522F-1C1B-41C9-9521-78760C44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mean 与 median 可能给出完全不同的直觉；负例必须和有利统计一起展示。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4E884AA-A7CF-4D29-9044-50B4818F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54480"/>
            <a:ext cx="3712464" cy="4517136"/>
          </a:xfrm>
          <a:prstGeom xmlns:a="http://schemas.openxmlformats.org/drawingml/2006/main" prst="roundRect">
            <a:avLst>
              <a:gd name="adj" fmla="val 2217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76A6C06-3EB2-49E0-A28A-65412F5F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56232"/>
            <a:ext cx="299923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为什么不能只看一个平均数？</a:t>
            </a:r>
            <a:endParaRPr sz="14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55544D9-6F31-407E-98B0-A307B7D9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42032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AFC1D0"/>
                </a:solidFill>
                <a:latin typeface="Arial"/>
                <a:ea typeface="Arial"/>
                <a:cs typeface="Arial"/>
              </a:rPr>
              <a:t>CatBoost peak reduction</a:t>
            </a:r>
            <a:endParaRPr sz="1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CB03629-FA30-4CB5-92C0-EAE103C5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89504"/>
            <a:ext cx="1417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F9C7A"/>
                </a:solidFill>
                <a:latin typeface="Arial"/>
                <a:ea typeface="Arial"/>
                <a:cs typeface="Arial"/>
              </a:rPr>
              <a:t>−24.48%</a:t>
            </a:r>
            <a:endParaRPr sz="2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B273EA8-1E77-4DCB-99D4-B3FA49DF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547872"/>
            <a:ext cx="1417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mean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F20CA48-9A89-46AF-868F-6826DDC4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2889504"/>
            <a:ext cx="1417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+4.82%</a:t>
            </a:r>
            <a:endParaRPr sz="2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F32D6CF-5349-4874-AFD5-04955975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3547872"/>
            <a:ext cx="1417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median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2931DED-A901-491D-B3C7-492D6007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24528"/>
            <a:ext cx="2852928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A8B8C5"/>
                </a:solidFill>
                <a:latin typeface="Microsoft YaHei"/>
                <a:ea typeface="Microsoft YaHei"/>
                <a:cs typeface="Microsoft YaHei"/>
              </a:rPr>
              <a:t>极端负例会强烈拖动 mean；因此报告必须同时给出 method / building / split / aggregation。</a:t>
            </a:r>
            <a:endParaRPr sz="112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ACC6EF01-4DA8-480B-B811-E7D3C53A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321808"/>
            <a:ext cx="15544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52A23"/>
          </a:solidFill>
          <a:ln xmlns:a="http://schemas.openxmlformats.org/drawingml/2006/main" w="12700">
            <a:solidFill>
              <a:srgbClr val="452A23">
                <a:alpha val="0"/>
              </a:srgbClr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F440DAD-FD54-40D8-8005-8868CF1E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362956"/>
            <a:ext cx="14081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10" b="1">
                <a:solidFill>
                  <a:srgbClr val="FFC0A5"/>
                </a:solidFill>
                <a:latin typeface="Microsoft YaHei"/>
                <a:ea typeface="Microsoft YaHei"/>
                <a:cs typeface="Microsoft YaHei"/>
              </a:rPr>
              <a:t>min = −245.94%</a:t>
            </a:r>
            <a:endParaRPr sz="81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642CB77-1C03-4AE7-84D1-080860FA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1847088"/>
            <a:ext cx="1591056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26453A1-5F2D-489F-AFBE-42403841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965960"/>
            <a:ext cx="14447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Method</a:t>
            </a:r>
            <a:endParaRPr sz="8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31E0FB62-AA60-4B56-8817-FE06FA47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847088"/>
            <a:ext cx="124358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42E0610-AE5A-4086-9613-4105B754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1965960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 regret</a:t>
            </a:r>
            <a:endParaRPr sz="8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F13E73C7-65B8-45ED-81D6-1867A531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847088"/>
            <a:ext cx="133502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55AE62C-F6C7-4463-96F2-070B8DC9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965960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mean</a:t>
            </a:r>
            <a:endParaRPr sz="8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D23204F6-4BE6-4DAA-855B-208C742F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1847088"/>
            <a:ext cx="133502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03503F8-88B7-46FE-8C4D-7210B476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1965960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median</a:t>
            </a:r>
            <a:endParaRPr sz="8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9DDAD10-560C-4B7A-8C26-7E71A1E5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1847088"/>
            <a:ext cx="133502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4BF5A10-7325-450E-8459-DF7EFFFB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1965960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min</a:t>
            </a:r>
            <a:endParaRPr sz="8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7F79155-1A90-4479-9104-3AC518B0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286000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8A2E225-852E-4145-BB02-6B71EFDB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468880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LightGBM</a:t>
            </a:r>
            <a:endParaRPr sz="9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91E8266-F5AC-41F4-BE2E-D883616C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286000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CE1E4D07-D279-4038-8FCA-AB9087A84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246888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.116127</a:t>
            </a:r>
            <a:endParaRPr sz="9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390275B9-4D75-41F4-8D30-E816D953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286000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7F1E70BE-891A-4A07-BEA5-5CEFF20A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468880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1.008%</a:t>
            </a:r>
            <a:endParaRPr sz="9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E2E8FBE-EF5A-498C-9980-8FC679EB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286000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9668A93-1C77-44AE-911E-5049E9FF1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2468880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5.057%</a:t>
            </a:r>
            <a:endParaRPr sz="9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6024DA5C-3600-451F-ADDF-D8660B8D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2286000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1606403F-C865-4751-A307-80526CD7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2468880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−41.192%</a:t>
            </a:r>
            <a:endParaRPr sz="9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A0E39AAE-6CE2-4476-8CA2-7A334292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953512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356F181F-990B-41E4-9F2B-E8D29469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136392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XGBoost</a:t>
            </a:r>
            <a:endParaRPr sz="9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06539FA7-F579-4968-8CBB-EF4BBFA9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953512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279EF521-2EA2-47E3-94E1-E9EF84DB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3136392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.117534</a:t>
            </a:r>
            <a:endParaRPr sz="9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82786355-1648-4C3A-8AC8-69431867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953512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C5CA69A0-1E27-4176-A889-0D448E01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136392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0.453%</a:t>
            </a:r>
            <a:endParaRPr sz="95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761361C1-3A89-4258-90A7-9B1206AB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953512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DBF6B6B9-DF74-400A-9FA2-541BA085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3136392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4.588%</a:t>
            </a:r>
            <a:endParaRPr sz="95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4F278392-A698-4295-AB9A-9C1FC7F8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2953512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D48CD597-D775-4717-B380-7981B786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136392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−44.357%</a:t>
            </a:r>
            <a:endParaRPr sz="95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DA7D0C99-5C2F-46BD-908F-BCCEC40D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3621024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5CFFE445-C7A9-4C36-9C47-20608BCD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803904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CatBoost</a:t>
            </a:r>
            <a:endParaRPr sz="95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4116A236-2D94-4AA3-9099-34E79944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621024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79FABA5F-96DD-4F30-9865-F821BAD0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3803904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.118740</a:t>
            </a:r>
            <a:endParaRPr sz="95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441EB386-709E-493E-A487-539FF790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3621024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091BAFCA-2E47-45BD-86C7-5B2F5EB6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803904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−24.482%</a:t>
            </a:r>
            <a:endParaRPr sz="95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BF3ECF99-4056-4C01-96B1-5E6B252D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3621024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6CF9B54D-53EC-435E-84A6-64794DE5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3803904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4.821%</a:t>
            </a:r>
            <a:endParaRPr sz="95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3A974D85-B8BC-43D6-996F-7CE81AE4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3621024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2A6F88BE-D3E7-4292-9E11-B17CDC80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803904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−245.943%</a:t>
            </a:r>
            <a:endParaRPr sz="95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A5ACACD7-7B9A-4A8C-8C05-9C0FFEC5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4288536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E69A2D96-FA2D-49BD-8685-C16228E4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471416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DOEF</a:t>
            </a:r>
            <a:endParaRPr sz="95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CD19A122-4315-4B52-9793-5F1CA253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4288536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2BCB6547-2418-42E8-9509-D2527585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4471416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.111929</a:t>
            </a:r>
            <a:endParaRPr sz="95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C7F7A51A-FBEB-4403-8B56-A0FD3A02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4288536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F8D26BB5-9078-4AD6-AB0C-80957C7C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471416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6.442%</a:t>
            </a:r>
            <a:endParaRPr sz="95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54F9AEA3-AD6C-46DC-89F4-511D577E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4288536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93D73595-62D5-45EB-8891-0F6AE352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4471416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5.629%</a:t>
            </a:r>
            <a:endParaRPr sz="95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E4B987D7-924E-4C11-A968-AC6E505B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4288536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BF3729AD-DBE3-4A11-9EF8-DC2697AA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4471416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−1.017%</a:t>
            </a:r>
            <a:endParaRPr sz="950"/>
          </a:p>
        </p:txBody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29D72C2D-2E90-47E4-9CFB-686C0919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outputs/phase9/final_benchmark.csv + decision metrics · peak reduction is not a universal scalar</a:t>
            </a:r>
            <a:endParaRPr sz="670"/>
          </a:p>
        </p:txBody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E3DD7F4B-FC2C-4A07-8522-8577E722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Appendix · aggregation caveat / negative cases</a:t>
            </a:r>
            <a:endParaRPr sz="750"/>
          </a:p>
        </p:txBody>
      </p:sp>
      <p:sp>
        <p:nvSpPr>
          <p:cNvPr id="7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5793BAB-877D-4009-8C20-E186CD7B381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0344822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2A952CF-B53B-4CCD-ABD2-19FCFF34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SB-A07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CC4FD1E-36C7-449E-818F-1E409B62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APPENDIX · MECHANISM TRACE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DCC7B02-A767-41DF-9F6E-8951BE68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D9344EC-A169-4C1C-845D-303CE5BC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ONLY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B32C033-5EA0-40D6-BE08-25ED49B69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冻结调度轨迹只用于说明流程，不代表普遍表现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4EECBD2-88A8-4ACD-B64A-7B6B1A02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Phase 8 预先冻结的代表性 Test case；只作为“预测如何改变 realized grid load”的机制说明。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48ABEB5-82AE-4B90-8E07-DFB77E18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7827264" cy="4370832"/>
          </a:xfrm>
          <a:prstGeom xmlns:a="http://schemas.openxmlformats.org/drawingml/2006/main" prst="roundRect">
            <a:avLst>
              <a:gd name="adj" fmla="val 18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2560181ecb41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1840" y="1609344"/>
            <a:ext cx="7640320" cy="4297680"/>
          </a:xfrm>
          <a:prstGeom xmlns:a="http://schemas.openxmlformats.org/drawingml/2006/main" prst="rect">
            <a:avLst/>
          </a:prstGeom>
        </p:spPr>
      </p:pic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ADDCEE53-D897-49F1-948F-C5821574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5193792"/>
            <a:ext cx="7735824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E5145513-A233-449B-BC9B-FEF097B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431536"/>
            <a:ext cx="6903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>
                <a:solidFill>
                  <a:srgbClr val="5C6873"/>
                </a:solidFill>
                <a:latin typeface="Arial"/>
                <a:ea typeface="Arial"/>
                <a:cs typeface="Arial"/>
              </a:rPr>
              <a:t>Read as a mechanism trace, not a universal performance claim; the case and values remain frozen.</a:t>
            </a:r>
            <a:endParaRPr sz="68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87261761-BD21-456D-B95F-39DEDFAB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572768"/>
            <a:ext cx="2788920" cy="4370832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75E38EA-16A4-4C3E-B13A-0E514BA5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4" y="1901952"/>
            <a:ext cx="144475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B2B20"/>
          </a:solidFill>
          <a:ln xmlns:a="http://schemas.openxmlformats.org/drawingml/2006/main" w="12700">
            <a:solidFill>
              <a:srgbClr val="3B2B20">
                <a:alpha val="0"/>
              </a:srgbClr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9F5CE2B-FBD9-4E9A-BB30-883CA6F2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1943100"/>
            <a:ext cx="12984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BACKUP ONLY</a:t>
            </a:r>
            <a:endParaRPr sz="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18E7B80-2ABC-4494-9300-79DFEBEC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578608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预冻结 Test case</a:t>
            </a:r>
            <a:endParaRPr sz="102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EC7639D-9D72-4BBA-B707-B78A9BC6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054096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不代表普遍表现</a:t>
            </a:r>
            <a:endParaRPr sz="102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BCC18F8-E480-4720-95AB-D348E52A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529584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不做 case reselection</a:t>
            </a:r>
            <a:endParaRPr sz="102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03D1CE7-24E9-4397-8E9E-848D2305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005072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不提取新数值</a:t>
            </a:r>
            <a:endParaRPr sz="102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DE5CDF45-CE66-4BE7-926C-EB473105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480560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不改变坐标/标签</a:t>
            </a:r>
            <a:endParaRPr sz="102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F390636E-9D62-42B9-A20F-86562F19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Exact frozen source: outputs/phase13_1/figures/sci_05_storage_dispatch_frozen.png · no value extraction or case reselection</a:t>
            </a:r>
            <a:endParaRPr sz="67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1F2274E5-B7A9-4029-B886-91C2FEB4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Appendix · dispatch mechanism question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BE6FB44-E4A0-402B-AE71-C9BA2A69C00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736901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A5C3A93-D985-4094-B185-03D0723D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SB-A08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085FEB0-56B4-4B28-8644-FA4B835F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APPENDIX · SELECTION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89CB590-87E2-4796-9B39-49B10D26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3A6EA16-D971-4D88-8F2D-ED209545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ONLY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2023E71-20AA-4327-AC8E-6AD2AC9B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逐建筑权重来自预先声明的 Validation 搜索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03F1764-1E00-4A99-A3BD-ACFC71EC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候选 wᵦ = {0.0, 0.1, …, 1.0}；确定性 tie-break；Test 完全排除。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7825874-BE8B-4B8D-BC52-22AF635F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572768"/>
            <a:ext cx="6766560" cy="4306824"/>
          </a:xfrm>
          <a:prstGeom xmlns:a="http://schemas.openxmlformats.org/drawingml/2006/main" prst="roundRect">
            <a:avLst>
              <a:gd name="adj" fmla="val 19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7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a5c60cbba6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1843659"/>
            <a:ext cx="6693408" cy="3765042"/>
          </a:xfrm>
          <a:prstGeom xmlns:a="http://schemas.openxmlformats.org/drawingml/2006/main" prst="rect">
            <a:avLst/>
          </a:prstGeom>
        </p:spPr>
      </p:pic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C843CD17-5EAC-4019-9A4D-2CBACBE5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1792224"/>
            <a:ext cx="1627632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B7F099FA-00A0-4075-991A-0F2082B4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1892808"/>
            <a:ext cx="151790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7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Building</a:t>
            </a:r>
            <a:endParaRPr sz="77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762C8037-0DA0-4E14-A437-49036153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792224"/>
            <a:ext cx="1152144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E93B2C8-9FA5-4885-BAB5-7E6B866A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1892808"/>
            <a:ext cx="104241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7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 forecast</a:t>
            </a:r>
            <a:endParaRPr sz="77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C3148D10-A832-4F5B-8CBE-0020D38B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1792224"/>
            <a:ext cx="1152144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3A5B65A-4D4F-4F89-85B2-52A5CC80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1892808"/>
            <a:ext cx="104241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7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 decision</a:t>
            </a:r>
            <a:endParaRPr sz="77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54D23BC9-BB8B-4D14-B603-DAD863BB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176272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E3324934-AD87-40E0-900E-69142E2D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2286000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Rolando</a:t>
            </a:r>
            <a:endParaRPr sz="88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A3A401C-2D23-47AC-A9D3-68A75E3A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17627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88268D5-D4F5-4B5B-8BB5-C6870BC2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28600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.9</a:t>
            </a:r>
            <a:endParaRPr sz="88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A0A8EFC-7220-4C28-96DE-6A4BCA0D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217627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25E4A92-BD1D-4AF7-AD4F-10765253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28600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.7</a:t>
            </a:r>
            <a:endParaRPr sz="88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C335497F-2A57-425A-98DA-1AC2401CF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606040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288CF994-9733-4227-A1C4-9A0618180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2715768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Lavon</a:t>
            </a:r>
            <a:endParaRPr sz="88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033EC97B-3C5E-4CF0-AB07-7CD95EF7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60604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CFD9F623-3F0E-40BD-9D83-6B293D93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1576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0</a:t>
            </a:r>
            <a:endParaRPr sz="88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E9C8AC4B-AA92-4159-943A-2EFDBFC0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260604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02678D63-4F53-404F-998C-CEB163B3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71576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0</a:t>
            </a:r>
            <a:endParaRPr sz="88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C6579B93-CEE3-4BFB-8332-E01CE00C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035808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801AE93-F9CA-4596-8C68-F6C66B70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3145536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Joey</a:t>
            </a:r>
            <a:endParaRPr sz="88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6B40DD10-94DF-407C-9B6F-C6210070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03580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0BD030FF-8DEC-4BE5-958A-F8448544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314553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.6</a:t>
            </a:r>
            <a:endParaRPr sz="880"/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B088B330-EA6F-4C72-804E-DD671EA3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303580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3DD408B1-3E75-479E-A69D-6D52F265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14553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.3</a:t>
            </a:r>
            <a:endParaRPr sz="88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4A720A2-4BBA-45ED-B488-3905D1DD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465576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8DCB7DF0-D31A-49F6-AC7B-CBC93B6D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3575304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Caitlin</a:t>
            </a:r>
            <a:endParaRPr sz="880"/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224E640-837F-4BC9-916D-4EE00E62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465576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DFC03D6C-CF9B-4ADB-AF7C-B866DF4E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3575304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.4</a:t>
            </a:r>
            <a:endParaRPr sz="880"/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30C89EAD-790A-4ADE-B883-800F5F15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3465576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803525EE-C20F-4DBB-97FA-3E48FC34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575304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.8</a:t>
            </a:r>
            <a:endParaRPr sz="880"/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D399105-E655-4DAD-873A-7BD0A039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895344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1462770A-10ED-44A3-81FD-D76D270C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4005072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Addie</a:t>
            </a:r>
            <a:endParaRPr sz="880"/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9D5E44B6-8C6C-4F63-A176-7A79817A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895344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3" name="Text 40">
            <a:extLst xmlns:a="http://schemas.openxmlformats.org/drawingml/2006/main">
              <a:ext uri="{FF2B5EF4-FFF2-40B4-BE49-F238E27FC236}">
                <a16:creationId xmlns:a16="http://schemas.microsoft.com/office/drawing/2014/main" id="{3569BF3D-2864-4BA3-8F9C-157981CF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4005072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1</a:t>
            </a:r>
            <a:endParaRPr sz="880"/>
          </a:p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06E0B878-F7EE-408F-A5BA-70BB74EE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3895344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5" name="Text 42">
            <a:extLst xmlns:a="http://schemas.openxmlformats.org/drawingml/2006/main">
              <a:ext uri="{FF2B5EF4-FFF2-40B4-BE49-F238E27FC236}">
                <a16:creationId xmlns:a16="http://schemas.microsoft.com/office/drawing/2014/main" id="{236E7BF1-56E6-461B-9E82-504E50D9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005072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1</a:t>
            </a:r>
            <a:endParaRPr sz="880"/>
          </a:p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45096F61-0705-44E0-AE27-7A29AF6E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4325112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91E23FBE-6D7D-4FEF-8836-7BE8B091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4434840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Gerardo</a:t>
            </a:r>
            <a:endParaRPr sz="880"/>
          </a:p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3046251F-6F90-4724-BC91-CAE85667D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32511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8C4D8B59-D0CD-4E2E-9154-BF70E12EE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443484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0</a:t>
            </a:r>
            <a:endParaRPr sz="880"/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4ADABD8-993C-48EF-B872-58C1ABDA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432511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B6D0A893-85F2-41CF-86C7-6EF87C8F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43484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1</a:t>
            </a:r>
            <a:endParaRPr sz="880"/>
          </a:p>
        </p:txBody>
      </p:sp>
      <p:sp>
        <p:nvSpPr>
          <p:cNvPr id="52" name="Shape 49">
            <a:extLst xmlns:a="http://schemas.openxmlformats.org/drawingml/2006/main">
              <a:ext uri="{FF2B5EF4-FFF2-40B4-BE49-F238E27FC236}">
                <a16:creationId xmlns:a16="http://schemas.microsoft.com/office/drawing/2014/main" id="{DF49051A-D8BE-4378-8FBB-247C7E4F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4754880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3" name="Text 50">
            <a:extLst xmlns:a="http://schemas.openxmlformats.org/drawingml/2006/main">
              <a:ext uri="{FF2B5EF4-FFF2-40B4-BE49-F238E27FC236}">
                <a16:creationId xmlns:a16="http://schemas.microsoft.com/office/drawing/2014/main" id="{2280395B-9EAA-4BDD-859E-AE20E3D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4864608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Alexis</a:t>
            </a:r>
            <a:endParaRPr sz="880"/>
          </a:p>
        </p:txBody>
      </p:sp>
      <p:sp>
        <p:nvSpPr>
          <p:cNvPr id="54" name="Shape 51">
            <a:extLst xmlns:a="http://schemas.openxmlformats.org/drawingml/2006/main">
              <a:ext uri="{FF2B5EF4-FFF2-40B4-BE49-F238E27FC236}">
                <a16:creationId xmlns:a16="http://schemas.microsoft.com/office/drawing/2014/main" id="{DD5F2F88-1A09-408B-946C-5CD61534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75488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5" name="Text 52">
            <a:extLst xmlns:a="http://schemas.openxmlformats.org/drawingml/2006/main">
              <a:ext uri="{FF2B5EF4-FFF2-40B4-BE49-F238E27FC236}">
                <a16:creationId xmlns:a16="http://schemas.microsoft.com/office/drawing/2014/main" id="{E64C046F-AE65-4DEC-8B92-AED0F02C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486460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.6</a:t>
            </a:r>
            <a:endParaRPr sz="880"/>
          </a:p>
        </p:txBody>
      </p:sp>
      <p:sp>
        <p:nvSpPr>
          <p:cNvPr id="56" name="Shape 53">
            <a:extLst xmlns:a="http://schemas.openxmlformats.org/drawingml/2006/main">
              <a:ext uri="{FF2B5EF4-FFF2-40B4-BE49-F238E27FC236}">
                <a16:creationId xmlns:a16="http://schemas.microsoft.com/office/drawing/2014/main" id="{49EC1B7D-4AEA-4ECE-9436-7B153277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475488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7" name="Text 54">
            <a:extLst xmlns:a="http://schemas.openxmlformats.org/drawingml/2006/main">
              <a:ext uri="{FF2B5EF4-FFF2-40B4-BE49-F238E27FC236}">
                <a16:creationId xmlns:a16="http://schemas.microsoft.com/office/drawing/2014/main" id="{C5338257-05E2-484B-8588-5ACFFD1B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86460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.7</a:t>
            </a:r>
            <a:endParaRPr sz="880"/>
          </a:p>
        </p:txBody>
      </p:sp>
      <p:sp>
        <p:nvSpPr>
          <p:cNvPr id="58" name="Shape 55">
            <a:extLst xmlns:a="http://schemas.openxmlformats.org/drawingml/2006/main">
              <a:ext uri="{FF2B5EF4-FFF2-40B4-BE49-F238E27FC236}">
                <a16:creationId xmlns:a16="http://schemas.microsoft.com/office/drawing/2014/main" id="{F5138035-AE7F-47D6-82FE-726F5BF1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5184648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9" name="Text 56">
            <a:extLst xmlns:a="http://schemas.openxmlformats.org/drawingml/2006/main">
              <a:ext uri="{FF2B5EF4-FFF2-40B4-BE49-F238E27FC236}">
                <a16:creationId xmlns:a16="http://schemas.microsoft.com/office/drawing/2014/main" id="{664380F4-7BCA-449E-B2E3-53167D34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5294376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Byron</a:t>
            </a:r>
            <a:endParaRPr sz="880"/>
          </a:p>
        </p:txBody>
      </p:sp>
      <p:sp>
        <p:nvSpPr>
          <p:cNvPr id="60" name="Shape 57">
            <a:extLst xmlns:a="http://schemas.openxmlformats.org/drawingml/2006/main">
              <a:ext uri="{FF2B5EF4-FFF2-40B4-BE49-F238E27FC236}">
                <a16:creationId xmlns:a16="http://schemas.microsoft.com/office/drawing/2014/main" id="{4FB07697-2669-4B0F-BA9F-EE06C0A0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518464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61" name="Text 58">
            <a:extLst xmlns:a="http://schemas.openxmlformats.org/drawingml/2006/main">
              <a:ext uri="{FF2B5EF4-FFF2-40B4-BE49-F238E27FC236}">
                <a16:creationId xmlns:a16="http://schemas.microsoft.com/office/drawing/2014/main" id="{B9744614-4CBA-43AE-9BAE-D22F60E5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529437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.9</a:t>
            </a:r>
            <a:endParaRPr sz="880"/>
          </a:p>
        </p:txBody>
      </p:sp>
      <p:sp>
        <p:nvSpPr>
          <p:cNvPr id="62" name="Shape 59">
            <a:extLst xmlns:a="http://schemas.openxmlformats.org/drawingml/2006/main">
              <a:ext uri="{FF2B5EF4-FFF2-40B4-BE49-F238E27FC236}">
                <a16:creationId xmlns:a16="http://schemas.microsoft.com/office/drawing/2014/main" id="{36CFB169-4235-478E-9485-076F73B4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518464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63" name="Text 60">
            <a:extLst xmlns:a="http://schemas.openxmlformats.org/drawingml/2006/main">
              <a:ext uri="{FF2B5EF4-FFF2-40B4-BE49-F238E27FC236}">
                <a16:creationId xmlns:a16="http://schemas.microsoft.com/office/drawing/2014/main" id="{FA70CE42-7AE0-4536-AD15-956934B4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529437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.8</a:t>
            </a:r>
            <a:endParaRPr sz="880"/>
          </a:p>
        </p:txBody>
      </p:sp>
      <p:sp>
        <p:nvSpPr>
          <p:cNvPr id="64" name="Shape 61">
            <a:extLst xmlns:a="http://schemas.openxmlformats.org/drawingml/2006/main">
              <a:ext uri="{FF2B5EF4-FFF2-40B4-BE49-F238E27FC236}">
                <a16:creationId xmlns:a16="http://schemas.microsoft.com/office/drawing/2014/main" id="{C42E1C72-8F71-4A57-A252-493A8C82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362456"/>
            <a:ext cx="19842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12700">
            <a:solidFill>
              <a:srgbClr val="D9CCEF">
                <a:alpha val="0"/>
              </a:srgbClr>
            </a:solidFill>
            <a:prstDash val="solid"/>
          </a:ln>
        </p:spPr>
      </p:sp>
      <p:sp>
        <p:nvSpPr>
          <p:cNvPr id="65" name="Text 62">
            <a:extLst xmlns:a="http://schemas.openxmlformats.org/drawingml/2006/main">
              <a:ext uri="{FF2B5EF4-FFF2-40B4-BE49-F238E27FC236}">
                <a16:creationId xmlns:a16="http://schemas.microsoft.com/office/drawing/2014/main" id="{6DCBDC34-37B1-4315-933D-919A47A6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403604"/>
            <a:ext cx="1837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Joey: 0.6 → 0.3</a:t>
            </a:r>
            <a:endParaRPr sz="880"/>
          </a:p>
        </p:txBody>
      </p:sp>
      <p:sp>
        <p:nvSpPr>
          <p:cNvPr id="66" name="Text 63">
            <a:extLst xmlns:a="http://schemas.openxmlformats.org/drawingml/2006/main">
              <a:ext uri="{FF2B5EF4-FFF2-40B4-BE49-F238E27FC236}">
                <a16:creationId xmlns:a16="http://schemas.microsoft.com/office/drawing/2014/main" id="{10007F14-2F77-47D5-A9C4-8AFFD7AA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selected_weights.csv + SCI-04 · no interpolation between grid points</a:t>
            </a:r>
            <a:endParaRPr sz="670"/>
          </a:p>
        </p:txBody>
      </p:sp>
      <p:sp>
        <p:nvSpPr>
          <p:cNvPr id="67" name="Text 64">
            <a:extLst xmlns:a="http://schemas.openxmlformats.org/drawingml/2006/main">
              <a:ext uri="{FF2B5EF4-FFF2-40B4-BE49-F238E27FC236}">
                <a16:creationId xmlns:a16="http://schemas.microsoft.com/office/drawing/2014/main" id="{88BD1A63-926C-4AFF-9FCC-37FCFE03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Appendix · full weight-selection answer</a:t>
            </a:r>
            <a:endParaRPr sz="750"/>
          </a:p>
        </p:txBody>
      </p:sp>
      <p:sp>
        <p:nvSpPr>
          <p:cNvPr id="6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5AD129C-F6F5-4547-A83A-DED21BB10DD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9354782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E644C14-20D1-4130-BF70-58A32AB5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SB-A09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11F763B-6B9F-4D71-B815-961B8AE7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APPENDIX · UNCERTAINTY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FADEBDD-FE52-412B-8C3C-877A92F6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62571F8-5708-4830-8141-D7C3884A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ONLY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D4B265A-4AFD-4865-B321-55267945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冻结 bootstrap 支持固定八栋建筑范围内的差异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F21BB2E-A5CB-4985-810B-056AD314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paired building-level bootstrap；resampling unit = building；不扩展为跨建筑普遍显著性结论。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7673817-E171-486D-8B3C-12E80B50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673352"/>
            <a:ext cx="7882128" cy="3273552"/>
          </a:xfrm>
          <a:prstGeom xmlns:a="http://schemas.openxmlformats.org/drawingml/2006/main" prst="roundRect">
            <a:avLst>
              <a:gd name="adj" fmla="val 25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14D9707-0006-482E-8C68-4A0258F0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319272"/>
            <a:ext cx="66568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B9C6D2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2F59555-25E9-462F-B393-BEC30597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1624" y="2267712"/>
            <a:ext cx="0" cy="20848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B35C00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AE127E1-18F7-4829-A6BB-BC0FBD80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0184" y="3657600"/>
            <a:ext cx="1828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>
                <a:solidFill>
                  <a:srgbClr val="B35C00"/>
                </a:solidFill>
                <a:latin typeface="Arial"/>
                <a:ea typeface="Arial"/>
                <a:cs typeface="Arial"/>
              </a:rPr>
              <a:t>0</a:t>
            </a:r>
            <a:endParaRPr sz="8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51BB25B-E494-42C1-8A42-10696EE2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035" y="3319272"/>
            <a:ext cx="379513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6F4E9C"/>
            </a:solidFill>
            <a:prstDash val="solid"/>
            <a:headEnd type="none"/>
            <a:tailEnd type="non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EFFDE9A-DED3-4B1B-B301-5D56838F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4286" y="3236976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15240">
            <a:solidFill>
              <a:srgbClr val="FFFFF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C461AB7-D4EF-4775-BFE2-F3CD5CCC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48840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95% bootstrap interval</a:t>
            </a:r>
            <a:endParaRPr sz="1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B90EFFF-E262-44C5-A331-6C9315EC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6230" y="2596896"/>
            <a:ext cx="106070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point estimate</a:t>
            </a:r>
            <a:endParaRPr sz="83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2976325-13EC-4406-BB1C-7449B405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148840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b="1">
                <a:solidFill>
                  <a:srgbClr val="18A76C"/>
                </a:solidFill>
                <a:latin typeface="Arial"/>
                <a:ea typeface="Arial"/>
                <a:cs typeface="Arial"/>
              </a:rPr>
              <a:t>interval remains below 0</a:t>
            </a:r>
            <a:endParaRPr sz="10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7827975-5BF2-429B-B310-CD699B1FD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1673352"/>
            <a:ext cx="2670048" cy="3273552"/>
          </a:xfrm>
          <a:prstGeom xmlns:a="http://schemas.openxmlformats.org/drawingml/2006/main" prst="roundRect">
            <a:avLst>
              <a:gd name="adj" fmla="val 3082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2B4AE62-BCE4-43ED-972F-4A5AF144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048256"/>
            <a:ext cx="2057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10,000</a:t>
            </a:r>
            <a:endParaRPr sz="28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8208721-3465-4766-9F12-47E66C5E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706624"/>
            <a:ext cx="2057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resamples · seed 42</a:t>
            </a:r>
            <a:endParaRPr sz="11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AE056A7-C2A7-46C0-9229-A2D06F29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273552"/>
            <a:ext cx="2057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C7B8FF"/>
                </a:solidFill>
                <a:latin typeface="Arial"/>
                <a:ea typeface="Arial"/>
                <a:cs typeface="Arial"/>
              </a:rPr>
              <a:t>−0.004198</a:t>
            </a:r>
            <a:endParaRPr sz="2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A405C6F-75FA-477D-9264-F5355438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931920"/>
            <a:ext cx="2057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point estimate</a:t>
            </a:r>
            <a:endParaRPr sz="11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48589DB-65F3-48D6-A7A1-CDFB20DC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5266944"/>
            <a:ext cx="129844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5C6873"/>
                </a:solidFill>
                <a:latin typeface="Arial"/>
                <a:ea typeface="Arial"/>
                <a:cs typeface="Arial"/>
              </a:rPr>
              <a:t>95% interval</a:t>
            </a:r>
            <a:endParaRPr sz="9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E6FC64B-CDBD-41EF-8293-200B57A8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5184648"/>
            <a:ext cx="3063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[ −0.006850 ,  −0.001719 ]</a:t>
            </a:r>
            <a:endParaRPr sz="16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EFBE7538-4514-4E72-BE15-089BE390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5212080"/>
            <a:ext cx="213055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12700">
            <a:solidFill>
              <a:srgbClr val="F0D6C4">
                <a:alpha val="0"/>
              </a:srgbClr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CA25506-58E4-47C9-9BA0-69154F72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5253228"/>
            <a:ext cx="19842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35C00"/>
                </a:solidFill>
                <a:latin typeface="Microsoft YaHei"/>
                <a:ea typeface="Microsoft YaHei"/>
                <a:cs typeface="Microsoft YaHei"/>
              </a:rPr>
              <a:t>fixed 8-building scope only</a:t>
            </a:r>
            <a:endParaRPr sz="8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0EE079F-0A02-454E-9BC0-3CE58D09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outputs/phase9_1/final_reporting_summary.json · no new resampling</a:t>
            </a:r>
            <a:endParaRPr sz="67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CEB4C13-AA41-4FE2-8ABC-99AB8B7E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Appendix · uncertainty answer</a:t>
            </a:r>
            <a:endParaRPr sz="750"/>
          </a:p>
        </p:txBody>
      </p:sp>
      <p:sp>
        <p:nvSpPr>
          <p:cNvPr id="2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16715C2-6A5D-47FD-B855-5A39E36BC09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9833308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DD6FC0F-5EE5-43EB-9383-5C193DFC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SB-A10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300302C-037B-497F-8E62-BF40D587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APPENDIX · REPRODUCIBILITY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2C543AF-7E7B-47B6-B756-045866B6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6C7C64C-14E9-4FFF-86B3-2249836C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ONLY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AA14A82-E472-45F2-9459-CD28E127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报告公式与冻结预测逐值一致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135DFCF-01DD-4B2E-9DA9-8DDF3A7E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这是 identity audit：显式 DOEF 公式复算与冻结 Phase 8 ensemble_prediction 逐值对齐，不是新训练或独立重复实验。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E07E5FF-EB5D-420B-A4E3-765B01F1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27632"/>
            <a:ext cx="5074920" cy="4279392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40E61E1-A376-4183-94FA-0DE0C440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176272"/>
            <a:ext cx="43891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wᵦ × LightGBM + (1 − wᵦ) × DayWeek</a:t>
            </a:r>
            <a:endParaRPr sz="21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5F49CCF-5ABD-40E9-85D2-CE80D22C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064" y="299923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=</a:t>
            </a:r>
            <a:endParaRPr sz="2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E2B6C81-BB83-427A-A908-2F583077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84448"/>
            <a:ext cx="32461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B4C5D2"/>
                </a:solidFill>
                <a:latin typeface="Arial"/>
                <a:ea typeface="Arial"/>
                <a:cs typeface="Arial"/>
              </a:rPr>
              <a:t>frozen Phase 8</a:t>
            </a:r>
            <a:endParaRPr sz="1500"/>
          </a:p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B4C5D2"/>
                </a:solidFill>
                <a:latin typeface="Arial"/>
                <a:ea typeface="Arial"/>
                <a:cs typeface="Arial"/>
              </a:rPr>
              <a:t>ensemble_prediction</a:t>
            </a:r>
            <a:endParaRPr sz="15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02F507A-3272-432C-811B-2D51FA48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74336"/>
            <a:ext cx="248716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42FB6BB-13F7-486D-A8A6-71AD73AA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3976" y="5015484"/>
            <a:ext cx="234086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IDENTITY AUDIT</a:t>
            </a:r>
            <a:endParaRPr sz="9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FFDE16F-4684-4FC4-8086-ECCA9F86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904" y="1627632"/>
            <a:ext cx="5413248" cy="4279392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71E47EB-D307-4DA8-A6AF-46ABD0E54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57984"/>
            <a:ext cx="20299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5,760</a:t>
            </a:r>
            <a:endParaRPr sz="2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DEFB462-9031-4820-8524-9400220C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816352"/>
            <a:ext cx="20299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frozen predictions checked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96F5FBB-52D8-4C8C-8A25-2E1163C3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157984"/>
            <a:ext cx="20299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8A76C"/>
                </a:solidFill>
                <a:latin typeface="Arial"/>
                <a:ea typeface="Arial"/>
                <a:cs typeface="Arial"/>
              </a:rPr>
              <a:t>0.0 kW</a:t>
            </a:r>
            <a:endParaRPr sz="2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A31C8D2-DE41-4361-8C17-94DF758D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816352"/>
            <a:ext cx="20299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max absolute difference</a:t>
            </a:r>
            <a:endParaRPr sz="11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41356C6-0A1A-4201-A862-CD584D6A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520440"/>
            <a:ext cx="4187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5DEE6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CDB837E-6801-49F8-948D-45599396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840480"/>
            <a:ext cx="3931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8 buildings × 720 Test hours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2A1ED14-D728-48ED-80AB-0FE76DF2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70832"/>
            <a:ext cx="393192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C6873"/>
                </a:solidFill>
                <a:latin typeface="Arial"/>
                <a:ea typeface="Arial"/>
                <a:cs typeface="Arial"/>
              </a:rPr>
              <a:t>audited definition = frozen prediction artifact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C6873"/>
                </a:solidFill>
                <a:latin typeface="Arial"/>
                <a:ea typeface="Arial"/>
                <a:cs typeface="Arial"/>
              </a:rPr>
              <a:t>within tolerance 1e−12</a:t>
            </a:r>
            <a:endParaRPr sz="11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3E03EAC-C89F-4B5C-BE69-731377EC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Phase 9.1 reporting summary · identity check only</a:t>
            </a:r>
            <a:endParaRPr sz="67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A548329-258C-4DF7-91D3-B14C593A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Appendix · lineage / reproducibility answer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57F3A68-C42E-44C8-92FD-601BDA48CD6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9473945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B3C0862-326B-4723-BB35-3E8045F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SB-A11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4F214A2-0BBC-4D10-9520-26722EE9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APPENDIX · FALSIFICATION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7966FA-0990-4BBD-A092-3CE64063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2C68EEE-85B2-446F-B9EC-2AFD96C0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ONLY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7842EA6-949D-4418-8F59-373767AB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负结果被保留，但不用于 Test 后反向改选算法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C2E8CDA-696D-4FD0-A483-409716B5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Validation-selected robust variant 在 Test 上明显退化，因此被保留为负结果并排除出 DOEF v1.0。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BA4B74D-1A9C-40A2-91A2-1A29222C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72768"/>
            <a:ext cx="5001768" cy="4315968"/>
          </a:xfrm>
          <a:prstGeom xmlns:a="http://schemas.openxmlformats.org/drawingml/2006/main" prst="roundRect">
            <a:avLst>
              <a:gd name="adj" fmla="val 19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A2AF5BE-A1C3-44B1-A093-5B02A136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01952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Validation selection</a:t>
            </a:r>
            <a:endParaRPr sz="1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B3AC470-BC67-4433-AEFA-43DBD703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31720"/>
            <a:ext cx="30175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robust λ = 0.5</a:t>
            </a:r>
            <a:endParaRPr sz="2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FB36906-3D4F-4678-8EC3-47D324D5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017520"/>
            <a:ext cx="395935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预先按 Validation 规则选出，随后进入 Test；没有因为 Test 结果差而换 λ。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28AB11A-3F87-4453-A40C-E1DA0A36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029200"/>
            <a:ext cx="1609344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12700">
            <a:solidFill>
              <a:srgbClr val="DBD0F0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24859E1-2C33-4F0D-B138-463B4FF2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70348"/>
            <a:ext cx="1463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selection integrity</a:t>
            </a:r>
            <a:endParaRPr sz="84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F165919-0B46-4550-ACFA-CE778397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032" y="1572768"/>
            <a:ext cx="5532120" cy="4315968"/>
          </a:xfrm>
          <a:prstGeom xmlns:a="http://schemas.openxmlformats.org/drawingml/2006/main" prst="roundRect">
            <a:avLst>
              <a:gd name="adj" fmla="val 1907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1E4C51A-98E8-406B-BE9A-0A754E75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01952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AFC1D0"/>
                </a:solidFill>
                <a:latin typeface="Arial"/>
                <a:ea typeface="Arial"/>
                <a:cs typeface="Arial"/>
              </a:rPr>
              <a:t>Test mean regret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7FE5BD9-6881-4B81-8244-59B18E9C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331720"/>
            <a:ext cx="20116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F9C7A"/>
                </a:solidFill>
                <a:latin typeface="Arial"/>
                <a:ea typeface="Arial"/>
                <a:cs typeface="Arial"/>
              </a:rPr>
              <a:t>20.4635 kW</a:t>
            </a:r>
            <a:endParaRPr sz="2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CDF386C-2BFE-4392-A6CC-934F6BA2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99008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robust variant</a:t>
            </a:r>
            <a:endParaRPr sz="11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A3F96D2-CD42-4662-86B0-870DEC5F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331720"/>
            <a:ext cx="20116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11.1274 kW</a:t>
            </a:r>
            <a:endParaRPr sz="28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F659D07-309C-47EB-9639-440779D4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9008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deterministic</a:t>
            </a:r>
            <a:endParaRPr sz="11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03A5FF6-9A8B-48B9-8DA1-7D759C2B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721608"/>
            <a:ext cx="44988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1506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08E1D53-A5B9-4857-9BB9-4FA7B9A3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4096512"/>
            <a:ext cx="44805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结论：robust optimization 没有改善 Test，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因此不进入 DOEF，不做 Test 后反向修正。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CFBE353-0F5B-45DD-82D1-A5F91F203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166360"/>
            <a:ext cx="22402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52A23"/>
          </a:solidFill>
          <a:ln xmlns:a="http://schemas.openxmlformats.org/drawingml/2006/main" w="12700">
            <a:solidFill>
              <a:srgbClr val="452A23">
                <a:alpha val="0"/>
              </a:srgbClr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B77C502-FF4C-4C35-BCC9-CB902D01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5207508"/>
            <a:ext cx="2093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90" b="1">
                <a:solidFill>
                  <a:srgbClr val="FFC0A5"/>
                </a:solidFill>
                <a:latin typeface="Microsoft YaHei"/>
                <a:ea typeface="Microsoft YaHei"/>
                <a:cs typeface="Microsoft YaHei"/>
              </a:rPr>
              <a:t>NEGATIVE RESULT RETAINED</a:t>
            </a:r>
            <a:endParaRPr sz="79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F587EA54-DAF6-4096-92EB-E3D3AC1F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Phase 5.7 negative result · robust λ=0.5 · no rerun</a:t>
            </a:r>
            <a:endParaRPr sz="67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794309C-84DA-4A65-BBBF-422987F9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Appendix · falsification / failed idea answer</a:t>
            </a:r>
            <a:endParaRPr sz="750"/>
          </a:p>
        </p:txBody>
      </p:sp>
      <p:sp>
        <p:nvSpPr>
          <p:cNvPr id="2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A3B5F63-F3E8-4D04-98BF-96C453E0297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329404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2026-09-03T07:06:32.3730000Z</dcterms:created>
  <dcterms:modified xsi:type="dcterms:W3CDTF">2026-09-03T07:06:32.3730000Z</dcterms:modified>
</coreProperties>
</file>