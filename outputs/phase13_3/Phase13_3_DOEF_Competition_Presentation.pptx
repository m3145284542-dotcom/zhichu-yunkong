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开场定位：这是 AI + 储能决策问题。不要把 LightGBM 说成创新。过渡：既然预测服务于决策，传统预测指标是否真的能选出更好的储能方案？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用这一页制造核心张力。只说“在冻结项目范围内出现排序反转”，不说预测精度无关，也不把很小的差异升级为普遍因果机制。下一页解释预测如何进入调度链。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 AI 与电气评委建立共同心智模型：历史负荷→次日预测→受约束电池调度→真实削峰结果。概念图不是实验结果。过渡：既然下游目标不同，模型选择标准也要重新对齐。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这一页只讲一个改变：selection criterion。组件预测不变，电池约束不变。DOEF 不是联合训练、双层优化或新的 LightGBM。下一页给完整冻结信息流。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算法只解释一次。强调三段：Train 拟合组件；Validation 把候选权重送入同一电池优化，以 mean daily regret 选择并冻结；Test 只报告。Oracle 只作不可部署 hindsight 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这是最强结果页。先落 6.36% 与 3.61%，再落 6/2/0。主动指出最差建筑 peak reduction 为 -1.017%，负结果没有被删。不要说 SOTA、普适最优、经济收益。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用“回答不同问题”化解 M02 的反转，避免讲成“峰时误差一定导致 regret”这种未经证明的普遍机制。核心句：预测指标仍然必要，但下游工程评价不能缺席。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用完整 8 栋反驳单楼/挑楼质疑。强调选楼不看 Validation/Test 性能，只基于质量和 Train 期形态。证据只支持固定范围的 multi-building robustness，不支持 unseen-building transfer。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这页专门防“你们是不是看 Test 调出来的？”权重只在 Validation 选，并在 Test 前冻结。也不要说 Test 从未被历史阶段看过，只能说 Phase 8/DOEF 选择不使用 Test。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把方法翻译成工程工作流：第二天怎么从历史数据走到调度。明确“repeatable workflow ≠ field deployment”，不声称工业实时验证。下一页提炼创新。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创新表述必须守边界：基础预测器不是创新，普通线性加权也不是创新。创新是 Validation 下游 regret 选权重 + 冻结信息边界 + 全八栋证据 + 同一储能评价链。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只收束，不引入新结果。最后一句：对储能削峰这样的下游任务，评价预测模型时应同时看预测误差和它支持的工程决策。停在这里，进入评委提问。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Q&amp;A：解释 296→82→8。强调模型成绩没有参与选楼。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DARK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4C7FF"/>
          </a:solidFill>
          <a:ln w="12700">
            <a:solidFill>
              <a:srgbClr val="24C7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PENDIX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F4E9C"/>
          </a:solidFill>
          <a:ln w="12700">
            <a:solidFill>
              <a:srgbClr val="6F4E9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spc="10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DOEF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让负荷预测服务于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储能削峰决策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2648" y="36576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5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面向储能决策的集成负荷预测方法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1170432"/>
            <a:ext cx="4709160" cy="4297680"/>
          </a:xfrm>
          <a:prstGeom prst="roundRect">
            <a:avLst>
              <a:gd name="adj" fmla="val 2553"/>
            </a:avLst>
          </a:prstGeom>
          <a:solidFill>
            <a:srgbClr val="0D1F33">
              <a:alpha val="98000"/>
            </a:srgbClr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965960"/>
            <a:ext cx="932688" cy="932688"/>
          </a:xfrm>
          <a:prstGeom prst="ellipse">
            <a:avLst/>
          </a:prstGeom>
          <a:solidFill>
            <a:srgbClr val="D55E00">
              <a:alpha val="18000"/>
            </a:srgbClr>
          </a:solidFill>
          <a:ln w="25400">
            <a:solidFill>
              <a:srgbClr val="D55E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2212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309067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负荷预测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22208" y="1965960"/>
            <a:ext cx="932688" cy="932688"/>
          </a:xfrm>
          <a:prstGeom prst="ellipse">
            <a:avLst/>
          </a:prstGeom>
          <a:solidFill>
            <a:srgbClr val="6F4E9C">
              <a:alpha val="18000"/>
            </a:srgbClr>
          </a:solidFill>
          <a:ln w="25400">
            <a:solidFill>
              <a:srgbClr val="6F4E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13648" y="2212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5048" y="309067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约束调度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48672" y="1965960"/>
            <a:ext cx="932688" cy="932688"/>
          </a:xfrm>
          <a:prstGeom prst="ellipse">
            <a:avLst/>
          </a:prstGeom>
          <a:solidFill>
            <a:srgbClr val="24C7FF">
              <a:alpha val="18000"/>
            </a:srgbClr>
          </a:solidFill>
          <a:ln w="25400">
            <a:solidFill>
              <a:srgbClr val="24C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0112" y="2212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11512" y="309067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实际削峰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37576" y="2432304"/>
            <a:ext cx="402336" cy="0"/>
          </a:xfrm>
          <a:prstGeom prst="line">
            <a:avLst/>
          </a:prstGeom>
          <a:noFill/>
          <a:ln w="25400">
            <a:solidFill>
              <a:srgbClr val="54728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64040" y="2432304"/>
            <a:ext cx="402336" cy="0"/>
          </a:xfrm>
          <a:prstGeom prst="line">
            <a:avLst/>
          </a:prstGeom>
          <a:noFill/>
          <a:ln w="25400">
            <a:solidFill>
              <a:srgbClr val="54728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59168" y="4608576"/>
            <a:ext cx="0" cy="164592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0064" y="4460128"/>
            <a:ext cx="0" cy="461488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4408208"/>
            <a:ext cx="0" cy="565328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91856" y="4486577"/>
            <a:ext cx="0" cy="408590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2752" y="4572876"/>
            <a:ext cx="0" cy="235992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13648" y="4438391"/>
            <a:ext cx="0" cy="504962"/>
          </a:xfrm>
          <a:prstGeom prst="line">
            <a:avLst/>
          </a:prstGeom>
          <a:noFill/>
          <a:ln w="25400">
            <a:solidFill>
              <a:srgbClr val="32647D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24544" y="4414569"/>
            <a:ext cx="0" cy="552607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4516899"/>
            <a:ext cx="0" cy="347946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46336" y="4538310"/>
            <a:ext cx="0" cy="305124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57232" y="4422057"/>
            <a:ext cx="0" cy="537630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68128" y="4427088"/>
            <a:ext cx="0" cy="527568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79024" y="4550131"/>
            <a:ext cx="0" cy="281482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89920" y="4505974"/>
            <a:ext cx="0" cy="369796"/>
          </a:xfrm>
          <a:prstGeom prst="line">
            <a:avLst/>
          </a:prstGeom>
          <a:noFill/>
          <a:ln w="25400">
            <a:solidFill>
              <a:srgbClr val="24C7FF">
                <a:alpha val="9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3803904"/>
            <a:ext cx="3584448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8624" y="384505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预测是输入，不是终点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50608" y="42702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9EB3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小时前瞻预测  →  冻结电池优化  →  实际负荷上的决策结果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621792" y="5989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B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全球人工智能算法精英大赛 · AI+能源主题赛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SB-M01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更低的预测 RMSE，并未带来更低的储能决策 regret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冻结八栋建筑 Test 汇总中，XGBoost 与 LightGBM 在预测误差与决策 regret 上出现排序反转。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585216" y="1490472"/>
            <a:ext cx="8366760" cy="442569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figures/sci_01_forecast_decision_mism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180" y="1545336"/>
            <a:ext cx="7672832" cy="43159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17152" y="1490472"/>
            <a:ext cx="2395728" cy="4425696"/>
          </a:xfrm>
          <a:prstGeom prst="roundRect">
            <a:avLst>
              <a:gd name="adj" fmla="val 3435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91472" y="1783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491472" y="2240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91472" y="25328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0.216751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491472" y="3346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AF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regret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9491472" y="36576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0.116127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464040" y="4517136"/>
            <a:ext cx="1783080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91472" y="4736592"/>
            <a:ext cx="17190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同一个“更准”</a:t>
            </a:r>
            <a:endParaRPr lang="en-US" sz="1170" dirty="0"/>
          </a:p>
          <a:p>
            <a:pPr indent="0" marL="0">
              <a:buNone/>
            </a:pPr>
            <a:r>
              <a:rPr lang="en-US" sz="117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不一定意味着同一个“更好调度”</a:t>
            </a:r>
            <a:endParaRPr lang="en-US" sz="1170" dirty="0"/>
          </a:p>
        </p:txBody>
      </p:sp>
      <p:sp>
        <p:nvSpPr>
          <p:cNvPr id="16" name="Shape 13"/>
          <p:cNvSpPr/>
          <p:nvPr/>
        </p:nvSpPr>
        <p:spPr>
          <a:xfrm>
            <a:off x="9400032" y="5504688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40291B"/>
          </a:solidFill>
          <a:ln w="12700">
            <a:solidFill>
              <a:srgbClr val="7351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73184" y="554583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C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范围内反例 ≠ 预测精度无用</a:t>
            </a:r>
            <a:endParaRPr lang="en-US" sz="730" dirty="0"/>
          </a:p>
        </p:txBody>
      </p:sp>
      <p:sp>
        <p:nvSpPr>
          <p:cNvPr id="18" name="Text 15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outputs/phase13_1/figures/sci_01_forecast_decision_mismatch.png · Phase 9 final benchmark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SB-M02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预测只是中间环节，调度结果才是工程终点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DB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负荷预测会改变储能充放电计划；最终评价发生在真实负荷与电池动作叠加后的结果上。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694944" y="1545336"/>
            <a:ext cx="10808208" cy="3968496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presentation_assets/con_01_prediction_decision_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9032" y="1600200"/>
            <a:ext cx="6860032" cy="3858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4640" y="1691640"/>
            <a:ext cx="65379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34640" y="1773936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is an input to the decision — not the endpoint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596128"/>
            <a:ext cx="2212848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563727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CONCEPTUAL / EXPLANATORY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73552" y="560527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所有预测方法进入同一套冻结电池约束，保证比较的是“预测带来的决策差异”，不是不同优化器。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97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asset: outputs/phase13_1/presentation_assets/con_01_prediction_decision_bridge.png</a:t>
            </a:r>
            <a:endParaRPr lang="en-US" sz="670" dirty="0"/>
          </a:p>
        </p:txBody>
      </p:sp>
      <p:sp>
        <p:nvSpPr>
          <p:cNvPr id="14" name="Text 11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SB-M03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TENSION → SOLUTION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模型不只要预测得准，还要在 Validation 上支持更好的储能决策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DB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保持预测组件与电池约束不变，只改变“选择依据”：从预测误差，转向 Validation 下游决策 regret。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70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传统预测选择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1682496"/>
            <a:ext cx="2724912" cy="658368"/>
          </a:xfrm>
          <a:prstGeom prst="roundRect">
            <a:avLst>
              <a:gd name="adj" fmla="val 12500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8745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93208" y="2011680"/>
            <a:ext cx="192024" cy="0"/>
          </a:xfrm>
          <a:prstGeom prst="line">
            <a:avLst/>
          </a:prstGeom>
          <a:noFill/>
          <a:ln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12664" y="1682496"/>
            <a:ext cx="2724912" cy="658368"/>
          </a:xfrm>
          <a:prstGeom prst="roundRect">
            <a:avLst>
              <a:gd name="adj" fmla="val 12500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85816" y="18745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/ RMSE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4152" y="2011680"/>
            <a:ext cx="192024" cy="0"/>
          </a:xfrm>
          <a:prstGeom prst="line">
            <a:avLst/>
          </a:prstGeom>
          <a:noFill/>
          <a:ln w="19050">
            <a:solidFill>
              <a:srgbClr val="52708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93608" y="1682496"/>
            <a:ext cx="2724912" cy="658368"/>
          </a:xfrm>
          <a:prstGeom prst="roundRect">
            <a:avLst>
              <a:gd name="adj" fmla="val 12500"/>
            </a:avLst>
          </a:prstGeom>
          <a:solidFill>
            <a:srgbClr val="102338"/>
          </a:solidFill>
          <a:ln w="10160">
            <a:solidFill>
              <a:srgbClr val="5270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745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7C5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46920" y="25054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270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预测误差最小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37307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4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选择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31720" y="3584448"/>
            <a:ext cx="1979676" cy="658368"/>
          </a:xfrm>
          <a:prstGeom prst="roundRect">
            <a:avLst>
              <a:gd name="adj" fmla="val 12500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04872" y="3776472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47972" y="3913632"/>
            <a:ext cx="192024" cy="0"/>
          </a:xfrm>
          <a:prstGeom prst="line">
            <a:avLst/>
          </a:prstGeom>
          <a:noFill/>
          <a:ln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67428" y="3584448"/>
            <a:ext cx="1979676" cy="658368"/>
          </a:xfrm>
          <a:prstGeom prst="roundRect">
            <a:avLst>
              <a:gd name="adj" fmla="val 12500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0580" y="3776472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dispatch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913632"/>
            <a:ext cx="192024" cy="0"/>
          </a:xfrm>
          <a:prstGeom prst="line">
            <a:avLst/>
          </a:prstGeom>
          <a:noFill/>
          <a:ln w="19050">
            <a:solidFill>
              <a:srgbClr val="46607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03136" y="3584448"/>
            <a:ext cx="1979676" cy="658368"/>
          </a:xfrm>
          <a:prstGeom prst="roundRect">
            <a:avLst>
              <a:gd name="adj" fmla="val 12500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3776472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regret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19388" y="3913632"/>
            <a:ext cx="192024" cy="0"/>
          </a:xfrm>
          <a:prstGeom prst="line">
            <a:avLst/>
          </a:prstGeom>
          <a:noFill/>
          <a:ln w="19050">
            <a:solidFill>
              <a:srgbClr val="6F4E9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8844" y="3584448"/>
            <a:ext cx="1979676" cy="658368"/>
          </a:xfrm>
          <a:prstGeom prst="roundRect">
            <a:avLst>
              <a:gd name="adj" fmla="val 12500"/>
            </a:avLst>
          </a:prstGeom>
          <a:solidFill>
            <a:srgbClr val="1A2740"/>
          </a:solidFill>
          <a:ln w="10160">
            <a:solidFill>
              <a:srgbClr val="6F4E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11996" y="3776472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C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 wᵦ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46920" y="44074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F4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regret 最小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5840" y="3264408"/>
            <a:ext cx="10149840" cy="0"/>
          </a:xfrm>
          <a:prstGeom prst="line">
            <a:avLst/>
          </a:prstGeom>
          <a:noFill/>
          <a:ln w="12700">
            <a:solidFill>
              <a:srgbClr val="2340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59352" y="5504688"/>
            <a:ext cx="4297680" cy="292608"/>
          </a:xfrm>
          <a:prstGeom prst="roundRect">
            <a:avLst>
              <a:gd name="adj" fmla="val 18750"/>
            </a:avLst>
          </a:prstGeom>
          <a:solidFill>
            <a:srgbClr val="251D43"/>
          </a:solidFill>
          <a:ln w="12700">
            <a:solidFill>
              <a:srgbClr val="5F45A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32504" y="5545836"/>
            <a:ext cx="4151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D9C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唯一强调的改变：SELECTION OBJECTIVE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3182112" y="592531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82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不是联合训练 · 不是新基础模型 · 不是用 Test 调权重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SB-M04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在 Validation 上按决策 regret 冻结权重，再进入 Test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每栋建筑的 DayWeek–LightGBM 权重只在 Validation 选择；Test 对训练、权重、tie-break 和电池配置没有反馈路径。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11109960" cy="4690872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architecture/doef_architecture_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8180" y="1435608"/>
            <a:ext cx="8274304" cy="46542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method visual: outputs/phase13_1/architecture/doef_architecture_master.png · formula: wᵦ·LightGBM + (1−wᵦ)·DayWeek</a:t>
            </a:r>
            <a:endParaRPr lang="en-US" sz="67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SB-M05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同时降低预测误差与储能决策 regret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对比冻结 LightGBM：八栋建筑等权聚合的 normalized MAE 与 normalized decision regret 均下降。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576072" y="1444752"/>
            <a:ext cx="843076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figures/sci_02_doef_mai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656" y="1490472"/>
            <a:ext cx="772160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35440" y="1444752"/>
            <a:ext cx="2331720" cy="4434840"/>
          </a:xfrm>
          <a:prstGeom prst="roundRect">
            <a:avLst>
              <a:gd name="adj" fmla="val 3529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91472" y="184708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6.36%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491472" y="25054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normalized MAE 相对改善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491472" y="31363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BB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3.61%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9491472" y="3794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normalized regret 相对改善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491472" y="447141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2  /  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491472" y="49560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9FB1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/ tie / loss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9436608" y="5358384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0291B"/>
          </a:solidFill>
          <a:ln w="12700">
            <a:solidFill>
              <a:srgbClr val="7351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0" y="539953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C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负峰值案例保留：min = −1.017%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outputs/phase13_1/figures/sci_02_doef_main_results.png · Oracle-relative regret ≠ monetary regret</a:t>
            </a:r>
            <a:endParaRPr lang="en-US" sz="670" dirty="0"/>
          </a:p>
        </p:txBody>
      </p:sp>
      <p:sp>
        <p:nvSpPr>
          <p:cNvPr id="18" name="Text 15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SB-M06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 衡量预测误差；regret 衡量误差经过调度后的工程后果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DB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两个指标回答不同问题，因此在项目范围内不保证给出相同的模型排序。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4983480" cy="4187952"/>
          </a:xfrm>
          <a:prstGeom prst="roundRect">
            <a:avLst>
              <a:gd name="adj" fmla="val 1965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627632"/>
            <a:ext cx="4983480" cy="4187952"/>
          </a:xfrm>
          <a:prstGeom prst="roundRect">
            <a:avLst>
              <a:gd name="adj" fmla="val 1965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938528"/>
            <a:ext cx="1572768" cy="292608"/>
          </a:xfrm>
          <a:prstGeom prst="roundRect">
            <a:avLst>
              <a:gd name="adj" fmla="val 18750"/>
            </a:avLst>
          </a:prstGeom>
          <a:solidFill>
            <a:srgbClr val="1A3448"/>
          </a:solidFill>
          <a:ln w="12700">
            <a:solidFill>
              <a:srgbClr val="1A344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97967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9D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FORECAST METRIC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1033272" y="24414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33272" y="3008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“预测偏了多少？”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3272" y="35661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5B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对所有时间点的误差做平方惩罚并聚合。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B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它是必要的预测质量检查，但不是储能决策本身。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21424" y="1938528"/>
            <a:ext cx="1755648" cy="292608"/>
          </a:xfrm>
          <a:prstGeom prst="roundRect">
            <a:avLst>
              <a:gd name="adj" fmla="val 18750"/>
            </a:avLst>
          </a:prstGeom>
          <a:solidFill>
            <a:srgbClr val="2B2148"/>
          </a:solidFill>
          <a:ln w="12700">
            <a:solidFill>
              <a:srgbClr val="2B214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1979676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8C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DOWNSTREAM METRIC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812280" y="24414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30083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“这次预测让调度损失了多少？”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6812280" y="3566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5B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→ 电池优化 → 实际负荷，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B7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再与不可部署 Oracle 的最优决策结果比较。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97296" y="4407408"/>
            <a:ext cx="585216" cy="0"/>
          </a:xfrm>
          <a:prstGeom prst="line">
            <a:avLst/>
          </a:prstGeom>
          <a:noFill/>
          <a:ln w="25400">
            <a:solidFill>
              <a:srgbClr val="566F8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779008" y="398678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29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不同终点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785616" y="6007608"/>
            <a:ext cx="4617720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6048756"/>
            <a:ext cx="4471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结论：两者都要看，不把一个替代另一个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SB-M07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BREADTH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全部八栋固定建筑均被展示：六胜、两平、零负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建筑在结果评估前冻结：296 个 office 候选 → 82 个质量通过 → 仅用 Train 期形态预选 8 栋。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9464040" cy="450799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figures/sci_03_multibuilding_reg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80" y="1499616"/>
            <a:ext cx="7884160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22992" y="1463040"/>
            <a:ext cx="1389888" cy="4507992"/>
          </a:xfrm>
          <a:prstGeom prst="roundRect">
            <a:avLst>
              <a:gd name="adj" fmla="val 5921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5872" y="187452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10378440" y="239572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2C1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全部展示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424160" y="2816352"/>
            <a:ext cx="987552" cy="0"/>
          </a:xfrm>
          <a:prstGeom prst="line">
            <a:avLst/>
          </a:prstGeom>
          <a:noFill/>
          <a:ln w="12700">
            <a:solidFill>
              <a:srgbClr val="314B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42448" y="30632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442448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E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0442448" y="391363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442448" y="43434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E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0442448" y="47548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D9A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442448" y="5184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9EB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SCI-03 · buildings preserved in preselected frozen order; no sorting/deletion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SB-M08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SB-M09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权重在 Validation 冻结，Test 不参与选择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个候选权重在预先声明的 Validation 网格上选择；Test 只用于最终评价，不反馈到模型、权重或 tie-break。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8183880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figures/sci_04_validation_weight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476" y="1545336"/>
            <a:ext cx="7542784" cy="42428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79408" y="1508760"/>
            <a:ext cx="2578608" cy="4315968"/>
          </a:xfrm>
          <a:prstGeom prst="roundRect">
            <a:avLst>
              <a:gd name="adj" fmla="val 3191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53728" y="185623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37285E"/>
          </a:solidFill>
          <a:ln w="12700">
            <a:solidFill>
              <a:srgbClr val="37285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0" y="18973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E2D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TEST-TIME TUNING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9308592" y="2578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B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08592" y="29077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0.0 →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步长 0.1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354312" y="3767328"/>
            <a:ext cx="1527048" cy="0"/>
          </a:xfrm>
          <a:prstGeom prst="line">
            <a:avLst/>
          </a:prstGeom>
          <a:noFill/>
          <a:ln w="27940">
            <a:solidFill>
              <a:srgbClr val="6F4E9C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9710928" y="4023360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0" y="40645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FREEZE  wᵦ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314432" y="4434840"/>
            <a:ext cx="0" cy="484632"/>
          </a:xfrm>
          <a:prstGeom prst="line">
            <a:avLst/>
          </a:prstGeom>
          <a:noFill/>
          <a:ln w="20320">
            <a:solidFill>
              <a:srgbClr val="8291A1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308592" y="50474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C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12680" y="50749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8FA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only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SCI-04 · candidate grid = 11 weights · prior historical Test visibility means “pristine blind test” is not claimed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SB-M09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SB-M10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WORKFLOW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冻结流程明确了次日预测如何生成储能调度，但尚非现场部署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DB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这是可复现的 next-day operating sequence，而不是已在真实楼宇上线的控制系统。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615184" cy="3172968"/>
          </a:xfrm>
          <a:prstGeom prst="roundRect">
            <a:avLst>
              <a:gd name="adj" fmla="val 3147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933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8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已知历史负荷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25526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截至预测时刻可用的正滞后与日历状态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00984" y="3429000"/>
            <a:ext cx="146304" cy="0"/>
          </a:xfrm>
          <a:prstGeom prst="line">
            <a:avLst/>
          </a:prstGeom>
          <a:noFill/>
          <a:ln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783080"/>
            <a:ext cx="2615184" cy="3172968"/>
          </a:xfrm>
          <a:prstGeom prst="roundRect">
            <a:avLst>
              <a:gd name="adj" fmla="val 3147"/>
            </a:avLst>
          </a:prstGeom>
          <a:solidFill>
            <a:srgbClr val="0E1D2C"/>
          </a:solidFill>
          <a:ln w="10160">
            <a:solidFill>
              <a:srgbClr val="245D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933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8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生成次日预测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25526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DayWeek + LightGBM，使用已冻结 wᵦ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35624" y="3429000"/>
            <a:ext cx="146304" cy="0"/>
          </a:xfrm>
          <a:prstGeom prst="line">
            <a:avLst/>
          </a:prstGeom>
          <a:noFill/>
          <a:ln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1783080"/>
            <a:ext cx="2615184" cy="3172968"/>
          </a:xfrm>
          <a:prstGeom prst="roundRect">
            <a:avLst>
              <a:gd name="adj" fmla="val 3147"/>
            </a:avLst>
          </a:prstGeom>
          <a:solidFill>
            <a:srgbClr val="0E1D2C"/>
          </a:solidFill>
          <a:ln w="10160">
            <a:solidFill>
              <a:srgbClr val="245D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9933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3952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 24h 电池计划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325526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同一容量 / 功率 / SOC / 效率 / daily reset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70264" y="3429000"/>
            <a:ext cx="146304" cy="0"/>
          </a:xfrm>
          <a:prstGeom prst="line">
            <a:avLst/>
          </a:prstGeom>
          <a:noFill/>
          <a:ln w="20320">
            <a:solidFill>
              <a:srgbClr val="41677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0" y="1783080"/>
            <a:ext cx="2615184" cy="3172968"/>
          </a:xfrm>
          <a:prstGeom prst="roundRect">
            <a:avLst>
              <a:gd name="adj" fmla="val 3147"/>
            </a:avLst>
          </a:prstGeom>
          <a:solidFill>
            <a:srgbClr val="0E1D2C"/>
          </a:solidFill>
          <a:ln w="10160">
            <a:solidFill>
              <a:srgbClr val="2840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19933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88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8592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真实负荷后评估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08592" y="325526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4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MAE/RMSE + peak + Oracle-relative regret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7552" y="5413248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" y="5454396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REPEATABLE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2423160" y="541324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251D43"/>
          </a:solidFill>
          <a:ln w="12700">
            <a:solidFill>
              <a:srgbClr val="251D4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96312" y="5454396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FC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3657600" y="5413248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3A281D"/>
          </a:solidFill>
          <a:ln w="12700">
            <a:solidFill>
              <a:srgbClr val="3A281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54543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C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DEPLOYED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5532120" y="5431536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C6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工程价值：把 AI 预测、储能约束、决策评价连成一条可审计链。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SB-M10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SB-M11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创新不在基础预测器，而在把模型选择对齐储能决策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9DB0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的贡献是可审计的 decision-oriented framework，而不是把 LightGBM 或简单加权包装成新模型。</a:t>
            </a:r>
            <a:endParaRPr lang="en-US" sz="1240" dirty="0"/>
          </a:p>
        </p:txBody>
      </p:sp>
      <p:sp>
        <p:nvSpPr>
          <p:cNvPr id="6" name="Shape 4"/>
          <p:cNvSpPr/>
          <p:nvPr/>
        </p:nvSpPr>
        <p:spPr>
          <a:xfrm>
            <a:off x="685800" y="1490472"/>
            <a:ext cx="10826496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home/runner/work/zhichu-yunkong/zhichu-yunkong/outputs/phase13_1/presentation_assets/con_02_contribution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168" y="1536192"/>
            <a:ext cx="747776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597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asset: CON-02 · no first/world-first/SOTA/end-to-end deployment claim</a:t>
            </a:r>
            <a:endParaRPr lang="en-US" sz="67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SB-M11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SB-M12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89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676656" y="1115568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让预测评价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与最终储能决策对齐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BATTERY PEAK SHAVING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56832" y="1216152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0E1D2C"/>
          </a:solidFill>
          <a:ln w="10160">
            <a:solidFill>
              <a:srgbClr val="2946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1435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38074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预测误差 ≠ 决策价值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0" y="181051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 与 regret 回答不同问题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56832" y="2660904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0E1D2C"/>
          </a:solidFill>
          <a:ln w="10160">
            <a:solidFill>
              <a:srgbClr val="2946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288036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C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825496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 对齐选择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0" y="3255264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按储能 regret 冻结 wᵦ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56832" y="4105656"/>
            <a:ext cx="4663440" cy="1115568"/>
          </a:xfrm>
          <a:prstGeom prst="roundRect">
            <a:avLst>
              <a:gd name="adj" fmla="val 7377"/>
            </a:avLst>
          </a:prstGeom>
          <a:solidFill>
            <a:srgbClr val="0E1D2C"/>
          </a:solidFill>
          <a:ln w="10160">
            <a:solidFill>
              <a:srgbClr val="2946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4325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4270248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只做最终评价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8080" y="470001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8 栋 · 全部结果保留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3877056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8C8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预测模型不仅要“预测得准”，也要验证它是否支持更好的工程决策。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" y="5138928"/>
            <a:ext cx="2066544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51800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v1.0 · frozen evidence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13232" y="565099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7188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八栋固定办公建筑 · 单一未来 Test 月 · 24 h horizon · 无成本/碳/现场部署结论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F82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SB-M12 · 固定 8 栋办公建筑 · Validation 选规则 · Test 仅评估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829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SCOPE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建筑范围在结果评估前冻结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质量筛选 + Train-only 负荷形态覆盖，Validation/Test 模型或决策性能不参与建筑预选。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1527048"/>
            <a:ext cx="2468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7190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1,578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series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2084832"/>
            <a:ext cx="228600" cy="0"/>
          </a:xfrm>
          <a:prstGeom prst="line">
            <a:avLst/>
          </a:prstGeom>
          <a:noFill/>
          <a:ln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527048"/>
            <a:ext cx="2468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17190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61188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candidates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2084832"/>
            <a:ext cx="228600" cy="0"/>
          </a:xfrm>
          <a:prstGeom prst="line">
            <a:avLst/>
          </a:prstGeom>
          <a:noFill/>
          <a:ln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6208" y="1527048"/>
            <a:ext cx="24688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7190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40080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32520" y="2084832"/>
            <a:ext cx="228600" cy="0"/>
          </a:xfrm>
          <a:prstGeom prst="line">
            <a:avLst/>
          </a:prstGeom>
          <a:noFill/>
          <a:ln w="16510">
            <a:solidFill>
              <a:srgbClr val="A9B6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25128" y="1527048"/>
            <a:ext cx="2468880" cy="1115568"/>
          </a:xfrm>
          <a:prstGeom prst="roundRect">
            <a:avLst>
              <a:gd name="adj" fmla="val 7377"/>
            </a:avLst>
          </a:prstGeom>
          <a:solidFill>
            <a:srgbClr val="EAF5FF"/>
          </a:solidFill>
          <a:ln w="10160">
            <a:solidFill>
              <a:srgbClr val="A9D7F6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89720" y="1719072"/>
            <a:ext cx="1280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18972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offices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2953512"/>
            <a:ext cx="4709160" cy="2916936"/>
          </a:xfrm>
          <a:prstGeom prst="roundRect">
            <a:avLst>
              <a:gd name="adj" fmla="val 2821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218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冻结建筑顺序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Hog · Rolando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914400" y="41788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Hog · Lavon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914400" y="46542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Hog · Joey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914400" y="51297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Lamb · Caitlin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3044952" y="37033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Robin · Addie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3044952" y="41788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Lamb · Gerardo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3044952" y="465429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Hog · Alexis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3044952" y="51297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Hog · Byron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5623560" y="2953512"/>
            <a:ext cx="5925312" cy="2916936"/>
          </a:xfrm>
          <a:prstGeom prst="roundRect">
            <a:avLst>
              <a:gd name="adj" fmla="val 2821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3236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Train-only morphology features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73075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 mean load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8458200" y="373075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coefficient of variation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943600" y="4123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peak-to-average ratio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8458200" y="4123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peak–valley range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5943600" y="45171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lag-24 autocorrelation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8458200" y="45171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lag-168 autocorrelation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5943600" y="4910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weekday–weekend difference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8458200" y="491032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daily-profile variability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5943600" y="53035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4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 outlier fraction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525512" y="5504688"/>
            <a:ext cx="2084832" cy="292608"/>
          </a:xfrm>
          <a:prstGeom prst="roundRect">
            <a:avLst>
              <a:gd name="adj" fmla="val 18750"/>
            </a:avLst>
          </a:prstGeom>
          <a:solidFill>
            <a:srgbClr val="2D2548"/>
          </a:solidFill>
          <a:ln w="12700">
            <a:solidFill>
              <a:srgbClr val="2D254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98664" y="554583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D9C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Validation/Test performance used</a:t>
            </a:r>
            <a:endParaRPr lang="en-US" sz="790" dirty="0"/>
          </a:p>
        </p:txBody>
      </p:sp>
      <p:sp>
        <p:nvSpPr>
          <p:cNvPr id="46" name="Text 44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outputs/phase7/selected_buildings.json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open for “why only 8 / cherry-picking?”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PROTOCOL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因果特征与时间切分共同约束信息边界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h horizon；只使用预测时刻可获得的负荷历史与日历信息；Validation 选择，Test 最终评估。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873252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runner/work/zhichu-yunkong/zhichu-yunkong/outputs/phase13_1/architecture/doef_architecture_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028" y="1472184"/>
            <a:ext cx="7786624" cy="43799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82912" y="1444752"/>
            <a:ext cx="1947672" cy="4434840"/>
          </a:xfrm>
          <a:prstGeom prst="roundRect">
            <a:avLst>
              <a:gd name="adj" fmla="val 4225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980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信息边界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29800" y="22677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5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positive lags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9829800" y="26974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5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shifted history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9829800" y="31272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5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calendar state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9829800" y="35570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5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weather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9829800" y="39867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B5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target leakage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9784080" y="4773168"/>
            <a:ext cx="1536192" cy="292608"/>
          </a:xfrm>
          <a:prstGeom prst="roundRect">
            <a:avLst>
              <a:gd name="adj" fmla="val 18750"/>
            </a:avLst>
          </a:prstGeom>
          <a:solidFill>
            <a:srgbClr val="3B2B20"/>
          </a:solidFill>
          <a:ln w="12700">
            <a:solidFill>
              <a:srgbClr val="3B2B2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57232" y="481431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C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≠ pristine blind set</a:t>
            </a:r>
            <a:endParaRPr lang="en-US" sz="710" dirty="0"/>
          </a:p>
        </p:txBody>
      </p:sp>
      <p:sp>
        <p:nvSpPr>
          <p:cNvPr id="19" name="Text 16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ARCH-01 · prior Test visibility caveat retained</a:t>
            </a:r>
            <a:endParaRPr lang="en-US" sz="670" dirty="0"/>
          </a:p>
        </p:txBody>
      </p:sp>
      <p:sp>
        <p:nvSpPr>
          <p:cNvPr id="20" name="Text 17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leakage / chronology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MODELS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基础模型是对照与组件，不是被包装的创新点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只组合 DayWeek 与逐建筑 LightGBM；其他模型用于基线或受控对照。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1627632"/>
            <a:ext cx="2057400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465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715768" y="1627632"/>
            <a:ext cx="3017520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1746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/ input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733288" y="1627632"/>
            <a:ext cx="3017520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24728" y="1746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in benchmark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750808" y="1627632"/>
            <a:ext cx="1920240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2248" y="17465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claim?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8368" y="2066544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21762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Persistence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715768" y="2066544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2176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t−24 h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733288" y="2066544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2176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750808" y="2066544"/>
            <a:ext cx="1920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42248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58368" y="2560320"/>
            <a:ext cx="205740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26700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715768" y="2560320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7208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t−168 h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733288" y="2560320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24728" y="2670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750808" y="2560320"/>
            <a:ext cx="192024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42248" y="26700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58368" y="3054096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316382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DayWeek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715768" y="3054096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07208" y="3163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0.5·Day + 0.5·Week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5733288" y="3054096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24728" y="3163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component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750808" y="3054096"/>
            <a:ext cx="1920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42248" y="3163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58368" y="3547872"/>
            <a:ext cx="205740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" y="36576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2715768" y="3547872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07208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features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733288" y="3547872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24728" y="3657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DOEF component / baseline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8750808" y="3547872"/>
            <a:ext cx="192024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42248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58368" y="4041648"/>
            <a:ext cx="20574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41513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2715768" y="4041648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07208" y="4151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features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5733288" y="4041648"/>
            <a:ext cx="30175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4728" y="415137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Comparator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8750808" y="4041648"/>
            <a:ext cx="1920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42248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658368" y="4535424"/>
            <a:ext cx="205740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9808" y="4645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2715768" y="4535424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7208" y="4645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features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5733288" y="4535424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24728" y="4645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Comparator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8750808" y="4535424"/>
            <a:ext cx="192024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42248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658368" y="5029200"/>
            <a:ext cx="2057400" cy="493776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" y="51389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DOEF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2715768" y="5029200"/>
            <a:ext cx="3017520" cy="493776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07208" y="5138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wᵦ·LGBM+(1−wᵦ)·DayWeek</a:t>
            </a:r>
            <a:endParaRPr lang="en-US" sz="940" dirty="0"/>
          </a:p>
        </p:txBody>
      </p:sp>
      <p:sp>
        <p:nvSpPr>
          <p:cNvPr id="68" name="Shape 66"/>
          <p:cNvSpPr/>
          <p:nvPr/>
        </p:nvSpPr>
        <p:spPr>
          <a:xfrm>
            <a:off x="5733288" y="5029200"/>
            <a:ext cx="3017520" cy="493776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24728" y="5138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 frozen method</a:t>
            </a:r>
            <a:endParaRPr lang="en-US" sz="940" dirty="0"/>
          </a:p>
        </p:txBody>
      </p:sp>
      <p:sp>
        <p:nvSpPr>
          <p:cNvPr id="70" name="Shape 68"/>
          <p:cNvSpPr/>
          <p:nvPr/>
        </p:nvSpPr>
        <p:spPr>
          <a:xfrm>
            <a:off x="8750808" y="5029200"/>
            <a:ext cx="1920240" cy="493776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842248" y="5138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Framework</a:t>
            </a:r>
            <a:endParaRPr lang="en-US" sz="940" dirty="0"/>
          </a:p>
        </p:txBody>
      </p:sp>
      <p:sp>
        <p:nvSpPr>
          <p:cNvPr id="72" name="Shape 70"/>
          <p:cNvSpPr/>
          <p:nvPr/>
        </p:nvSpPr>
        <p:spPr>
          <a:xfrm>
            <a:off x="658368" y="5522976"/>
            <a:ext cx="205740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" y="5632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Peak-aware LGBM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2715768" y="5522976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07208" y="5632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experiment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5733288" y="5522976"/>
            <a:ext cx="301752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24728" y="5632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Rejected support</a:t>
            </a:r>
            <a:endParaRPr lang="en-US" sz="940" dirty="0"/>
          </a:p>
        </p:txBody>
      </p:sp>
      <p:sp>
        <p:nvSpPr>
          <p:cNvPr id="78" name="Shape 76"/>
          <p:cNvSpPr/>
          <p:nvPr/>
        </p:nvSpPr>
        <p:spPr>
          <a:xfrm>
            <a:off x="8750808" y="5522976"/>
            <a:ext cx="1920240" cy="493776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42248" y="56327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</a:t>
            </a:r>
            <a:endParaRPr lang="en-US" sz="940" dirty="0"/>
          </a:p>
        </p:txBody>
      </p:sp>
      <p:sp>
        <p:nvSpPr>
          <p:cNvPr id="80" name="Text 78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benchmark definitions · no model-family catalogue in main deck</a:t>
            </a:r>
            <a:endParaRPr lang="en-US" sz="670" dirty="0"/>
          </a:p>
        </p:txBody>
      </p:sp>
      <p:sp>
        <p:nvSpPr>
          <p:cNvPr id="81" name="Text 79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algorithm-component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DECISION MODEL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同一冻结电池约束保证方法间可比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所有预测方法进入完全相同的储能优化器；参数按每栋建筑 Train 期负荷尺度冻结。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713232" y="1709928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8745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59152" y="18653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mean daily energy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359152" y="22494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263640" y="1709928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8745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Pcharge / Pdischarge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18653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capacity per hour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909560" y="224942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13232" y="2935224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099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range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59152" y="3090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90%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359152" y="347472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kWh state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263640" y="2935224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3099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/ terminal SOC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9560" y="30906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/ 50%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7909560" y="3474720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reset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13232" y="4160520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3251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ηcharge / ηdischarge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59152" y="4315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0.94868 / 0.94868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2359152" y="470001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0.90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6263640" y="4160520"/>
            <a:ext cx="5184648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0160">
            <a:solidFill>
              <a:srgbClr val="E1E7ED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3251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09560" y="4315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daily peak shaving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7909560" y="470001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scipy.optimize.milp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2194560" y="5669280"/>
            <a:ext cx="7790688" cy="292608"/>
          </a:xfrm>
          <a:prstGeom prst="roundRect">
            <a:avLst>
              <a:gd name="adj" fmla="val 18750"/>
            </a:avLst>
          </a:prstGeom>
          <a:solidFill>
            <a:srgbClr val="EAF5FF"/>
          </a:solidFill>
          <a:ln w="12700">
            <a:solidFill>
              <a:srgbClr val="C8E5F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5710428"/>
            <a:ext cx="7644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72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1-hour interval: load energy kWh · dispatch power kW · capacity/SOC kWh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outputs/phase7/building_battery_configs.csv · same battery/optimizer for all forecast methods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physical constraint / unit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FORECAST RESULTS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完整预测指标用于核查，不替代下游决策评价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冻结八栋 Test 等权聚合；normalized metrics 均按每栋 Train mean load 归一化。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609344"/>
            <a:ext cx="2578608" cy="457200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72821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172968" y="1609344"/>
            <a:ext cx="1993392" cy="457200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7282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MAE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166360" y="1609344"/>
            <a:ext cx="1993392" cy="457200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7282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RMSE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159752" y="1609344"/>
            <a:ext cx="2176272" cy="457200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172821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regret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336024" y="1609344"/>
            <a:ext cx="1993392" cy="457200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9176" y="17282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reduction mean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4360" y="2066544"/>
            <a:ext cx="25786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1854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Persistence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06654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1854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.225885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166360" y="206654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1854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.430193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9752" y="2066544"/>
            <a:ext cx="21762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2904" y="218541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.162986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36024" y="206654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9176" y="21854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−1.878%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" y="2569464"/>
            <a:ext cx="2578608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268833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56946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883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.201578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256946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26883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.328414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59752" y="2569464"/>
            <a:ext cx="217627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32904" y="268833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.144323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36024" y="256946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09176" y="26883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3.085%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" y="3072384"/>
            <a:ext cx="25786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" y="319125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DayWeek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307238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191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.183478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66360" y="307238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39512" y="3191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.296621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59752" y="3072384"/>
            <a:ext cx="21762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32904" y="319125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.143019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336024" y="307238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09176" y="3191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4.907%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94360" y="3575304"/>
            <a:ext cx="2578608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369417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172968" y="357530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369417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.147338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66360" y="357530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39512" y="369417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.216942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159752" y="3575304"/>
            <a:ext cx="217627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32904" y="369417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.116127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336024" y="357530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09176" y="369417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94360" y="4078224"/>
            <a:ext cx="25786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" y="419709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172968" y="407822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46120" y="41970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.149781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166360" y="407822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9512" y="41970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.216751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159752" y="4078224"/>
            <a:ext cx="217627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32904" y="419709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.117534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336024" y="4078224"/>
            <a:ext cx="19933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09176" y="41970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0.453%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4360" y="4581144"/>
            <a:ext cx="2578608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" y="470001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172968" y="458114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46120" y="47000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.173604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166360" y="458114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39512" y="47000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.239211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159752" y="4581144"/>
            <a:ext cx="217627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32904" y="470001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.118740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9336024" y="458114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409176" y="470001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−24.482%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94360" y="5084064"/>
            <a:ext cx="2578608" cy="502920"/>
          </a:xfrm>
          <a:prstGeom prst="rect">
            <a:avLst/>
          </a:prstGeom>
          <a:solidFill>
            <a:srgbClr val="E8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67512" y="520293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DOEF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172968" y="5084064"/>
            <a:ext cx="1993392" cy="502920"/>
          </a:xfrm>
          <a:prstGeom prst="rect">
            <a:avLst/>
          </a:prstGeom>
          <a:solidFill>
            <a:srgbClr val="E8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46120" y="52029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.137970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166360" y="5084064"/>
            <a:ext cx="1993392" cy="502920"/>
          </a:xfrm>
          <a:prstGeom prst="rect">
            <a:avLst/>
          </a:prstGeom>
          <a:solidFill>
            <a:srgbClr val="E8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39512" y="52029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.207822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159752" y="5084064"/>
            <a:ext cx="2176272" cy="502920"/>
          </a:xfrm>
          <a:prstGeom prst="rect">
            <a:avLst/>
          </a:prstGeom>
          <a:solidFill>
            <a:srgbClr val="E8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32904" y="520293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.111929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336024" y="5084064"/>
            <a:ext cx="1993392" cy="502920"/>
          </a:xfrm>
          <a:prstGeom prst="rect">
            <a:avLst/>
          </a:prstGeom>
          <a:solidFill>
            <a:srgbClr val="E8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09176" y="520293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6.442%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94360" y="5586984"/>
            <a:ext cx="2578608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67512" y="570585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Peak-aware LGBM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172968" y="558698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46120" y="57058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.147587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5166360" y="558698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39512" y="57058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.217284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159752" y="5586984"/>
            <a:ext cx="217627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32904" y="570585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.116202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336024" y="5586984"/>
            <a:ext cx="1993392" cy="502920"/>
          </a:xfrm>
          <a:prstGeom prst="rect">
            <a:avLst/>
          </a:prstGeom>
          <a:solidFill>
            <a:srgbClr val="FAFCFD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409176" y="57058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1.129%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source: outputs/phase9/final_benchmark.csv · lower is better for normalized MAE/RMSE/regret</a:t>
            </a:r>
            <a:endParaRPr lang="en-US" sz="670" dirty="0"/>
          </a:p>
        </p:txBody>
      </p:sp>
      <p:sp>
        <p:nvSpPr>
          <p:cNvPr id="99" name="Text 97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full forecast table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DECISION RESULTS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决策指标必须连同范围与聚合口径一起解释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 与 median 可能给出完全不同的直觉；负例必须和有利统计一起展示。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3712464" cy="4517136"/>
          </a:xfrm>
          <a:prstGeom prst="roundRect">
            <a:avLst>
              <a:gd name="adj" fmla="val 2217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85623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为什么不能只看一个平均数？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peak reduction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88950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9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−24.48%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32688" y="35478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23744" y="288950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23744" y="35478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median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4224528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8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极端负例会强烈拖动 mean；因此报告必须同时给出 method / building / split / aggregation。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2688" y="5321808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452A23"/>
          </a:solidFill>
          <a:ln w="12700">
            <a:solidFill>
              <a:srgbClr val="452A2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3629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C0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 = −245.94%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1591056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6596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81344" y="1847088"/>
            <a:ext cx="1243584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965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 regret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24928" y="1847088"/>
            <a:ext cx="1335024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mean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759952" y="1847088"/>
            <a:ext cx="1335024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33104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median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094976" y="1847088"/>
            <a:ext cx="1335024" cy="438912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68128" y="1965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min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90288" y="2286000"/>
            <a:ext cx="159105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46888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2286000"/>
            <a:ext cx="124358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2468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.116127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24928" y="2286000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1.008%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59952" y="2286000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33104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5.057%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94976" y="2286000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8128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−41.192%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90288" y="2953512"/>
            <a:ext cx="159105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13639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81344" y="2953512"/>
            <a:ext cx="124358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3136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.117534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24928" y="2953512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136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0.453%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759952" y="2953512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33104" y="3136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4.588%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094976" y="2953512"/>
            <a:ext cx="13350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68128" y="31363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−44.357%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90288" y="3621024"/>
            <a:ext cx="1591056" cy="667512"/>
          </a:xfrm>
          <a:prstGeom prst="rect">
            <a:avLst/>
          </a:prstGeom>
          <a:solidFill>
            <a:srgbClr val="FFF1E8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80390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81344" y="3621024"/>
            <a:ext cx="1243584" cy="667512"/>
          </a:xfrm>
          <a:prstGeom prst="rect">
            <a:avLst/>
          </a:prstGeom>
          <a:solidFill>
            <a:srgbClr val="FFF1E8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38039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.118740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424928" y="3621024"/>
            <a:ext cx="1335024" cy="667512"/>
          </a:xfrm>
          <a:prstGeom prst="rect">
            <a:avLst/>
          </a:prstGeom>
          <a:solidFill>
            <a:srgbClr val="FFF1E8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0" y="3803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−24.482%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759952" y="3621024"/>
            <a:ext cx="1335024" cy="667512"/>
          </a:xfrm>
          <a:prstGeom prst="rect">
            <a:avLst/>
          </a:prstGeom>
          <a:solidFill>
            <a:srgbClr val="FFF1E8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33104" y="3803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4.821%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094976" y="3621024"/>
            <a:ext cx="1335024" cy="667512"/>
          </a:xfrm>
          <a:prstGeom prst="rect">
            <a:avLst/>
          </a:prstGeom>
          <a:solidFill>
            <a:srgbClr val="FFF1E8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68128" y="3803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−245.943%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90288" y="4288536"/>
            <a:ext cx="1591056" cy="667512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447141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DOEF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81344" y="4288536"/>
            <a:ext cx="1243584" cy="667512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54496" y="44714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.111929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424928" y="4288536"/>
            <a:ext cx="1335024" cy="667512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4471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6.442%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759952" y="4288536"/>
            <a:ext cx="1335024" cy="667512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33104" y="4471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5.629%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0094976" y="4288536"/>
            <a:ext cx="1335024" cy="667512"/>
          </a:xfrm>
          <a:prstGeom prst="rect">
            <a:avLst/>
          </a:prstGeom>
          <a:solidFill>
            <a:srgbClr val="EAF5FF"/>
          </a:solidFill>
          <a:ln w="6350">
            <a:solidFill>
              <a:srgbClr val="E0E7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68128" y="4471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−1.017%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outputs/phase9/final_benchmark.csv + decision metrics · peak reduction is not a universal scalar</a:t>
            </a:r>
            <a:endParaRPr lang="en-US" sz="670" dirty="0"/>
          </a:p>
        </p:txBody>
      </p:sp>
      <p:sp>
        <p:nvSpPr>
          <p:cNvPr id="69" name="Text 67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aggregation caveat / negative cases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SB-A07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MECHANISM TRACE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冻结调度轨迹只用于说明流程，不代表普遍表现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8 预先冻结的代表性 Test case；只作为“预测如何改变 realized grid load”的机制说明。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7827264" cy="4370832"/>
          </a:xfrm>
          <a:prstGeom prst="roundRect">
            <a:avLst>
              <a:gd name="adj" fmla="val 188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runner/work/zhichu-yunkong/zhichu-yunkong/outputs/phase13_1/figures/sci_05_storage_dispatch_froz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0" y="1609344"/>
            <a:ext cx="7640320" cy="429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04088" y="5193792"/>
            <a:ext cx="773582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5431536"/>
            <a:ext cx="6903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 a mechanism trace, not a universal performance claim; the case and values remain frozen.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8732520" y="1572768"/>
            <a:ext cx="2788920" cy="4370832"/>
          </a:xfrm>
          <a:prstGeom prst="roundRect">
            <a:avLst>
              <a:gd name="adj" fmla="val 2951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61704" y="190195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3B2B20"/>
          </a:solidFill>
          <a:ln w="12700">
            <a:solidFill>
              <a:srgbClr val="3B2B2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34856" y="194310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BACKUP ONLY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052560" y="25786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6C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预冻结 Test case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9052560" y="30540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6C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不代表普遍表现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9052560" y="352958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6C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不做 case reselection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9052560" y="400507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6C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不提取新数值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9052560" y="44805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B6C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不改变坐标/标签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frozen source: outputs/phase13_1/figures/sci_05_storage_dispatch_frozen.png · no value extraction or case reselection</a:t>
            </a:r>
            <a:endParaRPr lang="en-US" sz="67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dispatch mechanism question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SB-A08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SELECTION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逐建筑权重来自预先声明的 Validation 搜索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wᵦ = {0.0, 0.1, …, 1.0}；确定性 tie-break；Test 完全排除。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21792" y="1572768"/>
            <a:ext cx="6766560" cy="4306824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pic>
        <p:nvPicPr>
          <p:cNvPr id="9" name="Image 0" descr="/home/runner/work/zhichu-yunkong/zhichu-yunkong/outputs/phase13_1/figures/sci_04_validation_weight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43659"/>
            <a:ext cx="6693408" cy="376504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07808" y="1792224"/>
            <a:ext cx="1627632" cy="384048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62672" y="1892808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770" dirty="0"/>
          </a:p>
        </p:txBody>
      </p:sp>
      <p:sp>
        <p:nvSpPr>
          <p:cNvPr id="12" name="Shape 9"/>
          <p:cNvSpPr/>
          <p:nvPr/>
        </p:nvSpPr>
        <p:spPr>
          <a:xfrm>
            <a:off x="9235440" y="1792224"/>
            <a:ext cx="1152144" cy="384048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90304" y="189280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forecast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10387584" y="1792224"/>
            <a:ext cx="1152144" cy="384048"/>
          </a:xfrm>
          <a:prstGeom prst="rect">
            <a:avLst/>
          </a:prstGeom>
          <a:solidFill>
            <a:srgbClr val="182B3F"/>
          </a:solidFill>
          <a:ln w="12700">
            <a:solidFill>
              <a:srgbClr val="182B3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42448" y="189280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decision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7607808" y="2176272"/>
            <a:ext cx="1627632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62672" y="228600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Rolando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235440" y="2176272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90304" y="228600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0387584" y="2176272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42448" y="228600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.7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7607808" y="2606040"/>
            <a:ext cx="1627632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62672" y="271576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Lavon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9235440" y="2606040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90304" y="27157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10387584" y="2606040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42448" y="27157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7607808" y="3035808"/>
            <a:ext cx="1627632" cy="429768"/>
          </a:xfrm>
          <a:prstGeom prst="rect">
            <a:avLst/>
          </a:prstGeom>
          <a:solidFill>
            <a:srgbClr val="F0EBFA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662672" y="31455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Joey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9235440" y="3035808"/>
            <a:ext cx="1152144" cy="429768"/>
          </a:xfrm>
          <a:prstGeom prst="rect">
            <a:avLst/>
          </a:prstGeom>
          <a:solidFill>
            <a:srgbClr val="F0EBFA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90304" y="31455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10387584" y="3035808"/>
            <a:ext cx="1152144" cy="429768"/>
          </a:xfrm>
          <a:prstGeom prst="rect">
            <a:avLst/>
          </a:prstGeom>
          <a:solidFill>
            <a:srgbClr val="F0EBFA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442448" y="31455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7607808" y="3465576"/>
            <a:ext cx="1627632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62672" y="357530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Caitlin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9235440" y="3465576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90304" y="3575304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.4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10387584" y="3465576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442448" y="3575304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</a:t>
            </a:r>
            <a:endParaRPr lang="en-US" sz="880" dirty="0"/>
          </a:p>
        </p:txBody>
      </p:sp>
      <p:sp>
        <p:nvSpPr>
          <p:cNvPr id="40" name="Shape 37"/>
          <p:cNvSpPr/>
          <p:nvPr/>
        </p:nvSpPr>
        <p:spPr>
          <a:xfrm>
            <a:off x="7607808" y="3895344"/>
            <a:ext cx="1627632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662672" y="40050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Addie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9235440" y="3895344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290304" y="4005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10387584" y="3895344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442448" y="400507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7607808" y="4325112"/>
            <a:ext cx="1627632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62672" y="443484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Gerardo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9235440" y="4325112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90304" y="443484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10387584" y="4325112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442448" y="4434840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0" dirty="0"/>
          </a:p>
        </p:txBody>
      </p:sp>
      <p:sp>
        <p:nvSpPr>
          <p:cNvPr id="52" name="Shape 49"/>
          <p:cNvSpPr/>
          <p:nvPr/>
        </p:nvSpPr>
        <p:spPr>
          <a:xfrm>
            <a:off x="7607808" y="4754880"/>
            <a:ext cx="1627632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662672" y="486460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Alexis</a:t>
            </a:r>
            <a:endParaRPr lang="en-US" sz="880" dirty="0"/>
          </a:p>
        </p:txBody>
      </p:sp>
      <p:sp>
        <p:nvSpPr>
          <p:cNvPr id="54" name="Shape 51"/>
          <p:cNvSpPr/>
          <p:nvPr/>
        </p:nvSpPr>
        <p:spPr>
          <a:xfrm>
            <a:off x="9235440" y="4754880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290304" y="486460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10387584" y="4754880"/>
            <a:ext cx="1152144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442448" y="486460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.7</a:t>
            </a:r>
            <a:endParaRPr lang="en-US" sz="880" dirty="0"/>
          </a:p>
        </p:txBody>
      </p:sp>
      <p:sp>
        <p:nvSpPr>
          <p:cNvPr id="58" name="Shape 55"/>
          <p:cNvSpPr/>
          <p:nvPr/>
        </p:nvSpPr>
        <p:spPr>
          <a:xfrm>
            <a:off x="7607808" y="5184648"/>
            <a:ext cx="1627632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662672" y="529437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Byron</a:t>
            </a:r>
            <a:endParaRPr lang="en-US" sz="880" dirty="0"/>
          </a:p>
        </p:txBody>
      </p:sp>
      <p:sp>
        <p:nvSpPr>
          <p:cNvPr id="60" name="Shape 57"/>
          <p:cNvSpPr/>
          <p:nvPr/>
        </p:nvSpPr>
        <p:spPr>
          <a:xfrm>
            <a:off x="9235440" y="5184648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90304" y="529437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</a:t>
            </a:r>
            <a:endParaRPr lang="en-US" sz="880" dirty="0"/>
          </a:p>
        </p:txBody>
      </p:sp>
      <p:sp>
        <p:nvSpPr>
          <p:cNvPr id="62" name="Shape 59"/>
          <p:cNvSpPr/>
          <p:nvPr/>
        </p:nvSpPr>
        <p:spPr>
          <a:xfrm>
            <a:off x="10387584" y="5184648"/>
            <a:ext cx="1152144" cy="429768"/>
          </a:xfrm>
          <a:prstGeom prst="rect">
            <a:avLst/>
          </a:prstGeom>
          <a:solidFill>
            <a:srgbClr val="FAFCFD"/>
          </a:solidFill>
          <a:ln w="5715">
            <a:solidFill>
              <a:srgbClr val="E0E7E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442448" y="529437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</a:t>
            </a:r>
            <a:endParaRPr lang="en-US" sz="880" dirty="0"/>
          </a:p>
        </p:txBody>
      </p:sp>
      <p:sp>
        <p:nvSpPr>
          <p:cNvPr id="64" name="Shape 61"/>
          <p:cNvSpPr/>
          <p:nvPr/>
        </p:nvSpPr>
        <p:spPr>
          <a:xfrm>
            <a:off x="9144000" y="1362456"/>
            <a:ext cx="1984248" cy="292608"/>
          </a:xfrm>
          <a:prstGeom prst="roundRect">
            <a:avLst>
              <a:gd name="adj" fmla="val 18750"/>
            </a:avLst>
          </a:prstGeom>
          <a:solidFill>
            <a:srgbClr val="F0EBFA"/>
          </a:solidFill>
          <a:ln w="12700">
            <a:solidFill>
              <a:srgbClr val="D9CCEF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217152" y="1403604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F4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Joey: 0.6 → 0.3</a:t>
            </a:r>
            <a:endParaRPr lang="en-US" sz="880" dirty="0"/>
          </a:p>
        </p:txBody>
      </p:sp>
      <p:sp>
        <p:nvSpPr>
          <p:cNvPr id="66" name="Text 63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selected_weights.csv + SCI-04 · no interpolation between grid points</a:t>
            </a:r>
            <a:endParaRPr lang="en-US" sz="670" dirty="0"/>
          </a:p>
        </p:txBody>
      </p:sp>
      <p:sp>
        <p:nvSpPr>
          <p:cNvPr id="67" name="Text 64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full weight-selection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SB-A09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UNCERTAINTY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bootstrap 支持固定八栋建筑范围内的差异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paired building-level bootstrap；resampling unit = building；不扩展为跨建筑普遍显著性结论。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67512" y="1673352"/>
            <a:ext cx="7882128" cy="3273552"/>
          </a:xfrm>
          <a:prstGeom prst="roundRect">
            <a:avLst>
              <a:gd name="adj" fmla="val 2514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34440" y="3319272"/>
            <a:ext cx="6656832" cy="0"/>
          </a:xfrm>
          <a:prstGeom prst="line">
            <a:avLst/>
          </a:prstGeom>
          <a:noFill/>
          <a:ln w="16510">
            <a:solidFill>
              <a:srgbClr val="B9C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51624" y="2267712"/>
            <a:ext cx="0" cy="2084832"/>
          </a:xfrm>
          <a:prstGeom prst="line">
            <a:avLst/>
          </a:prstGeom>
          <a:noFill/>
          <a:ln w="15240">
            <a:solidFill>
              <a:srgbClr val="B35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0184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5035" y="3319272"/>
            <a:ext cx="3795134" cy="0"/>
          </a:xfrm>
          <a:prstGeom prst="line">
            <a:avLst/>
          </a:prstGeom>
          <a:noFill/>
          <a:ln w="63500">
            <a:solidFill>
              <a:srgbClr val="6F4E9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964286" y="3236976"/>
            <a:ext cx="164592" cy="164592"/>
          </a:xfrm>
          <a:prstGeom prst="ellipse">
            <a:avLst/>
          </a:prstGeom>
          <a:solidFill>
            <a:srgbClr val="0072B2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148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bootstrap interval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16230" y="259689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estimate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5376672" y="2148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remains below 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823960" y="1673352"/>
            <a:ext cx="2670048" cy="3273552"/>
          </a:xfrm>
          <a:prstGeom prst="roundRect">
            <a:avLst>
              <a:gd name="adj" fmla="val 3082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204825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25712" y="270662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resamples · seed 42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2571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7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−0.004198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25712" y="39319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 estimate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1832" y="52669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interval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51846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−0.006850 ,  −0.001719 ]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69680" y="5212080"/>
            <a:ext cx="2130552" cy="292608"/>
          </a:xfrm>
          <a:prstGeom prst="roundRect">
            <a:avLst>
              <a:gd name="adj" fmla="val 18750"/>
            </a:avLst>
          </a:prstGeom>
          <a:solidFill>
            <a:srgbClr val="FFF1E8"/>
          </a:solidFill>
          <a:ln w="12700">
            <a:solidFill>
              <a:srgbClr val="F0D6C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5253228"/>
            <a:ext cx="1984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35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fixed 8-building scope only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outputs/phase9_1/final_reporting_summary.json · no new resampling</a:t>
            </a:r>
            <a:endParaRPr lang="en-US" sz="67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uncertainty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SB-A10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REPRODUCIBILITY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报告公式与冻结预测逐值一致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identity audit：显式 DOEF 公式复算与冻结 Phase 8 ensemble_prediction 逐值对齐，不是新训练或独立重复实验。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5074920" cy="4279392"/>
          </a:xfrm>
          <a:prstGeom prst="roundRect">
            <a:avLst>
              <a:gd name="adj" fmla="val 1923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217627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wᵦ × LightGBM + (1 − wᵦ) × DayWeek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798064" y="29992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35844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Phase 8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B4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ensemble_prediction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20824" y="4974336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173A54"/>
          </a:solidFill>
          <a:ln w="12700">
            <a:solidFill>
              <a:srgbClr val="173A5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93976" y="5015484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C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IDENTITY AUDIT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1627632"/>
            <a:ext cx="5413248" cy="427939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15798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5,760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frozen predictions checked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42248" y="2157984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A7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 kW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42248" y="281635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absolute difference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520440"/>
            <a:ext cx="4187952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buildings × 720 Test hours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3708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definition = frozen prediction artifact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tolerance 1e−12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source: Phase 9.1 reporting summary · identity check only</a:t>
            </a:r>
            <a:endParaRPr lang="en-US" sz="67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lineage / reproducibility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92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SB-A11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3000" y="192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spc="100" kern="0" dirty="0">
                <a:solidFill>
                  <a:srgbClr val="7A8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FALSIFICATION</a:t>
            </a:r>
            <a:endParaRPr lang="en-US" sz="830" dirty="0"/>
          </a:p>
        </p:txBody>
      </p:sp>
      <p:sp>
        <p:nvSpPr>
          <p:cNvPr id="4" name="Shape 2"/>
          <p:cNvSpPr/>
          <p:nvPr/>
        </p:nvSpPr>
        <p:spPr>
          <a:xfrm>
            <a:off x="10561320" y="173736"/>
            <a:ext cx="896112" cy="292608"/>
          </a:xfrm>
          <a:prstGeom prst="roundRect">
            <a:avLst>
              <a:gd name="adj" fmla="val 18750"/>
            </a:avLst>
          </a:prstGeom>
          <a:solidFill>
            <a:srgbClr val="6F4E9C"/>
          </a:solidFill>
          <a:ln w="12700">
            <a:solidFill>
              <a:srgbClr val="6F4E9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34472" y="214884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ONLY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负结果被保留，但不用于 Test 后反向改选算法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Validation-selected robust variant 在 Test 上明显退化，因此被保留为负结果并排除出 DOEF v1.0。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5001768" cy="4315968"/>
          </a:xfrm>
          <a:prstGeom prst="roundRect">
            <a:avLst>
              <a:gd name="adj" fmla="val 1907"/>
            </a:avLst>
          </a:prstGeom>
          <a:solidFill>
            <a:srgbClr val="FFFFFF"/>
          </a:solidFill>
          <a:ln w="10160">
            <a:solidFill>
              <a:srgbClr val="E0E7EF"/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01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selection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λ = 0.5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3959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预先按 Validation 规则选出，随后进入 Test；没有因为 Test 结果差而换 λ。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05840" y="5029200"/>
            <a:ext cx="1609344" cy="292608"/>
          </a:xfrm>
          <a:prstGeom prst="roundRect">
            <a:avLst>
              <a:gd name="adj" fmla="val 18750"/>
            </a:avLst>
          </a:prstGeom>
          <a:solidFill>
            <a:srgbClr val="F0EBFA"/>
          </a:solidFill>
          <a:ln w="12700">
            <a:solidFill>
              <a:srgbClr val="DBD0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50703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F4E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selection integrity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971032" y="1572768"/>
            <a:ext cx="5532120" cy="4315968"/>
          </a:xfrm>
          <a:prstGeom prst="roundRect">
            <a:avLst>
              <a:gd name="adj" fmla="val 1907"/>
            </a:avLst>
          </a:prstGeom>
          <a:solidFill>
            <a:srgbClr val="0B192B"/>
          </a:solidFill>
          <a:ln w="10160">
            <a:solidFill>
              <a:srgbClr val="0B1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019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FC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mean regret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9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20.4635 kW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27648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 variant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11.1274 kW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823960" y="2990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9B8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7648" y="3721608"/>
            <a:ext cx="4498848" cy="0"/>
          </a:xfrm>
          <a:prstGeom prst="line">
            <a:avLst/>
          </a:prstGeom>
          <a:noFill/>
          <a:ln w="12700">
            <a:solidFill>
              <a:srgbClr val="3150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4096512"/>
            <a:ext cx="4480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结论：robust optimization 没有改善 Test，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8F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因此不进入 DOEF，不做 Test 后反向修正。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79792" y="5166360"/>
            <a:ext cx="2240280" cy="292608"/>
          </a:xfrm>
          <a:prstGeom prst="roundRect">
            <a:avLst>
              <a:gd name="adj" fmla="val 18750"/>
            </a:avLst>
          </a:prstGeom>
          <a:solidFill>
            <a:srgbClr val="452A23"/>
          </a:solidFill>
          <a:ln w="12700">
            <a:solidFill>
              <a:srgbClr val="452A2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5207508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FFC0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NEGATIVE RESULT RETAINED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566928" y="6153912"/>
            <a:ext cx="10744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97A2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Phase 5.7 negative result · robust λ=0.5 · no rerun</a:t>
            </a:r>
            <a:endParaRPr lang="en-US" sz="67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996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falsification / failed idea answer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8A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Competition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DOEF：让负荷预测服务于储能削峰决策</dc:title>
  <dc:subject>DOEF competition defense deck based on frozen Phase 13.2 storyboard</dc:subject>
  <dc:creator>OpenAI · Phase 13.3 presentation production</dc:creator>
  <cp:lastModifiedBy>OpenAI · Phase 13.3 presentation production</cp:lastModifiedBy>
  <cp:revision>1</cp:revision>
  <dcterms:created xsi:type="dcterms:W3CDTF">2026-09-03T07:19:33Z</dcterms:created>
  <dcterms:modified xsi:type="dcterms:W3CDTF">2026-09-03T07:19:33Z</dcterms:modified>
</cp:coreProperties>
</file>