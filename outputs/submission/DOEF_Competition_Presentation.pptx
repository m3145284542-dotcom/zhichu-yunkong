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b316bc41f4442ae" /><Relationship Type="http://schemas.openxmlformats.org/officeDocument/2006/relationships/extended-properties" Target="/docProps/app.xml" Id="R387ae20f3b234ca0" /><Relationship Type="http://schemas.openxmlformats.org/officeDocument/2006/relationships/officeDocument" Target="/ppt/presentation.xml" Id="Rf6c1c785e7024f1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5f07399c4404b89"/>
  </p:sldMasterIdLst>
  <p:notesMasterIdLst>
    <p:notesMasterId xmlns:r="http://schemas.openxmlformats.org/officeDocument/2006/relationships" r:id="Rdd63cefaed1e4d8b"/>
  </p:notesMasterIdLst>
  <p:sldIdLst>
    <p:sldId xmlns:r="http://schemas.openxmlformats.org/officeDocument/2006/relationships" id="256" r:id="R2dae92a152ef4a91"/>
    <p:sldId xmlns:r="http://schemas.openxmlformats.org/officeDocument/2006/relationships" id="257" r:id="Rfba85255a8384a5e"/>
    <p:sldId xmlns:r="http://schemas.openxmlformats.org/officeDocument/2006/relationships" id="258" r:id="Re7744601416d44fe"/>
    <p:sldId xmlns:r="http://schemas.openxmlformats.org/officeDocument/2006/relationships" id="259" r:id="R7c46ce9066db4722"/>
    <p:sldId xmlns:r="http://schemas.openxmlformats.org/officeDocument/2006/relationships" id="260" r:id="R09965e193beb4a31"/>
    <p:sldId xmlns:r="http://schemas.openxmlformats.org/officeDocument/2006/relationships" id="261" r:id="R97c0eb568bb74f49"/>
    <p:sldId xmlns:r="http://schemas.openxmlformats.org/officeDocument/2006/relationships" id="262" r:id="R418c50eb2c734c1f"/>
    <p:sldId xmlns:r="http://schemas.openxmlformats.org/officeDocument/2006/relationships" id="263" r:id="R22424f9c0cf0454b"/>
    <p:sldId xmlns:r="http://schemas.openxmlformats.org/officeDocument/2006/relationships" id="264" r:id="R77d9651e27864585"/>
    <p:sldId xmlns:r="http://schemas.openxmlformats.org/officeDocument/2006/relationships" id="265" r:id="Ra969b93117cf4955"/>
    <p:sldId xmlns:r="http://schemas.openxmlformats.org/officeDocument/2006/relationships" id="266" r:id="R0b06430c85054b4c"/>
    <p:sldId xmlns:r="http://schemas.openxmlformats.org/officeDocument/2006/relationships" id="267" r:id="Raa314482aebe4aef"/>
    <p:sldId xmlns:r="http://schemas.openxmlformats.org/officeDocument/2006/relationships" id="268" r:id="R503be3a13049463b"/>
    <p:sldId xmlns:r="http://schemas.openxmlformats.org/officeDocument/2006/relationships" id="269" r:id="R6fdc3841a4ba42e3"/>
    <p:sldId xmlns:r="http://schemas.openxmlformats.org/officeDocument/2006/relationships" id="270" r:id="R4bf385b8d5b444a9"/>
    <p:sldId xmlns:r="http://schemas.openxmlformats.org/officeDocument/2006/relationships" id="271" r:id="R1e66d75cb3c443ce"/>
    <p:sldId xmlns:r="http://schemas.openxmlformats.org/officeDocument/2006/relationships" id="272" r:id="Rf9386db3ed3d40d7"/>
    <p:sldId xmlns:r="http://schemas.openxmlformats.org/officeDocument/2006/relationships" id="273" r:id="R70178ffde87d4e59"/>
    <p:sldId xmlns:r="http://schemas.openxmlformats.org/officeDocument/2006/relationships" id="274" r:id="R5fb7b8d4b7104e39"/>
    <p:sldId xmlns:r="http://schemas.openxmlformats.org/officeDocument/2006/relationships" id="275" r:id="R7da65447288a46ea"/>
    <p:sldId xmlns:r="http://schemas.openxmlformats.org/officeDocument/2006/relationships" id="276" r:id="Rb8354670c10f4ad0"/>
    <p:sldId xmlns:r="http://schemas.openxmlformats.org/officeDocument/2006/relationships" id="277" r:id="Rbd75e6eb4cac4ad4"/>
    <p:sldId xmlns:r="http://schemas.openxmlformats.org/officeDocument/2006/relationships" id="278" r:id="R400621a38f9942c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55dcb0f05484996" /><Relationship Type="http://schemas.openxmlformats.org/officeDocument/2006/relationships/slideMaster" Target="/ppt/slideMasters/slideMaster1.xml" Id="R05f07399c4404b89" /><Relationship Type="http://schemas.openxmlformats.org/officeDocument/2006/relationships/notesMaster" Target="/ppt/notesMasters/notesMaster1.xml" Id="Rdd63cefaed1e4d8b" /><Relationship Type="http://schemas.openxmlformats.org/officeDocument/2006/relationships/presProps" Target="/ppt/presProps.xml" Id="R7ceab255863147f6" /><Relationship Type="http://schemas.openxmlformats.org/officeDocument/2006/relationships/viewProps" Target="/ppt/viewProps.xml" Id="R9f62efc57711461f" /><Relationship Type="http://schemas.openxmlformats.org/officeDocument/2006/relationships/tableStyles" Target="/ppt/tableStyles.xml" Id="R8514940b599b4899" /><Relationship Type="http://schemas.openxmlformats.org/officeDocument/2006/relationships/slide" Target="/ppt/slides/slide1.xml" Id="R2dae92a152ef4a91" /><Relationship Type="http://schemas.openxmlformats.org/officeDocument/2006/relationships/slide" Target="/ppt/slides/slide2.xml" Id="Rfba85255a8384a5e" /><Relationship Type="http://schemas.openxmlformats.org/officeDocument/2006/relationships/slide" Target="/ppt/slides/slide3.xml" Id="Re7744601416d44fe" /><Relationship Type="http://schemas.openxmlformats.org/officeDocument/2006/relationships/slide" Target="/ppt/slides/slide4.xml" Id="R7c46ce9066db4722" /><Relationship Type="http://schemas.openxmlformats.org/officeDocument/2006/relationships/slide" Target="/ppt/slides/slide5.xml" Id="R09965e193beb4a31" /><Relationship Type="http://schemas.openxmlformats.org/officeDocument/2006/relationships/slide" Target="/ppt/slides/slide6.xml" Id="R97c0eb568bb74f49" /><Relationship Type="http://schemas.openxmlformats.org/officeDocument/2006/relationships/slide" Target="/ppt/slides/slide7.xml" Id="R418c50eb2c734c1f" /><Relationship Type="http://schemas.openxmlformats.org/officeDocument/2006/relationships/slide" Target="/ppt/slides/slide8.xml" Id="R22424f9c0cf0454b" /><Relationship Type="http://schemas.openxmlformats.org/officeDocument/2006/relationships/slide" Target="/ppt/slides/slide9.xml" Id="R77d9651e27864585" /><Relationship Type="http://schemas.openxmlformats.org/officeDocument/2006/relationships/slide" Target="/ppt/slides/slide10.xml" Id="Ra969b93117cf4955" /><Relationship Type="http://schemas.openxmlformats.org/officeDocument/2006/relationships/slide" Target="/ppt/slides/slide11.xml" Id="R0b06430c85054b4c" /><Relationship Type="http://schemas.openxmlformats.org/officeDocument/2006/relationships/slide" Target="/ppt/slides/slide12.xml" Id="Raa314482aebe4aef" /><Relationship Type="http://schemas.openxmlformats.org/officeDocument/2006/relationships/slide" Target="/ppt/slides/slide13.xml" Id="R503be3a13049463b" /><Relationship Type="http://schemas.openxmlformats.org/officeDocument/2006/relationships/slide" Target="/ppt/slides/slide14.xml" Id="R6fdc3841a4ba42e3" /><Relationship Type="http://schemas.openxmlformats.org/officeDocument/2006/relationships/slide" Target="/ppt/slides/slide15.xml" Id="R4bf385b8d5b444a9" /><Relationship Type="http://schemas.openxmlformats.org/officeDocument/2006/relationships/slide" Target="/ppt/slides/slide16.xml" Id="R1e66d75cb3c443ce" /><Relationship Type="http://schemas.openxmlformats.org/officeDocument/2006/relationships/slide" Target="/ppt/slides/slide17.xml" Id="Rf9386db3ed3d40d7" /><Relationship Type="http://schemas.openxmlformats.org/officeDocument/2006/relationships/slide" Target="/ppt/slides/slide18.xml" Id="R70178ffde87d4e59" /><Relationship Type="http://schemas.openxmlformats.org/officeDocument/2006/relationships/slide" Target="/ppt/slides/slide19.xml" Id="R5fb7b8d4b7104e39" /><Relationship Type="http://schemas.openxmlformats.org/officeDocument/2006/relationships/slide" Target="/ppt/slides/slide20.xml" Id="R7da65447288a46ea" /><Relationship Type="http://schemas.openxmlformats.org/officeDocument/2006/relationships/slide" Target="/ppt/slides/slide21.xml" Id="Rb8354670c10f4ad0" /><Relationship Type="http://schemas.openxmlformats.org/officeDocument/2006/relationships/slide" Target="/ppt/slides/slide22.xml" Id="Rbd75e6eb4cac4ad4" /><Relationship Type="http://schemas.openxmlformats.org/officeDocument/2006/relationships/slide" Target="/ppt/slides/slide23.xml" Id="R400621a38f9942c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6a97b6f976b436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89b2a5bcd864ab2" /><Relationship Type="http://schemas.openxmlformats.org/officeDocument/2006/relationships/notesMaster" Target="/ppt/notesMasters/notesMaster1.xml" Id="Rc1f3b3291b704a5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365e9c013124b5a" /><Relationship Type="http://schemas.openxmlformats.org/officeDocument/2006/relationships/notesMaster" Target="/ppt/notesMasters/notesMaster1.xml" Id="R824660124ba8433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ff5a0c256bb4b33" /><Relationship Type="http://schemas.openxmlformats.org/officeDocument/2006/relationships/notesMaster" Target="/ppt/notesMasters/notesMaster1.xml" Id="Rff7ac8ce6b13454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71b9fa97a2d40d1" /><Relationship Type="http://schemas.openxmlformats.org/officeDocument/2006/relationships/notesMaster" Target="/ppt/notesMasters/notesMaster1.xml" Id="R3d76e4fdc656439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d27c24eaadb4902" /><Relationship Type="http://schemas.openxmlformats.org/officeDocument/2006/relationships/notesMaster" Target="/ppt/notesMasters/notesMaster1.xml" Id="Ra0f3bcfcce48423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50d4948feb84974" /><Relationship Type="http://schemas.openxmlformats.org/officeDocument/2006/relationships/notesMaster" Target="/ppt/notesMasters/notesMaster1.xml" Id="R49957e605fa24aa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dd0e4aee75e429a" /><Relationship Type="http://schemas.openxmlformats.org/officeDocument/2006/relationships/notesMaster" Target="/ppt/notesMasters/notesMaster1.xml" Id="R4ebbbd79decd4bd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f74485b95324acd" /><Relationship Type="http://schemas.openxmlformats.org/officeDocument/2006/relationships/notesMaster" Target="/ppt/notesMasters/notesMaster1.xml" Id="Rdef0cad722b34de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b36d246b3b74b5e" /><Relationship Type="http://schemas.openxmlformats.org/officeDocument/2006/relationships/notesMaster" Target="/ppt/notesMasters/notesMaster1.xml" Id="R75cabf03be064dc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abad6c8eb654195" /><Relationship Type="http://schemas.openxmlformats.org/officeDocument/2006/relationships/notesMaster" Target="/ppt/notesMasters/notesMaster1.xml" Id="R1f67d229874b4e2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609b9f45d2e4cae" /><Relationship Type="http://schemas.openxmlformats.org/officeDocument/2006/relationships/notesMaster" Target="/ppt/notesMasters/notesMaster1.xml" Id="R0527c240f08b4aa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5cc28f584c348b2" /><Relationship Type="http://schemas.openxmlformats.org/officeDocument/2006/relationships/notesMaster" Target="/ppt/notesMasters/notesMaster1.xml" Id="R42fb528e0c174b3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643d5d3c6c440fb" /><Relationship Type="http://schemas.openxmlformats.org/officeDocument/2006/relationships/notesMaster" Target="/ppt/notesMasters/notesMaster1.xml" Id="R060435d0a71646a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7a3de87722b4a3c" /><Relationship Type="http://schemas.openxmlformats.org/officeDocument/2006/relationships/notesMaster" Target="/ppt/notesMasters/notesMaster1.xml" Id="R16ba56eea189461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ae86cdd14eb4e70" /><Relationship Type="http://schemas.openxmlformats.org/officeDocument/2006/relationships/notesMaster" Target="/ppt/notesMasters/notesMaster1.xml" Id="R488d21b8f7a8406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ccdf0fef7564da0" /><Relationship Type="http://schemas.openxmlformats.org/officeDocument/2006/relationships/notesMaster" Target="/ppt/notesMasters/notesMaster1.xml" Id="Rc36b4d6b367d4d9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18f9f7dd7fbe45d4" /><Relationship Type="http://schemas.openxmlformats.org/officeDocument/2006/relationships/notesMaster" Target="/ppt/notesMasters/notesMaster1.xml" Id="R859d26ca31234533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890361e5e302491b" /><Relationship Type="http://schemas.openxmlformats.org/officeDocument/2006/relationships/notesMaster" Target="/ppt/notesMasters/notesMaster1.xml" Id="R74e08f436fb942e7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dff11174e0e04d3c" /><Relationship Type="http://schemas.openxmlformats.org/officeDocument/2006/relationships/notesMaster" Target="/ppt/notesMasters/notesMaster1.xml" Id="R4e412fdc143f415f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1f5835adde274a8e" /><Relationship Type="http://schemas.openxmlformats.org/officeDocument/2006/relationships/notesMaster" Target="/ppt/notesMasters/notesMaster1.xml" Id="R39551b14898d49b4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cc6c05f4bd884a7a" /><Relationship Type="http://schemas.openxmlformats.org/officeDocument/2006/relationships/notesMaster" Target="/ppt/notesMasters/notesMaster1.xml" Id="R48242a13737c4f3c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872c0e3296734fd7" /><Relationship Type="http://schemas.openxmlformats.org/officeDocument/2006/relationships/notesMaster" Target="/ppt/notesMasters/notesMaster1.xml" Id="R34a6ed5a95674eca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e3ca9ee210e64b88" /><Relationship Type="http://schemas.openxmlformats.org/officeDocument/2006/relationships/notesMaster" Target="/ppt/notesMasters/notesMaster1.xml" Id="Ra365773b11d34c2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开场定位：这是 AI + 储能决策问题。不要把 LightGBM 说成创新。过渡：既然预测服务于决策，传统预测指标是否真的能选出更好的储能方案？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用这一页制造核心张力。只说“在冻结项目范围内出现排序反转”，不说预测精度无关，也不把很小的差异升级为普遍因果机制。下一页解释预测如何进入调度链。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 AI 与电气评委建立共同心智模型：历史负荷→次日预测→受约束电池调度→真实削峰结果。概念图不是实验结果。过渡：既然下游目标不同，模型选择标准也要重新对齐。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这一页只讲一个改变：selection criterion。组件预测不变，电池约束不变。DOEF 不是联合训练、双层优化或新的 LightGBM。下一页给完整冻结信息流。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算法只解释一次。强调三段：Train 拟合组件；Validation 把候选权重送入同一电池优化，以 mean daily regret 选择并冻结；Test 只报告。Oracle 只作不可部署 hindsight 上界。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这是最强结果页。先落 6.36% 与 3.61%，再落 6/2/0。主动指出最差建筑 peak reduction 为 -1.017%，负结果没有被删。不要说 SOTA、普适最优、经济收益。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用“回答不同问题”化解 M02 的反转，避免讲成“峰时误差一定导致 regret”这种未经证明的普遍机制。核心句：预测指标仍然必要，但下游工程评价不能缺席。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用完整 8 栋反驳单楼/挑楼质疑。强调选楼不看 Validation/Test 性能，只基于质量和 Train 期形态。证据只支持固定范围的 multi-building robustness，不支持 unseen-building transfer。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这页专门防“你们是不是看 Test 调出来的？”权重只在 Validation 选，并在 Test 前冻结。也不要说 Test 从未被历史阶段看过，只能说 Phase 8/DOEF 选择不使用 Test。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把方法翻译成工程工作流：第二天怎么从历史数据走到调度。明确“repeatable workflow ≠ field deployment”，不声称工业实时验证。下一页提炼创新。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创新表述必须守边界：基础预测器不是创新，普通线性加权也不是创新。创新是 Validation 下游 regret 选权重 + 冻结信息边界 + 全八栋证据 + 同一储能评价链。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只收束，不引入新结果。最后一句：对储能削峰这样的下游任务，评价预测模型时应同时看预测误差和它支持的工程决策。停在这里，进入评委提问。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Q&amp;A：解释 296→82→8。强调模型成绩没有参与选楼。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35be9d6d87c447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b83aeba788b446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6ad8d557b24d9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584bc64ca5740d5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preserve="1">
  <p:cSld name="MAIN_DARK">
    <p:bg>
      <p:bgPr>
        <a:solidFill xmlns:a="http://schemas.openxmlformats.org/drawingml/2006/main">
          <a:srgbClr val="07111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510DCA7-9BB3-4329-82E2-C21B0F3B3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C7FF"/>
          </a:solidFill>
          <a:ln xmlns:a="http://schemas.openxmlformats.org/drawingml/2006/main" w="12700">
            <a:solidFill>
              <a:srgbClr val="24C7FF"/>
            </a:solidFill>
            <a:prstDash val="solid"/>
          </a:ln>
        </p:spPr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8E4CC765-7594-4EEA-AC9C-D0BE0D6421A0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6F8295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1002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>
  <p:cSld name="MAIN_LIGHT"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D7DE7AA-0FE5-48B6-81F2-00E080C60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FF"/>
          </a:solidFill>
          <a:ln xmlns:a="http://schemas.openxmlformats.org/drawingml/2006/main" w="12700">
            <a:solidFill>
              <a:srgbClr val="1677FF"/>
            </a:solidFill>
            <a:prstDash val="solid"/>
          </a:ln>
        </p:spPr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C9DEF395-1290-4684-8CD0-696FA11EFBB3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A98A8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1003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>
  <p:cSld name="APPENDIX"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06883F7-3232-4FD8-9F48-F0FC3B909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4E9C"/>
          </a:solidFill>
          <a:ln xmlns:a="http://schemas.openxmlformats.org/drawingml/2006/main" w="12700">
            <a:solidFill>
              <a:srgbClr val="6F4E9C"/>
            </a:solidFill>
            <a:prstDash val="solid"/>
          </a:ln>
        </p:spPr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249DD5B3-E52E-4873-A230-4185B2EE3EDB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A98A8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1004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307804dc3ea4c68" /><Relationship Type="http://schemas.openxmlformats.org/officeDocument/2006/relationships/slideLayout" Target="/ppt/slideLayouts/slideLayout1.xml" Id="Rc34772d622da4681" /><Relationship Type="http://schemas.openxmlformats.org/officeDocument/2006/relationships/slideLayout" Target="/ppt/slideLayouts/slideLayout2.xml" Id="Rb45dffc3da514b9e" /><Relationship Type="http://schemas.openxmlformats.org/officeDocument/2006/relationships/slideLayout" Target="/ppt/slideLayouts/slideLayout3.xml" Id="R3068a0caf50b4fb6" /><Relationship Type="http://schemas.openxmlformats.org/officeDocument/2006/relationships/slideLayout" Target="/ppt/slideLayouts/slideLayout4.xml" Id="Rf962ad5d3c754f49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851D5C60-2ABB-4618-99FE-2E96EDBDAF96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6F8295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null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34772d622da4681"/>
    <p:sldLayoutId xmlns:r="http://schemas.openxmlformats.org/officeDocument/2006/relationships" id="2147483650" r:id="Rb45dffc3da514b9e"/>
    <p:sldLayoutId xmlns:r="http://schemas.openxmlformats.org/officeDocument/2006/relationships" id="2147483651" r:id="R3068a0caf50b4fb6"/>
    <p:sldLayoutId xmlns:r="http://schemas.openxmlformats.org/officeDocument/2006/relationships" id="2147483652" r:id="Rf962ad5d3c754f49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eee7689787d4805" /><Relationship Type="http://schemas.openxmlformats.org/officeDocument/2006/relationships/notesSlide" Target="/ppt/notesSlides/notesSlide1.xml" Id="Rc6235a652e5a415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b33202728a643e8" /><Relationship Type="http://schemas.openxmlformats.org/officeDocument/2006/relationships/image" Target="/ppt/media/image.png" Id="R016514d0f8d5402f" /><Relationship Type="http://schemas.openxmlformats.org/officeDocument/2006/relationships/notesSlide" Target="/ppt/notesSlides/notesSlide2.xml" Id="Rb1e295d9be734db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f14263291cc4ca4" /><Relationship Type="http://schemas.openxmlformats.org/officeDocument/2006/relationships/image" Target="/ppt/media/image2.png" Id="R595227ae42a247b9" /><Relationship Type="http://schemas.openxmlformats.org/officeDocument/2006/relationships/notesSlide" Target="/ppt/notesSlides/notesSlide3.xml" Id="R7583d7613a4c488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baa2156862c4f77" /><Relationship Type="http://schemas.openxmlformats.org/officeDocument/2006/relationships/notesSlide" Target="/ppt/notesSlides/notesSlide4.xml" Id="Rbed7b6c82bfb4dd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903e231becf44a9" /><Relationship Type="http://schemas.openxmlformats.org/officeDocument/2006/relationships/image" Target="/ppt/media/image3.png" Id="R2e8b8b5dc4624385" /><Relationship Type="http://schemas.openxmlformats.org/officeDocument/2006/relationships/notesSlide" Target="/ppt/notesSlides/notesSlide5.xml" Id="Re393960767804c5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51751042e1541cd" /><Relationship Type="http://schemas.openxmlformats.org/officeDocument/2006/relationships/image" Target="/ppt/media/image4.png" Id="R87e5e3c92cce4b1c" /><Relationship Type="http://schemas.openxmlformats.org/officeDocument/2006/relationships/notesSlide" Target="/ppt/notesSlides/notesSlide6.xml" Id="Rf5d42bf7e31744f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4d6927b653e464f" /><Relationship Type="http://schemas.openxmlformats.org/officeDocument/2006/relationships/notesSlide" Target="/ppt/notesSlides/notesSlide7.xml" Id="Rc44ee15ffbe340f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966c0f89cae44bf" /><Relationship Type="http://schemas.openxmlformats.org/officeDocument/2006/relationships/image" Target="/ppt/media/image5.png" Id="R72039c52dc3b4b01" /><Relationship Type="http://schemas.openxmlformats.org/officeDocument/2006/relationships/notesSlide" Target="/ppt/notesSlides/notesSlide8.xml" Id="R6904ce49a32f42f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701960146f247d2" /><Relationship Type="http://schemas.openxmlformats.org/officeDocument/2006/relationships/image" Target="/ppt/media/image6.png" Id="Rc431c7f3c9a5426b" /><Relationship Type="http://schemas.openxmlformats.org/officeDocument/2006/relationships/notesSlide" Target="/ppt/notesSlides/notesSlide9.xml" Id="R16b65c03aa70480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3f46c7fa9df4fe9" /><Relationship Type="http://schemas.openxmlformats.org/officeDocument/2006/relationships/notesSlide" Target="/ppt/notesSlides/notesSlide10.xml" Id="Rf3b6f57ea6e04e1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06dd1faaefa4105" /><Relationship Type="http://schemas.openxmlformats.org/officeDocument/2006/relationships/image" Target="/ppt/media/image7.png" Id="R93f3eead64da4ec1" /><Relationship Type="http://schemas.openxmlformats.org/officeDocument/2006/relationships/notesSlide" Target="/ppt/notesSlides/notesSlide11.xml" Id="R7f55802d91c74c4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c362b1baef44f97" /><Relationship Type="http://schemas.openxmlformats.org/officeDocument/2006/relationships/notesSlide" Target="/ppt/notesSlides/notesSlide12.xml" Id="Rff423ea86e814aa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34513ede01114066" /><Relationship Type="http://schemas.openxmlformats.org/officeDocument/2006/relationships/notesSlide" Target="/ppt/notesSlides/notesSlide13.xml" Id="Rb53b501eb283400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048ec5197a8a45f1" /><Relationship Type="http://schemas.openxmlformats.org/officeDocument/2006/relationships/image" Target="/ppt/media/image8.png" Id="R821dafd5de5d40eb" /><Relationship Type="http://schemas.openxmlformats.org/officeDocument/2006/relationships/notesSlide" Target="/ppt/notesSlides/notesSlide14.xml" Id="R9a01bd3b99324da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15bd065dbbd9469c" /><Relationship Type="http://schemas.openxmlformats.org/officeDocument/2006/relationships/notesSlide" Target="/ppt/notesSlides/notesSlide15.xml" Id="R877ec1c4d1cf4bee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3df5f30b7db04b50" /><Relationship Type="http://schemas.openxmlformats.org/officeDocument/2006/relationships/notesSlide" Target="/ppt/notesSlides/notesSlide16.xml" Id="Ra883dab3b3d64a39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11c75d2e0d4d4dd7" /><Relationship Type="http://schemas.openxmlformats.org/officeDocument/2006/relationships/notesSlide" Target="/ppt/notesSlides/notesSlide17.xml" Id="R2b03645fb29d4678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91746f1c6a8845b1" /><Relationship Type="http://schemas.openxmlformats.org/officeDocument/2006/relationships/notesSlide" Target="/ppt/notesSlides/notesSlide18.xml" Id="R64409a440b9c463d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e44382fcff884be1" /><Relationship Type="http://schemas.openxmlformats.org/officeDocument/2006/relationships/image" Target="/ppt/media/image9.png" Id="R7c29cee20ec44629" /><Relationship Type="http://schemas.openxmlformats.org/officeDocument/2006/relationships/notesSlide" Target="/ppt/notesSlides/notesSlide19.xml" Id="R7c1f3db09c4144f2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7cca4af0458a47dc" /><Relationship Type="http://schemas.openxmlformats.org/officeDocument/2006/relationships/image" Target="/ppt/media/image10.png" Id="R39dacc34f0bc448e" /><Relationship Type="http://schemas.openxmlformats.org/officeDocument/2006/relationships/notesSlide" Target="/ppt/notesSlides/notesSlide20.xml" Id="Rcb926890c3a64139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82758d8ab3774046" /><Relationship Type="http://schemas.openxmlformats.org/officeDocument/2006/relationships/notesSlide" Target="/ppt/notesSlides/notesSlide21.xml" Id="R411d3bf5866a44b7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1be4756263da4571" /><Relationship Type="http://schemas.openxmlformats.org/officeDocument/2006/relationships/notesSlide" Target="/ppt/notesSlides/notesSlide22.xml" Id="R3ee2de1b250d4e73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f6b2d4ac6def4f6f" /><Relationship Type="http://schemas.openxmlformats.org/officeDocument/2006/relationships/notesSlide" Target="/ppt/notesSlides/notesSlide23.xml" Id="R31f2b040e4774308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E04AB53-9167-4575-925D-7A6D26587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24C7FF"/>
                </a:solidFill>
                <a:latin typeface="Arial"/>
                <a:ea typeface="Arial"/>
                <a:cs typeface="Arial"/>
              </a:rPr>
              <a:t>DOEF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ED7A911-33A2-486C-9B59-0B1AD8130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890A7"/>
                </a:solidFill>
                <a:latin typeface="Arial"/>
                <a:ea typeface="Arial"/>
                <a:cs typeface="Arial"/>
              </a:rPr>
              <a:t>作品介绍</a:t>
            </a:r>
            <a:endParaRPr sz="83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0C57779F-65D8-43C3-83B0-7A354903C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143000"/>
            <a:ext cx="310896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900" b="1" spc="100">
                <a:solidFill>
                  <a:srgbClr val="24C7FF"/>
                </a:solidFill>
                <a:latin typeface="Arial"/>
                <a:ea typeface="Arial"/>
                <a:cs typeface="Arial"/>
              </a:rPr>
              <a:t>DOEF</a:t>
            </a:r>
            <a:endParaRPr sz="49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F071D547-DFF0-4DC7-A192-53607F4B9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993392"/>
            <a:ext cx="5852160" cy="1417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 sz="340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让负荷预测服务于</a:t>
            </a:r>
            <a:endParaRPr sz="3400"/>
          </a:p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 sz="340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储能削峰决策</a:t>
            </a:r>
            <a:endParaRPr sz="34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017DC02C-E93C-4195-88BA-BEBAE24B1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3657600"/>
            <a:ext cx="51206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B6C5D2"/>
                </a:solidFill>
                <a:latin typeface="Microsoft YaHei"/>
                <a:ea typeface="Microsoft YaHei"/>
                <a:cs typeface="Microsoft YaHei"/>
              </a:rPr>
              <a:t>面向储能决策的集成负荷预测方法</a:t>
            </a:r>
            <a:endParaRPr sz="16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18015E4C-CBD0-476D-B8EA-73D9AF156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1170432"/>
            <a:ext cx="4709160" cy="4297680"/>
          </a:xfrm>
          <a:prstGeom xmlns:a="http://schemas.openxmlformats.org/drawingml/2006/main" prst="roundRect">
            <a:avLst>
              <a:gd name="adj" fmla="val 2553"/>
            </a:avLst>
          </a:prstGeom>
          <a:solidFill xmlns:a="http://schemas.openxmlformats.org/drawingml/2006/main">
            <a:srgbClr val="0D1F33">
              <a:alpha val="98000"/>
            </a:srgbClr>
          </a:solidFill>
          <a:ln xmlns:a="http://schemas.openxmlformats.org/drawingml/2006/main" w="12700">
            <a:solidFill>
              <a:srgbClr val="1D3A57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18115F3C-D115-42EE-9395-183E58692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965960"/>
            <a:ext cx="932688" cy="9326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5E00">
              <a:alpha val="18000"/>
            </a:srgbClr>
          </a:solidFill>
          <a:ln xmlns:a="http://schemas.openxmlformats.org/drawingml/2006/main" w="25400">
            <a:solidFill>
              <a:srgbClr val="D55E00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88536A3E-669B-4810-B661-74C1C0FE3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2212848"/>
            <a:ext cx="74980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D55E00"/>
                </a:solidFill>
                <a:latin typeface="Arial"/>
                <a:ea typeface="Arial"/>
                <a:cs typeface="Arial"/>
              </a:rPr>
              <a:t>24h</a:t>
            </a:r>
            <a:endParaRPr sz="12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8E308CC9-7C3A-4EDB-AD6B-3E39F0C99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3090672"/>
            <a:ext cx="120700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负荷预测</a:t>
            </a:r>
            <a:endParaRPr sz="110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FAE9E6F1-39FA-40C6-9B84-4D3C9EFF3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2208" y="1965960"/>
            <a:ext cx="932688" cy="9326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F4E9C">
              <a:alpha val="18000"/>
            </a:srgbClr>
          </a:solidFill>
          <a:ln xmlns:a="http://schemas.openxmlformats.org/drawingml/2006/main" w="25400">
            <a:solidFill>
              <a:srgbClr val="6F4E9C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17C7E9CF-BF90-46F1-B8A9-5C18DE48C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3648" y="2212848"/>
            <a:ext cx="74980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6F4E9C"/>
                </a:solidFill>
                <a:latin typeface="Arial"/>
                <a:ea typeface="Arial"/>
                <a:cs typeface="Arial"/>
              </a:rPr>
              <a:t>BESS</a:t>
            </a:r>
            <a:endParaRPr sz="12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ED34332A-4F55-45B1-A790-AAF151902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5048" y="3090672"/>
            <a:ext cx="120700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约束调度</a:t>
            </a:r>
            <a:endParaRPr sz="110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7E9D8401-48F3-428D-ADB6-126E8A620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1965960"/>
            <a:ext cx="932688" cy="9326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C7FF">
              <a:alpha val="18000"/>
            </a:srgbClr>
          </a:solidFill>
          <a:ln xmlns:a="http://schemas.openxmlformats.org/drawingml/2006/main" w="25400">
            <a:solidFill>
              <a:srgbClr val="24C7FF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4CA62C9A-57E0-4CDA-8FC7-4899DF09E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0112" y="2212848"/>
            <a:ext cx="74980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24C7FF"/>
                </a:solidFill>
                <a:latin typeface="Arial"/>
                <a:ea typeface="Arial"/>
                <a:cs typeface="Arial"/>
              </a:rPr>
              <a:t>PEAK</a:t>
            </a:r>
            <a:endParaRPr sz="12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D080034A-E610-45A9-A9C0-4E7F0EC42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1512" y="3090672"/>
            <a:ext cx="120700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实际削峰</a:t>
            </a:r>
            <a:endParaRPr sz="11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0F2052B6-0324-4969-87BD-0675ED9C8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7576" y="2432304"/>
            <a:ext cx="40233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54728C"/>
            </a:solidFill>
            <a:prstDash val="solid"/>
            <a:headEnd type="none"/>
            <a:tailEnd type="triangle"/>
          </a:ln>
        </p:spPr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49B1024F-B742-4C0E-991F-4F8E4D24E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4040" y="2432304"/>
            <a:ext cx="40233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54728C"/>
            </a:solidFill>
            <a:prstDash val="solid"/>
            <a:headEnd type="none"/>
            <a:tailEnd type="triangle"/>
          </a:ln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A568EC2E-FAEF-4D6F-9378-61D08AA88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9168" y="4608576"/>
            <a:ext cx="0" cy="16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32647D">
                <a:alpha val="65000"/>
              </a:srgbClr>
            </a:solidFill>
            <a:prstDash val="solid"/>
          </a:ln>
        </p:spPr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A62F8EB7-8EE9-4932-9B4C-3EFE74D8E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0064" y="4460128"/>
            <a:ext cx="0" cy="46148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32647D">
                <a:alpha val="65000"/>
              </a:srgbClr>
            </a:solidFill>
            <a:prstDash val="solid"/>
          </a:ln>
        </p:spPr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144E96A3-5ECB-4475-A948-931B67AA5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408208"/>
            <a:ext cx="0" cy="56532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32647D">
                <a:alpha val="65000"/>
              </a:srgbClr>
            </a:solidFill>
            <a:prstDash val="solid"/>
          </a:ln>
        </p:spPr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5BA0B999-C035-401D-83C5-3AF6F1E2B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856" y="4486577"/>
            <a:ext cx="0" cy="40859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32647D">
                <a:alpha val="65000"/>
              </a:srgbClr>
            </a:solidFill>
            <a:prstDash val="solid"/>
          </a:ln>
        </p:spPr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FAAEA82E-2C3D-4BB3-A705-775481940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2752" y="4572876"/>
            <a:ext cx="0" cy="2359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32647D">
                <a:alpha val="65000"/>
              </a:srgbClr>
            </a:solidFill>
            <a:prstDash val="solid"/>
          </a:ln>
        </p:spPr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C0FD53E5-D205-467C-A408-8FF2B3B0D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3648" y="4438391"/>
            <a:ext cx="0" cy="50496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32647D">
                <a:alpha val="65000"/>
              </a:srgbClr>
            </a:solidFill>
            <a:prstDash val="solid"/>
          </a:ln>
        </p:spPr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226AC98B-4EA2-4DE4-AA41-A51248EEC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4544" y="4414569"/>
            <a:ext cx="0" cy="55260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24C7FF">
                <a:alpha val="95000"/>
              </a:srgbClr>
            </a:solidFill>
            <a:prstDash val="solid"/>
          </a:ln>
        </p:spPr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38B933F3-31B0-4277-8798-26CB658B1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4516899"/>
            <a:ext cx="0" cy="34794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24C7FF">
                <a:alpha val="95000"/>
              </a:srgbClr>
            </a:solidFill>
            <a:prstDash val="solid"/>
          </a:ln>
        </p:spPr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C7B3E7F4-FF17-4D21-8EC6-94C0F7542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6336" y="4538310"/>
            <a:ext cx="0" cy="30512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24C7FF">
                <a:alpha val="95000"/>
              </a:srgbClr>
            </a:solidFill>
            <a:prstDash val="solid"/>
          </a:ln>
        </p:spPr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9680CEA9-B673-4DC2-B63F-EB92726B4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7232" y="4422057"/>
            <a:ext cx="0" cy="53763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24C7FF">
                <a:alpha val="95000"/>
              </a:srgbClr>
            </a:solidFill>
            <a:prstDash val="solid"/>
          </a:ln>
        </p:spPr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4778560A-6DBE-4091-B2C5-6170EF445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8128" y="4427088"/>
            <a:ext cx="0" cy="52756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24C7FF">
                <a:alpha val="95000"/>
              </a:srgbClr>
            </a:solidFill>
            <a:prstDash val="solid"/>
          </a:ln>
        </p:spPr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5BD95876-63A9-4483-AE4B-D4D9241EB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9024" y="4550131"/>
            <a:ext cx="0" cy="28148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24C7FF">
                <a:alpha val="95000"/>
              </a:srgbClr>
            </a:solidFill>
            <a:prstDash val="solid"/>
          </a:ln>
        </p:spPr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0A26FA02-0CE6-4C74-822A-D645D867E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0" y="4505974"/>
            <a:ext cx="0" cy="36979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24C7FF">
                <a:alpha val="95000"/>
              </a:srgbClr>
            </a:solidFill>
            <a:prstDash val="solid"/>
          </a:ln>
        </p:spPr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7BD51C6C-36CE-448D-BD5F-CFFD33CAC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5472" y="3803904"/>
            <a:ext cx="3584448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173A54"/>
          </a:solidFill>
          <a:ln xmlns:a="http://schemas.openxmlformats.org/drawingml/2006/main" w="12700">
            <a:solidFill>
              <a:srgbClr val="173A54">
                <a:alpha val="0"/>
              </a:srgbClr>
            </a:solidFill>
            <a:prstDash val="solid"/>
          </a:ln>
        </p:spPr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7BFDC313-871E-4C05-A62E-E26F80985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8624" y="3845052"/>
            <a:ext cx="343814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24C7FF"/>
                </a:solidFill>
                <a:latin typeface="Microsoft YaHei"/>
                <a:ea typeface="Microsoft YaHei"/>
                <a:cs typeface="Microsoft YaHei"/>
              </a:rPr>
              <a:t>负荷预测与削峰调度</a:t>
            </a:r>
            <a:endParaRPr sz="1100"/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246D1409-69D7-4829-AA2C-A78985E24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0608" y="5095875"/>
            <a:ext cx="37033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20">
                <a:solidFill>
                  <a:srgbClr val="9EB3C5"/>
                </a:solidFill>
                <a:latin typeface="Microsoft YaHei"/>
                <a:ea typeface="Microsoft YaHei"/>
                <a:cs typeface="Microsoft YaHei"/>
              </a:rPr>
              <a:t>24 小时超前预测 → 电池调度 → 实际峰值评价</a:t>
            </a:r>
            <a:endParaRPr sz="1120"/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F01C639C-3755-4EB8-9DF7-79B65FE74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5989320"/>
            <a:ext cx="37490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20">
                <a:solidFill>
                  <a:srgbClr val="647B90"/>
                </a:solidFill>
                <a:latin typeface="Microsoft YaHei"/>
                <a:ea typeface="Microsoft YaHei"/>
                <a:cs typeface="Microsoft YaHei"/>
              </a:rPr>
              <a:t>全球校园人工智能算法精英大赛 · AI+能源</a:t>
            </a:r>
            <a:endParaRPr sz="820"/>
          </a:p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4E21477B-36C7-45AA-A8FD-17F89BE06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6F8295"/>
                </a:solidFill>
                <a:latin typeface="Microsoft YaHei"/>
                <a:ea typeface="Microsoft YaHei"/>
                <a:cs typeface="Microsoft YaHei"/>
              </a:rPr>
              <a:t>智储云控 · DOEF | 8 栋办公建筑仿真实验</a:t>
            </a:r>
            <a:endParaRPr sz="750"/>
          </a:p>
        </p:txBody>
      </p:sp>
      <p:sp>
        <p:nvSpPr>
          <p:cNvPr id="37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C6F83E1D-4F17-4C17-8E69-B6737347060D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6F8295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8304752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7F43A19-C3BB-4631-A0F1-2E940F74E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6F4E9C"/>
                </a:solidFill>
                <a:latin typeface="Arial"/>
                <a:ea typeface="Arial"/>
                <a:cs typeface="Arial"/>
              </a:rPr>
              <a:t>DOEF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6F7A518-C33C-4084-87E9-8622F8862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A8897"/>
                </a:solidFill>
                <a:latin typeface="Arial"/>
                <a:ea typeface="Arial"/>
                <a:cs typeface="Arial"/>
              </a:rPr>
              <a:t>研究问题</a:t>
            </a:r>
            <a:endParaRPr sz="83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36431A9-E2A7-42A4-8743-026862948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75488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预测精度与削峰效果的排序差异</a:t>
            </a:r>
            <a:endParaRPr sz="25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39847255-66E3-4861-80D0-A6208E419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98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5C6873"/>
                </a:solidFill>
                <a:latin typeface="Microsoft YaHei"/>
                <a:ea typeface="Microsoft YaHei"/>
                <a:cs typeface="Microsoft YaHei"/>
              </a:rPr>
              <a:t>八建筑测试结果中，XGBoost 的 RMSE 略低于 LightGBM，决策后悔值却略高。</a:t>
            </a:r>
            <a:endParaRPr sz="124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9C17CB29-0D1A-4286-B87F-9A21E4A82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490472"/>
            <a:ext cx="8366760" cy="4425696"/>
          </a:xfrm>
          <a:prstGeom xmlns:a="http://schemas.openxmlformats.org/drawingml/2006/main" prst="roundRect">
            <a:avLst>
              <a:gd name="adj" fmla="val 18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2E8F0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pic>
        <p:nvPicPr>
          <p:cNvPr id="3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6514d0f8d5402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32180" y="1545336"/>
            <a:ext cx="7672832" cy="4315968"/>
          </a:xfrm>
          <a:prstGeom xmlns:a="http://schemas.openxmlformats.org/drawingml/2006/main" prst="rect">
            <a:avLst/>
          </a:prstGeom>
        </p:spPr>
      </p:pic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F8E5EECE-4924-404C-ADF3-32F92EBD5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7152" y="1490472"/>
            <a:ext cx="2395728" cy="4425696"/>
          </a:xfrm>
          <a:prstGeom xmlns:a="http://schemas.openxmlformats.org/drawingml/2006/main" prst="roundRect">
            <a:avLst>
              <a:gd name="adj" fmla="val 3435"/>
            </a:avLst>
          </a:prstGeom>
          <a:solidFill xmlns:a="http://schemas.openxmlformats.org/drawingml/2006/main">
            <a:srgbClr val="0B192B"/>
          </a:solidFill>
          <a:ln xmlns:a="http://schemas.openxmlformats.org/drawingml/2006/main" w="10160">
            <a:solidFill>
              <a:srgbClr val="0B192B"/>
            </a:solidFill>
            <a:prstDash val="solid"/>
          </a:ln>
        </p:spPr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324A4940-5089-4CA3-BB03-A37EEC2FA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1472" y="1783080"/>
            <a:ext cx="1737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24C7FF"/>
                </a:solidFill>
                <a:latin typeface="Microsoft YaHei"/>
                <a:ea typeface="Microsoft YaHei"/>
                <a:cs typeface="Microsoft YaHei"/>
              </a:rPr>
              <a:t>指标排序差异</a:t>
            </a:r>
            <a:endParaRPr sz="11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EA9CB911-0827-4FEC-9886-506B3C4ED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1472" y="2240280"/>
            <a:ext cx="10058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AFC4D6"/>
                </a:solidFill>
                <a:latin typeface="Arial"/>
                <a:ea typeface="Arial"/>
                <a:cs typeface="Arial"/>
              </a:rPr>
              <a:t>RMSE</a:t>
            </a:r>
            <a:endParaRPr sz="130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2E29E2DA-3AEE-4E06-8989-A9F6F4C8E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1472" y="2532888"/>
            <a:ext cx="173736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009E73"/>
                </a:solidFill>
                <a:latin typeface="Arial"/>
                <a:ea typeface="Arial"/>
                <a:cs typeface="Arial"/>
              </a:rPr>
              <a:t>XGBoost</a:t>
            </a:r>
            <a:endParaRPr sz="1800"/>
          </a:p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009E73"/>
                </a:solidFill>
                <a:latin typeface="Arial"/>
                <a:ea typeface="Arial"/>
                <a:cs typeface="Arial"/>
              </a:rPr>
              <a:t>0.216751</a:t>
            </a:r>
            <a:endParaRPr sz="18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5B172939-E2E1-4F0F-9284-47259BAF0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1472" y="3346704"/>
            <a:ext cx="16459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30" b="1">
                <a:solidFill>
                  <a:srgbClr val="AFC4D6"/>
                </a:solidFill>
                <a:latin typeface="Arial"/>
                <a:ea typeface="Arial"/>
                <a:cs typeface="Arial"/>
              </a:rPr>
              <a:t>Decision regret</a:t>
            </a:r>
            <a:endParaRPr sz="113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B6617D79-BBC7-4C3B-A450-A768F4CA3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1472" y="3657600"/>
            <a:ext cx="173736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D55E00"/>
                </a:solidFill>
                <a:latin typeface="Arial"/>
                <a:ea typeface="Arial"/>
                <a:cs typeface="Arial"/>
              </a:rPr>
              <a:t>LightGBM</a:t>
            </a:r>
            <a:endParaRPr sz="1800"/>
          </a:p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D55E00"/>
                </a:solidFill>
                <a:latin typeface="Arial"/>
                <a:ea typeface="Arial"/>
                <a:cs typeface="Arial"/>
              </a:rPr>
              <a:t>0.116127</a:t>
            </a:r>
            <a:endParaRPr sz="1800"/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7B41614C-E8DC-49C4-8182-908971AA0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4040" y="4517136"/>
            <a:ext cx="178308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31506A"/>
            </a:solidFill>
            <a:prstDash val="solid"/>
          </a:ln>
        </p:spPr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2BED58EF-E484-4F24-8203-D1FE0F5FC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1472" y="4736592"/>
            <a:ext cx="1719072" cy="6766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7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预测指标与调度指标</a:t>
            </a:r>
            <a:endParaRPr sz="1170"/>
          </a:p>
          <a:p xmlns:a="http://schemas.openxmlformats.org/drawingml/2006/main">
            <a:pPr marL="0" indent="0">
              <a:buNone/>
            </a:pPr>
            <a:r>
              <a:rPr sz="117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需要分别评价</a:t>
            </a:r>
            <a:endParaRPr sz="1170"/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2202E54E-6A1C-47DF-8F6D-30D4F0538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0032" y="5504688"/>
            <a:ext cx="1993392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40291B"/>
          </a:solidFill>
          <a:ln xmlns:a="http://schemas.openxmlformats.org/drawingml/2006/main" w="12700">
            <a:solidFill>
              <a:srgbClr val="73513C">
                <a:alpha val="0"/>
              </a:srgbClr>
            </a:solidFill>
            <a:prstDash val="solid"/>
          </a:ln>
        </p:spPr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B1EAB108-C959-4C25-8F77-2F857AE2F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3184" y="5545836"/>
            <a:ext cx="184708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30" b="1">
                <a:solidFill>
                  <a:srgbClr val="FFC494"/>
                </a:solidFill>
                <a:latin typeface="Microsoft YaHei"/>
                <a:ea typeface="Microsoft YaHei"/>
                <a:cs typeface="Microsoft YaHei"/>
              </a:rPr>
              <a:t>预测精度仍是必要指标</a:t>
            </a:r>
            <a:endParaRPr sz="73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40D94169-DD77-4B43-800C-90B85E9CC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153912"/>
            <a:ext cx="107442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70">
                <a:solidFill>
                  <a:srgbClr val="97A2AD"/>
                </a:solidFill>
                <a:latin typeface="Arial"/>
                <a:ea typeface="Arial"/>
                <a:cs typeface="Arial"/>
              </a:rPr>
              <a:t>Frozen source: outputs/phase13_1/figures/sci_01_forecast_decision_mismatch.png · Phase 9 final benchmark</a:t>
            </a:r>
            <a:endParaRPr sz="67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93763273-9715-4BDE-9F61-4F7F582D0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8996A4"/>
                </a:solidFill>
                <a:latin typeface="Microsoft YaHei"/>
                <a:ea typeface="Microsoft YaHei"/>
                <a:cs typeface="Microsoft YaHei"/>
              </a:rPr>
              <a:t>智储云控 · DOEF | 8 栋办公建筑仿真实验</a:t>
            </a:r>
            <a:endParaRPr sz="75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CBADA919-DC95-4E0B-8209-018019FC9508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A98A8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0998690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74E5695-3F9C-4BC0-A4CF-07603E266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24C7FF"/>
                </a:solidFill>
                <a:latin typeface="Arial"/>
                <a:ea typeface="Arial"/>
                <a:cs typeface="Arial"/>
              </a:rPr>
              <a:t>DOEF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53604B7-CEEE-4F17-A5BB-394AE004B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890A7"/>
                </a:solidFill>
                <a:latin typeface="Arial"/>
                <a:ea typeface="Arial"/>
                <a:cs typeface="Arial"/>
              </a:rPr>
              <a:t>技术路线</a:t>
            </a:r>
            <a:endParaRPr sz="83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A1FC20D-BC57-4CB8-823C-074FE5331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75488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负荷预测驱动储能调度</a:t>
            </a:r>
            <a:endParaRPr sz="26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B0F1A7C7-9A36-468A-AC67-303D1DBA2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98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9DB0C2"/>
                </a:solidFill>
                <a:latin typeface="Microsoft YaHei"/>
                <a:ea typeface="Microsoft YaHei"/>
                <a:cs typeface="Microsoft YaHei"/>
              </a:rPr>
              <a:t>预测生成充放电计划，再用实际负荷计算调度后的取电峰值。</a:t>
            </a:r>
            <a:endParaRPr sz="124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46D22BC3-06E3-4FC7-A2BE-10AD2384F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545336"/>
            <a:ext cx="10808208" cy="3968496"/>
          </a:xfrm>
          <a:prstGeom xmlns:a="http://schemas.openxmlformats.org/drawingml/2006/main" prst="roundRect">
            <a:avLst>
              <a:gd name="adj" fmla="val 2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2E8F0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pic>
        <p:nvPicPr>
          <p:cNvPr id="3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5227ae42a247b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669032" y="1600200"/>
            <a:ext cx="6860032" cy="3858768"/>
          </a:xfrm>
          <a:prstGeom xmlns:a="http://schemas.openxmlformats.org/drawingml/2006/main" prst="rect">
            <a:avLst/>
          </a:prstGeom>
        </p:spPr>
      </p:pic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604997DF-21F2-4809-BC60-90CBE891D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1691640"/>
            <a:ext cx="6537960" cy="3931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9A7582CD-7BF8-4328-8079-ED9F8CD45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1773936"/>
            <a:ext cx="65379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18212B"/>
                </a:solidFill>
                <a:latin typeface="Arial"/>
                <a:ea typeface="Arial"/>
                <a:cs typeface="Arial"/>
              </a:rPr>
              <a:t>Prediction is an input to the decision — not the endpoint</a:t>
            </a:r>
            <a:endParaRPr sz="1300"/>
          </a:p>
        </p:txBody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DF3F0938-1C20-4C50-85E8-A56B0084F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596128"/>
            <a:ext cx="2212848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173A54"/>
          </a:solidFill>
          <a:ln xmlns:a="http://schemas.openxmlformats.org/drawingml/2006/main" w="12700">
            <a:solidFill>
              <a:srgbClr val="173A54">
                <a:alpha val="0"/>
              </a:srgbClr>
            </a:solidFill>
            <a:prstDash val="solid"/>
          </a:ln>
        </p:spPr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9128087C-29B0-4573-9AC4-BBAC5975E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" y="5637276"/>
            <a:ext cx="206654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24C7FF"/>
                </a:solidFill>
                <a:latin typeface="Microsoft YaHei"/>
                <a:ea typeface="Microsoft YaHei"/>
                <a:cs typeface="Microsoft YaHei"/>
              </a:rPr>
              <a:t>流程示意</a:t>
            </a:r>
            <a:endParaRPr sz="85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0EC48636-23B1-4344-AEC3-85765F80C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3552" y="5605272"/>
            <a:ext cx="77266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80">
                <a:solidFill>
                  <a:srgbClr val="A9B9C8"/>
                </a:solidFill>
                <a:latin typeface="Microsoft YaHei"/>
                <a:ea typeface="Microsoft YaHei"/>
                <a:cs typeface="Microsoft YaHei"/>
              </a:rPr>
              <a:t>各预测方法共享电池约束和优化器，比较预测输入对调度结果的影响。</a:t>
            </a:r>
            <a:endParaRPr sz="108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9AC0D965-1F39-4F9B-8466-AA45D7DE3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153912"/>
            <a:ext cx="107442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70">
                <a:solidFill>
                  <a:srgbClr val="597087"/>
                </a:solidFill>
                <a:latin typeface="Arial"/>
                <a:ea typeface="Arial"/>
                <a:cs typeface="Arial"/>
              </a:rPr>
              <a:t>Conceptual asset: outputs/phase13_1/presentation_assets/con_01_prediction_decision_bridge.png</a:t>
            </a:r>
            <a:endParaRPr sz="67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5E149FAE-010C-4659-82D4-43B1D20C8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6F8295"/>
                </a:solidFill>
                <a:latin typeface="Microsoft YaHei"/>
                <a:ea typeface="Microsoft YaHei"/>
                <a:cs typeface="Microsoft YaHei"/>
              </a:rPr>
              <a:t>智储云控 · DOEF | 8 栋办公建筑仿真实验</a:t>
            </a:r>
            <a:endParaRPr sz="75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CF12A20E-57DF-4552-92BC-CF3FDE8DE9EA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6F8295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17286312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E651A8A-F35B-41D9-9A11-2A70C5A43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24C7FF"/>
                </a:solidFill>
                <a:latin typeface="Arial"/>
                <a:ea typeface="Arial"/>
                <a:cs typeface="Arial"/>
              </a:rPr>
              <a:t>DOEF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E40E2ED-3231-4C81-8A74-59618B486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890A7"/>
                </a:solidFill>
                <a:latin typeface="Arial"/>
                <a:ea typeface="Arial"/>
                <a:cs typeface="Arial"/>
              </a:rPr>
              <a:t>方法设计</a:t>
            </a:r>
            <a:endParaRPr sz="83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5A07D731-7E6F-43DE-BAF1-74C52EA3F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75488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以验证集削峰表现选择融合权重</a:t>
            </a:r>
            <a:endParaRPr sz="25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E768FB4A-7ED1-4EC1-AAD4-923521B67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98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9DB0C2"/>
                </a:solidFill>
                <a:latin typeface="Microsoft YaHei"/>
                <a:ea typeface="Microsoft YaHei"/>
                <a:cs typeface="Microsoft YaHei"/>
              </a:rPr>
              <a:t>预测分量与电池约束保持一致，融合权重依据验证集决策后悔值选择。</a:t>
            </a:r>
            <a:endParaRPr sz="124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F7B81958-21A2-4FFF-B0BE-B3341CE7F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828800"/>
            <a:ext cx="15087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527087"/>
                </a:solidFill>
                <a:latin typeface="Microsoft YaHei"/>
                <a:ea typeface="Microsoft YaHei"/>
                <a:cs typeface="Microsoft YaHei"/>
              </a:rPr>
              <a:t>传统预测选择</a:t>
            </a:r>
            <a:endParaRPr sz="115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2A641ED1-DA2C-4980-BDA1-FD00E0C1E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1720" y="1682496"/>
            <a:ext cx="2724912" cy="658368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D2C"/>
          </a:solidFill>
          <a:ln xmlns:a="http://schemas.openxmlformats.org/drawingml/2006/main" w="10160">
            <a:solidFill>
              <a:srgbClr val="284059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5B2E7E2D-141B-4011-893D-B77C1C1D3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872" y="1874520"/>
            <a:ext cx="257860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F8FBFF"/>
                </a:solidFill>
                <a:latin typeface="Arial"/>
                <a:ea typeface="Arial"/>
                <a:cs typeface="Arial"/>
              </a:rPr>
              <a:t>Forecast</a:t>
            </a:r>
            <a:endParaRPr sz="115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8E7B4D00-FD42-46B5-8031-DC4EF030B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3208" y="2011680"/>
            <a:ext cx="1920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466078"/>
            </a:solidFill>
            <a:prstDash val="solid"/>
            <a:headEnd type="none"/>
            <a:tailEnd type="triangle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4E96810D-DB51-4445-A0F8-8A777E657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2664" y="1682496"/>
            <a:ext cx="2724912" cy="658368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D2C"/>
          </a:solidFill>
          <a:ln xmlns:a="http://schemas.openxmlformats.org/drawingml/2006/main" w="10160">
            <a:solidFill>
              <a:srgbClr val="284059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34CDDAF5-5224-4B5F-8A6C-7A6E3BD67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5816" y="1874520"/>
            <a:ext cx="257860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F8FBFF"/>
                </a:solidFill>
                <a:latin typeface="Arial"/>
                <a:ea typeface="Arial"/>
                <a:cs typeface="Arial"/>
              </a:rPr>
              <a:t>MAE / RMSE</a:t>
            </a:r>
            <a:endParaRPr sz="115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91946A6E-E5C6-466F-8E1C-BF4EE9143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4152" y="2011680"/>
            <a:ext cx="1920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27087"/>
            </a:solidFill>
            <a:prstDash val="solid"/>
            <a:headEnd type="none"/>
            <a:tailEnd type="triangle"/>
          </a:ln>
        </p:spPr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F52CE62A-D3D6-4270-8C85-A1E4EC11A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608" y="1682496"/>
            <a:ext cx="2724912" cy="658368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02338"/>
          </a:solidFill>
          <a:ln xmlns:a="http://schemas.openxmlformats.org/drawingml/2006/main" w="10160">
            <a:solidFill>
              <a:srgbClr val="527087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03D75CAE-C700-4971-A545-12DCFA464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1874520"/>
            <a:ext cx="257860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B7C5D0"/>
                </a:solidFill>
                <a:latin typeface="Arial"/>
                <a:ea typeface="Arial"/>
                <a:cs typeface="Arial"/>
              </a:rPr>
              <a:t>Select</a:t>
            </a:r>
            <a:endParaRPr sz="115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41337DF1-6418-445D-BCD7-0DE11C329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6920" y="2505456"/>
            <a:ext cx="14173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527087"/>
                </a:solidFill>
                <a:latin typeface="Microsoft YaHei"/>
                <a:ea typeface="Microsoft YaHei"/>
                <a:cs typeface="Microsoft YaHei"/>
              </a:rPr>
              <a:t>预测误差最小</a:t>
            </a:r>
            <a:endParaRPr sz="95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D8A85F40-2845-4C60-9BC3-3B03E072D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730752"/>
            <a:ext cx="15087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6F4E9C"/>
                </a:solidFill>
                <a:latin typeface="Microsoft YaHei"/>
                <a:ea typeface="Microsoft YaHei"/>
                <a:cs typeface="Microsoft YaHei"/>
              </a:rPr>
              <a:t>DOEF 选择</a:t>
            </a:r>
            <a:endParaRPr sz="115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8DB11113-D507-4AD9-B4C7-6DD90D980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1720" y="3584448"/>
            <a:ext cx="1979676" cy="658368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D2C"/>
          </a:solidFill>
          <a:ln xmlns:a="http://schemas.openxmlformats.org/drawingml/2006/main" w="10160">
            <a:solidFill>
              <a:srgbClr val="284059"/>
            </a:solidFill>
            <a:prstDash val="solid"/>
          </a:ln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A5D41DFD-50EB-4159-9A27-274434B5F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872" y="3776472"/>
            <a:ext cx="183337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F8FBFF"/>
                </a:solidFill>
                <a:latin typeface="Arial"/>
                <a:ea typeface="Arial"/>
                <a:cs typeface="Arial"/>
              </a:rPr>
              <a:t>Forecast</a:t>
            </a:r>
            <a:endParaRPr sz="115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B5E8EFCD-4AB3-435F-81DC-F99DFC182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7972" y="3913632"/>
            <a:ext cx="1920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466078"/>
            </a:solidFill>
            <a:prstDash val="solid"/>
            <a:headEnd type="none"/>
            <a:tailEnd type="triangle"/>
          </a:ln>
        </p:spPr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8BDC1ED2-DD61-4C7D-BDE0-5C806762F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7428" y="3584448"/>
            <a:ext cx="1979676" cy="658368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D2C"/>
          </a:solidFill>
          <a:ln xmlns:a="http://schemas.openxmlformats.org/drawingml/2006/main" w="10160">
            <a:solidFill>
              <a:srgbClr val="284059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AA3A3ED4-ED1E-40C0-A634-977A87AB0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0580" y="3776472"/>
            <a:ext cx="183337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F8FBFF"/>
                </a:solidFill>
                <a:latin typeface="Arial"/>
                <a:ea typeface="Arial"/>
                <a:cs typeface="Arial"/>
              </a:rPr>
              <a:t>Battery dispatch</a:t>
            </a:r>
            <a:endParaRPr sz="115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E7B2A85F-B67F-44F1-8A55-8D89D1802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3913632"/>
            <a:ext cx="1920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466078"/>
            </a:solidFill>
            <a:prstDash val="solid"/>
            <a:headEnd type="none"/>
            <a:tailEnd type="triangle"/>
          </a:ln>
        </p:spPr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541928C5-D4E5-484E-A5AE-BF0FFC495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3136" y="3584448"/>
            <a:ext cx="1979676" cy="658368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D2C"/>
          </a:solidFill>
          <a:ln xmlns:a="http://schemas.openxmlformats.org/drawingml/2006/main" w="10160">
            <a:solidFill>
              <a:srgbClr val="284059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A30210DB-A9DC-42E4-AC57-6F58C9807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6288" y="3776472"/>
            <a:ext cx="183337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F8FBFF"/>
                </a:solidFill>
                <a:latin typeface="Arial"/>
                <a:ea typeface="Arial"/>
                <a:cs typeface="Arial"/>
              </a:rPr>
              <a:t>Decision regret</a:t>
            </a:r>
            <a:endParaRPr sz="1150"/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5A0283E2-C38B-43C7-B0FA-92D68B651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9388" y="3913632"/>
            <a:ext cx="1920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F4E9C"/>
            </a:solidFill>
            <a:prstDash val="solid"/>
            <a:headEnd type="none"/>
            <a:tailEnd type="triangle"/>
          </a:ln>
        </p:spPr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B3BFD03A-08C9-405D-8B20-99196AC5C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8844" y="3584448"/>
            <a:ext cx="1979676" cy="658368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A2740"/>
          </a:solidFill>
          <a:ln xmlns:a="http://schemas.openxmlformats.org/drawingml/2006/main" w="10160">
            <a:solidFill>
              <a:srgbClr val="6F4E9C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29D5D2C6-625F-4119-A43F-B473C5BD2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1996" y="3776472"/>
            <a:ext cx="183337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D8CCFF"/>
                </a:solidFill>
                <a:latin typeface="Arial"/>
                <a:ea typeface="Arial"/>
                <a:cs typeface="Arial"/>
              </a:rPr>
              <a:t>FREEZE  wᵦ</a:t>
            </a:r>
            <a:endParaRPr sz="115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083FDB7A-2CA9-4FF4-A9FB-C6549FB4E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6920" y="4407408"/>
            <a:ext cx="14173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6F4E9C"/>
                </a:solidFill>
                <a:latin typeface="Microsoft YaHei"/>
                <a:ea typeface="Microsoft YaHei"/>
                <a:cs typeface="Microsoft YaHei"/>
              </a:rPr>
              <a:t>决策 regret 最小</a:t>
            </a:r>
            <a:endParaRPr sz="950"/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F54506FF-AABB-4EF7-94B5-10DAF2C8D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264408"/>
            <a:ext cx="101498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34057"/>
            </a:solidFill>
            <a:prstDash val="solid"/>
          </a:ln>
        </p:spPr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D9B8034E-19B9-491B-BA8D-4A4CFB68F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9352" y="5504688"/>
            <a:ext cx="4297680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251D43"/>
          </a:solidFill>
          <a:ln xmlns:a="http://schemas.openxmlformats.org/drawingml/2006/main" w="12700">
            <a:solidFill>
              <a:srgbClr val="5F45A8">
                <a:alpha val="0"/>
              </a:srgbClr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EA81FDC2-A252-4E58-B5A0-CAB12EEF1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2504" y="5545836"/>
            <a:ext cx="415137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20" b="1">
                <a:solidFill>
                  <a:srgbClr val="D9CCFF"/>
                </a:solidFill>
                <a:latin typeface="Microsoft YaHei"/>
                <a:ea typeface="Microsoft YaHei"/>
                <a:cs typeface="Microsoft YaHei"/>
              </a:rPr>
              <a:t>权重选择依据：验证集决策后悔值</a:t>
            </a:r>
            <a:endParaRPr sz="1020"/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3ECBC646-7502-4AAB-BBAD-40B5C71FF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2112" y="5925312"/>
            <a:ext cx="5715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20">
                <a:solidFill>
                  <a:srgbClr val="8298AA"/>
                </a:solidFill>
                <a:latin typeface="Microsoft YaHei"/>
                <a:ea typeface="Microsoft YaHei"/>
                <a:cs typeface="Microsoft YaHei"/>
              </a:rPr>
              <a:t>预测器与优化器分别运行，权重在验证集确定</a:t>
            </a:r>
            <a:endParaRPr sz="1020"/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96ACB309-54B5-40CB-9010-29EEEF90D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6F8295"/>
                </a:solidFill>
                <a:latin typeface="Microsoft YaHei"/>
                <a:ea typeface="Microsoft YaHei"/>
                <a:cs typeface="Microsoft YaHei"/>
              </a:rPr>
              <a:t>智储云控 · DOEF | 8 栋办公建筑仿真实验</a:t>
            </a:r>
            <a:endParaRPr sz="750"/>
          </a:p>
        </p:txBody>
      </p:sp>
      <p:sp>
        <p:nvSpPr>
          <p:cNvPr id="34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A1E7D7C8-F5FD-401F-B04A-0D8DEB8BF184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6F8295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206895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A337AB8-FBD1-4DFD-BC62-5C83EDC81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6F4E9C"/>
                </a:solidFill>
                <a:latin typeface="Arial"/>
                <a:ea typeface="Arial"/>
                <a:cs typeface="Arial"/>
              </a:rPr>
              <a:t>DOEF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452DD67-91E7-4645-8F46-B59C5C42D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A8897"/>
                </a:solidFill>
                <a:latin typeface="Arial"/>
                <a:ea typeface="Arial"/>
                <a:cs typeface="Arial"/>
              </a:rPr>
              <a:t>DOEF 方法</a:t>
            </a:r>
            <a:endParaRPr sz="83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0BE2916E-7541-4789-83DE-895CA832E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75488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DOEF：周期基线与 LightGBM 融合</a:t>
            </a:r>
            <a:endParaRPr sz="25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8D089A25-A62E-4EBF-B68C-FEF837D26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98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5C6873"/>
                </a:solidFill>
                <a:latin typeface="Microsoft YaHei"/>
                <a:ea typeface="Microsoft YaHei"/>
                <a:cs typeface="Microsoft YaHei"/>
              </a:rPr>
              <a:t>逐建筑选择 DayWeek 与 LightGBM 的权重，验证完成后固定权重并评价测试集。</a:t>
            </a:r>
            <a:endParaRPr sz="124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998E14C0-39DF-40A9-B1B4-A29228ADC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417320"/>
            <a:ext cx="11109960" cy="4690872"/>
          </a:xfrm>
          <a:prstGeom xmlns:a="http://schemas.openxmlformats.org/drawingml/2006/main" prst="roundRect">
            <a:avLst>
              <a:gd name="adj" fmla="val 17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2E8F0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pic>
        <p:nvPicPr>
          <p:cNvPr id="3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8b8b5dc462438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948180" y="1435608"/>
            <a:ext cx="8274304" cy="4654296"/>
          </a:xfrm>
          <a:prstGeom xmlns:a="http://schemas.openxmlformats.org/drawingml/2006/main" prst="rect">
            <a:avLst/>
          </a:prstGeom>
        </p:spPr>
      </p:pic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39E3BBCA-39BE-4DE0-9134-FA326DF30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153912"/>
            <a:ext cx="107442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70">
                <a:solidFill>
                  <a:srgbClr val="97A2AD"/>
                </a:solidFill>
                <a:latin typeface="Arial"/>
                <a:ea typeface="Arial"/>
                <a:cs typeface="Arial"/>
              </a:rPr>
              <a:t>Frozen method visual: outputs/phase13_1/architecture/doef_architecture_master.png · formula: wᵦ·LightGBM + (1−wᵦ)·DayWeek</a:t>
            </a:r>
            <a:endParaRPr sz="67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A4E8D0E4-C0A0-4691-A578-EC2DCDD03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8996A4"/>
                </a:solidFill>
                <a:latin typeface="Microsoft YaHei"/>
                <a:ea typeface="Microsoft YaHei"/>
                <a:cs typeface="Microsoft YaHei"/>
              </a:rPr>
              <a:t>智储云控 · DOEF | 8 栋办公建筑仿真实验</a:t>
            </a:r>
            <a:endParaRPr sz="75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3DCC4C41-55DE-468E-8DC4-52FE3F812D08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A98A8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4502296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1EDCDC5-6560-451A-A99B-CED460850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6F4E9C"/>
                </a:solidFill>
                <a:latin typeface="Arial"/>
                <a:ea typeface="Arial"/>
                <a:cs typeface="Arial"/>
              </a:rPr>
              <a:t>DOEF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5C19951-8601-49A6-A762-86FB5266E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A8897"/>
                </a:solidFill>
                <a:latin typeface="Arial"/>
                <a:ea typeface="Arial"/>
                <a:cs typeface="Arial"/>
              </a:rPr>
              <a:t>实验结果</a:t>
            </a:r>
            <a:endParaRPr sz="83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8D45680-CF8E-4539-BA5C-332E7335C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75488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预测误差降低 6.36%，决策后悔值降低 3.61%</a:t>
            </a:r>
            <a:endParaRPr sz="26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A6C33DD-EE3C-4323-BD29-5F9AAAF97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98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5C6873"/>
                </a:solidFill>
                <a:latin typeface="Microsoft YaHei"/>
                <a:ea typeface="Microsoft YaHei"/>
                <a:cs typeface="Microsoft YaHei"/>
              </a:rPr>
              <a:t>相对 LightGBM，八建筑等权平均的归一化 MAE 和归一化决策后悔值均下降。</a:t>
            </a:r>
            <a:endParaRPr sz="124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FCE452E2-07C4-40D4-9B03-A1E27FC42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" y="1444752"/>
            <a:ext cx="8430768" cy="4434840"/>
          </a:xfrm>
          <a:prstGeom xmlns:a="http://schemas.openxmlformats.org/drawingml/2006/main" prst="roundRect">
            <a:avLst>
              <a:gd name="adj" fmla="val 18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2E8F0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pic>
        <p:nvPicPr>
          <p:cNvPr id="3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e5e3c92cce4b1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30656" y="1490472"/>
            <a:ext cx="7721600" cy="4343400"/>
          </a:xfrm>
          <a:prstGeom xmlns:a="http://schemas.openxmlformats.org/drawingml/2006/main" prst="rect">
            <a:avLst/>
          </a:prstGeom>
        </p:spPr>
      </p:pic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766A80EC-A3A3-4647-BA3D-C178DA664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1444752"/>
            <a:ext cx="2331720" cy="4434840"/>
          </a:xfrm>
          <a:prstGeom xmlns:a="http://schemas.openxmlformats.org/drawingml/2006/main" prst="roundRect">
            <a:avLst>
              <a:gd name="adj" fmla="val 3529"/>
            </a:avLst>
          </a:prstGeom>
          <a:solidFill xmlns:a="http://schemas.openxmlformats.org/drawingml/2006/main">
            <a:srgbClr val="0B192B"/>
          </a:solidFill>
          <a:ln xmlns:a="http://schemas.openxmlformats.org/drawingml/2006/main" w="10160">
            <a:solidFill>
              <a:srgbClr val="0B192B"/>
            </a:solidFill>
            <a:prstDash val="solid"/>
          </a:ln>
        </p:spPr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09683FB4-B8BD-43EB-8D7A-EABE1D23D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1472" y="1847088"/>
            <a:ext cx="178308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24C7FF"/>
                </a:solidFill>
                <a:latin typeface="Arial"/>
                <a:ea typeface="Arial"/>
                <a:cs typeface="Arial"/>
              </a:rPr>
              <a:t>6.36%</a:t>
            </a:r>
            <a:endParaRPr sz="28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E31B7BB8-7A53-41CD-BE98-3EE35EA46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1472" y="2505456"/>
            <a:ext cx="17830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A9B8C6"/>
                </a:solidFill>
                <a:latin typeface="Microsoft YaHei"/>
                <a:ea typeface="Microsoft YaHei"/>
                <a:cs typeface="Microsoft YaHei"/>
              </a:rPr>
              <a:t>归一化 MAE 相对改善</a:t>
            </a:r>
            <a:endParaRPr sz="115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6B5FCBE3-9396-48BA-8BB3-249A3DA5D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1472" y="3136392"/>
            <a:ext cx="178308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BBA7FF"/>
                </a:solidFill>
                <a:latin typeface="Arial"/>
                <a:ea typeface="Arial"/>
                <a:cs typeface="Arial"/>
              </a:rPr>
              <a:t>3.61%</a:t>
            </a:r>
            <a:endParaRPr sz="28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D9068A5C-7A75-416B-B373-603C5D559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1472" y="3794760"/>
            <a:ext cx="17830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A9B8C6"/>
                </a:solidFill>
                <a:latin typeface="Microsoft YaHei"/>
                <a:ea typeface="Microsoft YaHei"/>
                <a:cs typeface="Microsoft YaHei"/>
              </a:rPr>
              <a:t>归一化后悔值相对改善</a:t>
            </a:r>
            <a:endParaRPr sz="115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170F22E4-1C96-45E2-A0C3-64DD49340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1472" y="4471416"/>
            <a:ext cx="17830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F8FBFF"/>
                </a:solidFill>
                <a:latin typeface="Arial"/>
                <a:ea typeface="Arial"/>
                <a:cs typeface="Arial"/>
              </a:rPr>
              <a:t>6  /  2  /  0</a:t>
            </a:r>
            <a:endParaRPr sz="220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BF8F1AC9-0467-423E-BC45-4BFF47835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1472" y="4956048"/>
            <a:ext cx="178308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20">
                <a:solidFill>
                  <a:srgbClr val="9FB1C1"/>
                </a:solidFill>
                <a:latin typeface="Arial"/>
                <a:ea typeface="Arial"/>
                <a:cs typeface="Arial"/>
              </a:rPr>
              <a:t>win / tie / loss</a:t>
            </a:r>
            <a:endParaRPr sz="920"/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8460E006-1A76-4D93-9B57-E111ACEA4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6608" y="5358384"/>
            <a:ext cx="1920240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40291B"/>
          </a:solidFill>
          <a:ln xmlns:a="http://schemas.openxmlformats.org/drawingml/2006/main" w="12700">
            <a:solidFill>
              <a:srgbClr val="73513C">
                <a:alpha val="0"/>
              </a:srgbClr>
            </a:solidFill>
            <a:prstDash val="solid"/>
          </a:ln>
        </p:spPr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15BE83F8-BAE1-4965-B2D5-C7CE96073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60" y="5399532"/>
            <a:ext cx="177393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80" b="1">
                <a:solidFill>
                  <a:srgbClr val="FFC494"/>
                </a:solidFill>
                <a:latin typeface="Microsoft YaHei"/>
                <a:ea typeface="Microsoft YaHei"/>
                <a:cs typeface="Microsoft YaHei"/>
              </a:rPr>
              <a:t>最小整段削峰率：−1.017%</a:t>
            </a:r>
            <a:endParaRPr sz="780"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D9482877-C425-479F-B3FB-C3D9F6DF7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153912"/>
            <a:ext cx="107442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70">
                <a:solidFill>
                  <a:srgbClr val="97A2AD"/>
                </a:solidFill>
                <a:latin typeface="Arial"/>
                <a:ea typeface="Arial"/>
                <a:cs typeface="Arial"/>
              </a:rPr>
              <a:t>Frozen source: outputs/phase13_1/figures/sci_02_doef_main_results.png · Oracle-relative regret ≠ monetary regret</a:t>
            </a:r>
            <a:endParaRPr sz="67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99A365B2-1B2E-414C-B904-4334E773D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8996A4"/>
                </a:solidFill>
                <a:latin typeface="Microsoft YaHei"/>
                <a:ea typeface="Microsoft YaHei"/>
                <a:cs typeface="Microsoft YaHei"/>
              </a:rPr>
              <a:t>智储云控 · DOEF | 8 栋办公建筑仿真实验</a:t>
            </a:r>
            <a:endParaRPr sz="75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D8D966A1-BC93-417C-8D98-7FABBD6FAA75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A98A8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34829728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DC89830-8B34-4BA4-BC60-2D6CF905D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24C7FF"/>
                </a:solidFill>
                <a:latin typeface="Arial"/>
                <a:ea typeface="Arial"/>
                <a:cs typeface="Arial"/>
              </a:rPr>
              <a:t>DOEF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1EA3197-4905-4C3B-B892-4715E3776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890A7"/>
                </a:solidFill>
                <a:latin typeface="Arial"/>
                <a:ea typeface="Arial"/>
                <a:cs typeface="Arial"/>
              </a:rPr>
              <a:t>评价指标</a:t>
            </a:r>
            <a:endParaRPr sz="83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F45ACE8C-2FB5-4676-B549-0E8E1ED8A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75488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预测误差与决策后悔值</a:t>
            </a:r>
            <a:endParaRPr sz="25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934B1D20-CF7D-4F6B-85CD-777A5EC03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98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9DB0C2"/>
                </a:solidFill>
                <a:latin typeface="Microsoft YaHei"/>
                <a:ea typeface="Microsoft YaHei"/>
                <a:cs typeface="Microsoft YaHei"/>
              </a:rPr>
              <a:t>RMSE 衡量负荷预测偏差；决策后悔值衡量相对 Oracle 的实际峰值差。</a:t>
            </a:r>
            <a:endParaRPr sz="124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2BA2C008-889F-41AE-A7E9-A61695BFF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627632"/>
            <a:ext cx="4983480" cy="4187952"/>
          </a:xfrm>
          <a:prstGeom xmlns:a="http://schemas.openxmlformats.org/drawingml/2006/main" prst="roundRect">
            <a:avLst>
              <a:gd name="adj" fmla="val 1965"/>
            </a:avLst>
          </a:prstGeom>
          <a:solidFill xmlns:a="http://schemas.openxmlformats.org/drawingml/2006/main">
            <a:srgbClr val="0E1D2C"/>
          </a:solidFill>
          <a:ln xmlns:a="http://schemas.openxmlformats.org/drawingml/2006/main" w="10160">
            <a:solidFill>
              <a:srgbClr val="284059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2FD05877-80EF-4859-9E65-49959B71B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1627632"/>
            <a:ext cx="4983480" cy="4187952"/>
          </a:xfrm>
          <a:prstGeom xmlns:a="http://schemas.openxmlformats.org/drawingml/2006/main" prst="roundRect">
            <a:avLst>
              <a:gd name="adj" fmla="val 1965"/>
            </a:avLst>
          </a:prstGeom>
          <a:solidFill xmlns:a="http://schemas.openxmlformats.org/drawingml/2006/main">
            <a:srgbClr val="0E1D2C"/>
          </a:solidFill>
          <a:ln xmlns:a="http://schemas.openxmlformats.org/drawingml/2006/main" w="10160">
            <a:solidFill>
              <a:srgbClr val="284059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DD691505-6718-476A-B559-E8C773ECC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416" y="1938528"/>
            <a:ext cx="1572768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1A3448"/>
          </a:solidFill>
          <a:ln xmlns:a="http://schemas.openxmlformats.org/drawingml/2006/main" w="12700">
            <a:solidFill>
              <a:srgbClr val="1A3448">
                <a:alpha val="0"/>
              </a:srgbClr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8C346224-D113-4624-81AA-A98E96D6B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1979676"/>
            <a:ext cx="142646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60" b="1">
                <a:solidFill>
                  <a:srgbClr val="A9D9F2"/>
                </a:solidFill>
                <a:latin typeface="Microsoft YaHei"/>
                <a:ea typeface="Microsoft YaHei"/>
                <a:cs typeface="Microsoft YaHei"/>
              </a:rPr>
              <a:t>预测指标</a:t>
            </a:r>
            <a:endParaRPr sz="86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63072FFC-87B9-49A5-9688-D0514F28B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2441448"/>
            <a:ext cx="201168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24C7FF"/>
                </a:solidFill>
                <a:latin typeface="Arial"/>
                <a:ea typeface="Arial"/>
                <a:cs typeface="Arial"/>
              </a:rPr>
              <a:t>RMSE</a:t>
            </a:r>
            <a:endParaRPr sz="30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C83E1564-740E-4355-8609-F21495539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3008376"/>
            <a:ext cx="3566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预测负荷与实际负荷的偏差</a:t>
            </a:r>
            <a:endParaRPr sz="16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61D7E58A-424A-402A-BB46-6CDF1D9AA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3566160"/>
            <a:ext cx="3886200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A5B7C6"/>
                </a:solidFill>
                <a:latin typeface="Microsoft YaHei"/>
                <a:ea typeface="Microsoft YaHei"/>
                <a:cs typeface="Microsoft YaHei"/>
              </a:rPr>
              <a:t>对各时刻的预测误差平方取平均，再开方。</a:t>
            </a:r>
            <a:endParaRPr sz="1200"/>
          </a:p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A5B7C6"/>
                </a:solidFill>
                <a:latin typeface="Microsoft YaHei"/>
                <a:ea typeface="Microsoft YaHei"/>
                <a:cs typeface="Microsoft YaHei"/>
              </a:rPr>
              <a:t>用于评价负荷预测质量。</a:t>
            </a:r>
            <a:endParaRPr sz="120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9DA4702E-3373-47D0-9B81-42FDDDEE1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1424" y="1938528"/>
            <a:ext cx="1755648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2B2148"/>
          </a:solidFill>
          <a:ln xmlns:a="http://schemas.openxmlformats.org/drawingml/2006/main" w="12700">
            <a:solidFill>
              <a:srgbClr val="2B2148">
                <a:alpha val="0"/>
              </a:srgbClr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9939606D-E2D7-4037-BCF4-840F791EB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4576" y="1979676"/>
            <a:ext cx="160934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D8CCFF"/>
                </a:solidFill>
                <a:latin typeface="Microsoft YaHei"/>
                <a:ea typeface="Microsoft YaHei"/>
                <a:cs typeface="Microsoft YaHei"/>
              </a:rPr>
              <a:t>调度指标</a:t>
            </a:r>
            <a:endParaRPr sz="82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9E0CC65E-07F6-4A8B-9590-580D33ED9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2441448"/>
            <a:ext cx="219456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BCA9FF"/>
                </a:solidFill>
                <a:latin typeface="Arial"/>
                <a:ea typeface="Arial"/>
                <a:cs typeface="Arial"/>
              </a:rPr>
              <a:t>regret</a:t>
            </a:r>
            <a:endParaRPr sz="3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28496A70-A33F-4F62-91A0-E854715CC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3008376"/>
            <a:ext cx="38404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2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相对 Oracle 的实际峰值差</a:t>
            </a:r>
            <a:endParaRPr sz="152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24DC24A8-DA1C-4FC9-8EFF-2D8F693F1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3566160"/>
            <a:ext cx="384048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A5B7C6"/>
                </a:solidFill>
                <a:latin typeface="Microsoft YaHei"/>
                <a:ea typeface="Microsoft YaHei"/>
                <a:cs typeface="Microsoft YaHei"/>
              </a:rPr>
              <a:t>预测生成电池计划，用实际负荷评价峰值。</a:t>
            </a:r>
            <a:endParaRPr sz="1200"/>
          </a:p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A5B7C6"/>
                </a:solidFill>
                <a:latin typeface="Microsoft YaHei"/>
                <a:ea typeface="Microsoft YaHei"/>
                <a:cs typeface="Microsoft YaHei"/>
              </a:rPr>
              <a:t>Oracle 知道未来负荷，仅作事后参照。</a:t>
            </a:r>
            <a:endParaRPr sz="120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C98CAD7E-59B9-4DB6-B2B7-A695BF618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7296" y="4407408"/>
            <a:ext cx="5852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566F85"/>
            </a:solidFill>
            <a:prstDash val="solid"/>
            <a:headEnd type="none"/>
            <a:tailEnd type="triangle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2496C097-5698-4095-97C1-68BDE4E63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9008" y="3986784"/>
            <a:ext cx="62179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80" b="1">
                <a:solidFill>
                  <a:srgbClr val="8298AA"/>
                </a:solidFill>
                <a:latin typeface="Microsoft YaHei"/>
                <a:ea typeface="Microsoft YaHei"/>
                <a:cs typeface="Microsoft YaHei"/>
              </a:rPr>
              <a:t>双层评价</a:t>
            </a:r>
            <a:endParaRPr sz="88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14B2D06C-6122-47FE-86AB-013880744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5616" y="6007608"/>
            <a:ext cx="4617720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173A54"/>
          </a:solidFill>
          <a:ln xmlns:a="http://schemas.openxmlformats.org/drawingml/2006/main" w="12700">
            <a:solidFill>
              <a:srgbClr val="173A54">
                <a:alpha val="0"/>
              </a:srgbClr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FB5B3992-2D13-4181-8550-3711B258D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8768" y="6048756"/>
            <a:ext cx="44714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10" b="1">
                <a:solidFill>
                  <a:srgbClr val="24C7FF"/>
                </a:solidFill>
                <a:latin typeface="Microsoft YaHei"/>
                <a:ea typeface="Microsoft YaHei"/>
                <a:cs typeface="Microsoft YaHei"/>
              </a:rPr>
              <a:t>同时报告预测精度与调度表现</a:t>
            </a:r>
            <a:endParaRPr sz="101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970E6F03-0692-4F2A-9672-E428A4749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6F8295"/>
                </a:solidFill>
                <a:latin typeface="Microsoft YaHei"/>
                <a:ea typeface="Microsoft YaHei"/>
                <a:cs typeface="Microsoft YaHei"/>
              </a:rPr>
              <a:t>智储云控 · DOEF | 8 栋办公建筑仿真实验</a:t>
            </a:r>
            <a:endParaRPr sz="75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A9D019B4-8AEB-4AB2-A554-DBD38683235A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6F8295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06801097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A4ECEE8-122D-4584-B882-20C53EE76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6F4E9C"/>
                </a:solidFill>
                <a:latin typeface="Arial"/>
                <a:ea typeface="Arial"/>
                <a:cs typeface="Arial"/>
              </a:rPr>
              <a:t>DOEF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DCAB0F3-4FF0-4141-BA43-078229EF7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A8897"/>
                </a:solidFill>
                <a:latin typeface="Arial"/>
                <a:ea typeface="Arial"/>
                <a:cs typeface="Arial"/>
              </a:rPr>
              <a:t>多建筑比较</a:t>
            </a:r>
            <a:endParaRPr sz="83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5F562F2-CE88-44CA-9900-75C5961D3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75488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八建筑后悔值对比：6 胜、2 平、0 负</a:t>
            </a:r>
            <a:endParaRPr sz="26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2CFDF1C-970D-4936-BF54-9EF40E724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98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5C6873"/>
                </a:solidFill>
                <a:latin typeface="Microsoft YaHei"/>
                <a:ea typeface="Microsoft YaHei"/>
                <a:cs typeface="Microsoft YaHei"/>
              </a:rPr>
              <a:t>296 栋办公建筑候选中，82 栋通过质量筛选，再依据训练期负荷形态选出 8 栋。</a:t>
            </a:r>
            <a:endParaRPr sz="124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D09FB4D1-7CCE-41DE-8A5A-3682BC76F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63040"/>
            <a:ext cx="9464040" cy="4507992"/>
          </a:xfrm>
          <a:prstGeom xmlns:a="http://schemas.openxmlformats.org/drawingml/2006/main" prst="roundRect">
            <a:avLst>
              <a:gd name="adj" fmla="val 18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2E8F0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pic>
        <p:nvPicPr>
          <p:cNvPr id="3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039c52dc3b4b0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338580" y="1499616"/>
            <a:ext cx="7884160" cy="4434840"/>
          </a:xfrm>
          <a:prstGeom xmlns:a="http://schemas.openxmlformats.org/drawingml/2006/main" prst="rect">
            <a:avLst/>
          </a:prstGeom>
        </p:spPr>
      </p:pic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7643BB6D-2C0E-4249-B917-3A8E6D8CD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2992" y="1463040"/>
            <a:ext cx="1389888" cy="4507992"/>
          </a:xfrm>
          <a:prstGeom xmlns:a="http://schemas.openxmlformats.org/drawingml/2006/main" prst="roundRect">
            <a:avLst>
              <a:gd name="adj" fmla="val 5921"/>
            </a:avLst>
          </a:prstGeom>
          <a:solidFill xmlns:a="http://schemas.openxmlformats.org/drawingml/2006/main">
            <a:srgbClr val="0B192B"/>
          </a:solidFill>
          <a:ln xmlns:a="http://schemas.openxmlformats.org/drawingml/2006/main" w="10160">
            <a:solidFill>
              <a:srgbClr val="0B192B"/>
            </a:solidFill>
            <a:prstDash val="solid"/>
          </a:ln>
        </p:spPr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94C6D28C-C384-4795-A5C9-6ADF22750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5872" y="1874520"/>
            <a:ext cx="1024128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500" b="1">
                <a:solidFill>
                  <a:srgbClr val="24C7FF"/>
                </a:solidFill>
                <a:latin typeface="Arial"/>
                <a:ea typeface="Arial"/>
                <a:cs typeface="Arial"/>
              </a:rPr>
              <a:t>8 / 8</a:t>
            </a:r>
            <a:endParaRPr sz="25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2FF73317-8EF7-4992-9F4D-DBF03E295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2395728"/>
            <a:ext cx="107899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B2C1CD"/>
                </a:solidFill>
                <a:latin typeface="Microsoft YaHei"/>
                <a:ea typeface="Microsoft YaHei"/>
                <a:cs typeface="Microsoft YaHei"/>
              </a:rPr>
              <a:t>全部展示</a:t>
            </a:r>
            <a:endParaRPr sz="1050"/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9DEA0836-EF30-4B18-A7E5-FDC8C5A85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4160" y="2816352"/>
            <a:ext cx="9875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314B61"/>
            </a:solidFill>
            <a:prstDash val="solid"/>
          </a:ln>
        </p:spPr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25CE41A4-0B16-4020-8848-DAC82BC0B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2448" y="3063240"/>
            <a:ext cx="91440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rgbClr val="6AD7FF"/>
                </a:solidFill>
                <a:latin typeface="Arial"/>
                <a:ea typeface="Arial"/>
                <a:cs typeface="Arial"/>
              </a:rPr>
              <a:t>6</a:t>
            </a:r>
            <a:endParaRPr sz="240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6B698A12-B78B-484B-824D-6B27A3EED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2448" y="3493008"/>
            <a:ext cx="9144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80">
                <a:solidFill>
                  <a:srgbClr val="9EB0BE"/>
                </a:solidFill>
                <a:latin typeface="Arial"/>
                <a:ea typeface="Arial"/>
                <a:cs typeface="Arial"/>
              </a:rPr>
              <a:t>lower</a:t>
            </a:r>
            <a:endParaRPr sz="88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15A66FDB-CE5B-4DCC-B1F7-45FD5D926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2448" y="3913632"/>
            <a:ext cx="91440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rgbClr val="D7E2EA"/>
                </a:solidFill>
                <a:latin typeface="Arial"/>
                <a:ea typeface="Arial"/>
                <a:cs typeface="Arial"/>
              </a:rPr>
              <a:t>2</a:t>
            </a:r>
            <a:endParaRPr sz="24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4437A588-EAD6-4001-AD75-107A3C072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2448" y="4343400"/>
            <a:ext cx="9144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80">
                <a:solidFill>
                  <a:srgbClr val="9EB0BE"/>
                </a:solidFill>
                <a:latin typeface="Arial"/>
                <a:ea typeface="Arial"/>
                <a:cs typeface="Arial"/>
              </a:rPr>
              <a:t>ties</a:t>
            </a:r>
            <a:endParaRPr sz="880"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4719EDA6-02B5-4A82-B940-E74613819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2448" y="4754880"/>
            <a:ext cx="91440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rgbClr val="8D9AA6"/>
                </a:solidFill>
                <a:latin typeface="Arial"/>
                <a:ea typeface="Arial"/>
                <a:cs typeface="Arial"/>
              </a:rPr>
              <a:t>0</a:t>
            </a:r>
            <a:endParaRPr sz="2400"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3150AD3C-4D27-430D-8653-365187628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2448" y="5184648"/>
            <a:ext cx="9144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80">
                <a:solidFill>
                  <a:srgbClr val="9EB0BE"/>
                </a:solidFill>
                <a:latin typeface="Arial"/>
                <a:ea typeface="Arial"/>
                <a:cs typeface="Arial"/>
              </a:rPr>
              <a:t>higher</a:t>
            </a:r>
            <a:endParaRPr sz="88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3BE1E745-513B-40F8-B686-CFB7179DE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153912"/>
            <a:ext cx="107442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70">
                <a:solidFill>
                  <a:srgbClr val="97A2AD"/>
                </a:solidFill>
                <a:latin typeface="Arial"/>
                <a:ea typeface="Arial"/>
                <a:cs typeface="Arial"/>
              </a:rPr>
              <a:t>Frozen source: SCI-03 · buildings preserved in preselected frozen order; no sorting/deletion</a:t>
            </a:r>
            <a:endParaRPr sz="67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6B3C31A4-0514-4483-902D-578FAE270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8996A4"/>
                </a:solidFill>
                <a:latin typeface="Microsoft YaHei"/>
                <a:ea typeface="Microsoft YaHei"/>
                <a:cs typeface="Microsoft YaHei"/>
              </a:rPr>
              <a:t>智储云控 · DOEF | 8 栋办公建筑仿真实验</a:t>
            </a:r>
            <a:endParaRPr sz="75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E0F27D36-A038-498C-8166-5A488E8FB846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A98A8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35423256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3CD17EE-50DE-4B42-85B3-23E34CD4A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6F4E9C"/>
                </a:solidFill>
                <a:latin typeface="Arial"/>
                <a:ea typeface="Arial"/>
                <a:cs typeface="Arial"/>
              </a:rPr>
              <a:t>DOEF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CD72949-694D-4F87-B7CC-2B63FB240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A8897"/>
                </a:solidFill>
                <a:latin typeface="Arial"/>
                <a:ea typeface="Arial"/>
                <a:cs typeface="Arial"/>
              </a:rPr>
              <a:t>实验设计</a:t>
            </a:r>
            <a:endParaRPr sz="83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B7CFB35-7FB7-4D61-A856-C5E369919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75488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验证集权重选择与测试集评价</a:t>
            </a:r>
            <a:endParaRPr sz="27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818C45ED-B2D9-483F-BB45-973026180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98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5C6873"/>
                </a:solidFill>
                <a:latin typeface="Microsoft YaHei"/>
                <a:ea typeface="Microsoft YaHei"/>
                <a:cs typeface="Microsoft YaHei"/>
              </a:rPr>
              <a:t>验证集比较 11 个候选权重；测试集只用于评价，不参与模型、权重或平局规则选择。</a:t>
            </a:r>
            <a:endParaRPr sz="124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ED593097-76CA-42F0-A86D-006401CD4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508760"/>
            <a:ext cx="8183880" cy="4315968"/>
          </a:xfrm>
          <a:prstGeom xmlns:a="http://schemas.openxmlformats.org/drawingml/2006/main" prst="roundRect">
            <a:avLst>
              <a:gd name="adj" fmla="val 19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2E8F0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pic>
        <p:nvPicPr>
          <p:cNvPr id="3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31c7f3c9a5426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87476" y="1545336"/>
            <a:ext cx="7542784" cy="4242816"/>
          </a:xfrm>
          <a:prstGeom xmlns:a="http://schemas.openxmlformats.org/drawingml/2006/main" prst="rect">
            <a:avLst/>
          </a:prstGeom>
        </p:spPr>
      </p:pic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1EFD5942-70C4-493C-871F-0EFF9CC9F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9408" y="1508760"/>
            <a:ext cx="2578608" cy="4315968"/>
          </a:xfrm>
          <a:prstGeom xmlns:a="http://schemas.openxmlformats.org/drawingml/2006/main" prst="roundRect">
            <a:avLst>
              <a:gd name="adj" fmla="val 3191"/>
            </a:avLst>
          </a:prstGeom>
          <a:solidFill xmlns:a="http://schemas.openxmlformats.org/drawingml/2006/main">
            <a:srgbClr val="0B192B"/>
          </a:solidFill>
          <a:ln xmlns:a="http://schemas.openxmlformats.org/drawingml/2006/main" w="10160">
            <a:solidFill>
              <a:srgbClr val="0B192B"/>
            </a:solidFill>
            <a:prstDash val="solid"/>
          </a:ln>
        </p:spPr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0F682191-3FB6-4487-834C-F5E101B6A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728" y="1856232"/>
            <a:ext cx="2011680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37285E"/>
          </a:solidFill>
          <a:ln xmlns:a="http://schemas.openxmlformats.org/drawingml/2006/main" w="12700">
            <a:solidFill>
              <a:srgbClr val="37285E">
                <a:alpha val="0"/>
              </a:srgbClr>
            </a:solidFill>
            <a:prstDash val="solid"/>
          </a:ln>
        </p:spPr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FC775DA6-A910-437D-B672-C8BAFAF71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0" y="1897380"/>
            <a:ext cx="186537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60" b="1">
                <a:solidFill>
                  <a:srgbClr val="E2D8FF"/>
                </a:solidFill>
                <a:latin typeface="Microsoft YaHei"/>
                <a:ea typeface="Microsoft YaHei"/>
                <a:cs typeface="Microsoft YaHei"/>
              </a:rPr>
              <a:t>验证后固定权重</a:t>
            </a:r>
            <a:endParaRPr sz="86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F8431001-1067-40C5-B0CF-34AF8C7B1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2578608"/>
            <a:ext cx="9144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CABDFF"/>
                </a:solidFill>
                <a:latin typeface="Arial"/>
                <a:ea typeface="Arial"/>
                <a:cs typeface="Arial"/>
              </a:rPr>
              <a:t>Validation</a:t>
            </a:r>
            <a:endParaRPr sz="12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F98E310D-7444-431D-A60B-3D6A1874E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2907792"/>
            <a:ext cx="173736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搜索 0.0 → 1.0</a:t>
            </a:r>
            <a:endParaRPr sz="1200"/>
          </a:p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步长 0.1</a:t>
            </a:r>
            <a:endParaRPr sz="1200"/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D266184D-424D-4918-90FA-3E5396E5A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4312" y="3767328"/>
            <a:ext cx="152704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7940">
            <a:solidFill>
              <a:srgbClr val="6F4E9C"/>
            </a:solidFill>
            <a:prstDash val="solid"/>
            <a:headEnd type="none"/>
            <a:tailEnd type="triangle"/>
          </a:ln>
        </p:spPr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E9EC6DC1-D67D-4EC9-973D-A40445D9E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0928" y="4023360"/>
            <a:ext cx="1170432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6F4E9C"/>
          </a:solidFill>
          <a:ln xmlns:a="http://schemas.openxmlformats.org/drawingml/2006/main" w="12700">
            <a:solidFill>
              <a:srgbClr val="6F4E9C">
                <a:alpha val="0"/>
              </a:srgbClr>
            </a:solidFill>
            <a:prstDash val="solid"/>
          </a:ln>
        </p:spPr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BD160A13-2F92-44DC-BB8E-E1BE6FC3D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0" y="4064508"/>
            <a:ext cx="102412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FREEZE  wᵦ</a:t>
            </a:r>
            <a:endParaRPr sz="900"/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93789611-0DBB-4129-8C39-EE3BDDB4A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4432" y="4434840"/>
            <a:ext cx="0" cy="48463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320">
            <a:solidFill>
              <a:srgbClr val="8291A1"/>
            </a:solidFill>
            <a:prstDash val="solid"/>
            <a:headEnd type="none"/>
            <a:tailEnd type="triangle"/>
          </a:ln>
        </p:spPr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A853372E-3E10-438A-9E08-19D38F374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047488"/>
            <a:ext cx="658368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C0CBD5"/>
                </a:solidFill>
                <a:latin typeface="Arial"/>
                <a:ea typeface="Arial"/>
                <a:cs typeface="Arial"/>
              </a:rPr>
              <a:t>Test</a:t>
            </a:r>
            <a:endParaRPr sz="120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5C1E1825-33D1-447C-B3E9-E3F39F3EF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2680" y="5074920"/>
            <a:ext cx="11155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30">
                <a:solidFill>
                  <a:srgbClr val="8FA1B0"/>
                </a:solidFill>
                <a:latin typeface="Arial"/>
                <a:ea typeface="Arial"/>
                <a:cs typeface="Arial"/>
              </a:rPr>
              <a:t>evaluation only</a:t>
            </a:r>
            <a:endParaRPr sz="93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7AE89A49-684F-4F6D-9303-55D02B0F2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153912"/>
            <a:ext cx="107442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70">
                <a:solidFill>
                  <a:srgbClr val="97A2AD"/>
                </a:solidFill>
                <a:latin typeface="Arial"/>
                <a:ea typeface="Arial"/>
                <a:cs typeface="Arial"/>
              </a:rPr>
              <a:t>Frozen source: SCI-04 · candidate grid = 11 weights · prior historical Test visibility means “pristine blind test” is not claimed</a:t>
            </a:r>
            <a:endParaRPr sz="670"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955F7CA3-BE6E-4ED7-8881-62C07BAB1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8996A4"/>
                </a:solidFill>
                <a:latin typeface="Microsoft YaHei"/>
                <a:ea typeface="Microsoft YaHei"/>
                <a:cs typeface="Microsoft YaHei"/>
              </a:rPr>
              <a:t>智储云控 · DOEF | 8 栋办公建筑仿真实验</a:t>
            </a:r>
            <a:endParaRPr sz="75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7612BCA4-434E-4421-985C-A3E8510E156A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A98A8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2869815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F308E1E-B351-442D-9435-415D11937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24C7FF"/>
                </a:solidFill>
                <a:latin typeface="Arial"/>
                <a:ea typeface="Arial"/>
                <a:cs typeface="Arial"/>
              </a:rPr>
              <a:t>DOEF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0797701-8B3B-4118-9D76-D2794EECA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890A7"/>
                </a:solidFill>
                <a:latin typeface="Arial"/>
                <a:ea typeface="Arial"/>
                <a:cs typeface="Arial"/>
              </a:rPr>
              <a:t>实现流程</a:t>
            </a:r>
            <a:endParaRPr sz="83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32B9195F-E746-4849-8E57-5B3178725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75488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预测与储能调度的仿真流程</a:t>
            </a:r>
            <a:endParaRPr sz="25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DD2B62FD-3AA1-4037-936D-2216277A7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98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9DB0C2"/>
                </a:solidFill>
                <a:latin typeface="Microsoft YaHei"/>
                <a:ea typeface="Microsoft YaHei"/>
                <a:cs typeface="Microsoft YaHei"/>
              </a:rPr>
              <a:t>离线仿真已实现预测、优化和实际负荷评价；真实楼宇在线部署仍需验证。</a:t>
            </a:r>
            <a:endParaRPr sz="124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E0FC227E-6E3F-41E7-9F67-201C76827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783080"/>
            <a:ext cx="2615184" cy="3172968"/>
          </a:xfrm>
          <a:prstGeom xmlns:a="http://schemas.openxmlformats.org/drawingml/2006/main" prst="roundRect">
            <a:avLst>
              <a:gd name="adj" fmla="val 3147"/>
            </a:avLst>
          </a:prstGeom>
          <a:solidFill xmlns:a="http://schemas.openxmlformats.org/drawingml/2006/main">
            <a:srgbClr val="0E1D2C"/>
          </a:solidFill>
          <a:ln xmlns:a="http://schemas.openxmlformats.org/drawingml/2006/main" w="10160">
            <a:solidFill>
              <a:srgbClr val="284059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6FD36E94-88BC-4CFF-888E-F27F66391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1993392"/>
            <a:ext cx="53035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6889A2"/>
                </a:solidFill>
                <a:latin typeface="Arial"/>
                <a:ea typeface="Arial"/>
                <a:cs typeface="Arial"/>
              </a:rPr>
              <a:t>01</a:t>
            </a:r>
            <a:endParaRPr sz="16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CA98E165-1C80-48E7-A1C8-8DA1B55C6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487168"/>
            <a:ext cx="228600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已知历史负荷</a:t>
            </a:r>
            <a:endParaRPr sz="15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9B9C6A26-7395-41C7-8C78-8236A3C61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3255264"/>
            <a:ext cx="22860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A4B5C4"/>
                </a:solidFill>
                <a:latin typeface="Microsoft YaHei"/>
                <a:ea typeface="Microsoft YaHei"/>
                <a:cs typeface="Microsoft YaHei"/>
              </a:rPr>
              <a:t>截至预测时刻可用的正滞后与日历状态</a:t>
            </a:r>
            <a:endParaRPr sz="115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DCAE759B-D2EB-4575-A51E-3D67E397C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0984" y="3429000"/>
            <a:ext cx="14630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320">
            <a:solidFill>
              <a:srgbClr val="41677F"/>
            </a:solidFill>
            <a:prstDash val="solid"/>
            <a:headEnd type="none"/>
            <a:tailEnd type="triangle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9BE182D3-AE21-41EA-97BF-0918E6061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1783080"/>
            <a:ext cx="2615184" cy="3172968"/>
          </a:xfrm>
          <a:prstGeom xmlns:a="http://schemas.openxmlformats.org/drawingml/2006/main" prst="roundRect">
            <a:avLst>
              <a:gd name="adj" fmla="val 3147"/>
            </a:avLst>
          </a:prstGeom>
          <a:solidFill xmlns:a="http://schemas.openxmlformats.org/drawingml/2006/main">
            <a:srgbClr val="0E1D2C"/>
          </a:solidFill>
          <a:ln xmlns:a="http://schemas.openxmlformats.org/drawingml/2006/main" w="10160">
            <a:solidFill>
              <a:srgbClr val="245D7B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B0885FED-022E-46ED-833B-19B9E9668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9312" y="1993392"/>
            <a:ext cx="53035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6889A2"/>
                </a:solidFill>
                <a:latin typeface="Arial"/>
                <a:ea typeface="Arial"/>
                <a:cs typeface="Arial"/>
              </a:rPr>
              <a:t>02</a:t>
            </a:r>
            <a:endParaRPr sz="16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13B04CD0-CB62-4DEB-B231-9B079E586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9312" y="2487168"/>
            <a:ext cx="228600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生成次日预测</a:t>
            </a:r>
            <a:endParaRPr sz="15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4DEC9454-CB11-4E1A-AE63-E86E06758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9312" y="3255264"/>
            <a:ext cx="22860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A4B5C4"/>
                </a:solidFill>
                <a:latin typeface="Microsoft YaHei"/>
                <a:ea typeface="Microsoft YaHei"/>
                <a:cs typeface="Microsoft YaHei"/>
              </a:rPr>
              <a:t>DayWeek + LightGBM，采用验证集确定的 wᵦ</a:t>
            </a:r>
            <a:endParaRPr sz="115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FA49480A-354D-46D2-9275-B2ED18E0B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3429000"/>
            <a:ext cx="14630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320">
            <a:solidFill>
              <a:srgbClr val="41677F"/>
            </a:solidFill>
            <a:prstDash val="solid"/>
            <a:headEnd type="none"/>
            <a:tailEnd type="triangle"/>
          </a:ln>
        </p:spPr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21C2D596-5CEC-4B18-B7FD-0B5133D3F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783080"/>
            <a:ext cx="2615184" cy="3172968"/>
          </a:xfrm>
          <a:prstGeom xmlns:a="http://schemas.openxmlformats.org/drawingml/2006/main" prst="roundRect">
            <a:avLst>
              <a:gd name="adj" fmla="val 3147"/>
            </a:avLst>
          </a:prstGeom>
          <a:solidFill xmlns:a="http://schemas.openxmlformats.org/drawingml/2006/main">
            <a:srgbClr val="0E1D2C"/>
          </a:solidFill>
          <a:ln xmlns:a="http://schemas.openxmlformats.org/drawingml/2006/main" w="10160">
            <a:solidFill>
              <a:srgbClr val="245D7B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B42AD2F2-4609-4D6F-9B7C-65B7D34D8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3952" y="1993392"/>
            <a:ext cx="53035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24C7FF"/>
                </a:solidFill>
                <a:latin typeface="Arial"/>
                <a:ea typeface="Arial"/>
                <a:cs typeface="Arial"/>
              </a:rPr>
              <a:t>03</a:t>
            </a:r>
            <a:endParaRPr sz="16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E560E58F-5AA5-431F-8E65-708686F25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3952" y="2487168"/>
            <a:ext cx="228600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求解 24h 电池计划</a:t>
            </a:r>
            <a:endParaRPr sz="15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5374C7E6-C642-46D0-98EE-C67DB2C2B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3952" y="3255264"/>
            <a:ext cx="22860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A4B5C4"/>
                </a:solidFill>
                <a:latin typeface="Microsoft YaHei"/>
                <a:ea typeface="Microsoft YaHei"/>
                <a:cs typeface="Microsoft YaHei"/>
              </a:rPr>
              <a:t>同一容量 / 功率 / SOC / 效率 / daily reset</a:t>
            </a:r>
            <a:endParaRPr sz="115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2072EDE3-83A4-4D5F-8C9F-10C0E8086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0264" y="3429000"/>
            <a:ext cx="14630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320">
            <a:solidFill>
              <a:srgbClr val="41677F"/>
            </a:solidFill>
            <a:prstDash val="solid"/>
            <a:headEnd type="none"/>
            <a:tailEnd type="triangle"/>
          </a:ln>
        </p:spPr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DA506A78-2309-48E6-B97B-BE7F72F9F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83080"/>
            <a:ext cx="2615184" cy="3172968"/>
          </a:xfrm>
          <a:prstGeom xmlns:a="http://schemas.openxmlformats.org/drawingml/2006/main" prst="roundRect">
            <a:avLst>
              <a:gd name="adj" fmla="val 3147"/>
            </a:avLst>
          </a:prstGeom>
          <a:solidFill xmlns:a="http://schemas.openxmlformats.org/drawingml/2006/main">
            <a:srgbClr val="0E1D2C"/>
          </a:solidFill>
          <a:ln xmlns:a="http://schemas.openxmlformats.org/drawingml/2006/main" w="10160">
            <a:solidFill>
              <a:srgbClr val="284059"/>
            </a:solidFill>
            <a:prstDash val="solid"/>
          </a:ln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84A192AB-DD4E-43F5-B876-8573D2E7B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1993392"/>
            <a:ext cx="53035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6889A2"/>
                </a:solidFill>
                <a:latin typeface="Arial"/>
                <a:ea typeface="Arial"/>
                <a:cs typeface="Arial"/>
              </a:rPr>
              <a:t>04</a:t>
            </a:r>
            <a:endParaRPr sz="16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A827673B-8928-4B12-966F-60B210483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2487168"/>
            <a:ext cx="228600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真实负荷后评估</a:t>
            </a:r>
            <a:endParaRPr sz="150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BC72A7E9-7F2D-45E9-85B9-75F9506DD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3255264"/>
            <a:ext cx="22860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A4B5C4"/>
                </a:solidFill>
                <a:latin typeface="Microsoft YaHei"/>
                <a:ea typeface="Microsoft YaHei"/>
                <a:cs typeface="Microsoft YaHei"/>
              </a:rPr>
              <a:t>MAE/RMSE + peak + Oracle-relative regret</a:t>
            </a:r>
            <a:endParaRPr sz="1150"/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237908A0-8719-4964-B35F-14D4EE090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" y="5413248"/>
            <a:ext cx="1234440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173A54"/>
          </a:solidFill>
          <a:ln xmlns:a="http://schemas.openxmlformats.org/drawingml/2006/main" w="12700">
            <a:solidFill>
              <a:srgbClr val="173A54">
                <a:alpha val="0"/>
              </a:srgbClr>
            </a:solidFill>
            <a:prstDash val="solid"/>
          </a:ln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12BBB17B-F8D5-4FD5-96B5-96FF144FE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" y="5454396"/>
            <a:ext cx="108813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24C7FF"/>
                </a:solidFill>
                <a:latin typeface="Microsoft YaHei"/>
                <a:ea typeface="Microsoft YaHei"/>
                <a:cs typeface="Microsoft YaHei"/>
              </a:rPr>
              <a:t>REPEATABLE</a:t>
            </a:r>
            <a:endParaRPr sz="840"/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4EE36D5F-D1B1-4BE2-B42B-8FEA4F8AC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3160" y="5413248"/>
            <a:ext cx="1005840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251D43"/>
          </a:solidFill>
          <a:ln xmlns:a="http://schemas.openxmlformats.org/drawingml/2006/main" w="12700">
            <a:solidFill>
              <a:srgbClr val="251D43">
                <a:alpha val="0"/>
              </a:srgbClr>
            </a:solidFill>
            <a:prstDash val="solid"/>
          </a:ln>
        </p:spPr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B4D8DFFD-ABE7-4360-BEA4-2AEFE01A7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6312" y="5454396"/>
            <a:ext cx="85953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CFC1FF"/>
                </a:solidFill>
                <a:latin typeface="Microsoft YaHei"/>
                <a:ea typeface="Microsoft YaHei"/>
                <a:cs typeface="Microsoft YaHei"/>
              </a:rPr>
              <a:t>FROZEN</a:t>
            </a:r>
            <a:endParaRPr sz="840"/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1E33B9CE-6479-40F3-9F6E-296B23C1D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413248"/>
            <a:ext cx="1444752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3A281D"/>
          </a:solidFill>
          <a:ln xmlns:a="http://schemas.openxmlformats.org/drawingml/2006/main" w="12700">
            <a:solidFill>
              <a:srgbClr val="3A281D">
                <a:alpha val="0"/>
              </a:srgbClr>
            </a:solidFill>
            <a:prstDash val="solid"/>
          </a:ln>
        </p:spPr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D8EB60D6-261F-45A5-843A-B04748975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0752" y="5454396"/>
            <a:ext cx="129844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FFC494"/>
                </a:solidFill>
                <a:latin typeface="Microsoft YaHei"/>
                <a:ea typeface="Microsoft YaHei"/>
                <a:cs typeface="Microsoft YaHei"/>
              </a:rPr>
              <a:t>NOT DEPLOYED</a:t>
            </a:r>
            <a:endParaRPr sz="840"/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77E7D752-82E4-4D96-BF6E-3271251FE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2120" y="5431536"/>
            <a:ext cx="54132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B5C6D3"/>
                </a:solidFill>
                <a:latin typeface="Microsoft YaHei"/>
                <a:ea typeface="Microsoft YaHei"/>
                <a:cs typeface="Microsoft YaHei"/>
              </a:rPr>
              <a:t>已实现负荷预测、约束调度和实际峰值评价的仿真流程。</a:t>
            </a:r>
            <a:endParaRPr sz="1200"/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2C3138F7-967C-47CA-96BE-F954604D7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6F8295"/>
                </a:solidFill>
                <a:latin typeface="Microsoft YaHei"/>
                <a:ea typeface="Microsoft YaHei"/>
                <a:cs typeface="Microsoft YaHei"/>
              </a:rPr>
              <a:t>智储云控 · DOEF | 8 栋办公建筑仿真实验</a:t>
            </a:r>
            <a:endParaRPr sz="750"/>
          </a:p>
        </p:txBody>
      </p:sp>
      <p:sp>
        <p:nvSpPr>
          <p:cNvPr id="33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816B6E5C-12D9-4AC4-84B9-D332F21060A2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6F8295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10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04531019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23C42295-04CF-42D0-B880-5C71BC736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24C7FF"/>
                </a:solidFill>
                <a:latin typeface="Arial"/>
                <a:ea typeface="Arial"/>
                <a:cs typeface="Arial"/>
              </a:rPr>
              <a:t>DOEF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13F3294-4B60-4A45-B126-23CA6D9CB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890A7"/>
                </a:solidFill>
                <a:latin typeface="Arial"/>
                <a:ea typeface="Arial"/>
                <a:cs typeface="Arial"/>
              </a:rPr>
              <a:t>作品贡献</a:t>
            </a:r>
            <a:endParaRPr sz="83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7F609AD3-5517-4E34-B0CF-FFB8A8AD2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75488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决策导向融合与多建筑评测</a:t>
            </a:r>
            <a:endParaRPr sz="26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5B54A444-12DF-44DF-AD8A-6E48F65EA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98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9DB0C2"/>
                </a:solidFill>
                <a:latin typeface="Microsoft YaHei"/>
                <a:ea typeface="Microsoft YaHei"/>
                <a:cs typeface="Microsoft YaHei"/>
              </a:rPr>
              <a:t>通过验证集调度表现选择预测组合，并在相同电池约束下开展多建筑比较。</a:t>
            </a:r>
            <a:endParaRPr sz="124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24F2591D-D637-44C9-BC05-62B7F6233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0472"/>
            <a:ext cx="10826496" cy="4297680"/>
          </a:xfrm>
          <a:prstGeom xmlns:a="http://schemas.openxmlformats.org/drawingml/2006/main" prst="roundRect">
            <a:avLst>
              <a:gd name="adj" fmla="val 19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2E8F0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pic>
        <p:nvPicPr>
          <p:cNvPr id="3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f3eead64da4ec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360168" y="1536192"/>
            <a:ext cx="7477760" cy="4206240"/>
          </a:xfrm>
          <a:prstGeom xmlns:a="http://schemas.openxmlformats.org/drawingml/2006/main" prst="rect">
            <a:avLst/>
          </a:prstGeom>
        </p:spPr>
      </p:pic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3D37E6D8-4C16-44D5-AD11-BE0B76C3F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153912"/>
            <a:ext cx="107442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70">
                <a:solidFill>
                  <a:srgbClr val="597087"/>
                </a:solidFill>
                <a:latin typeface="Arial"/>
                <a:ea typeface="Arial"/>
                <a:cs typeface="Arial"/>
              </a:rPr>
              <a:t>Conceptual asset: CON-02 · no first/world-first/SOTA/end-to-end deployment claim</a:t>
            </a:r>
            <a:endParaRPr sz="67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1C03CCA4-C853-422E-A116-259BA1046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6F8295"/>
                </a:solidFill>
                <a:latin typeface="Microsoft YaHei"/>
                <a:ea typeface="Microsoft YaHei"/>
                <a:cs typeface="Microsoft YaHei"/>
              </a:rPr>
              <a:t>智储云控 · DOEF | 8 栋办公建筑仿真实验</a:t>
            </a:r>
            <a:endParaRPr sz="75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525D63E8-E508-47EF-A8C7-40E3971ADCB6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6F8295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11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4464305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2F963CC-81AD-4873-8EE8-E323EB8DF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24C7FF"/>
                </a:solidFill>
                <a:latin typeface="Arial"/>
                <a:ea typeface="Arial"/>
                <a:cs typeface="Arial"/>
              </a:rPr>
              <a:t>DOEF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045172B-81C5-435E-B2A4-76E4EABD9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890A7"/>
                </a:solidFill>
                <a:latin typeface="Arial"/>
                <a:ea typeface="Arial"/>
                <a:cs typeface="Arial"/>
              </a:rPr>
              <a:t>结论</a:t>
            </a:r>
            <a:endParaRPr sz="83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EF032156-F1FE-4DAF-BD53-0B2B24C58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" y="1115568"/>
            <a:ext cx="5760720" cy="1325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面向储能削峰的</a:t>
            </a:r>
            <a:endParaRPr sz="3400"/>
          </a:p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负荷预测组合选择</a:t>
            </a:r>
            <a:endParaRPr sz="34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696A14C9-F230-4A60-8B94-6C6B738D3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724912"/>
            <a:ext cx="37490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180">
                <a:solidFill>
                  <a:srgbClr val="24C7FF"/>
                </a:solidFill>
                <a:latin typeface="Arial"/>
                <a:ea typeface="Arial"/>
                <a:cs typeface="Arial"/>
              </a:rPr>
              <a:t>FOR BATTERY PEAK SHAVING</a:t>
            </a:r>
            <a:endParaRPr sz="10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18C3E83E-552A-4A17-9EC4-615EAE8E6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6832" y="1216152"/>
            <a:ext cx="4663440" cy="1115568"/>
          </a:xfrm>
          <a:prstGeom xmlns:a="http://schemas.openxmlformats.org/drawingml/2006/main" prst="roundRect">
            <a:avLst>
              <a:gd name="adj" fmla="val 7377"/>
            </a:avLst>
          </a:prstGeom>
          <a:solidFill xmlns:a="http://schemas.openxmlformats.org/drawingml/2006/main">
            <a:srgbClr val="0E1D2C"/>
          </a:solidFill>
          <a:ln xmlns:a="http://schemas.openxmlformats.org/drawingml/2006/main" w="10160">
            <a:solidFill>
              <a:srgbClr val="29465E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B327ABBB-4C29-4904-AD41-5469BD224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4576" y="1435608"/>
            <a:ext cx="43891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24C7FF"/>
                </a:solidFill>
                <a:latin typeface="Arial"/>
                <a:ea typeface="Arial"/>
                <a:cs typeface="Arial"/>
              </a:rPr>
              <a:t>01</a:t>
            </a:r>
            <a:endParaRPr sz="13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2057B576-79AA-40F6-855D-CECFF693F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1380744"/>
            <a:ext cx="336499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预测误差 ≠ 决策价值</a:t>
            </a:r>
            <a:endParaRPr sz="145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6846B3CE-C316-4A37-8F7F-2D3FEAC48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1810512"/>
            <a:ext cx="3364992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93A7B8"/>
                </a:solidFill>
                <a:latin typeface="Microsoft YaHei"/>
                <a:ea typeface="Microsoft YaHei"/>
                <a:cs typeface="Microsoft YaHei"/>
              </a:rPr>
              <a:t>RMSE 与 regret 回答不同问题</a:t>
            </a:r>
            <a:endParaRPr sz="105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DF7DE137-37D2-430A-B4DE-60BC57732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6832" y="2660904"/>
            <a:ext cx="4663440" cy="1115568"/>
          </a:xfrm>
          <a:prstGeom xmlns:a="http://schemas.openxmlformats.org/drawingml/2006/main" prst="roundRect">
            <a:avLst>
              <a:gd name="adj" fmla="val 7377"/>
            </a:avLst>
          </a:prstGeom>
          <a:solidFill xmlns:a="http://schemas.openxmlformats.org/drawingml/2006/main">
            <a:srgbClr val="0E1D2C"/>
          </a:solidFill>
          <a:ln xmlns:a="http://schemas.openxmlformats.org/drawingml/2006/main" w="10160">
            <a:solidFill>
              <a:srgbClr val="29465E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9E3B6430-AAD2-426C-88B4-896032C81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4576" y="2880360"/>
            <a:ext cx="43891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CFC0FF"/>
                </a:solidFill>
                <a:latin typeface="Arial"/>
                <a:ea typeface="Arial"/>
                <a:cs typeface="Arial"/>
              </a:rPr>
              <a:t>02</a:t>
            </a:r>
            <a:endParaRPr sz="13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B1D7A9DE-83C3-413B-A2A2-F766ED1E0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2825496"/>
            <a:ext cx="336499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验证集选择权重</a:t>
            </a:r>
            <a:endParaRPr sz="145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7C9D765-AEDC-4230-AA6F-7D4348D9F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3255264"/>
            <a:ext cx="3364992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93A7B8"/>
                </a:solidFill>
                <a:latin typeface="Microsoft YaHei"/>
                <a:ea typeface="Microsoft YaHei"/>
                <a:cs typeface="Microsoft YaHei"/>
              </a:rPr>
              <a:t>按决策后悔值确定 wᵦ</a:t>
            </a:r>
            <a:endParaRPr sz="105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D866015D-5B79-4DFD-BB01-431698291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6832" y="4105656"/>
            <a:ext cx="4663440" cy="1115568"/>
          </a:xfrm>
          <a:prstGeom xmlns:a="http://schemas.openxmlformats.org/drawingml/2006/main" prst="roundRect">
            <a:avLst>
              <a:gd name="adj" fmla="val 7377"/>
            </a:avLst>
          </a:prstGeom>
          <a:solidFill xmlns:a="http://schemas.openxmlformats.org/drawingml/2006/main">
            <a:srgbClr val="0E1D2C"/>
          </a:solidFill>
          <a:ln xmlns:a="http://schemas.openxmlformats.org/drawingml/2006/main" w="10160">
            <a:solidFill>
              <a:srgbClr val="29465E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A3179DA6-7CA1-4A74-9174-0C9AFD3CA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4576" y="4325112"/>
            <a:ext cx="43891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24C7FF"/>
                </a:solidFill>
                <a:latin typeface="Arial"/>
                <a:ea typeface="Arial"/>
                <a:cs typeface="Arial"/>
              </a:rPr>
              <a:t>03</a:t>
            </a:r>
            <a:endParaRPr sz="13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FB0B9618-F71F-4C6F-9AD1-684AA0DCD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4270248"/>
            <a:ext cx="336499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测试集评价效果</a:t>
            </a:r>
            <a:endParaRPr sz="145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11E63E17-2DAB-4568-8D82-F1DB3B5BB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4700016"/>
            <a:ext cx="3364992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93A7B8"/>
                </a:solidFill>
                <a:latin typeface="Microsoft YaHei"/>
                <a:ea typeface="Microsoft YaHei"/>
                <a:cs typeface="Microsoft YaHei"/>
              </a:rPr>
              <a:t>8 栋建筑分别训练与评价</a:t>
            </a:r>
            <a:endParaRPr sz="105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5BFB6C83-484C-45FD-B5A7-A8986BEEB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" y="3877056"/>
            <a:ext cx="525780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B8C8D5"/>
                </a:solidFill>
                <a:latin typeface="Microsoft YaHei"/>
                <a:ea typeface="Microsoft YaHei"/>
                <a:cs typeface="Microsoft YaHei"/>
              </a:rPr>
              <a:t>用验证集调度表现选择负荷预测组合，在本次八建筑实验中取得改善。</a:t>
            </a:r>
            <a:endParaRPr sz="170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C3BD20CE-C340-4356-A362-742187439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5138928"/>
            <a:ext cx="2066544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173A54"/>
          </a:solidFill>
          <a:ln xmlns:a="http://schemas.openxmlformats.org/drawingml/2006/main" w="12700">
            <a:solidFill>
              <a:srgbClr val="173A54">
                <a:alpha val="0"/>
              </a:srgbClr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B1A6A78F-3C5F-444D-AD8B-1F1DC721E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5180076"/>
            <a:ext cx="19202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80" b="1">
                <a:solidFill>
                  <a:srgbClr val="24C7FF"/>
                </a:solidFill>
                <a:latin typeface="Microsoft YaHei"/>
                <a:ea typeface="Microsoft YaHei"/>
                <a:cs typeface="Microsoft YaHei"/>
              </a:rPr>
              <a:t>DOEF v1.0 · 八建筑仿真验证</a:t>
            </a:r>
            <a:endParaRPr sz="88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E49D3635-51A0-4C54-AE79-1C8E86F3F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5650992"/>
            <a:ext cx="57150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70">
                <a:solidFill>
                  <a:srgbClr val="71889A"/>
                </a:solidFill>
                <a:latin typeface="Microsoft YaHei"/>
                <a:ea typeface="Microsoft YaHei"/>
                <a:cs typeface="Microsoft YaHei"/>
              </a:rPr>
              <a:t>8 栋办公建筑 · 单一测试月 · 24 h 超前预测 · 离线仿真</a:t>
            </a:r>
            <a:endParaRPr sz="97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47E31CDE-0488-4403-8C9C-75F2C400D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6F8295"/>
                </a:solidFill>
                <a:latin typeface="Microsoft YaHei"/>
                <a:ea typeface="Microsoft YaHei"/>
                <a:cs typeface="Microsoft YaHei"/>
              </a:rPr>
              <a:t>智储云控 · DOEF | 8 栋办公建筑仿真实验</a:t>
            </a:r>
            <a:endParaRPr sz="75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83ECC298-AA53-49E9-ADAE-71B3AB7706F6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6F8295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12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05477716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2FDADB30-1EB1-4ECF-A36D-F93BF0572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6F4E9C"/>
                </a:solidFill>
                <a:latin typeface="Arial"/>
                <a:ea typeface="Arial"/>
                <a:cs typeface="Arial"/>
              </a:rPr>
              <a:t>DOEF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191AFDB-3961-4A0D-B67C-BF9ABC167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A8897"/>
                </a:solidFill>
                <a:latin typeface="Arial"/>
                <a:ea typeface="Arial"/>
                <a:cs typeface="Arial"/>
              </a:rPr>
              <a:t>附录 · 数据</a:t>
            </a:r>
            <a:endParaRPr sz="83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FFF9170E-0639-41F6-B785-1524518EB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1320" y="173736"/>
            <a:ext cx="896112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6F4E9C"/>
          </a:solidFill>
          <a:ln xmlns:a="http://schemas.openxmlformats.org/drawingml/2006/main" w="12700">
            <a:solidFill>
              <a:srgbClr val="6F4E9C">
                <a:alpha val="0"/>
              </a:srgbClr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D1C9C104-A54A-4F39-B2BF-E2A151A1A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4472" y="214884"/>
            <a:ext cx="74980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答疑</a:t>
            </a:r>
            <a:endParaRPr sz="82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4C268C85-C484-497D-A976-498778EC7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75488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建筑筛选与样本构成</a:t>
            </a:r>
            <a:endParaRPr sz="25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0D0ABAC0-26F3-4ACC-9D42-B41D4E7DF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98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5C6873"/>
                </a:solidFill>
                <a:latin typeface="Microsoft YaHei"/>
                <a:ea typeface="Microsoft YaHei"/>
                <a:cs typeface="Microsoft YaHei"/>
              </a:rPr>
              <a:t>先按数据质量确定候选范围，再用训练期负荷形态选楼；不使用验证或测试成绩。</a:t>
            </a:r>
            <a:endParaRPr sz="124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484691DF-56BA-499C-B6B1-C01107570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527048"/>
            <a:ext cx="2468880" cy="1115568"/>
          </a:xfrm>
          <a:prstGeom xmlns:a="http://schemas.openxmlformats.org/drawingml/2006/main" prst="roundRect">
            <a:avLst>
              <a:gd name="adj" fmla="val 73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0E7EF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D448831B-B3B4-40C5-AE86-2D8F47393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719072"/>
            <a:ext cx="1280160" cy="393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18212B"/>
                </a:solidFill>
                <a:latin typeface="Arial"/>
                <a:ea typeface="Arial"/>
                <a:cs typeface="Arial"/>
              </a:rPr>
              <a:t>1,578</a:t>
            </a:r>
            <a:endParaRPr sz="25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E9B8C0A0-0CA6-4B9D-BCEE-C61DD98BD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76272"/>
            <a:ext cx="20116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C6873"/>
                </a:solidFill>
                <a:latin typeface="Arial"/>
                <a:ea typeface="Arial"/>
                <a:cs typeface="Arial"/>
              </a:rPr>
              <a:t>building series</a:t>
            </a:r>
            <a:endParaRPr sz="95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22C9C997-2DBD-459B-8CD9-09D9DA08C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2084832"/>
            <a:ext cx="228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510">
            <a:solidFill>
              <a:srgbClr val="A9B6C2"/>
            </a:solidFill>
            <a:prstDash val="solid"/>
            <a:headEnd type="none"/>
            <a:tailEnd type="triangle"/>
          </a:ln>
        </p:spPr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28725423-1D30-4297-8549-0B69A97EE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7288" y="1527048"/>
            <a:ext cx="2468880" cy="1115568"/>
          </a:xfrm>
          <a:prstGeom xmlns:a="http://schemas.openxmlformats.org/drawingml/2006/main" prst="roundRect">
            <a:avLst>
              <a:gd name="adj" fmla="val 73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0E7EF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ECEDB639-060B-42D3-92E3-B46684A1B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880" y="1719072"/>
            <a:ext cx="1280160" cy="393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18212B"/>
                </a:solidFill>
                <a:latin typeface="Arial"/>
                <a:ea typeface="Arial"/>
                <a:cs typeface="Arial"/>
              </a:rPr>
              <a:t>296</a:t>
            </a:r>
            <a:endParaRPr sz="25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93FA2252-88F1-4CAF-A927-CA72C550E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880" y="2176272"/>
            <a:ext cx="20116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C6873"/>
                </a:solidFill>
                <a:latin typeface="Arial"/>
                <a:ea typeface="Arial"/>
                <a:cs typeface="Arial"/>
              </a:rPr>
              <a:t>office candidates</a:t>
            </a:r>
            <a:endParaRPr sz="95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70D8CB71-3A63-47AE-9F96-6B2947BFD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084832"/>
            <a:ext cx="228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510">
            <a:solidFill>
              <a:srgbClr val="A9B6C2"/>
            </a:solidFill>
            <a:prstDash val="solid"/>
            <a:headEnd type="none"/>
            <a:tailEnd type="triangle"/>
          </a:ln>
        </p:spPr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115B1D39-E8FA-47C0-A969-66C1E9601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6208" y="1527048"/>
            <a:ext cx="2468880" cy="1115568"/>
          </a:xfrm>
          <a:prstGeom xmlns:a="http://schemas.openxmlformats.org/drawingml/2006/main" prst="roundRect">
            <a:avLst>
              <a:gd name="adj" fmla="val 73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0E7EF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A31D8014-73EC-4A9C-98F5-0E597F340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719072"/>
            <a:ext cx="1280160" cy="393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18212B"/>
                </a:solidFill>
                <a:latin typeface="Arial"/>
                <a:ea typeface="Arial"/>
                <a:cs typeface="Arial"/>
              </a:rPr>
              <a:t>82</a:t>
            </a:r>
            <a:endParaRPr sz="25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5D711A50-569E-422A-AC68-12BC3D137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176272"/>
            <a:ext cx="20116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C6873"/>
                </a:solidFill>
                <a:latin typeface="Arial"/>
                <a:ea typeface="Arial"/>
                <a:cs typeface="Arial"/>
              </a:rPr>
              <a:t>quality pass</a:t>
            </a:r>
            <a:endParaRPr sz="95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1DBA0575-DAA3-4732-A66B-E29A0E631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084832"/>
            <a:ext cx="228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510">
            <a:solidFill>
              <a:srgbClr val="A9B6C2"/>
            </a:solidFill>
            <a:prstDash val="solid"/>
            <a:headEnd type="none"/>
            <a:tailEnd type="triangle"/>
          </a:ln>
        </p:spPr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6C610F19-C562-427B-85B1-F00F7017F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5128" y="1527048"/>
            <a:ext cx="2468880" cy="1115568"/>
          </a:xfrm>
          <a:prstGeom xmlns:a="http://schemas.openxmlformats.org/drawingml/2006/main" prst="roundRect">
            <a:avLst>
              <a:gd name="adj" fmla="val 7377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10160">
            <a:solidFill>
              <a:srgbClr val="A9D7F6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0AC4705E-4F44-4E99-862E-EE4E0A7CA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9720" y="1719072"/>
            <a:ext cx="1280160" cy="393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8</a:t>
            </a:r>
            <a:endParaRPr sz="25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BDE1A05B-6111-48D6-99C4-46DFCD173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9720" y="2176272"/>
            <a:ext cx="20116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C6873"/>
                </a:solidFill>
                <a:latin typeface="Arial"/>
                <a:ea typeface="Arial"/>
                <a:cs typeface="Arial"/>
              </a:rPr>
              <a:t>fixed offices</a:t>
            </a:r>
            <a:endParaRPr sz="950"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C2B5DE02-E81A-4208-B315-E1DA60F55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953512"/>
            <a:ext cx="4709160" cy="2916936"/>
          </a:xfrm>
          <a:prstGeom xmlns:a="http://schemas.openxmlformats.org/drawingml/2006/main" prst="roundRect">
            <a:avLst>
              <a:gd name="adj" fmla="val 28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0E7EF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383085E7-2521-4D13-93A2-58057609C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18688"/>
            <a:ext cx="15544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建筑样本</a:t>
            </a:r>
            <a:endParaRPr sz="12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19CDBA87-F89B-4724-89BD-B3AF35722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03320"/>
            <a:ext cx="190195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10">
                <a:solidFill>
                  <a:srgbClr val="5C6873"/>
                </a:solidFill>
                <a:latin typeface="Arial"/>
                <a:ea typeface="Arial"/>
                <a:cs typeface="Arial"/>
              </a:rPr>
              <a:t>01  Hog · Rolando</a:t>
            </a:r>
            <a:endParaRPr sz="101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D1F01210-0268-4432-8C96-9B858A090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78808"/>
            <a:ext cx="190195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10">
                <a:solidFill>
                  <a:srgbClr val="5C6873"/>
                </a:solidFill>
                <a:latin typeface="Arial"/>
                <a:ea typeface="Arial"/>
                <a:cs typeface="Arial"/>
              </a:rPr>
              <a:t>02  Hog · Lavon</a:t>
            </a:r>
            <a:endParaRPr sz="101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82888CBC-2B6E-4475-9893-B9AA18998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54296"/>
            <a:ext cx="190195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10">
                <a:solidFill>
                  <a:srgbClr val="5C6873"/>
                </a:solidFill>
                <a:latin typeface="Arial"/>
                <a:ea typeface="Arial"/>
                <a:cs typeface="Arial"/>
              </a:rPr>
              <a:t>03  Hog · Joey</a:t>
            </a:r>
            <a:endParaRPr sz="101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91133E9F-4D58-49E7-9C8B-1B38FF43D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29784"/>
            <a:ext cx="190195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10">
                <a:solidFill>
                  <a:srgbClr val="5C6873"/>
                </a:solidFill>
                <a:latin typeface="Arial"/>
                <a:ea typeface="Arial"/>
                <a:cs typeface="Arial"/>
              </a:rPr>
              <a:t>04  Lamb · Caitlin</a:t>
            </a:r>
            <a:endParaRPr sz="101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0113A9C7-2AE9-41C3-9CCC-D24D3F11A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4952" y="3703320"/>
            <a:ext cx="190195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10">
                <a:solidFill>
                  <a:srgbClr val="5C6873"/>
                </a:solidFill>
                <a:latin typeface="Arial"/>
                <a:ea typeface="Arial"/>
                <a:cs typeface="Arial"/>
              </a:rPr>
              <a:t>05  Robin · Addie</a:t>
            </a:r>
            <a:endParaRPr sz="101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8ED94D5B-D354-4372-B37C-653458CE7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4952" y="4178808"/>
            <a:ext cx="190195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10">
                <a:solidFill>
                  <a:srgbClr val="5C6873"/>
                </a:solidFill>
                <a:latin typeface="Arial"/>
                <a:ea typeface="Arial"/>
                <a:cs typeface="Arial"/>
              </a:rPr>
              <a:t>06  Lamb · Gerardo</a:t>
            </a:r>
            <a:endParaRPr sz="1010"/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242FB9F5-80E2-45BB-81B6-AA70C1F13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4952" y="4654296"/>
            <a:ext cx="190195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10">
                <a:solidFill>
                  <a:srgbClr val="5C6873"/>
                </a:solidFill>
                <a:latin typeface="Arial"/>
                <a:ea typeface="Arial"/>
                <a:cs typeface="Arial"/>
              </a:rPr>
              <a:t>07  Hog · Alexis</a:t>
            </a:r>
            <a:endParaRPr sz="1010"/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25B732B8-3BE9-4948-AEC1-418AB98B5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4952" y="5129784"/>
            <a:ext cx="190195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10">
                <a:solidFill>
                  <a:srgbClr val="5C6873"/>
                </a:solidFill>
                <a:latin typeface="Arial"/>
                <a:ea typeface="Arial"/>
                <a:cs typeface="Arial"/>
              </a:rPr>
              <a:t>08  Hog · Byron</a:t>
            </a:r>
            <a:endParaRPr sz="1010"/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264C8E59-81CB-4642-8AC7-72E9F58B8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2953512"/>
            <a:ext cx="5925312" cy="2916936"/>
          </a:xfrm>
          <a:prstGeom xmlns:a="http://schemas.openxmlformats.org/drawingml/2006/main" prst="roundRect">
            <a:avLst>
              <a:gd name="adj" fmla="val 2821"/>
            </a:avLst>
          </a:prstGeom>
          <a:solidFill xmlns:a="http://schemas.openxmlformats.org/drawingml/2006/main">
            <a:srgbClr val="0B192B"/>
          </a:solidFill>
          <a:ln xmlns:a="http://schemas.openxmlformats.org/drawingml/2006/main" w="10160">
            <a:solidFill>
              <a:srgbClr val="0B192B"/>
            </a:solidFill>
            <a:prstDash val="solid"/>
          </a:ln>
        </p:spPr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97058681-7CEE-4675-BFD4-676F18199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5312" y="3236976"/>
            <a:ext cx="25603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24C7FF"/>
                </a:solidFill>
                <a:latin typeface="Arial"/>
                <a:ea typeface="Arial"/>
                <a:cs typeface="Arial"/>
              </a:rPr>
              <a:t>Train-only morphology features</a:t>
            </a:r>
            <a:endParaRPr sz="1100"/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76CB3E3D-63C4-47CD-B50F-6F899A636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730752"/>
            <a:ext cx="2267712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30">
                <a:solidFill>
                  <a:srgbClr val="B4C3CF"/>
                </a:solidFill>
                <a:latin typeface="Arial"/>
                <a:ea typeface="Arial"/>
                <a:cs typeface="Arial"/>
              </a:rPr>
              <a:t>• log mean load</a:t>
            </a:r>
            <a:endParaRPr sz="930"/>
          </a:p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AFDCB2DC-22D3-4F1C-ABF4-5946DB7E7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730752"/>
            <a:ext cx="2267712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30">
                <a:solidFill>
                  <a:srgbClr val="B4C3CF"/>
                </a:solidFill>
                <a:latin typeface="Arial"/>
                <a:ea typeface="Arial"/>
                <a:cs typeface="Arial"/>
              </a:rPr>
              <a:t>• coefficient of variation</a:t>
            </a:r>
            <a:endParaRPr sz="930"/>
          </a:p>
        </p:txBody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7FFCD9FC-28F5-4274-A998-A0D48EADB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123944"/>
            <a:ext cx="2267712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30">
                <a:solidFill>
                  <a:srgbClr val="B4C3CF"/>
                </a:solidFill>
                <a:latin typeface="Arial"/>
                <a:ea typeface="Arial"/>
                <a:cs typeface="Arial"/>
              </a:rPr>
              <a:t>• peak-to-average ratio</a:t>
            </a:r>
            <a:endParaRPr sz="930"/>
          </a:p>
        </p:txBody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619F013D-5F6A-4E60-ACAD-501D47F0F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123944"/>
            <a:ext cx="2267712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30">
                <a:solidFill>
                  <a:srgbClr val="B4C3CF"/>
                </a:solidFill>
                <a:latin typeface="Arial"/>
                <a:ea typeface="Arial"/>
                <a:cs typeface="Arial"/>
              </a:rPr>
              <a:t>• peak–valley range</a:t>
            </a:r>
            <a:endParaRPr sz="930"/>
          </a:p>
        </p:txBody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9C769397-5EA5-40DE-A40F-990FD9A61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517136"/>
            <a:ext cx="2267712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30">
                <a:solidFill>
                  <a:srgbClr val="B4C3CF"/>
                </a:solidFill>
                <a:latin typeface="Arial"/>
                <a:ea typeface="Arial"/>
                <a:cs typeface="Arial"/>
              </a:rPr>
              <a:t>• lag-24 autocorrelation</a:t>
            </a:r>
            <a:endParaRPr sz="930"/>
          </a:p>
        </p:txBody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B6006AFD-7A66-4115-83D2-AAB7A4F50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517136"/>
            <a:ext cx="2267712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30">
                <a:solidFill>
                  <a:srgbClr val="B4C3CF"/>
                </a:solidFill>
                <a:latin typeface="Arial"/>
                <a:ea typeface="Arial"/>
                <a:cs typeface="Arial"/>
              </a:rPr>
              <a:t>• lag-168 autocorrelation</a:t>
            </a:r>
            <a:endParaRPr sz="930"/>
          </a:p>
        </p:txBody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B28AA9C7-EE83-4E2C-B5E2-FFFED5334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910328"/>
            <a:ext cx="2267712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30">
                <a:solidFill>
                  <a:srgbClr val="B4C3CF"/>
                </a:solidFill>
                <a:latin typeface="Arial"/>
                <a:ea typeface="Arial"/>
                <a:cs typeface="Arial"/>
              </a:rPr>
              <a:t>• weekday–weekend difference</a:t>
            </a:r>
            <a:endParaRPr sz="930"/>
          </a:p>
        </p:txBody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9B92851F-65DA-473C-B89B-78712B11E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910328"/>
            <a:ext cx="2267712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30">
                <a:solidFill>
                  <a:srgbClr val="B4C3CF"/>
                </a:solidFill>
                <a:latin typeface="Arial"/>
                <a:ea typeface="Arial"/>
                <a:cs typeface="Arial"/>
              </a:rPr>
              <a:t>• daily-profile variability</a:t>
            </a:r>
            <a:endParaRPr sz="930"/>
          </a:p>
        </p:txBody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1B544AC1-D4D9-4531-B493-161634A8D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5303520"/>
            <a:ext cx="2267712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30">
                <a:solidFill>
                  <a:srgbClr val="B4C3CF"/>
                </a:solidFill>
                <a:latin typeface="Arial"/>
                <a:ea typeface="Arial"/>
                <a:cs typeface="Arial"/>
              </a:rPr>
              <a:t>• robust outlier fraction</a:t>
            </a:r>
            <a:endParaRPr sz="930"/>
          </a:p>
        </p:txBody>
      </p:sp>
      <p:sp>
        <p:nvSpPr>
          <p:cNvPr id="44" name="Shape 42">
            <a:extLst xmlns:a="http://schemas.openxmlformats.org/drawingml/2006/main">
              <a:ext uri="{FF2B5EF4-FFF2-40B4-BE49-F238E27FC236}">
                <a16:creationId xmlns:a16="http://schemas.microsoft.com/office/drawing/2014/main" id="{CBE327D8-23AD-461A-83C6-AE844EDDA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5512" y="5504688"/>
            <a:ext cx="2084832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2D2548"/>
          </a:solidFill>
          <a:ln xmlns:a="http://schemas.openxmlformats.org/drawingml/2006/main" w="12700">
            <a:solidFill>
              <a:srgbClr val="2D2548">
                <a:alpha val="0"/>
              </a:srgbClr>
            </a:solidFill>
            <a:prstDash val="solid"/>
          </a:ln>
        </p:spPr>
      </p:sp>
      <p:sp>
        <p:nvSpPr>
          <p:cNvPr id="45" name="Text 43">
            <a:extLst xmlns:a="http://schemas.openxmlformats.org/drawingml/2006/main">
              <a:ext uri="{FF2B5EF4-FFF2-40B4-BE49-F238E27FC236}">
                <a16:creationId xmlns:a16="http://schemas.microsoft.com/office/drawing/2014/main" id="{5DCADFD5-4B7E-42A2-8C32-7159DAA96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8664" y="5545836"/>
            <a:ext cx="193852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90" b="1">
                <a:solidFill>
                  <a:srgbClr val="D9CCFF"/>
                </a:solidFill>
                <a:latin typeface="Microsoft YaHei"/>
                <a:ea typeface="Microsoft YaHei"/>
                <a:cs typeface="Microsoft YaHei"/>
              </a:rPr>
              <a:t>NO Validation/Test performance used</a:t>
            </a:r>
            <a:endParaRPr sz="790"/>
          </a:p>
        </p:txBody>
      </p:sp>
      <p:sp>
        <p:nvSpPr>
          <p:cNvPr id="46" name="Text 44">
            <a:extLst xmlns:a="http://schemas.openxmlformats.org/drawingml/2006/main">
              <a:ext uri="{FF2B5EF4-FFF2-40B4-BE49-F238E27FC236}">
                <a16:creationId xmlns:a16="http://schemas.microsoft.com/office/drawing/2014/main" id="{41BB5A6E-F89A-45CA-B55C-029BDA64C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153912"/>
            <a:ext cx="107442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70">
                <a:solidFill>
                  <a:srgbClr val="97A2AD"/>
                </a:solidFill>
                <a:latin typeface="Arial"/>
                <a:ea typeface="Arial"/>
                <a:cs typeface="Arial"/>
              </a:rPr>
              <a:t>Frozen source: outputs/phase7/selected_buildings.json</a:t>
            </a:r>
            <a:endParaRPr sz="670"/>
          </a:p>
        </p:txBody>
      </p:sp>
      <p:sp>
        <p:nvSpPr>
          <p:cNvPr id="47" name="Text 45">
            <a:extLst xmlns:a="http://schemas.openxmlformats.org/drawingml/2006/main">
              <a:ext uri="{FF2B5EF4-FFF2-40B4-BE49-F238E27FC236}">
                <a16:creationId xmlns:a16="http://schemas.microsoft.com/office/drawing/2014/main" id="{879CDDCD-2144-4427-A65F-5F5170BAC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8996A4"/>
                </a:solidFill>
                <a:latin typeface="Microsoft YaHei"/>
                <a:ea typeface="Microsoft YaHei"/>
                <a:cs typeface="Microsoft YaHei"/>
              </a:rPr>
              <a:t>智储云控 · DOEF | 补充实验与方法说明</a:t>
            </a:r>
            <a:endParaRPr sz="750"/>
          </a:p>
        </p:txBody>
      </p:sp>
      <p:sp>
        <p:nvSpPr>
          <p:cNvPr id="48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E628DAA5-DBFB-4A92-9ABA-A7FE8233FB66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A98A8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13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02883216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62D7193-1C45-45D7-A265-0F946CFCB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6F4E9C"/>
                </a:solidFill>
                <a:latin typeface="Arial"/>
                <a:ea typeface="Arial"/>
                <a:cs typeface="Arial"/>
              </a:rPr>
              <a:t>DOEF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1A0545E-A276-4323-997F-809C95F60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A8897"/>
                </a:solidFill>
                <a:latin typeface="Arial"/>
                <a:ea typeface="Arial"/>
                <a:cs typeface="Arial"/>
              </a:rPr>
              <a:t>附录 · 方法</a:t>
            </a:r>
            <a:endParaRPr sz="83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C22BCC63-D7ED-4659-8F42-7683977EF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1320" y="173736"/>
            <a:ext cx="896112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6F4E9C"/>
          </a:solidFill>
          <a:ln xmlns:a="http://schemas.openxmlformats.org/drawingml/2006/main" w="12700">
            <a:solidFill>
              <a:srgbClr val="6F4E9C">
                <a:alpha val="0"/>
              </a:srgbClr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8B4FFBE2-38D1-4B57-A38B-947D08042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4472" y="214884"/>
            <a:ext cx="74980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答疑</a:t>
            </a:r>
            <a:endParaRPr sz="82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9635E56E-1C01-480A-B0F1-28A493FF4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75488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因果特征与时间切分</a:t>
            </a:r>
            <a:endParaRPr sz="25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7A930D93-EB0C-4C6D-82A4-18C8B2170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98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5C6873"/>
                </a:solidFill>
                <a:latin typeface="Microsoft YaHei"/>
                <a:ea typeface="Microsoft YaHei"/>
                <a:cs typeface="Microsoft YaHei"/>
              </a:rPr>
              <a:t>24 h 超前预测仅使用当时可获得的负荷和日历信息，按目标可用性处理切分边界。</a:t>
            </a:r>
            <a:endParaRPr sz="124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2B69DC4A-8DB7-4FEE-851E-D48C324EE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44752"/>
            <a:ext cx="8732520" cy="4434840"/>
          </a:xfrm>
          <a:prstGeom xmlns:a="http://schemas.openxmlformats.org/drawingml/2006/main" prst="roundRect">
            <a:avLst>
              <a:gd name="adj" fmla="val 18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2E8F0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pic>
        <p:nvPicPr>
          <p:cNvPr id="3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1dafd5de5d40e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13028" y="1472184"/>
            <a:ext cx="7786624" cy="4379976"/>
          </a:xfrm>
          <a:prstGeom xmlns:a="http://schemas.openxmlformats.org/drawingml/2006/main" prst="rect">
            <a:avLst/>
          </a:prstGeom>
        </p:spPr>
      </p:pic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8DF1A6C5-4EA7-4F17-B5AB-BAFC5F184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912" y="1444752"/>
            <a:ext cx="1947672" cy="4434840"/>
          </a:xfrm>
          <a:prstGeom xmlns:a="http://schemas.openxmlformats.org/drawingml/2006/main" prst="roundRect">
            <a:avLst>
              <a:gd name="adj" fmla="val 4225"/>
            </a:avLst>
          </a:prstGeom>
          <a:solidFill xmlns:a="http://schemas.openxmlformats.org/drawingml/2006/main">
            <a:srgbClr val="0B192B"/>
          </a:solidFill>
          <a:ln xmlns:a="http://schemas.openxmlformats.org/drawingml/2006/main" w="10160">
            <a:solidFill>
              <a:srgbClr val="0B192B"/>
            </a:solidFill>
            <a:prstDash val="solid"/>
          </a:ln>
        </p:spPr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397A221C-6760-4934-81AD-515DCF29A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1792224"/>
            <a:ext cx="12801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24C7FF"/>
                </a:solidFill>
                <a:latin typeface="Microsoft YaHei"/>
                <a:ea typeface="Microsoft YaHei"/>
                <a:cs typeface="Microsoft YaHei"/>
              </a:rPr>
              <a:t>信息边界</a:t>
            </a:r>
            <a:endParaRPr sz="11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37F7121A-CDF0-4CC0-B5C7-622E4B0A7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267712"/>
            <a:ext cx="1325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30">
                <a:solidFill>
                  <a:srgbClr val="B5C4D0"/>
                </a:solidFill>
                <a:latin typeface="Arial"/>
                <a:ea typeface="Arial"/>
                <a:cs typeface="Arial"/>
              </a:rPr>
              <a:t>• positive lags</a:t>
            </a:r>
            <a:endParaRPr sz="93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41A276BE-450C-44D2-8A93-AD2C190A5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697480"/>
            <a:ext cx="1325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30">
                <a:solidFill>
                  <a:srgbClr val="B5C4D0"/>
                </a:solidFill>
                <a:latin typeface="Arial"/>
                <a:ea typeface="Arial"/>
                <a:cs typeface="Arial"/>
              </a:rPr>
              <a:t>• shifted history</a:t>
            </a:r>
            <a:endParaRPr sz="93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9405C950-61D6-453C-BF6D-0748D0DCA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127248"/>
            <a:ext cx="1325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30">
                <a:solidFill>
                  <a:srgbClr val="B5C4D0"/>
                </a:solidFill>
                <a:latin typeface="Arial"/>
                <a:ea typeface="Arial"/>
                <a:cs typeface="Arial"/>
              </a:rPr>
              <a:t>• calendar state</a:t>
            </a:r>
            <a:endParaRPr sz="93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BF2C6B0F-E1F0-49EF-8F00-6517886C3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557016"/>
            <a:ext cx="1325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30">
                <a:solidFill>
                  <a:srgbClr val="B5C4D0"/>
                </a:solidFill>
                <a:latin typeface="Arial"/>
                <a:ea typeface="Arial"/>
                <a:cs typeface="Arial"/>
              </a:rPr>
              <a:t>• no weather</a:t>
            </a:r>
            <a:endParaRPr sz="930"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4126F32A-9D52-49B7-A551-08A54D696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986784"/>
            <a:ext cx="1325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30">
                <a:solidFill>
                  <a:srgbClr val="B5C4D0"/>
                </a:solidFill>
                <a:latin typeface="Arial"/>
                <a:ea typeface="Arial"/>
                <a:cs typeface="Arial"/>
              </a:rPr>
              <a:t>• no target leakage</a:t>
            </a:r>
            <a:endParaRPr sz="930"/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ADFCE290-010F-4FD8-A30E-6DA988479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0" y="4773168"/>
            <a:ext cx="1536192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3B2B20"/>
          </a:solidFill>
          <a:ln xmlns:a="http://schemas.openxmlformats.org/drawingml/2006/main" w="12700">
            <a:solidFill>
              <a:srgbClr val="3B2B20">
                <a:alpha val="0"/>
              </a:srgbClr>
            </a:solidFill>
            <a:prstDash val="solid"/>
          </a:ln>
        </p:spPr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3AA5573F-1DC0-4F27-B078-46E52B264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7232" y="4814316"/>
            <a:ext cx="138988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10" b="1">
                <a:solidFill>
                  <a:srgbClr val="FFC494"/>
                </a:solidFill>
                <a:latin typeface="Microsoft YaHei"/>
                <a:ea typeface="Microsoft YaHei"/>
                <a:cs typeface="Microsoft YaHei"/>
              </a:rPr>
              <a:t>历史测试期已被查看</a:t>
            </a:r>
            <a:endParaRPr sz="71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8C3308A6-1049-42A4-9FDC-1B5703E82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153912"/>
            <a:ext cx="107442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70">
                <a:solidFill>
                  <a:srgbClr val="97A2AD"/>
                </a:solidFill>
                <a:latin typeface="Arial"/>
                <a:ea typeface="Arial"/>
                <a:cs typeface="Arial"/>
              </a:rPr>
              <a:t>Frozen source: ARCH-01 · prior Test visibility caveat retained</a:t>
            </a:r>
            <a:endParaRPr sz="670"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D4A1A273-A793-4980-ADE7-7073C22FD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8996A4"/>
                </a:solidFill>
                <a:latin typeface="Microsoft YaHei"/>
                <a:ea typeface="Microsoft YaHei"/>
                <a:cs typeface="Microsoft YaHei"/>
              </a:rPr>
              <a:t>智储云控 · DOEF | 补充实验与方法说明</a:t>
            </a:r>
            <a:endParaRPr sz="75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E2C47E16-0CA3-4CFF-ABD7-76EC2A927A8E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A98A8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14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03793158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940836B-0DD5-4C5C-A89D-E6442FBC3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6F4E9C"/>
                </a:solidFill>
                <a:latin typeface="Arial"/>
                <a:ea typeface="Arial"/>
                <a:cs typeface="Arial"/>
              </a:rPr>
              <a:t>DOEF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EA9B409-180E-4D45-8098-33A97DD2F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A8897"/>
                </a:solidFill>
                <a:latin typeface="Arial"/>
                <a:ea typeface="Arial"/>
                <a:cs typeface="Arial"/>
              </a:rPr>
              <a:t>附录 · 模型</a:t>
            </a:r>
            <a:endParaRPr sz="83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209116AE-561C-44C2-9296-E22D80C8C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1320" y="173736"/>
            <a:ext cx="896112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6F4E9C"/>
          </a:solidFill>
          <a:ln xmlns:a="http://schemas.openxmlformats.org/drawingml/2006/main" w="12700">
            <a:solidFill>
              <a:srgbClr val="6F4E9C">
                <a:alpha val="0"/>
              </a:srgbClr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F5E0962F-0EF6-4A0A-B6D1-9D983E9D6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4472" y="214884"/>
            <a:ext cx="74980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答疑</a:t>
            </a:r>
            <a:endParaRPr sz="82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DF5667EB-E888-469B-8B42-AA4B36E63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75488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预测基线与模型组成</a:t>
            </a:r>
            <a:endParaRPr sz="24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AFD5A6D9-5301-418D-BA96-5FB65C645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98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5C6873"/>
                </a:solidFill>
                <a:latin typeface="Microsoft YaHei"/>
                <a:ea typeface="Microsoft YaHei"/>
                <a:cs typeface="Microsoft YaHei"/>
              </a:rPr>
              <a:t>DayWeek 与逐建筑 LightGBM 构成 DOEF，其余模型用于基线比较。</a:t>
            </a:r>
            <a:endParaRPr sz="124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F29B6D87-CA13-42B6-BD68-BC80CE366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2057400" cy="4389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B3F"/>
          </a:solidFill>
          <a:ln xmlns:a="http://schemas.openxmlformats.org/drawingml/2006/main" w="12700">
            <a:solidFill>
              <a:srgbClr val="182B3F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1D67B40A-DC08-49E6-B5E6-4766813FA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1746504"/>
            <a:ext cx="18745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2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Method</a:t>
            </a:r>
            <a:endParaRPr sz="92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95FC88CC-AD0A-43CB-93B4-86896AA12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5768" y="1627632"/>
            <a:ext cx="3017520" cy="4389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B3F"/>
          </a:solidFill>
          <a:ln xmlns:a="http://schemas.openxmlformats.org/drawingml/2006/main" w="12700">
            <a:solidFill>
              <a:srgbClr val="182B3F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EFE58B86-4C87-43AC-A02F-233526ABD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7208" y="1746504"/>
            <a:ext cx="28346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2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Definition / input</a:t>
            </a:r>
            <a:endParaRPr sz="92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928B0057-0DE2-4FB2-B5FB-D684226A4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3288" y="1627632"/>
            <a:ext cx="3017520" cy="4389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B3F"/>
          </a:solidFill>
          <a:ln xmlns:a="http://schemas.openxmlformats.org/drawingml/2006/main" w="12700">
            <a:solidFill>
              <a:srgbClr val="182B3F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FFFB82E-458B-4471-8D18-01E868691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28" y="1746504"/>
            <a:ext cx="28346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2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Role in benchmark</a:t>
            </a:r>
            <a:endParaRPr sz="92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F4295D26-A5C0-496B-A2ED-3DA06A2EA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0808" y="1627632"/>
            <a:ext cx="1920240" cy="4389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B3F"/>
          </a:solidFill>
          <a:ln xmlns:a="http://schemas.openxmlformats.org/drawingml/2006/main" w="12700">
            <a:solidFill>
              <a:srgbClr val="182B3F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065AB13D-CA5F-4006-99F2-0E9BBA225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2248" y="1746504"/>
            <a:ext cx="17373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2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Novelty claim?</a:t>
            </a:r>
            <a:endParaRPr sz="92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722A3683-4C92-4197-B61C-4E8ADD650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066544"/>
            <a:ext cx="205740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764A0FBE-3507-4362-97B2-0AC7B70F8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2176272"/>
            <a:ext cx="18745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Arial"/>
                <a:ea typeface="Arial"/>
                <a:cs typeface="Arial"/>
              </a:rPr>
              <a:t>Day Persistence</a:t>
            </a:r>
            <a:endParaRPr sz="94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67BE965D-3709-4CDE-B131-51275E494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5768" y="2066544"/>
            <a:ext cx="301752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DF6CC548-909C-483F-8E52-259337326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7208" y="2176272"/>
            <a:ext cx="28346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Arial"/>
                <a:ea typeface="Arial"/>
                <a:cs typeface="Arial"/>
              </a:rPr>
              <a:t>t−24 h</a:t>
            </a:r>
            <a:endParaRPr sz="94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E5BEAD90-A0E1-4023-9308-2C86F917D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3288" y="2066544"/>
            <a:ext cx="301752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7E305E08-F6C2-46BA-8B32-DB20413DF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28" y="2176272"/>
            <a:ext cx="28346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Baseline</a:t>
            </a:r>
            <a:endParaRPr sz="94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B08458BC-0980-4E72-AEDC-2312CCF57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0808" y="2066544"/>
            <a:ext cx="192024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0FD7C8A0-7671-4E58-96CC-902BE8CA5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2248" y="2176272"/>
            <a:ext cx="1737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No</a:t>
            </a:r>
            <a:endParaRPr sz="94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4DD92D8A-897F-4FD6-A135-A891A403E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560320"/>
            <a:ext cx="205740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412768BD-7122-4414-B49A-8CA7492DE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2670048"/>
            <a:ext cx="18745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Arial"/>
                <a:ea typeface="Arial"/>
                <a:cs typeface="Arial"/>
              </a:rPr>
              <a:t>Week</a:t>
            </a:r>
            <a:endParaRPr sz="940"/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0B3B2D6B-85CA-42F7-88C3-F1F08731B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5768" y="2560320"/>
            <a:ext cx="301752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CAF716EE-DC5B-4BCF-A201-FE0725838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7208" y="2670048"/>
            <a:ext cx="28346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Arial"/>
                <a:ea typeface="Arial"/>
                <a:cs typeface="Arial"/>
              </a:rPr>
              <a:t>t−168 h</a:t>
            </a:r>
            <a:endParaRPr sz="940"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562A0010-BF4F-4D14-9183-68E50F11F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3288" y="2560320"/>
            <a:ext cx="301752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E35FCE00-2ABB-49EF-B663-AABB7DB7D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28" y="2670048"/>
            <a:ext cx="28346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Baseline</a:t>
            </a:r>
            <a:endParaRPr sz="940"/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1C205D20-C6EB-4BC2-93B2-17F788E27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0808" y="2560320"/>
            <a:ext cx="192024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1917FCEC-1E91-4114-9578-2C599C4E8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2248" y="2670048"/>
            <a:ext cx="1737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No</a:t>
            </a:r>
            <a:endParaRPr sz="940"/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A276B90D-DEB4-4C76-8DD7-3AA58458A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054096"/>
            <a:ext cx="205740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4937A726-E7D2-4F50-AB2F-EA747B7E6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163824"/>
            <a:ext cx="18745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Arial"/>
                <a:ea typeface="Arial"/>
                <a:cs typeface="Arial"/>
              </a:rPr>
              <a:t>DayWeek</a:t>
            </a:r>
            <a:endParaRPr sz="940"/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B31E292A-0190-4586-877C-CE1CF7874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5768" y="3054096"/>
            <a:ext cx="301752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1178F2CE-C203-45D9-8925-5C2968AE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7208" y="3163824"/>
            <a:ext cx="28346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Arial"/>
                <a:ea typeface="Arial"/>
                <a:cs typeface="Arial"/>
              </a:rPr>
              <a:t>0.5·Day + 0.5·Week</a:t>
            </a:r>
            <a:endParaRPr sz="940"/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36475BC0-BF4A-49F6-AB07-471D80B30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3288" y="3054096"/>
            <a:ext cx="301752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6A5B470B-CDC5-4C0A-A172-AF9E7333F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28" y="3163824"/>
            <a:ext cx="28346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DOEF component</a:t>
            </a:r>
            <a:endParaRPr sz="940"/>
          </a:p>
        </p:txBody>
      </p:sp>
      <p:sp>
        <p:nvSpPr>
          <p:cNvPr id="38" name="Shape 36">
            <a:extLst xmlns:a="http://schemas.openxmlformats.org/drawingml/2006/main">
              <a:ext uri="{FF2B5EF4-FFF2-40B4-BE49-F238E27FC236}">
                <a16:creationId xmlns:a16="http://schemas.microsoft.com/office/drawing/2014/main" id="{19A895B5-52BE-42C4-8173-E3EFFDD1B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0808" y="3054096"/>
            <a:ext cx="192024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7E2AB5A5-3138-4399-8323-BC7B18C99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2248" y="3163824"/>
            <a:ext cx="1737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No</a:t>
            </a:r>
            <a:endParaRPr sz="940"/>
          </a:p>
        </p:txBody>
      </p:sp>
      <p:sp>
        <p:nvSpPr>
          <p:cNvPr id="40" name="Shape 38">
            <a:extLst xmlns:a="http://schemas.openxmlformats.org/drawingml/2006/main">
              <a:ext uri="{FF2B5EF4-FFF2-40B4-BE49-F238E27FC236}">
                <a16:creationId xmlns:a16="http://schemas.microsoft.com/office/drawing/2014/main" id="{D7660F86-DE55-4B73-8B98-8079D759B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547872"/>
            <a:ext cx="205740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B3BFF4B1-A3CD-4E4A-915E-5A68C291A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657600"/>
            <a:ext cx="18745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Arial"/>
                <a:ea typeface="Arial"/>
                <a:cs typeface="Arial"/>
              </a:rPr>
              <a:t>LightGBM</a:t>
            </a:r>
            <a:endParaRPr sz="940"/>
          </a:p>
        </p:txBody>
      </p:sp>
      <p:sp>
        <p:nvSpPr>
          <p:cNvPr id="42" name="Shape 40">
            <a:extLst xmlns:a="http://schemas.openxmlformats.org/drawingml/2006/main">
              <a:ext uri="{FF2B5EF4-FFF2-40B4-BE49-F238E27FC236}">
                <a16:creationId xmlns:a16="http://schemas.microsoft.com/office/drawing/2014/main" id="{BB842C1D-3EF6-4AB6-B566-37782167A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5768" y="3547872"/>
            <a:ext cx="301752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EA4279CC-F0D1-4469-AA17-87D486960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7208" y="3657600"/>
            <a:ext cx="28346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Arial"/>
                <a:ea typeface="Arial"/>
                <a:cs typeface="Arial"/>
              </a:rPr>
              <a:t>causal features</a:t>
            </a:r>
            <a:endParaRPr sz="940"/>
          </a:p>
        </p:txBody>
      </p:sp>
      <p:sp>
        <p:nvSpPr>
          <p:cNvPr id="44" name="Shape 42">
            <a:extLst xmlns:a="http://schemas.openxmlformats.org/drawingml/2006/main">
              <a:ext uri="{FF2B5EF4-FFF2-40B4-BE49-F238E27FC236}">
                <a16:creationId xmlns:a16="http://schemas.microsoft.com/office/drawing/2014/main" id="{D58E1431-1F61-4610-9DB7-819CB6DF2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3288" y="3547872"/>
            <a:ext cx="301752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45" name="Text 43">
            <a:extLst xmlns:a="http://schemas.openxmlformats.org/drawingml/2006/main">
              <a:ext uri="{FF2B5EF4-FFF2-40B4-BE49-F238E27FC236}">
                <a16:creationId xmlns:a16="http://schemas.microsoft.com/office/drawing/2014/main" id="{C29A576F-A1B2-41FB-8CE3-C1992572F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28" y="3657600"/>
            <a:ext cx="28346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DOEF component / baseline</a:t>
            </a:r>
            <a:endParaRPr sz="940"/>
          </a:p>
        </p:txBody>
      </p:sp>
      <p:sp>
        <p:nvSpPr>
          <p:cNvPr id="46" name="Shape 44">
            <a:extLst xmlns:a="http://schemas.openxmlformats.org/drawingml/2006/main">
              <a:ext uri="{FF2B5EF4-FFF2-40B4-BE49-F238E27FC236}">
                <a16:creationId xmlns:a16="http://schemas.microsoft.com/office/drawing/2014/main" id="{4D514589-C96B-4F36-A99C-9DB2090CB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0808" y="3547872"/>
            <a:ext cx="192024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47" name="Text 45">
            <a:extLst xmlns:a="http://schemas.openxmlformats.org/drawingml/2006/main">
              <a:ext uri="{FF2B5EF4-FFF2-40B4-BE49-F238E27FC236}">
                <a16:creationId xmlns:a16="http://schemas.microsoft.com/office/drawing/2014/main" id="{63136171-9068-4097-A1BF-034A4738B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2248" y="3657600"/>
            <a:ext cx="1737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No</a:t>
            </a:r>
            <a:endParaRPr sz="940"/>
          </a:p>
        </p:txBody>
      </p:sp>
      <p:sp>
        <p:nvSpPr>
          <p:cNvPr id="48" name="Shape 46">
            <a:extLst xmlns:a="http://schemas.openxmlformats.org/drawingml/2006/main">
              <a:ext uri="{FF2B5EF4-FFF2-40B4-BE49-F238E27FC236}">
                <a16:creationId xmlns:a16="http://schemas.microsoft.com/office/drawing/2014/main" id="{B34D98D1-FC75-460A-8EB8-6C81ED197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041648"/>
            <a:ext cx="205740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49" name="Text 47">
            <a:extLst xmlns:a="http://schemas.openxmlformats.org/drawingml/2006/main">
              <a:ext uri="{FF2B5EF4-FFF2-40B4-BE49-F238E27FC236}">
                <a16:creationId xmlns:a16="http://schemas.microsoft.com/office/drawing/2014/main" id="{CB5AA714-9632-4DD5-AAA1-B4CCDA3E6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151376"/>
            <a:ext cx="18745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Arial"/>
                <a:ea typeface="Arial"/>
                <a:cs typeface="Arial"/>
              </a:rPr>
              <a:t>XGBoost</a:t>
            </a:r>
            <a:endParaRPr sz="940"/>
          </a:p>
        </p:txBody>
      </p:sp>
      <p:sp>
        <p:nvSpPr>
          <p:cNvPr id="50" name="Shape 48">
            <a:extLst xmlns:a="http://schemas.openxmlformats.org/drawingml/2006/main">
              <a:ext uri="{FF2B5EF4-FFF2-40B4-BE49-F238E27FC236}">
                <a16:creationId xmlns:a16="http://schemas.microsoft.com/office/drawing/2014/main" id="{A38F462B-0190-478B-AC38-6F007858E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5768" y="4041648"/>
            <a:ext cx="301752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51" name="Text 49">
            <a:extLst xmlns:a="http://schemas.openxmlformats.org/drawingml/2006/main">
              <a:ext uri="{FF2B5EF4-FFF2-40B4-BE49-F238E27FC236}">
                <a16:creationId xmlns:a16="http://schemas.microsoft.com/office/drawing/2014/main" id="{55BCFC7C-8FF2-4ADE-8F1A-BCFA22A7B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7208" y="4151376"/>
            <a:ext cx="28346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Arial"/>
                <a:ea typeface="Arial"/>
                <a:cs typeface="Arial"/>
              </a:rPr>
              <a:t>causal features</a:t>
            </a:r>
            <a:endParaRPr sz="940"/>
          </a:p>
        </p:txBody>
      </p:sp>
      <p:sp>
        <p:nvSpPr>
          <p:cNvPr id="52" name="Shape 50">
            <a:extLst xmlns:a="http://schemas.openxmlformats.org/drawingml/2006/main">
              <a:ext uri="{FF2B5EF4-FFF2-40B4-BE49-F238E27FC236}">
                <a16:creationId xmlns:a16="http://schemas.microsoft.com/office/drawing/2014/main" id="{3F6EB0AE-1B60-4138-8C81-BA546B680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3288" y="4041648"/>
            <a:ext cx="301752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53" name="Text 51">
            <a:extLst xmlns:a="http://schemas.openxmlformats.org/drawingml/2006/main">
              <a:ext uri="{FF2B5EF4-FFF2-40B4-BE49-F238E27FC236}">
                <a16:creationId xmlns:a16="http://schemas.microsoft.com/office/drawing/2014/main" id="{5757D292-1F2B-4DB2-9046-85AA10706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28" y="4151376"/>
            <a:ext cx="28346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Comparator</a:t>
            </a:r>
            <a:endParaRPr sz="940"/>
          </a:p>
        </p:txBody>
      </p:sp>
      <p:sp>
        <p:nvSpPr>
          <p:cNvPr id="54" name="Shape 52">
            <a:extLst xmlns:a="http://schemas.openxmlformats.org/drawingml/2006/main">
              <a:ext uri="{FF2B5EF4-FFF2-40B4-BE49-F238E27FC236}">
                <a16:creationId xmlns:a16="http://schemas.microsoft.com/office/drawing/2014/main" id="{A98011AD-1C75-499F-ACB9-662689978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0808" y="4041648"/>
            <a:ext cx="192024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55" name="Text 53">
            <a:extLst xmlns:a="http://schemas.openxmlformats.org/drawingml/2006/main">
              <a:ext uri="{FF2B5EF4-FFF2-40B4-BE49-F238E27FC236}">
                <a16:creationId xmlns:a16="http://schemas.microsoft.com/office/drawing/2014/main" id="{C3CAC5C3-61F9-4C14-96A4-002E8B673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2248" y="4151376"/>
            <a:ext cx="1737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No</a:t>
            </a:r>
            <a:endParaRPr sz="940"/>
          </a:p>
        </p:txBody>
      </p:sp>
      <p:sp>
        <p:nvSpPr>
          <p:cNvPr id="56" name="Shape 54">
            <a:extLst xmlns:a="http://schemas.openxmlformats.org/drawingml/2006/main">
              <a:ext uri="{FF2B5EF4-FFF2-40B4-BE49-F238E27FC236}">
                <a16:creationId xmlns:a16="http://schemas.microsoft.com/office/drawing/2014/main" id="{C2477144-9C87-4D06-A933-74E8B1419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535424"/>
            <a:ext cx="205740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57" name="Text 55">
            <a:extLst xmlns:a="http://schemas.openxmlformats.org/drawingml/2006/main">
              <a:ext uri="{FF2B5EF4-FFF2-40B4-BE49-F238E27FC236}">
                <a16:creationId xmlns:a16="http://schemas.microsoft.com/office/drawing/2014/main" id="{B2874543-7599-401B-9F2B-806DA7933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645152"/>
            <a:ext cx="18745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Arial"/>
                <a:ea typeface="Arial"/>
                <a:cs typeface="Arial"/>
              </a:rPr>
              <a:t>CatBoost</a:t>
            </a:r>
            <a:endParaRPr sz="940"/>
          </a:p>
        </p:txBody>
      </p:sp>
      <p:sp>
        <p:nvSpPr>
          <p:cNvPr id="58" name="Shape 56">
            <a:extLst xmlns:a="http://schemas.openxmlformats.org/drawingml/2006/main">
              <a:ext uri="{FF2B5EF4-FFF2-40B4-BE49-F238E27FC236}">
                <a16:creationId xmlns:a16="http://schemas.microsoft.com/office/drawing/2014/main" id="{5B61387D-7FF1-4BFC-A12D-84A01E123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5768" y="4535424"/>
            <a:ext cx="301752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59" name="Text 57">
            <a:extLst xmlns:a="http://schemas.openxmlformats.org/drawingml/2006/main">
              <a:ext uri="{FF2B5EF4-FFF2-40B4-BE49-F238E27FC236}">
                <a16:creationId xmlns:a16="http://schemas.microsoft.com/office/drawing/2014/main" id="{431D8904-45D9-4094-B693-7D620577A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7208" y="4645152"/>
            <a:ext cx="28346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Arial"/>
                <a:ea typeface="Arial"/>
                <a:cs typeface="Arial"/>
              </a:rPr>
              <a:t>causal features</a:t>
            </a:r>
            <a:endParaRPr sz="940"/>
          </a:p>
        </p:txBody>
      </p:sp>
      <p:sp>
        <p:nvSpPr>
          <p:cNvPr id="60" name="Shape 58">
            <a:extLst xmlns:a="http://schemas.openxmlformats.org/drawingml/2006/main">
              <a:ext uri="{FF2B5EF4-FFF2-40B4-BE49-F238E27FC236}">
                <a16:creationId xmlns:a16="http://schemas.microsoft.com/office/drawing/2014/main" id="{975CF371-A9FA-49A8-9820-F12EAF6C9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3288" y="4535424"/>
            <a:ext cx="301752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61" name="Text 59">
            <a:extLst xmlns:a="http://schemas.openxmlformats.org/drawingml/2006/main">
              <a:ext uri="{FF2B5EF4-FFF2-40B4-BE49-F238E27FC236}">
                <a16:creationId xmlns:a16="http://schemas.microsoft.com/office/drawing/2014/main" id="{0945A3D5-36ED-4147-A7DD-B7EA36A6D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28" y="4645152"/>
            <a:ext cx="28346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Comparator</a:t>
            </a:r>
            <a:endParaRPr sz="940"/>
          </a:p>
        </p:txBody>
      </p:sp>
      <p:sp>
        <p:nvSpPr>
          <p:cNvPr id="62" name="Shape 60">
            <a:extLst xmlns:a="http://schemas.openxmlformats.org/drawingml/2006/main">
              <a:ext uri="{FF2B5EF4-FFF2-40B4-BE49-F238E27FC236}">
                <a16:creationId xmlns:a16="http://schemas.microsoft.com/office/drawing/2014/main" id="{5F76185A-3CEB-47A5-98C8-075746B6B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0808" y="4535424"/>
            <a:ext cx="192024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63" name="Text 61">
            <a:extLst xmlns:a="http://schemas.openxmlformats.org/drawingml/2006/main">
              <a:ext uri="{FF2B5EF4-FFF2-40B4-BE49-F238E27FC236}">
                <a16:creationId xmlns:a16="http://schemas.microsoft.com/office/drawing/2014/main" id="{DBAC2B83-74E2-4EE0-8C4C-250406B9B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2248" y="4645152"/>
            <a:ext cx="1737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No</a:t>
            </a:r>
            <a:endParaRPr sz="940"/>
          </a:p>
        </p:txBody>
      </p:sp>
      <p:sp>
        <p:nvSpPr>
          <p:cNvPr id="64" name="Shape 62">
            <a:extLst xmlns:a="http://schemas.openxmlformats.org/drawingml/2006/main">
              <a:ext uri="{FF2B5EF4-FFF2-40B4-BE49-F238E27FC236}">
                <a16:creationId xmlns:a16="http://schemas.microsoft.com/office/drawing/2014/main" id="{68FB4C42-F9BC-4CFA-AB85-EDAA3828D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029200"/>
            <a:ext cx="205740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65" name="Text 63">
            <a:extLst xmlns:a="http://schemas.openxmlformats.org/drawingml/2006/main">
              <a:ext uri="{FF2B5EF4-FFF2-40B4-BE49-F238E27FC236}">
                <a16:creationId xmlns:a16="http://schemas.microsoft.com/office/drawing/2014/main" id="{9FE7A92A-83AA-4875-BF63-5D9AAD6C1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5138928"/>
            <a:ext cx="18745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DOEF</a:t>
            </a:r>
            <a:endParaRPr sz="940"/>
          </a:p>
        </p:txBody>
      </p:sp>
      <p:sp>
        <p:nvSpPr>
          <p:cNvPr id="66" name="Shape 64">
            <a:extLst xmlns:a="http://schemas.openxmlformats.org/drawingml/2006/main">
              <a:ext uri="{FF2B5EF4-FFF2-40B4-BE49-F238E27FC236}">
                <a16:creationId xmlns:a16="http://schemas.microsoft.com/office/drawing/2014/main" id="{AE2967AB-5830-4868-B116-5C0E13565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5768" y="5029200"/>
            <a:ext cx="301752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67" name="Text 65">
            <a:extLst xmlns:a="http://schemas.openxmlformats.org/drawingml/2006/main">
              <a:ext uri="{FF2B5EF4-FFF2-40B4-BE49-F238E27FC236}">
                <a16:creationId xmlns:a16="http://schemas.microsoft.com/office/drawing/2014/main" id="{D77986A4-68E8-410C-A5B3-0273F5E53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7208" y="5138928"/>
            <a:ext cx="28346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Arial"/>
                <a:ea typeface="Arial"/>
                <a:cs typeface="Arial"/>
              </a:rPr>
              <a:t>wᵦ·LGBM+(1−wᵦ)·DayWeek</a:t>
            </a:r>
            <a:endParaRPr sz="940"/>
          </a:p>
        </p:txBody>
      </p:sp>
      <p:sp>
        <p:nvSpPr>
          <p:cNvPr id="68" name="Shape 66">
            <a:extLst xmlns:a="http://schemas.openxmlformats.org/drawingml/2006/main">
              <a:ext uri="{FF2B5EF4-FFF2-40B4-BE49-F238E27FC236}">
                <a16:creationId xmlns:a16="http://schemas.microsoft.com/office/drawing/2014/main" id="{480B8528-3849-4FC2-96E2-7394DC887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3288" y="5029200"/>
            <a:ext cx="301752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69" name="Text 67">
            <a:extLst xmlns:a="http://schemas.openxmlformats.org/drawingml/2006/main">
              <a:ext uri="{FF2B5EF4-FFF2-40B4-BE49-F238E27FC236}">
                <a16:creationId xmlns:a16="http://schemas.microsoft.com/office/drawing/2014/main" id="{1B327020-9EC0-460F-84B9-D4B1A5A4C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28" y="5138928"/>
            <a:ext cx="28346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Final frozen method</a:t>
            </a:r>
            <a:endParaRPr sz="940"/>
          </a:p>
        </p:txBody>
      </p:sp>
      <p:sp>
        <p:nvSpPr>
          <p:cNvPr id="70" name="Shape 68">
            <a:extLst xmlns:a="http://schemas.openxmlformats.org/drawingml/2006/main">
              <a:ext uri="{FF2B5EF4-FFF2-40B4-BE49-F238E27FC236}">
                <a16:creationId xmlns:a16="http://schemas.microsoft.com/office/drawing/2014/main" id="{2C722BF9-FBA4-4D1A-961D-767D4C11B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0808" y="5029200"/>
            <a:ext cx="192024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71" name="Text 69">
            <a:extLst xmlns:a="http://schemas.openxmlformats.org/drawingml/2006/main">
              <a:ext uri="{FF2B5EF4-FFF2-40B4-BE49-F238E27FC236}">
                <a16:creationId xmlns:a16="http://schemas.microsoft.com/office/drawing/2014/main" id="{15164D5F-07C9-4BA1-AA7C-92C4D81A8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2248" y="5138928"/>
            <a:ext cx="1737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Framework</a:t>
            </a:r>
            <a:endParaRPr sz="940"/>
          </a:p>
        </p:txBody>
      </p:sp>
      <p:sp>
        <p:nvSpPr>
          <p:cNvPr id="72" name="Shape 70">
            <a:extLst xmlns:a="http://schemas.openxmlformats.org/drawingml/2006/main">
              <a:ext uri="{FF2B5EF4-FFF2-40B4-BE49-F238E27FC236}">
                <a16:creationId xmlns:a16="http://schemas.microsoft.com/office/drawing/2014/main" id="{401BE586-AA81-4D8A-B5E2-E478B9474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522976"/>
            <a:ext cx="205740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73" name="Text 71">
            <a:extLst xmlns:a="http://schemas.openxmlformats.org/drawingml/2006/main">
              <a:ext uri="{FF2B5EF4-FFF2-40B4-BE49-F238E27FC236}">
                <a16:creationId xmlns:a16="http://schemas.microsoft.com/office/drawing/2014/main" id="{F5BADB21-3129-4087-8324-A4460C8E4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5632704"/>
            <a:ext cx="18745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Arial"/>
                <a:ea typeface="Arial"/>
                <a:cs typeface="Arial"/>
              </a:rPr>
              <a:t>Peak-aware LGBM</a:t>
            </a:r>
            <a:endParaRPr sz="940"/>
          </a:p>
        </p:txBody>
      </p:sp>
      <p:sp>
        <p:nvSpPr>
          <p:cNvPr id="74" name="Shape 72">
            <a:extLst xmlns:a="http://schemas.openxmlformats.org/drawingml/2006/main">
              <a:ext uri="{FF2B5EF4-FFF2-40B4-BE49-F238E27FC236}">
                <a16:creationId xmlns:a16="http://schemas.microsoft.com/office/drawing/2014/main" id="{05119C7C-E85D-45B0-BC24-6D40EC416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5768" y="5522976"/>
            <a:ext cx="301752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75" name="Text 73">
            <a:extLst xmlns:a="http://schemas.openxmlformats.org/drawingml/2006/main">
              <a:ext uri="{FF2B5EF4-FFF2-40B4-BE49-F238E27FC236}">
                <a16:creationId xmlns:a16="http://schemas.microsoft.com/office/drawing/2014/main" id="{4A30EEE7-B557-4850-A50A-C85427DBC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7208" y="5632704"/>
            <a:ext cx="28346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Arial"/>
                <a:ea typeface="Arial"/>
                <a:cs typeface="Arial"/>
              </a:rPr>
              <a:t>supporting experiment</a:t>
            </a:r>
            <a:endParaRPr sz="940"/>
          </a:p>
        </p:txBody>
      </p:sp>
      <p:sp>
        <p:nvSpPr>
          <p:cNvPr id="76" name="Shape 74">
            <a:extLst xmlns:a="http://schemas.openxmlformats.org/drawingml/2006/main">
              <a:ext uri="{FF2B5EF4-FFF2-40B4-BE49-F238E27FC236}">
                <a16:creationId xmlns:a16="http://schemas.microsoft.com/office/drawing/2014/main" id="{984C1C68-7969-402A-9BD9-8B490338C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3288" y="5522976"/>
            <a:ext cx="301752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77" name="Text 75">
            <a:extLst xmlns:a="http://schemas.openxmlformats.org/drawingml/2006/main">
              <a:ext uri="{FF2B5EF4-FFF2-40B4-BE49-F238E27FC236}">
                <a16:creationId xmlns:a16="http://schemas.microsoft.com/office/drawing/2014/main" id="{3BAEC248-4EC8-4F14-962A-28481EFBA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28" y="5632704"/>
            <a:ext cx="28346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Rejected support</a:t>
            </a:r>
            <a:endParaRPr sz="940"/>
          </a:p>
        </p:txBody>
      </p:sp>
      <p:sp>
        <p:nvSpPr>
          <p:cNvPr id="78" name="Shape 76">
            <a:extLst xmlns:a="http://schemas.openxmlformats.org/drawingml/2006/main">
              <a:ext uri="{FF2B5EF4-FFF2-40B4-BE49-F238E27FC236}">
                <a16:creationId xmlns:a16="http://schemas.microsoft.com/office/drawing/2014/main" id="{5938265B-8CB9-42E4-BB0F-ECAE08678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0808" y="5522976"/>
            <a:ext cx="192024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79" name="Text 77">
            <a:extLst xmlns:a="http://schemas.openxmlformats.org/drawingml/2006/main">
              <a:ext uri="{FF2B5EF4-FFF2-40B4-BE49-F238E27FC236}">
                <a16:creationId xmlns:a16="http://schemas.microsoft.com/office/drawing/2014/main" id="{838FA4E5-7497-4730-95D3-C7B64671B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2248" y="5632704"/>
            <a:ext cx="1737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No</a:t>
            </a:r>
            <a:endParaRPr sz="940"/>
          </a:p>
        </p:txBody>
      </p:sp>
      <p:sp>
        <p:nvSpPr>
          <p:cNvPr id="80" name="Text 78">
            <a:extLst xmlns:a="http://schemas.openxmlformats.org/drawingml/2006/main">
              <a:ext uri="{FF2B5EF4-FFF2-40B4-BE49-F238E27FC236}">
                <a16:creationId xmlns:a16="http://schemas.microsoft.com/office/drawing/2014/main" id="{1EC1B9FE-7C1D-4914-92CC-751D80F5A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153912"/>
            <a:ext cx="107442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70">
                <a:solidFill>
                  <a:srgbClr val="97A2AD"/>
                </a:solidFill>
                <a:latin typeface="Arial"/>
                <a:ea typeface="Arial"/>
                <a:cs typeface="Arial"/>
              </a:rPr>
              <a:t>Frozen benchmark definitions · no model-family catalogue in main deck</a:t>
            </a:r>
            <a:endParaRPr sz="670"/>
          </a:p>
        </p:txBody>
      </p:sp>
      <p:sp>
        <p:nvSpPr>
          <p:cNvPr id="81" name="Text 79">
            <a:extLst xmlns:a="http://schemas.openxmlformats.org/drawingml/2006/main">
              <a:ext uri="{FF2B5EF4-FFF2-40B4-BE49-F238E27FC236}">
                <a16:creationId xmlns:a16="http://schemas.microsoft.com/office/drawing/2014/main" id="{AC6A8264-01D1-412A-9146-654859BF0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8996A4"/>
                </a:solidFill>
                <a:latin typeface="Microsoft YaHei"/>
                <a:ea typeface="Microsoft YaHei"/>
                <a:cs typeface="Microsoft YaHei"/>
              </a:rPr>
              <a:t>智储云控 · DOEF | 补充实验与方法说明</a:t>
            </a:r>
            <a:endParaRPr sz="750"/>
          </a:p>
        </p:txBody>
      </p:sp>
      <p:sp>
        <p:nvSpPr>
          <p:cNvPr id="82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913FC828-33D2-48A3-88E3-9F0905C8AE5A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A98A8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15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76891824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96CD12B-9CFB-4D92-90DC-48F070605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6F4E9C"/>
                </a:solidFill>
                <a:latin typeface="Arial"/>
                <a:ea typeface="Arial"/>
                <a:cs typeface="Arial"/>
              </a:rPr>
              <a:t>DOEF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F533034-5F46-4D5A-BBF6-DA92CE266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A8897"/>
                </a:solidFill>
                <a:latin typeface="Arial"/>
                <a:ea typeface="Arial"/>
                <a:cs typeface="Arial"/>
              </a:rPr>
              <a:t>附录 · 约束</a:t>
            </a:r>
            <a:endParaRPr sz="83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25B23F93-ED80-477C-869A-2FC5E9EF4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1320" y="173736"/>
            <a:ext cx="896112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6F4E9C"/>
          </a:solidFill>
          <a:ln xmlns:a="http://schemas.openxmlformats.org/drawingml/2006/main" w="12700">
            <a:solidFill>
              <a:srgbClr val="6F4E9C">
                <a:alpha val="0"/>
              </a:srgbClr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CE95589D-6545-4EB5-BA4B-A7178AED8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4472" y="214884"/>
            <a:ext cx="74980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答疑</a:t>
            </a:r>
            <a:endParaRPr sz="82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E4784841-3A12-4E19-B52A-3C27257C9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75488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电池参数与调度约束</a:t>
            </a:r>
            <a:endParaRPr sz="25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36458965-9A00-47FE-A881-43DDD0FA1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98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5C6873"/>
                </a:solidFill>
                <a:latin typeface="Microsoft YaHei"/>
                <a:ea typeface="Microsoft YaHei"/>
                <a:cs typeface="Microsoft YaHei"/>
              </a:rPr>
              <a:t>各预测方法共享同一建筑的电池与优化器，电池规模由训练期负荷确定。</a:t>
            </a:r>
            <a:endParaRPr sz="124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DBC67A0D-6EF2-4A26-A2EC-3719FC75B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709928"/>
            <a:ext cx="5184648" cy="100584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1E7ED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87B94443-DD45-4469-A50F-C257E49A9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1874520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Capacity</a:t>
            </a:r>
            <a:endParaRPr sz="10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9B509D2F-83C9-447F-A331-29980165E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9152" y="1865376"/>
            <a:ext cx="2514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20" b="1">
                <a:solidFill>
                  <a:srgbClr val="18212B"/>
                </a:solidFill>
                <a:latin typeface="Arial"/>
                <a:ea typeface="Arial"/>
                <a:cs typeface="Arial"/>
              </a:rPr>
              <a:t>10% of mean daily energy</a:t>
            </a:r>
            <a:endParaRPr sz="112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A41E340B-F840-438F-AE8C-82B15F58D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9152" y="2249424"/>
            <a:ext cx="274320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60">
                <a:solidFill>
                  <a:srgbClr val="5C6873"/>
                </a:solidFill>
                <a:latin typeface="Arial"/>
                <a:ea typeface="Arial"/>
                <a:cs typeface="Arial"/>
              </a:rPr>
              <a:t>kWh</a:t>
            </a:r>
            <a:endParaRPr sz="86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16121237-8F08-40C3-AAF5-3E32D7FFC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709928"/>
            <a:ext cx="5184648" cy="100584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1E7ED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F85217C4-2CA9-4ECE-A8EA-6A90E82F7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874520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Pcharge / Pdischarge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12B7C109-9028-4FB2-B689-69C9534AB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1865376"/>
            <a:ext cx="2514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20" b="1">
                <a:solidFill>
                  <a:srgbClr val="18212B"/>
                </a:solidFill>
                <a:latin typeface="Arial"/>
                <a:ea typeface="Arial"/>
                <a:cs typeface="Arial"/>
              </a:rPr>
              <a:t>25% of capacity per hour</a:t>
            </a:r>
            <a:endParaRPr sz="112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AFED302D-660A-4034-ADEB-2F1FEC3A4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2249424"/>
            <a:ext cx="274320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60">
                <a:solidFill>
                  <a:srgbClr val="5C6873"/>
                </a:solidFill>
                <a:latin typeface="Arial"/>
                <a:ea typeface="Arial"/>
                <a:cs typeface="Arial"/>
              </a:rPr>
              <a:t>kW</a:t>
            </a:r>
            <a:endParaRPr sz="86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E544CAB3-D67B-499C-8FE7-49DA8248A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935224"/>
            <a:ext cx="5184648" cy="100584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1E7ED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689DCC4A-D412-4F40-938A-E29CF74EE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3099816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SOC range</a:t>
            </a:r>
            <a:endParaRPr sz="10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9BDEEC7F-4FB8-47EC-8532-F21034B75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9152" y="3090672"/>
            <a:ext cx="2514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20" b="1">
                <a:solidFill>
                  <a:srgbClr val="18212B"/>
                </a:solidFill>
                <a:latin typeface="Arial"/>
                <a:ea typeface="Arial"/>
                <a:cs typeface="Arial"/>
              </a:rPr>
              <a:t>10% → 90%</a:t>
            </a:r>
            <a:endParaRPr sz="112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9D8236D2-E82F-427F-9BBC-E2862D993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9152" y="3474720"/>
            <a:ext cx="274320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60">
                <a:solidFill>
                  <a:srgbClr val="5C6873"/>
                </a:solidFill>
                <a:latin typeface="Arial"/>
                <a:ea typeface="Arial"/>
                <a:cs typeface="Arial"/>
              </a:rPr>
              <a:t>kWh state</a:t>
            </a:r>
            <a:endParaRPr sz="86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8093B2FB-A381-4380-AADA-744EDDE6C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2935224"/>
            <a:ext cx="5184648" cy="100584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1E7ED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3E03AF85-609D-45EF-8C80-6615F6B2D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3099816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Initial / terminal SOC</a:t>
            </a:r>
            <a:endParaRPr sz="10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5E9D2CE9-197F-4A6C-9D3E-A619E1A45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3090672"/>
            <a:ext cx="2514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20" b="1">
                <a:solidFill>
                  <a:srgbClr val="18212B"/>
                </a:solidFill>
                <a:latin typeface="Arial"/>
                <a:ea typeface="Arial"/>
                <a:cs typeface="Arial"/>
              </a:rPr>
              <a:t>50% / 50%</a:t>
            </a:r>
            <a:endParaRPr sz="112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9A87D335-EEDE-4073-9E15-21BCBE79D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3474720"/>
            <a:ext cx="274320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60">
                <a:solidFill>
                  <a:srgbClr val="5C6873"/>
                </a:solidFill>
                <a:latin typeface="Arial"/>
                <a:ea typeface="Arial"/>
                <a:cs typeface="Arial"/>
              </a:rPr>
              <a:t>daily reset</a:t>
            </a:r>
            <a:endParaRPr sz="86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C869F9AA-E3C4-45A5-9BD7-BF6A1985C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4160520"/>
            <a:ext cx="5184648" cy="100584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1E7ED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D93F380B-AAF7-4177-A8CA-453D94340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325112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ηcharge / ηdischarge</a:t>
            </a:r>
            <a:endParaRPr sz="10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B414F21B-574D-43C3-AE89-B2F0BAD74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9152" y="4315968"/>
            <a:ext cx="2514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20" b="1">
                <a:solidFill>
                  <a:srgbClr val="18212B"/>
                </a:solidFill>
                <a:latin typeface="Arial"/>
                <a:ea typeface="Arial"/>
                <a:cs typeface="Arial"/>
              </a:rPr>
              <a:t>0.94868 / 0.94868</a:t>
            </a:r>
            <a:endParaRPr sz="112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B2448039-9AE7-42C2-A3F6-E6B27BA84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9152" y="4700016"/>
            <a:ext cx="274320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60">
                <a:solidFill>
                  <a:srgbClr val="5C6873"/>
                </a:solidFill>
                <a:latin typeface="Arial"/>
                <a:ea typeface="Arial"/>
                <a:cs typeface="Arial"/>
              </a:rPr>
              <a:t>round-trip 0.90</a:t>
            </a:r>
            <a:endParaRPr sz="860"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3DC610DB-CB54-44B1-87E8-6E67252FF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4160520"/>
            <a:ext cx="5184648" cy="100584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1E7ED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384B984A-5EF9-4E6A-A2FD-8AF1275B1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4325112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Optimizer</a:t>
            </a:r>
            <a:endParaRPr sz="100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51B32E6D-E04F-487E-8506-1DE66FC2A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4315968"/>
            <a:ext cx="2514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20" b="1">
                <a:solidFill>
                  <a:srgbClr val="18212B"/>
                </a:solidFill>
                <a:latin typeface="Arial"/>
                <a:ea typeface="Arial"/>
                <a:cs typeface="Arial"/>
              </a:rPr>
              <a:t>deterministic daily peak shaving</a:t>
            </a:r>
            <a:endParaRPr sz="1120"/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D5E2E6EE-F5B7-4DAC-8F50-660BAB409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4700016"/>
            <a:ext cx="274320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60">
                <a:solidFill>
                  <a:srgbClr val="5C6873"/>
                </a:solidFill>
                <a:latin typeface="Arial"/>
                <a:ea typeface="Arial"/>
                <a:cs typeface="Arial"/>
              </a:rPr>
              <a:t>scipy.optimize.milp</a:t>
            </a:r>
            <a:endParaRPr sz="860"/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472EB203-8491-476D-91D7-8E6DF32C7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5669280"/>
            <a:ext cx="7790688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12700">
            <a:solidFill>
              <a:srgbClr val="C8E5F8">
                <a:alpha val="0"/>
              </a:srgbClr>
            </a:solidFill>
            <a:prstDash val="solid"/>
          </a:ln>
        </p:spPr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524FA982-00FD-4A3E-A1A3-F2EB92F6E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7712" y="5710428"/>
            <a:ext cx="764438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80" b="1">
                <a:solidFill>
                  <a:srgbClr val="0072B2"/>
                </a:solidFill>
                <a:latin typeface="Microsoft YaHei"/>
                <a:ea typeface="Microsoft YaHei"/>
                <a:cs typeface="Microsoft YaHei"/>
              </a:rPr>
              <a:t>1-hour interval: load energy kWh · dispatch power kW · capacity/SOC kWh</a:t>
            </a:r>
            <a:endParaRPr sz="880"/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B5EB8A97-8F40-42EB-9247-76A7C6673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153912"/>
            <a:ext cx="107442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70">
                <a:solidFill>
                  <a:srgbClr val="97A2AD"/>
                </a:solidFill>
                <a:latin typeface="Arial"/>
                <a:ea typeface="Arial"/>
                <a:cs typeface="Arial"/>
              </a:rPr>
              <a:t>Frozen source: outputs/phase7/building_battery_configs.csv · same battery/optimizer for all forecast methods</a:t>
            </a:r>
            <a:endParaRPr sz="670"/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151056D4-ADE5-4B53-A4DE-54F74779C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8996A4"/>
                </a:solidFill>
                <a:latin typeface="Microsoft YaHei"/>
                <a:ea typeface="Microsoft YaHei"/>
                <a:cs typeface="Microsoft YaHei"/>
              </a:rPr>
              <a:t>智储云控 · DOEF | 补充实验与方法说明</a:t>
            </a:r>
            <a:endParaRPr sz="750"/>
          </a:p>
        </p:txBody>
      </p:sp>
      <p:sp>
        <p:nvSpPr>
          <p:cNvPr id="36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68163663-6609-40F7-A69C-A83887E3C6EB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A98A8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16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87731382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8AFA268-0892-4515-A48A-39FC6D649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6F4E9C"/>
                </a:solidFill>
                <a:latin typeface="Arial"/>
                <a:ea typeface="Arial"/>
                <a:cs typeface="Arial"/>
              </a:rPr>
              <a:t>DOEF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C3BDDEF-E4AE-4D7D-8DDB-4BB92CFE3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A8897"/>
                </a:solidFill>
                <a:latin typeface="Arial"/>
                <a:ea typeface="Arial"/>
                <a:cs typeface="Arial"/>
              </a:rPr>
              <a:t>附录 · 预测</a:t>
            </a:r>
            <a:endParaRPr sz="83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97E203E-0978-46B2-ACF4-9255B1E64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1320" y="173736"/>
            <a:ext cx="896112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6F4E9C"/>
          </a:solidFill>
          <a:ln xmlns:a="http://schemas.openxmlformats.org/drawingml/2006/main" w="12700">
            <a:solidFill>
              <a:srgbClr val="6F4E9C">
                <a:alpha val="0"/>
              </a:srgbClr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715BC4F1-15A9-43C4-920F-2C4C814BC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4472" y="214884"/>
            <a:ext cx="74980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答疑</a:t>
            </a:r>
            <a:endParaRPr sz="82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C0522424-939B-4B58-81F8-FE29AFAC7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75488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八建筑预测结果</a:t>
            </a:r>
            <a:endParaRPr sz="24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1B00248E-C22D-4811-9F19-16CAFD434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98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5C6873"/>
                </a:solidFill>
                <a:latin typeface="Microsoft YaHei"/>
                <a:ea typeface="Microsoft YaHei"/>
                <a:cs typeface="Microsoft YaHei"/>
              </a:rPr>
              <a:t>八建筑测试集等权平均；MAE、RMSE 和后悔值按各建筑训练期平均负荷归一化。</a:t>
            </a:r>
            <a:endParaRPr sz="124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F9F3860E-1AC4-45C0-859E-A9D8D37AF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609344"/>
            <a:ext cx="2578608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B3F"/>
          </a:solidFill>
          <a:ln xmlns:a="http://schemas.openxmlformats.org/drawingml/2006/main" w="12700">
            <a:solidFill>
              <a:srgbClr val="182B3F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311781DD-452F-45F2-AD81-1D83C7B77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" y="1728216"/>
            <a:ext cx="2432304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Method</a:t>
            </a:r>
            <a:endParaRPr sz="88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7785D0DD-E4CD-43B9-9364-4A27CE25B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2968" y="1609344"/>
            <a:ext cx="1993392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B3F"/>
          </a:solidFill>
          <a:ln xmlns:a="http://schemas.openxmlformats.org/drawingml/2006/main" w="12700">
            <a:solidFill>
              <a:srgbClr val="182B3F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B774642F-7DD1-41F9-BBAE-85A828DED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1728216"/>
            <a:ext cx="184708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normalized MAE</a:t>
            </a:r>
            <a:endParaRPr sz="88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607B6B38-1914-46A2-BCFE-886BA57A2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6360" y="1609344"/>
            <a:ext cx="1993392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B3F"/>
          </a:solidFill>
          <a:ln xmlns:a="http://schemas.openxmlformats.org/drawingml/2006/main" w="12700">
            <a:solidFill>
              <a:srgbClr val="182B3F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55D5FC5E-0BFB-4DA7-8CE5-2B76D06C8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9512" y="1728216"/>
            <a:ext cx="184708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normalized RMSE</a:t>
            </a:r>
            <a:endParaRPr sz="88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625671E2-610E-46A9-A346-89C293CBF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9752" y="1609344"/>
            <a:ext cx="2176272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B3F"/>
          </a:solidFill>
          <a:ln xmlns:a="http://schemas.openxmlformats.org/drawingml/2006/main" w="12700">
            <a:solidFill>
              <a:srgbClr val="182B3F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2F998EBD-11E4-481C-96B8-CE5F9F808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2904" y="1728216"/>
            <a:ext cx="20299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normalized regret</a:t>
            </a:r>
            <a:endParaRPr sz="88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B65F7C58-3012-4259-A8D1-FABBC23FA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6024" y="1609344"/>
            <a:ext cx="1993392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B3F"/>
          </a:solidFill>
          <a:ln xmlns:a="http://schemas.openxmlformats.org/drawingml/2006/main" w="12700">
            <a:solidFill>
              <a:srgbClr val="182B3F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16BCEF48-C0D6-4FBA-82A0-DB9FA5E00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9176" y="1728216"/>
            <a:ext cx="184708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peak reduction mean</a:t>
            </a:r>
            <a:endParaRPr sz="88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4560B1BE-B732-4DF7-85C0-873A3229E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066544"/>
            <a:ext cx="2578608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E3DAA358-5908-4BA2-B070-1D9BA021D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" y="2185416"/>
            <a:ext cx="243230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Day Persistence</a:t>
            </a:r>
            <a:endParaRPr sz="95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5E44BFF4-17F4-488B-A321-CEAF81F7B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2968" y="206654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B0923986-BD93-42EF-9AD9-8F08C1470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218541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.225885</a:t>
            </a:r>
            <a:endParaRPr sz="95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D7678379-11F4-4123-BC87-48EE45626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6360" y="206654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80A178D9-0C5E-4557-B865-ECD400FB0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9512" y="218541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.430193</a:t>
            </a:r>
            <a:endParaRPr sz="95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17FB0D80-2A39-4EDA-8885-AA02B30B1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9752" y="2066544"/>
            <a:ext cx="217627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943F56F6-8E07-418C-9203-17C5D5EFF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2904" y="2185416"/>
            <a:ext cx="202996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.162986</a:t>
            </a:r>
            <a:endParaRPr sz="950"/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075375DF-98F8-4377-AF78-FFD3F7552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6024" y="206654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11630DCD-36CB-460C-86AA-D94AC514B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9176" y="218541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−1.878%</a:t>
            </a:r>
            <a:endParaRPr sz="950"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3515682A-02F0-4D41-83BA-055EE354A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569464"/>
            <a:ext cx="2578608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D9117D2B-E05C-406B-AAE4-12EB2D0C0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" y="2688336"/>
            <a:ext cx="243230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Week</a:t>
            </a:r>
            <a:endParaRPr sz="950"/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BAB5007D-AF0E-49EB-A627-AD7BFD638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2968" y="256946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D3BD7632-3629-40DE-83A6-8FA60B7A0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268833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.201578</a:t>
            </a:r>
            <a:endParaRPr sz="950"/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5A81F6A0-E846-48AD-A875-56185F190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6360" y="256946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9B3EF9FE-4BB2-41A1-9BDE-3D6011F30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9512" y="268833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.328414</a:t>
            </a:r>
            <a:endParaRPr sz="950"/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F60D9FEF-8AC4-42B5-A92D-4B6637346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9752" y="2569464"/>
            <a:ext cx="217627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59D48713-F3B7-4581-A099-64C17CC8F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2904" y="2688336"/>
            <a:ext cx="202996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.144323</a:t>
            </a:r>
            <a:endParaRPr sz="950"/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C4314606-E63C-4241-963F-CF48DC06A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6024" y="256946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4A30118A-98D0-46A8-A01F-DCDEF4E08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9176" y="268833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3.085%</a:t>
            </a:r>
            <a:endParaRPr sz="950"/>
          </a:p>
        </p:txBody>
      </p:sp>
      <p:sp>
        <p:nvSpPr>
          <p:cNvPr id="38" name="Shape 36">
            <a:extLst xmlns:a="http://schemas.openxmlformats.org/drawingml/2006/main">
              <a:ext uri="{FF2B5EF4-FFF2-40B4-BE49-F238E27FC236}">
                <a16:creationId xmlns:a16="http://schemas.microsoft.com/office/drawing/2014/main" id="{46C5D2FA-5DCD-486F-914B-4AAE5B8F8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072384"/>
            <a:ext cx="2578608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1FE6AC4D-EF22-4A32-BDEF-0E8606287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" y="3191256"/>
            <a:ext cx="243230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DayWeek</a:t>
            </a:r>
            <a:endParaRPr sz="950"/>
          </a:p>
        </p:txBody>
      </p:sp>
      <p:sp>
        <p:nvSpPr>
          <p:cNvPr id="40" name="Shape 38">
            <a:extLst xmlns:a="http://schemas.openxmlformats.org/drawingml/2006/main">
              <a:ext uri="{FF2B5EF4-FFF2-40B4-BE49-F238E27FC236}">
                <a16:creationId xmlns:a16="http://schemas.microsoft.com/office/drawing/2014/main" id="{4422EE69-C81F-4333-891D-2CE77C204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2968" y="307238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E4CB96AF-EDB1-4F69-B5B3-35BD802C0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319125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.183478</a:t>
            </a:r>
            <a:endParaRPr sz="950"/>
          </a:p>
        </p:txBody>
      </p:sp>
      <p:sp>
        <p:nvSpPr>
          <p:cNvPr id="42" name="Shape 40">
            <a:extLst xmlns:a="http://schemas.openxmlformats.org/drawingml/2006/main">
              <a:ext uri="{FF2B5EF4-FFF2-40B4-BE49-F238E27FC236}">
                <a16:creationId xmlns:a16="http://schemas.microsoft.com/office/drawing/2014/main" id="{9986CA0D-AB4D-4657-AEB0-5EE583AE2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6360" y="307238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1618D66C-E4E8-4ADE-8D20-30B571F6C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9512" y="319125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.296621</a:t>
            </a:r>
            <a:endParaRPr sz="950"/>
          </a:p>
        </p:txBody>
      </p:sp>
      <p:sp>
        <p:nvSpPr>
          <p:cNvPr id="44" name="Shape 42">
            <a:extLst xmlns:a="http://schemas.openxmlformats.org/drawingml/2006/main">
              <a:ext uri="{FF2B5EF4-FFF2-40B4-BE49-F238E27FC236}">
                <a16:creationId xmlns:a16="http://schemas.microsoft.com/office/drawing/2014/main" id="{0BEE35FA-A525-4D1A-BCCE-EBA287BAC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9752" y="3072384"/>
            <a:ext cx="217627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45" name="Text 43">
            <a:extLst xmlns:a="http://schemas.openxmlformats.org/drawingml/2006/main">
              <a:ext uri="{FF2B5EF4-FFF2-40B4-BE49-F238E27FC236}">
                <a16:creationId xmlns:a16="http://schemas.microsoft.com/office/drawing/2014/main" id="{043650DD-3F82-409A-A845-BE454AAAE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2904" y="3191256"/>
            <a:ext cx="202996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.143019</a:t>
            </a:r>
            <a:endParaRPr sz="950"/>
          </a:p>
        </p:txBody>
      </p:sp>
      <p:sp>
        <p:nvSpPr>
          <p:cNvPr id="46" name="Shape 44">
            <a:extLst xmlns:a="http://schemas.openxmlformats.org/drawingml/2006/main">
              <a:ext uri="{FF2B5EF4-FFF2-40B4-BE49-F238E27FC236}">
                <a16:creationId xmlns:a16="http://schemas.microsoft.com/office/drawing/2014/main" id="{D86A2B74-4425-4AD2-8522-864DF0EB7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6024" y="307238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47" name="Text 45">
            <a:extLst xmlns:a="http://schemas.openxmlformats.org/drawingml/2006/main">
              <a:ext uri="{FF2B5EF4-FFF2-40B4-BE49-F238E27FC236}">
                <a16:creationId xmlns:a16="http://schemas.microsoft.com/office/drawing/2014/main" id="{3157BA17-F928-4856-863B-FA427ABEA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9176" y="319125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4.907%</a:t>
            </a:r>
            <a:endParaRPr sz="950"/>
          </a:p>
        </p:txBody>
      </p:sp>
      <p:sp>
        <p:nvSpPr>
          <p:cNvPr id="48" name="Shape 46">
            <a:extLst xmlns:a="http://schemas.openxmlformats.org/drawingml/2006/main">
              <a:ext uri="{FF2B5EF4-FFF2-40B4-BE49-F238E27FC236}">
                <a16:creationId xmlns:a16="http://schemas.microsoft.com/office/drawing/2014/main" id="{3681940C-7BEA-490E-BB3E-53C42C1DE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575304"/>
            <a:ext cx="2578608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49" name="Text 47">
            <a:extLst xmlns:a="http://schemas.openxmlformats.org/drawingml/2006/main">
              <a:ext uri="{FF2B5EF4-FFF2-40B4-BE49-F238E27FC236}">
                <a16:creationId xmlns:a16="http://schemas.microsoft.com/office/drawing/2014/main" id="{A9ED7A3A-5C81-4174-9C03-26F165526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" y="3694176"/>
            <a:ext cx="243230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LightGBM</a:t>
            </a:r>
            <a:endParaRPr sz="950"/>
          </a:p>
        </p:txBody>
      </p:sp>
      <p:sp>
        <p:nvSpPr>
          <p:cNvPr id="50" name="Shape 48">
            <a:extLst xmlns:a="http://schemas.openxmlformats.org/drawingml/2006/main">
              <a:ext uri="{FF2B5EF4-FFF2-40B4-BE49-F238E27FC236}">
                <a16:creationId xmlns:a16="http://schemas.microsoft.com/office/drawing/2014/main" id="{44EBF479-01D7-4A60-8417-3344660FE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2968" y="357530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51" name="Text 49">
            <a:extLst xmlns:a="http://schemas.openxmlformats.org/drawingml/2006/main">
              <a:ext uri="{FF2B5EF4-FFF2-40B4-BE49-F238E27FC236}">
                <a16:creationId xmlns:a16="http://schemas.microsoft.com/office/drawing/2014/main" id="{831590E0-7D66-4270-AF62-CCFB91084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369417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.147338</a:t>
            </a:r>
            <a:endParaRPr sz="950"/>
          </a:p>
        </p:txBody>
      </p:sp>
      <p:sp>
        <p:nvSpPr>
          <p:cNvPr id="52" name="Shape 50">
            <a:extLst xmlns:a="http://schemas.openxmlformats.org/drawingml/2006/main">
              <a:ext uri="{FF2B5EF4-FFF2-40B4-BE49-F238E27FC236}">
                <a16:creationId xmlns:a16="http://schemas.microsoft.com/office/drawing/2014/main" id="{30C24042-F6A9-4F69-97D5-1B4EFF716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6360" y="357530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53" name="Text 51">
            <a:extLst xmlns:a="http://schemas.openxmlformats.org/drawingml/2006/main">
              <a:ext uri="{FF2B5EF4-FFF2-40B4-BE49-F238E27FC236}">
                <a16:creationId xmlns:a16="http://schemas.microsoft.com/office/drawing/2014/main" id="{E6B2781F-ECA0-4C53-B066-1094CE19F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9512" y="369417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.216942</a:t>
            </a:r>
            <a:endParaRPr sz="950"/>
          </a:p>
        </p:txBody>
      </p:sp>
      <p:sp>
        <p:nvSpPr>
          <p:cNvPr id="54" name="Shape 52">
            <a:extLst xmlns:a="http://schemas.openxmlformats.org/drawingml/2006/main">
              <a:ext uri="{FF2B5EF4-FFF2-40B4-BE49-F238E27FC236}">
                <a16:creationId xmlns:a16="http://schemas.microsoft.com/office/drawing/2014/main" id="{39F6B54D-F7C0-4FB7-B8BC-9F97B148F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9752" y="3575304"/>
            <a:ext cx="217627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55" name="Text 53">
            <a:extLst xmlns:a="http://schemas.openxmlformats.org/drawingml/2006/main">
              <a:ext uri="{FF2B5EF4-FFF2-40B4-BE49-F238E27FC236}">
                <a16:creationId xmlns:a16="http://schemas.microsoft.com/office/drawing/2014/main" id="{8D124580-CDA7-432F-BC46-41D421A4D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2904" y="3694176"/>
            <a:ext cx="202996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.116127</a:t>
            </a:r>
            <a:endParaRPr sz="950"/>
          </a:p>
        </p:txBody>
      </p:sp>
      <p:sp>
        <p:nvSpPr>
          <p:cNvPr id="56" name="Shape 54">
            <a:extLst xmlns:a="http://schemas.openxmlformats.org/drawingml/2006/main">
              <a:ext uri="{FF2B5EF4-FFF2-40B4-BE49-F238E27FC236}">
                <a16:creationId xmlns:a16="http://schemas.microsoft.com/office/drawing/2014/main" id="{A9D83BB5-E292-4D91-8F08-895FC420D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6024" y="357530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57" name="Text 55">
            <a:extLst xmlns:a="http://schemas.openxmlformats.org/drawingml/2006/main">
              <a:ext uri="{FF2B5EF4-FFF2-40B4-BE49-F238E27FC236}">
                <a16:creationId xmlns:a16="http://schemas.microsoft.com/office/drawing/2014/main" id="{67E453E9-2647-47BE-9E82-A6C3D6458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9176" y="369417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1.008%</a:t>
            </a:r>
            <a:endParaRPr sz="950"/>
          </a:p>
        </p:txBody>
      </p:sp>
      <p:sp>
        <p:nvSpPr>
          <p:cNvPr id="58" name="Shape 56">
            <a:extLst xmlns:a="http://schemas.openxmlformats.org/drawingml/2006/main">
              <a:ext uri="{FF2B5EF4-FFF2-40B4-BE49-F238E27FC236}">
                <a16:creationId xmlns:a16="http://schemas.microsoft.com/office/drawing/2014/main" id="{853D48B5-3073-4CA5-A8DC-606F554AA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078224"/>
            <a:ext cx="2578608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59" name="Text 57">
            <a:extLst xmlns:a="http://schemas.openxmlformats.org/drawingml/2006/main">
              <a:ext uri="{FF2B5EF4-FFF2-40B4-BE49-F238E27FC236}">
                <a16:creationId xmlns:a16="http://schemas.microsoft.com/office/drawing/2014/main" id="{A321677D-15A2-4323-854C-4090A8876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" y="4197096"/>
            <a:ext cx="243230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XGBoost</a:t>
            </a:r>
            <a:endParaRPr sz="950"/>
          </a:p>
        </p:txBody>
      </p:sp>
      <p:sp>
        <p:nvSpPr>
          <p:cNvPr id="60" name="Shape 58">
            <a:extLst xmlns:a="http://schemas.openxmlformats.org/drawingml/2006/main">
              <a:ext uri="{FF2B5EF4-FFF2-40B4-BE49-F238E27FC236}">
                <a16:creationId xmlns:a16="http://schemas.microsoft.com/office/drawing/2014/main" id="{47A52207-94E2-498C-886D-C1CEFEBCC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2968" y="407822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61" name="Text 59">
            <a:extLst xmlns:a="http://schemas.openxmlformats.org/drawingml/2006/main">
              <a:ext uri="{FF2B5EF4-FFF2-40B4-BE49-F238E27FC236}">
                <a16:creationId xmlns:a16="http://schemas.microsoft.com/office/drawing/2014/main" id="{8D2BEC62-D4EC-4A67-808F-ACCC6BA48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19709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.149781</a:t>
            </a:r>
            <a:endParaRPr sz="950"/>
          </a:p>
        </p:txBody>
      </p:sp>
      <p:sp>
        <p:nvSpPr>
          <p:cNvPr id="62" name="Shape 60">
            <a:extLst xmlns:a="http://schemas.openxmlformats.org/drawingml/2006/main">
              <a:ext uri="{FF2B5EF4-FFF2-40B4-BE49-F238E27FC236}">
                <a16:creationId xmlns:a16="http://schemas.microsoft.com/office/drawing/2014/main" id="{EF71A5B7-32A8-4B76-A9E3-008876F0D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6360" y="407822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63" name="Text 61">
            <a:extLst xmlns:a="http://schemas.openxmlformats.org/drawingml/2006/main">
              <a:ext uri="{FF2B5EF4-FFF2-40B4-BE49-F238E27FC236}">
                <a16:creationId xmlns:a16="http://schemas.microsoft.com/office/drawing/2014/main" id="{D3F8D38D-26F2-457E-A8BD-B6B343937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9512" y="419709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.216751</a:t>
            </a:r>
            <a:endParaRPr sz="950"/>
          </a:p>
        </p:txBody>
      </p:sp>
      <p:sp>
        <p:nvSpPr>
          <p:cNvPr id="64" name="Shape 62">
            <a:extLst xmlns:a="http://schemas.openxmlformats.org/drawingml/2006/main">
              <a:ext uri="{FF2B5EF4-FFF2-40B4-BE49-F238E27FC236}">
                <a16:creationId xmlns:a16="http://schemas.microsoft.com/office/drawing/2014/main" id="{E7C68CA3-8EFA-4040-BEE7-5C0C40BBB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9752" y="4078224"/>
            <a:ext cx="217627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65" name="Text 63">
            <a:extLst xmlns:a="http://schemas.openxmlformats.org/drawingml/2006/main">
              <a:ext uri="{FF2B5EF4-FFF2-40B4-BE49-F238E27FC236}">
                <a16:creationId xmlns:a16="http://schemas.microsoft.com/office/drawing/2014/main" id="{7327B188-521D-4325-9A90-9CC32B2A0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2904" y="4197096"/>
            <a:ext cx="202996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.117534</a:t>
            </a:r>
            <a:endParaRPr sz="950"/>
          </a:p>
        </p:txBody>
      </p:sp>
      <p:sp>
        <p:nvSpPr>
          <p:cNvPr id="66" name="Shape 64">
            <a:extLst xmlns:a="http://schemas.openxmlformats.org/drawingml/2006/main">
              <a:ext uri="{FF2B5EF4-FFF2-40B4-BE49-F238E27FC236}">
                <a16:creationId xmlns:a16="http://schemas.microsoft.com/office/drawing/2014/main" id="{AAC6CCB0-F1F7-47D6-9E87-7A86156C1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6024" y="407822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67" name="Text 65">
            <a:extLst xmlns:a="http://schemas.openxmlformats.org/drawingml/2006/main">
              <a:ext uri="{FF2B5EF4-FFF2-40B4-BE49-F238E27FC236}">
                <a16:creationId xmlns:a16="http://schemas.microsoft.com/office/drawing/2014/main" id="{1E82DE7D-F875-40D0-86E0-466460596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9176" y="419709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0.453%</a:t>
            </a:r>
            <a:endParaRPr sz="950"/>
          </a:p>
        </p:txBody>
      </p:sp>
      <p:sp>
        <p:nvSpPr>
          <p:cNvPr id="68" name="Shape 66">
            <a:extLst xmlns:a="http://schemas.openxmlformats.org/drawingml/2006/main">
              <a:ext uri="{FF2B5EF4-FFF2-40B4-BE49-F238E27FC236}">
                <a16:creationId xmlns:a16="http://schemas.microsoft.com/office/drawing/2014/main" id="{A0F942B2-B224-44BA-8DEA-A884A2628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581144"/>
            <a:ext cx="2578608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69" name="Text 67">
            <a:extLst xmlns:a="http://schemas.openxmlformats.org/drawingml/2006/main">
              <a:ext uri="{FF2B5EF4-FFF2-40B4-BE49-F238E27FC236}">
                <a16:creationId xmlns:a16="http://schemas.microsoft.com/office/drawing/2014/main" id="{4BA8504E-DEA8-495E-8080-EF4846B0E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" y="4700016"/>
            <a:ext cx="243230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CatBoost</a:t>
            </a:r>
            <a:endParaRPr sz="950"/>
          </a:p>
        </p:txBody>
      </p:sp>
      <p:sp>
        <p:nvSpPr>
          <p:cNvPr id="70" name="Shape 68">
            <a:extLst xmlns:a="http://schemas.openxmlformats.org/drawingml/2006/main">
              <a:ext uri="{FF2B5EF4-FFF2-40B4-BE49-F238E27FC236}">
                <a16:creationId xmlns:a16="http://schemas.microsoft.com/office/drawing/2014/main" id="{7704871F-D083-4A02-A237-9DC3979AC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2968" y="458114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71" name="Text 69">
            <a:extLst xmlns:a="http://schemas.openxmlformats.org/drawingml/2006/main">
              <a:ext uri="{FF2B5EF4-FFF2-40B4-BE49-F238E27FC236}">
                <a16:creationId xmlns:a16="http://schemas.microsoft.com/office/drawing/2014/main" id="{EA22C2BA-6DBC-44C1-8877-2857C718C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70001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.173604</a:t>
            </a:r>
            <a:endParaRPr sz="950"/>
          </a:p>
        </p:txBody>
      </p:sp>
      <p:sp>
        <p:nvSpPr>
          <p:cNvPr id="72" name="Shape 70">
            <a:extLst xmlns:a="http://schemas.openxmlformats.org/drawingml/2006/main">
              <a:ext uri="{FF2B5EF4-FFF2-40B4-BE49-F238E27FC236}">
                <a16:creationId xmlns:a16="http://schemas.microsoft.com/office/drawing/2014/main" id="{62D79230-F987-4F36-959B-F5A6A900E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6360" y="458114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73" name="Text 71">
            <a:extLst xmlns:a="http://schemas.openxmlformats.org/drawingml/2006/main">
              <a:ext uri="{FF2B5EF4-FFF2-40B4-BE49-F238E27FC236}">
                <a16:creationId xmlns:a16="http://schemas.microsoft.com/office/drawing/2014/main" id="{F75B00B2-9355-4708-83D0-4192DE58E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9512" y="470001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.239211</a:t>
            </a:r>
            <a:endParaRPr sz="950"/>
          </a:p>
        </p:txBody>
      </p:sp>
      <p:sp>
        <p:nvSpPr>
          <p:cNvPr id="74" name="Shape 72">
            <a:extLst xmlns:a="http://schemas.openxmlformats.org/drawingml/2006/main">
              <a:ext uri="{FF2B5EF4-FFF2-40B4-BE49-F238E27FC236}">
                <a16:creationId xmlns:a16="http://schemas.microsoft.com/office/drawing/2014/main" id="{6814B7FC-1EAC-496C-A571-F3138EED3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9752" y="4581144"/>
            <a:ext cx="217627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75" name="Text 73">
            <a:extLst xmlns:a="http://schemas.openxmlformats.org/drawingml/2006/main">
              <a:ext uri="{FF2B5EF4-FFF2-40B4-BE49-F238E27FC236}">
                <a16:creationId xmlns:a16="http://schemas.microsoft.com/office/drawing/2014/main" id="{C1E6286D-2FD2-423E-8711-71DFB132C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2904" y="4700016"/>
            <a:ext cx="202996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.118740</a:t>
            </a:r>
            <a:endParaRPr sz="950"/>
          </a:p>
        </p:txBody>
      </p:sp>
      <p:sp>
        <p:nvSpPr>
          <p:cNvPr id="76" name="Shape 74">
            <a:extLst xmlns:a="http://schemas.openxmlformats.org/drawingml/2006/main">
              <a:ext uri="{FF2B5EF4-FFF2-40B4-BE49-F238E27FC236}">
                <a16:creationId xmlns:a16="http://schemas.microsoft.com/office/drawing/2014/main" id="{A479BFEC-E364-4E98-8211-7FADE3C91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6024" y="458114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77" name="Text 75">
            <a:extLst xmlns:a="http://schemas.openxmlformats.org/drawingml/2006/main">
              <a:ext uri="{FF2B5EF4-FFF2-40B4-BE49-F238E27FC236}">
                <a16:creationId xmlns:a16="http://schemas.microsoft.com/office/drawing/2014/main" id="{FB402D7A-CDC6-4951-A27D-5ECC5EA2F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9176" y="470001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−24.482%</a:t>
            </a:r>
            <a:endParaRPr sz="950"/>
          </a:p>
        </p:txBody>
      </p:sp>
      <p:sp>
        <p:nvSpPr>
          <p:cNvPr id="78" name="Shape 76">
            <a:extLst xmlns:a="http://schemas.openxmlformats.org/drawingml/2006/main">
              <a:ext uri="{FF2B5EF4-FFF2-40B4-BE49-F238E27FC236}">
                <a16:creationId xmlns:a16="http://schemas.microsoft.com/office/drawing/2014/main" id="{48BA0AE5-3B8D-4FF0-8DAB-5A338862F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084064"/>
            <a:ext cx="2578608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79" name="Text 77">
            <a:extLst xmlns:a="http://schemas.openxmlformats.org/drawingml/2006/main">
              <a:ext uri="{FF2B5EF4-FFF2-40B4-BE49-F238E27FC236}">
                <a16:creationId xmlns:a16="http://schemas.microsoft.com/office/drawing/2014/main" id="{4F4510BB-A7EC-4354-A403-CBC239DEA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" y="5202936"/>
            <a:ext cx="243230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DOEF</a:t>
            </a:r>
            <a:endParaRPr sz="950"/>
          </a:p>
        </p:txBody>
      </p:sp>
      <p:sp>
        <p:nvSpPr>
          <p:cNvPr id="80" name="Shape 78">
            <a:extLst xmlns:a="http://schemas.openxmlformats.org/drawingml/2006/main">
              <a:ext uri="{FF2B5EF4-FFF2-40B4-BE49-F238E27FC236}">
                <a16:creationId xmlns:a16="http://schemas.microsoft.com/office/drawing/2014/main" id="{6DAD8625-B720-41B1-B320-F9F5448D3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2968" y="508406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81" name="Text 79">
            <a:extLst xmlns:a="http://schemas.openxmlformats.org/drawingml/2006/main">
              <a:ext uri="{FF2B5EF4-FFF2-40B4-BE49-F238E27FC236}">
                <a16:creationId xmlns:a16="http://schemas.microsoft.com/office/drawing/2014/main" id="{1F3EE5D6-D143-4145-83F0-67A2AD199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520293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.137970</a:t>
            </a:r>
            <a:endParaRPr sz="950"/>
          </a:p>
        </p:txBody>
      </p:sp>
      <p:sp>
        <p:nvSpPr>
          <p:cNvPr id="82" name="Shape 80">
            <a:extLst xmlns:a="http://schemas.openxmlformats.org/drawingml/2006/main">
              <a:ext uri="{FF2B5EF4-FFF2-40B4-BE49-F238E27FC236}">
                <a16:creationId xmlns:a16="http://schemas.microsoft.com/office/drawing/2014/main" id="{FF453418-3195-45D2-9FDD-3AAC444C3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6360" y="508406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83" name="Text 81">
            <a:extLst xmlns:a="http://schemas.openxmlformats.org/drawingml/2006/main">
              <a:ext uri="{FF2B5EF4-FFF2-40B4-BE49-F238E27FC236}">
                <a16:creationId xmlns:a16="http://schemas.microsoft.com/office/drawing/2014/main" id="{6BEA4392-2C96-45ED-B4EB-22B6849A6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9512" y="520293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.207822</a:t>
            </a:r>
            <a:endParaRPr sz="950"/>
          </a:p>
        </p:txBody>
      </p:sp>
      <p:sp>
        <p:nvSpPr>
          <p:cNvPr id="84" name="Shape 82">
            <a:extLst xmlns:a="http://schemas.openxmlformats.org/drawingml/2006/main">
              <a:ext uri="{FF2B5EF4-FFF2-40B4-BE49-F238E27FC236}">
                <a16:creationId xmlns:a16="http://schemas.microsoft.com/office/drawing/2014/main" id="{87C892BA-0B37-4972-BE14-B1542A817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9752" y="5084064"/>
            <a:ext cx="217627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85" name="Text 83">
            <a:extLst xmlns:a="http://schemas.openxmlformats.org/drawingml/2006/main">
              <a:ext uri="{FF2B5EF4-FFF2-40B4-BE49-F238E27FC236}">
                <a16:creationId xmlns:a16="http://schemas.microsoft.com/office/drawing/2014/main" id="{BC90250F-8241-41D3-97E5-C6C724941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2904" y="5202936"/>
            <a:ext cx="202996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.111929</a:t>
            </a:r>
            <a:endParaRPr sz="950"/>
          </a:p>
        </p:txBody>
      </p:sp>
      <p:sp>
        <p:nvSpPr>
          <p:cNvPr id="86" name="Shape 84">
            <a:extLst xmlns:a="http://schemas.openxmlformats.org/drawingml/2006/main">
              <a:ext uri="{FF2B5EF4-FFF2-40B4-BE49-F238E27FC236}">
                <a16:creationId xmlns:a16="http://schemas.microsoft.com/office/drawing/2014/main" id="{8F5D7B25-6C9F-41B8-84BC-766BCC716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6024" y="508406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87" name="Text 85">
            <a:extLst xmlns:a="http://schemas.openxmlformats.org/drawingml/2006/main">
              <a:ext uri="{FF2B5EF4-FFF2-40B4-BE49-F238E27FC236}">
                <a16:creationId xmlns:a16="http://schemas.microsoft.com/office/drawing/2014/main" id="{1370DC31-6689-4390-8F87-93C5F6DBB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9176" y="520293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6.442%</a:t>
            </a:r>
            <a:endParaRPr sz="950"/>
          </a:p>
        </p:txBody>
      </p:sp>
      <p:sp>
        <p:nvSpPr>
          <p:cNvPr id="88" name="Shape 86">
            <a:extLst xmlns:a="http://schemas.openxmlformats.org/drawingml/2006/main">
              <a:ext uri="{FF2B5EF4-FFF2-40B4-BE49-F238E27FC236}">
                <a16:creationId xmlns:a16="http://schemas.microsoft.com/office/drawing/2014/main" id="{A9BCDE01-F4AA-4675-9B06-C914830F4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586984"/>
            <a:ext cx="2578608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89" name="Text 87">
            <a:extLst xmlns:a="http://schemas.openxmlformats.org/drawingml/2006/main">
              <a:ext uri="{FF2B5EF4-FFF2-40B4-BE49-F238E27FC236}">
                <a16:creationId xmlns:a16="http://schemas.microsoft.com/office/drawing/2014/main" id="{1A4DEE89-45F9-4327-B893-B73ABF5FE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" y="5705856"/>
            <a:ext cx="243230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Peak-aware LGBM</a:t>
            </a:r>
            <a:endParaRPr sz="950"/>
          </a:p>
        </p:txBody>
      </p:sp>
      <p:sp>
        <p:nvSpPr>
          <p:cNvPr id="90" name="Shape 88">
            <a:extLst xmlns:a="http://schemas.openxmlformats.org/drawingml/2006/main">
              <a:ext uri="{FF2B5EF4-FFF2-40B4-BE49-F238E27FC236}">
                <a16:creationId xmlns:a16="http://schemas.microsoft.com/office/drawing/2014/main" id="{6F7FED58-488B-462E-8213-77C200B72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2968" y="558698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91" name="Text 89">
            <a:extLst xmlns:a="http://schemas.openxmlformats.org/drawingml/2006/main">
              <a:ext uri="{FF2B5EF4-FFF2-40B4-BE49-F238E27FC236}">
                <a16:creationId xmlns:a16="http://schemas.microsoft.com/office/drawing/2014/main" id="{AD647447-6898-44E6-9909-FA34C2CC5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570585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.147587</a:t>
            </a:r>
            <a:endParaRPr sz="950"/>
          </a:p>
        </p:txBody>
      </p:sp>
      <p:sp>
        <p:nvSpPr>
          <p:cNvPr id="92" name="Shape 90">
            <a:extLst xmlns:a="http://schemas.openxmlformats.org/drawingml/2006/main">
              <a:ext uri="{FF2B5EF4-FFF2-40B4-BE49-F238E27FC236}">
                <a16:creationId xmlns:a16="http://schemas.microsoft.com/office/drawing/2014/main" id="{51453FEC-6FF1-4BAF-AF73-F1FB33385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6360" y="558698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93" name="Text 91">
            <a:extLst xmlns:a="http://schemas.openxmlformats.org/drawingml/2006/main">
              <a:ext uri="{FF2B5EF4-FFF2-40B4-BE49-F238E27FC236}">
                <a16:creationId xmlns:a16="http://schemas.microsoft.com/office/drawing/2014/main" id="{76AD9F22-9AF3-4B36-B655-3929CB7CA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9512" y="570585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.217284</a:t>
            </a:r>
            <a:endParaRPr sz="950"/>
          </a:p>
        </p:txBody>
      </p:sp>
      <p:sp>
        <p:nvSpPr>
          <p:cNvPr id="94" name="Shape 92">
            <a:extLst xmlns:a="http://schemas.openxmlformats.org/drawingml/2006/main">
              <a:ext uri="{FF2B5EF4-FFF2-40B4-BE49-F238E27FC236}">
                <a16:creationId xmlns:a16="http://schemas.microsoft.com/office/drawing/2014/main" id="{B70ED6A1-6611-4F08-9689-4D76D159C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9752" y="5586984"/>
            <a:ext cx="217627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95" name="Text 93">
            <a:extLst xmlns:a="http://schemas.openxmlformats.org/drawingml/2006/main">
              <a:ext uri="{FF2B5EF4-FFF2-40B4-BE49-F238E27FC236}">
                <a16:creationId xmlns:a16="http://schemas.microsoft.com/office/drawing/2014/main" id="{06417864-36BA-416A-9DEB-36CE74D11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2904" y="5705856"/>
            <a:ext cx="202996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.116202</a:t>
            </a:r>
            <a:endParaRPr sz="950"/>
          </a:p>
        </p:txBody>
      </p:sp>
      <p:sp>
        <p:nvSpPr>
          <p:cNvPr id="96" name="Shape 94">
            <a:extLst xmlns:a="http://schemas.openxmlformats.org/drawingml/2006/main">
              <a:ext uri="{FF2B5EF4-FFF2-40B4-BE49-F238E27FC236}">
                <a16:creationId xmlns:a16="http://schemas.microsoft.com/office/drawing/2014/main" id="{A3F0304C-4E80-4E55-99CF-0949F17A5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6024" y="558698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97" name="Text 95">
            <a:extLst xmlns:a="http://schemas.openxmlformats.org/drawingml/2006/main">
              <a:ext uri="{FF2B5EF4-FFF2-40B4-BE49-F238E27FC236}">
                <a16:creationId xmlns:a16="http://schemas.microsoft.com/office/drawing/2014/main" id="{7F0787E0-4406-4FC8-AA7C-5B4049B7E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9176" y="570585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1.129%</a:t>
            </a:r>
            <a:endParaRPr sz="950"/>
          </a:p>
        </p:txBody>
      </p:sp>
      <p:sp>
        <p:nvSpPr>
          <p:cNvPr id="98" name="Text 96">
            <a:extLst xmlns:a="http://schemas.openxmlformats.org/drawingml/2006/main">
              <a:ext uri="{FF2B5EF4-FFF2-40B4-BE49-F238E27FC236}">
                <a16:creationId xmlns:a16="http://schemas.microsoft.com/office/drawing/2014/main" id="{B6D9C42D-A5DF-4A06-8F3D-FD5B2D0EE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153912"/>
            <a:ext cx="107442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70">
                <a:solidFill>
                  <a:srgbClr val="97A2AD"/>
                </a:solidFill>
                <a:latin typeface="Arial"/>
                <a:ea typeface="Arial"/>
                <a:cs typeface="Arial"/>
              </a:rPr>
              <a:t>Canonical source: outputs/phase9/final_benchmark.csv · lower is better for normalized MAE/RMSE/regret</a:t>
            </a:r>
            <a:endParaRPr sz="670"/>
          </a:p>
        </p:txBody>
      </p:sp>
      <p:sp>
        <p:nvSpPr>
          <p:cNvPr id="99" name="Text 97">
            <a:extLst xmlns:a="http://schemas.openxmlformats.org/drawingml/2006/main">
              <a:ext uri="{FF2B5EF4-FFF2-40B4-BE49-F238E27FC236}">
                <a16:creationId xmlns:a16="http://schemas.microsoft.com/office/drawing/2014/main" id="{36038AD7-283F-4F63-9BC5-5D2ACDC0E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8996A4"/>
                </a:solidFill>
                <a:latin typeface="Microsoft YaHei"/>
                <a:ea typeface="Microsoft YaHei"/>
                <a:cs typeface="Microsoft YaHei"/>
              </a:rPr>
              <a:t>智储云控 · DOEF | 补充实验与方法说明</a:t>
            </a:r>
            <a:endParaRPr sz="750"/>
          </a:p>
        </p:txBody>
      </p:sp>
      <p:sp>
        <p:nvSpPr>
          <p:cNvPr id="100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E2D89521-F9C7-4874-9BD4-41679E525C9B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A98A8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17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15682811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D38A67E-3B9D-4D9B-B157-EE132FA65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6F4E9C"/>
                </a:solidFill>
                <a:latin typeface="Arial"/>
                <a:ea typeface="Arial"/>
                <a:cs typeface="Arial"/>
              </a:rPr>
              <a:t>DOEF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D7B723C-0BF6-4514-94F8-F933D6B3E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A8897"/>
                </a:solidFill>
                <a:latin typeface="Arial"/>
                <a:ea typeface="Arial"/>
                <a:cs typeface="Arial"/>
              </a:rPr>
              <a:t>附录 · 决策</a:t>
            </a:r>
            <a:endParaRPr sz="83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E95800DF-72C3-40A8-BE71-2DFF3A116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1320" y="173736"/>
            <a:ext cx="896112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6F4E9C"/>
          </a:solidFill>
          <a:ln xmlns:a="http://schemas.openxmlformats.org/drawingml/2006/main" w="12700">
            <a:solidFill>
              <a:srgbClr val="6F4E9C">
                <a:alpha val="0"/>
              </a:srgbClr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8CDBBA47-8505-4670-9733-EDF1C9487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4472" y="214884"/>
            <a:ext cx="74980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答疑</a:t>
            </a:r>
            <a:endParaRPr sz="82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1413CF3D-6FFE-4403-A0A6-191249A0D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75488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削峰率分布与失效案例</a:t>
            </a:r>
            <a:endParaRPr sz="24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AD8A1A6F-764A-4C8A-9ADC-A1776EF2F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98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5C6873"/>
                </a:solidFill>
                <a:latin typeface="Microsoft YaHei"/>
                <a:ea typeface="Microsoft YaHei"/>
                <a:cs typeface="Microsoft YaHei"/>
              </a:rPr>
              <a:t>均值、中位数和最小值共同描述调度表现，负削峰率表示取电峰值反而升高。</a:t>
            </a:r>
            <a:endParaRPr sz="124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17A9E8CE-77CF-4A2A-83A9-D21A84B49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554480"/>
            <a:ext cx="3712464" cy="4517136"/>
          </a:xfrm>
          <a:prstGeom xmlns:a="http://schemas.openxmlformats.org/drawingml/2006/main" prst="roundRect">
            <a:avLst>
              <a:gd name="adj" fmla="val 2217"/>
            </a:avLst>
          </a:prstGeom>
          <a:solidFill xmlns:a="http://schemas.openxmlformats.org/drawingml/2006/main">
            <a:srgbClr val="0B192B"/>
          </a:solidFill>
          <a:ln xmlns:a="http://schemas.openxmlformats.org/drawingml/2006/main" w="10160">
            <a:solidFill>
              <a:srgbClr val="0B192B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338041A5-1898-45BE-887D-5CDE2A312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1856232"/>
            <a:ext cx="299923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均值与中位数的差异</a:t>
            </a:r>
            <a:endParaRPr sz="145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0A4FDEC3-A8C8-4190-B700-012C2643E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542032"/>
            <a:ext cx="237744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AFC1D0"/>
                </a:solidFill>
                <a:latin typeface="Arial"/>
                <a:ea typeface="Arial"/>
                <a:cs typeface="Arial"/>
              </a:rPr>
              <a:t>CatBoost peak reduction</a:t>
            </a:r>
            <a:endParaRPr sz="10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3DB972AC-D431-42F7-AAD0-EC89E40FB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889504"/>
            <a:ext cx="1417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FF9C7A"/>
                </a:solidFill>
                <a:latin typeface="Arial"/>
                <a:ea typeface="Arial"/>
                <a:cs typeface="Arial"/>
              </a:rPr>
              <a:t>−24.48%</a:t>
            </a:r>
            <a:endParaRPr sz="28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CA33CED4-7908-42FB-88B1-3D3A5D200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547872"/>
            <a:ext cx="14173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A9B8C6"/>
                </a:solidFill>
                <a:latin typeface="Microsoft YaHei"/>
                <a:ea typeface="Microsoft YaHei"/>
                <a:cs typeface="Microsoft YaHei"/>
              </a:rPr>
              <a:t>mean</a:t>
            </a:r>
            <a:endParaRPr sz="115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99A11109-9E95-4C18-8C29-5D226F18C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3744" y="2889504"/>
            <a:ext cx="1417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24C7FF"/>
                </a:solidFill>
                <a:latin typeface="Arial"/>
                <a:ea typeface="Arial"/>
                <a:cs typeface="Arial"/>
              </a:rPr>
              <a:t>+4.82%</a:t>
            </a:r>
            <a:endParaRPr sz="28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34CA9467-A662-4CAF-9FF6-09FDF24D7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3744" y="3547872"/>
            <a:ext cx="14173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A9B8C6"/>
                </a:solidFill>
                <a:latin typeface="Microsoft YaHei"/>
                <a:ea typeface="Microsoft YaHei"/>
                <a:cs typeface="Microsoft YaHei"/>
              </a:rPr>
              <a:t>median</a:t>
            </a:r>
            <a:endParaRPr sz="115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EB412C45-6340-41B5-817E-169DBD67D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224528"/>
            <a:ext cx="2852928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20">
                <a:solidFill>
                  <a:srgbClr val="A8B8C5"/>
                </a:solidFill>
                <a:latin typeface="Microsoft YaHei"/>
                <a:ea typeface="Microsoft YaHei"/>
                <a:cs typeface="Microsoft YaHei"/>
              </a:rPr>
              <a:t>极端负值拉低平均削峰率，需结合中位数和最小值判断调度表现。</a:t>
            </a:r>
            <a:endParaRPr sz="112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54445197-04C6-4ABC-A849-87556C18E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5321808"/>
            <a:ext cx="1554480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452A23"/>
          </a:solidFill>
          <a:ln xmlns:a="http://schemas.openxmlformats.org/drawingml/2006/main" w="12700">
            <a:solidFill>
              <a:srgbClr val="452A23">
                <a:alpha val="0"/>
              </a:srgbClr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CDB457BD-7E97-494B-B1BE-81C078F29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362956"/>
            <a:ext cx="140817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10" b="1">
                <a:solidFill>
                  <a:srgbClr val="FFC0A5"/>
                </a:solidFill>
                <a:latin typeface="Microsoft YaHei"/>
                <a:ea typeface="Microsoft YaHei"/>
                <a:cs typeface="Microsoft YaHei"/>
              </a:rPr>
              <a:t>min = −245.94%</a:t>
            </a:r>
            <a:endParaRPr sz="81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67504C36-6DA8-47B6-B0E3-5D817C4F7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0288" y="1847088"/>
            <a:ext cx="1591056" cy="4389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B3F"/>
          </a:solidFill>
          <a:ln xmlns:a="http://schemas.openxmlformats.org/drawingml/2006/main" w="12700">
            <a:solidFill>
              <a:srgbClr val="182B3F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9BDD3C75-0ED8-488A-BAB1-0B1CAF283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1965960"/>
            <a:ext cx="144475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Method</a:t>
            </a:r>
            <a:endParaRPr sz="85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14B0E6C4-1EBC-4D64-A2CD-9BD75E9A6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1847088"/>
            <a:ext cx="1243584" cy="4389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B3F"/>
          </a:solidFill>
          <a:ln xmlns:a="http://schemas.openxmlformats.org/drawingml/2006/main" w="12700">
            <a:solidFill>
              <a:srgbClr val="182B3F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A435259E-1149-4AB4-ABF7-3293852C0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4496" y="1965960"/>
            <a:ext cx="10972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norm regret</a:t>
            </a:r>
            <a:endParaRPr sz="85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B5298A59-2F32-4801-8571-535657D95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4928" y="1847088"/>
            <a:ext cx="1335024" cy="4389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B3F"/>
          </a:solidFill>
          <a:ln xmlns:a="http://schemas.openxmlformats.org/drawingml/2006/main" w="12700">
            <a:solidFill>
              <a:srgbClr val="182B3F"/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5118FBD4-B488-4BAA-974C-E80E67632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1965960"/>
            <a:ext cx="11887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peak mean</a:t>
            </a:r>
            <a:endParaRPr sz="85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3724D0E1-8A58-41FE-9264-3D50792FD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9952" y="1847088"/>
            <a:ext cx="1335024" cy="4389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B3F"/>
          </a:solidFill>
          <a:ln xmlns:a="http://schemas.openxmlformats.org/drawingml/2006/main" w="12700">
            <a:solidFill>
              <a:srgbClr val="182B3F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F491764C-4618-49DA-9B4A-C8514A976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3104" y="1965960"/>
            <a:ext cx="11887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peak median</a:t>
            </a:r>
            <a:endParaRPr sz="850"/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B4574EA5-BAB4-4735-85ED-58A8B5A59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4976" y="1847088"/>
            <a:ext cx="1335024" cy="4389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B3F"/>
          </a:solidFill>
          <a:ln xmlns:a="http://schemas.openxmlformats.org/drawingml/2006/main" w="12700">
            <a:solidFill>
              <a:srgbClr val="182B3F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F2B2E339-DC18-4976-8C92-4A3777AA1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8128" y="1965960"/>
            <a:ext cx="11887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peak min</a:t>
            </a:r>
            <a:endParaRPr sz="850"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BEFDD211-D861-49CC-AD66-68FECC00D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0288" y="2286000"/>
            <a:ext cx="1591056" cy="6675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FCE4E5B6-4748-4D9B-A722-DE1F43826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2468880"/>
            <a:ext cx="1444752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LightGBM</a:t>
            </a:r>
            <a:endParaRPr sz="950"/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645ED55A-9E7B-44F4-8735-6C0D7FE29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2286000"/>
            <a:ext cx="1243584" cy="6675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D35FD47A-3180-4823-ABB1-39C0F3AF2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4496" y="2468880"/>
            <a:ext cx="1097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.116127</a:t>
            </a:r>
            <a:endParaRPr sz="950"/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17FA13F2-D3DA-4C45-8DB4-52D1772A9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4928" y="2286000"/>
            <a:ext cx="1335024" cy="6675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C338788E-BAF3-4F37-B66B-1991944F1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2468880"/>
            <a:ext cx="11887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1.008%</a:t>
            </a:r>
            <a:endParaRPr sz="950"/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D713E594-107E-491A-A7BB-A5046B2C8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9952" y="2286000"/>
            <a:ext cx="1335024" cy="6675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C253FA12-DF0C-4065-B886-EEEE1031F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3104" y="2468880"/>
            <a:ext cx="11887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5.057%</a:t>
            </a:r>
            <a:endParaRPr sz="950"/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538A5498-C978-4924-8840-1B201C54F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4976" y="2286000"/>
            <a:ext cx="1335024" cy="6675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245CE3A6-9063-4292-92E3-D651B4D5C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8128" y="2468880"/>
            <a:ext cx="11887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−41.192%</a:t>
            </a:r>
            <a:endParaRPr sz="950"/>
          </a:p>
        </p:txBody>
      </p:sp>
      <p:sp>
        <p:nvSpPr>
          <p:cNvPr id="38" name="Shape 36">
            <a:extLst xmlns:a="http://schemas.openxmlformats.org/drawingml/2006/main">
              <a:ext uri="{FF2B5EF4-FFF2-40B4-BE49-F238E27FC236}">
                <a16:creationId xmlns:a16="http://schemas.microsoft.com/office/drawing/2014/main" id="{EEA0853F-21B0-4222-9182-A54915310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0288" y="2953512"/>
            <a:ext cx="1591056" cy="6675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5BB56B7E-FDA0-40E7-9DAA-2A064596C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3136392"/>
            <a:ext cx="1444752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XGBoost</a:t>
            </a:r>
            <a:endParaRPr sz="950"/>
          </a:p>
        </p:txBody>
      </p:sp>
      <p:sp>
        <p:nvSpPr>
          <p:cNvPr id="40" name="Shape 38">
            <a:extLst xmlns:a="http://schemas.openxmlformats.org/drawingml/2006/main">
              <a:ext uri="{FF2B5EF4-FFF2-40B4-BE49-F238E27FC236}">
                <a16:creationId xmlns:a16="http://schemas.microsoft.com/office/drawing/2014/main" id="{6CEA8422-3633-4E21-8665-5DE395493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2953512"/>
            <a:ext cx="1243584" cy="6675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BADDB944-A374-4232-A58A-F496ABD04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4496" y="3136392"/>
            <a:ext cx="1097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.117534</a:t>
            </a:r>
            <a:endParaRPr sz="950"/>
          </a:p>
        </p:txBody>
      </p:sp>
      <p:sp>
        <p:nvSpPr>
          <p:cNvPr id="42" name="Shape 40">
            <a:extLst xmlns:a="http://schemas.openxmlformats.org/drawingml/2006/main">
              <a:ext uri="{FF2B5EF4-FFF2-40B4-BE49-F238E27FC236}">
                <a16:creationId xmlns:a16="http://schemas.microsoft.com/office/drawing/2014/main" id="{B0F5F8D5-999A-4F4C-BEC7-982F63CD5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4928" y="2953512"/>
            <a:ext cx="1335024" cy="6675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9F568ACB-ED25-4790-B480-DA5E35CF2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3136392"/>
            <a:ext cx="11887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0.453%</a:t>
            </a:r>
            <a:endParaRPr sz="950"/>
          </a:p>
        </p:txBody>
      </p:sp>
      <p:sp>
        <p:nvSpPr>
          <p:cNvPr id="44" name="Shape 42">
            <a:extLst xmlns:a="http://schemas.openxmlformats.org/drawingml/2006/main">
              <a:ext uri="{FF2B5EF4-FFF2-40B4-BE49-F238E27FC236}">
                <a16:creationId xmlns:a16="http://schemas.microsoft.com/office/drawing/2014/main" id="{84CF6361-ABB1-4304-BD01-75DF02383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9952" y="2953512"/>
            <a:ext cx="1335024" cy="6675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45" name="Text 43">
            <a:extLst xmlns:a="http://schemas.openxmlformats.org/drawingml/2006/main">
              <a:ext uri="{FF2B5EF4-FFF2-40B4-BE49-F238E27FC236}">
                <a16:creationId xmlns:a16="http://schemas.microsoft.com/office/drawing/2014/main" id="{C2480100-0059-4011-918E-1D65E5520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3104" y="3136392"/>
            <a:ext cx="11887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4.588%</a:t>
            </a:r>
            <a:endParaRPr sz="950"/>
          </a:p>
        </p:txBody>
      </p:sp>
      <p:sp>
        <p:nvSpPr>
          <p:cNvPr id="46" name="Shape 44">
            <a:extLst xmlns:a="http://schemas.openxmlformats.org/drawingml/2006/main">
              <a:ext uri="{FF2B5EF4-FFF2-40B4-BE49-F238E27FC236}">
                <a16:creationId xmlns:a16="http://schemas.microsoft.com/office/drawing/2014/main" id="{8B6F7E74-B6DA-435F-98CE-41AA2B0F3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4976" y="2953512"/>
            <a:ext cx="1335024" cy="6675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47" name="Text 45">
            <a:extLst xmlns:a="http://schemas.openxmlformats.org/drawingml/2006/main">
              <a:ext uri="{FF2B5EF4-FFF2-40B4-BE49-F238E27FC236}">
                <a16:creationId xmlns:a16="http://schemas.microsoft.com/office/drawing/2014/main" id="{E6D64E2E-66A3-4DB8-939A-9AB4077EF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8128" y="3136392"/>
            <a:ext cx="11887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−44.357%</a:t>
            </a:r>
            <a:endParaRPr sz="950"/>
          </a:p>
        </p:txBody>
      </p:sp>
      <p:sp>
        <p:nvSpPr>
          <p:cNvPr id="48" name="Shape 46">
            <a:extLst xmlns:a="http://schemas.openxmlformats.org/drawingml/2006/main">
              <a:ext uri="{FF2B5EF4-FFF2-40B4-BE49-F238E27FC236}">
                <a16:creationId xmlns:a16="http://schemas.microsoft.com/office/drawing/2014/main" id="{E6593B33-6D0D-467F-8749-D41AFB69A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0288" y="3621024"/>
            <a:ext cx="1591056" cy="6675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8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49" name="Text 47">
            <a:extLst xmlns:a="http://schemas.openxmlformats.org/drawingml/2006/main">
              <a:ext uri="{FF2B5EF4-FFF2-40B4-BE49-F238E27FC236}">
                <a16:creationId xmlns:a16="http://schemas.microsoft.com/office/drawing/2014/main" id="{84BD168A-22C0-49DD-B73F-86558397C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3803904"/>
            <a:ext cx="1444752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B35C00"/>
                </a:solidFill>
                <a:latin typeface="Arial"/>
                <a:ea typeface="Arial"/>
                <a:cs typeface="Arial"/>
              </a:rPr>
              <a:t>CatBoost</a:t>
            </a:r>
            <a:endParaRPr sz="950"/>
          </a:p>
        </p:txBody>
      </p:sp>
      <p:sp>
        <p:nvSpPr>
          <p:cNvPr id="50" name="Shape 48">
            <a:extLst xmlns:a="http://schemas.openxmlformats.org/drawingml/2006/main">
              <a:ext uri="{FF2B5EF4-FFF2-40B4-BE49-F238E27FC236}">
                <a16:creationId xmlns:a16="http://schemas.microsoft.com/office/drawing/2014/main" id="{40F91A3B-89AA-44AD-AD11-F37ABB57A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3621024"/>
            <a:ext cx="1243584" cy="6675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8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51" name="Text 49">
            <a:extLst xmlns:a="http://schemas.openxmlformats.org/drawingml/2006/main">
              <a:ext uri="{FF2B5EF4-FFF2-40B4-BE49-F238E27FC236}">
                <a16:creationId xmlns:a16="http://schemas.microsoft.com/office/drawing/2014/main" id="{6AD34167-EE59-49C1-BAA5-8594404CE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4496" y="3803904"/>
            <a:ext cx="1097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B35C00"/>
                </a:solidFill>
                <a:latin typeface="Arial"/>
                <a:ea typeface="Arial"/>
                <a:cs typeface="Arial"/>
              </a:rPr>
              <a:t>.118740</a:t>
            </a:r>
            <a:endParaRPr sz="950"/>
          </a:p>
        </p:txBody>
      </p:sp>
      <p:sp>
        <p:nvSpPr>
          <p:cNvPr id="52" name="Shape 50">
            <a:extLst xmlns:a="http://schemas.openxmlformats.org/drawingml/2006/main">
              <a:ext uri="{FF2B5EF4-FFF2-40B4-BE49-F238E27FC236}">
                <a16:creationId xmlns:a16="http://schemas.microsoft.com/office/drawing/2014/main" id="{DE867B22-B682-4AE7-B11E-B3161CFBD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4928" y="3621024"/>
            <a:ext cx="1335024" cy="6675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8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53" name="Text 51">
            <a:extLst xmlns:a="http://schemas.openxmlformats.org/drawingml/2006/main">
              <a:ext uri="{FF2B5EF4-FFF2-40B4-BE49-F238E27FC236}">
                <a16:creationId xmlns:a16="http://schemas.microsoft.com/office/drawing/2014/main" id="{5514C7BE-3451-4B5D-BD07-AFD286607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3803904"/>
            <a:ext cx="11887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B35C00"/>
                </a:solidFill>
                <a:latin typeface="Arial"/>
                <a:ea typeface="Arial"/>
                <a:cs typeface="Arial"/>
              </a:rPr>
              <a:t>−24.482%</a:t>
            </a:r>
            <a:endParaRPr sz="950"/>
          </a:p>
        </p:txBody>
      </p:sp>
      <p:sp>
        <p:nvSpPr>
          <p:cNvPr id="54" name="Shape 52">
            <a:extLst xmlns:a="http://schemas.openxmlformats.org/drawingml/2006/main">
              <a:ext uri="{FF2B5EF4-FFF2-40B4-BE49-F238E27FC236}">
                <a16:creationId xmlns:a16="http://schemas.microsoft.com/office/drawing/2014/main" id="{7E4BD2B2-3CFC-4D0E-BC39-D6B29A47C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9952" y="3621024"/>
            <a:ext cx="1335024" cy="6675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8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55" name="Text 53">
            <a:extLst xmlns:a="http://schemas.openxmlformats.org/drawingml/2006/main">
              <a:ext uri="{FF2B5EF4-FFF2-40B4-BE49-F238E27FC236}">
                <a16:creationId xmlns:a16="http://schemas.microsoft.com/office/drawing/2014/main" id="{47731E0A-42EC-4029-A299-F10128EE0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3104" y="3803904"/>
            <a:ext cx="11887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B35C00"/>
                </a:solidFill>
                <a:latin typeface="Arial"/>
                <a:ea typeface="Arial"/>
                <a:cs typeface="Arial"/>
              </a:rPr>
              <a:t>4.821%</a:t>
            </a:r>
            <a:endParaRPr sz="950"/>
          </a:p>
        </p:txBody>
      </p:sp>
      <p:sp>
        <p:nvSpPr>
          <p:cNvPr id="56" name="Shape 54">
            <a:extLst xmlns:a="http://schemas.openxmlformats.org/drawingml/2006/main">
              <a:ext uri="{FF2B5EF4-FFF2-40B4-BE49-F238E27FC236}">
                <a16:creationId xmlns:a16="http://schemas.microsoft.com/office/drawing/2014/main" id="{C5B4B51D-97BC-4C04-9ABA-FB672C023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4976" y="3621024"/>
            <a:ext cx="1335024" cy="6675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8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57" name="Text 55">
            <a:extLst xmlns:a="http://schemas.openxmlformats.org/drawingml/2006/main">
              <a:ext uri="{FF2B5EF4-FFF2-40B4-BE49-F238E27FC236}">
                <a16:creationId xmlns:a16="http://schemas.microsoft.com/office/drawing/2014/main" id="{9FE1F730-8602-432E-AE24-EF816288A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8128" y="3803904"/>
            <a:ext cx="11887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B35C00"/>
                </a:solidFill>
                <a:latin typeface="Arial"/>
                <a:ea typeface="Arial"/>
                <a:cs typeface="Arial"/>
              </a:rPr>
              <a:t>−245.943%</a:t>
            </a:r>
            <a:endParaRPr sz="950"/>
          </a:p>
        </p:txBody>
      </p:sp>
      <p:sp>
        <p:nvSpPr>
          <p:cNvPr id="58" name="Shape 56">
            <a:extLst xmlns:a="http://schemas.openxmlformats.org/drawingml/2006/main">
              <a:ext uri="{FF2B5EF4-FFF2-40B4-BE49-F238E27FC236}">
                <a16:creationId xmlns:a16="http://schemas.microsoft.com/office/drawing/2014/main" id="{55E4EAA5-9BBA-48CA-B27B-1CF99B960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0288" y="4288536"/>
            <a:ext cx="1591056" cy="6675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59" name="Text 57">
            <a:extLst xmlns:a="http://schemas.openxmlformats.org/drawingml/2006/main">
              <a:ext uri="{FF2B5EF4-FFF2-40B4-BE49-F238E27FC236}">
                <a16:creationId xmlns:a16="http://schemas.microsoft.com/office/drawing/2014/main" id="{3A8EE37E-11A6-4ADF-96F0-3BBC0CEFA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4471416"/>
            <a:ext cx="1444752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DOEF</a:t>
            </a:r>
            <a:endParaRPr sz="950"/>
          </a:p>
        </p:txBody>
      </p:sp>
      <p:sp>
        <p:nvSpPr>
          <p:cNvPr id="60" name="Shape 58">
            <a:extLst xmlns:a="http://schemas.openxmlformats.org/drawingml/2006/main">
              <a:ext uri="{FF2B5EF4-FFF2-40B4-BE49-F238E27FC236}">
                <a16:creationId xmlns:a16="http://schemas.microsoft.com/office/drawing/2014/main" id="{BB0AFBB9-8972-4C4B-92FF-BC253CD44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4288536"/>
            <a:ext cx="1243584" cy="6675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61" name="Text 59">
            <a:extLst xmlns:a="http://schemas.openxmlformats.org/drawingml/2006/main">
              <a:ext uri="{FF2B5EF4-FFF2-40B4-BE49-F238E27FC236}">
                <a16:creationId xmlns:a16="http://schemas.microsoft.com/office/drawing/2014/main" id="{F4B5004B-D697-4CE7-817F-4E7FA67FA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4496" y="4471416"/>
            <a:ext cx="1097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.111929</a:t>
            </a:r>
            <a:endParaRPr sz="950"/>
          </a:p>
        </p:txBody>
      </p:sp>
      <p:sp>
        <p:nvSpPr>
          <p:cNvPr id="62" name="Shape 60">
            <a:extLst xmlns:a="http://schemas.openxmlformats.org/drawingml/2006/main">
              <a:ext uri="{FF2B5EF4-FFF2-40B4-BE49-F238E27FC236}">
                <a16:creationId xmlns:a16="http://schemas.microsoft.com/office/drawing/2014/main" id="{B9ADA8A7-FB7E-4D2C-93B1-828B29B87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4928" y="4288536"/>
            <a:ext cx="1335024" cy="6675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63" name="Text 61">
            <a:extLst xmlns:a="http://schemas.openxmlformats.org/drawingml/2006/main">
              <a:ext uri="{FF2B5EF4-FFF2-40B4-BE49-F238E27FC236}">
                <a16:creationId xmlns:a16="http://schemas.microsoft.com/office/drawing/2014/main" id="{6548ECD7-67DC-44F1-B396-43F193729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4471416"/>
            <a:ext cx="11887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6.442%</a:t>
            </a:r>
            <a:endParaRPr sz="950"/>
          </a:p>
        </p:txBody>
      </p:sp>
      <p:sp>
        <p:nvSpPr>
          <p:cNvPr id="64" name="Shape 62">
            <a:extLst xmlns:a="http://schemas.openxmlformats.org/drawingml/2006/main">
              <a:ext uri="{FF2B5EF4-FFF2-40B4-BE49-F238E27FC236}">
                <a16:creationId xmlns:a16="http://schemas.microsoft.com/office/drawing/2014/main" id="{5C51EF4B-C369-4201-9196-8E1D10F86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9952" y="4288536"/>
            <a:ext cx="1335024" cy="6675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65" name="Text 63">
            <a:extLst xmlns:a="http://schemas.openxmlformats.org/drawingml/2006/main">
              <a:ext uri="{FF2B5EF4-FFF2-40B4-BE49-F238E27FC236}">
                <a16:creationId xmlns:a16="http://schemas.microsoft.com/office/drawing/2014/main" id="{9773E12F-261D-431D-9F44-47B3E1115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3104" y="4471416"/>
            <a:ext cx="11887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5.629%</a:t>
            </a:r>
            <a:endParaRPr sz="950"/>
          </a:p>
        </p:txBody>
      </p:sp>
      <p:sp>
        <p:nvSpPr>
          <p:cNvPr id="66" name="Shape 64">
            <a:extLst xmlns:a="http://schemas.openxmlformats.org/drawingml/2006/main">
              <a:ext uri="{FF2B5EF4-FFF2-40B4-BE49-F238E27FC236}">
                <a16:creationId xmlns:a16="http://schemas.microsoft.com/office/drawing/2014/main" id="{587C92EF-8A13-41A1-BA19-36C103AEA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4976" y="4288536"/>
            <a:ext cx="1335024" cy="6675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67" name="Text 65">
            <a:extLst xmlns:a="http://schemas.openxmlformats.org/drawingml/2006/main">
              <a:ext uri="{FF2B5EF4-FFF2-40B4-BE49-F238E27FC236}">
                <a16:creationId xmlns:a16="http://schemas.microsoft.com/office/drawing/2014/main" id="{872E7288-0422-4DF4-9C3F-A03427547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8128" y="4471416"/>
            <a:ext cx="11887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−1.017%</a:t>
            </a:r>
            <a:endParaRPr sz="950"/>
          </a:p>
        </p:txBody>
      </p:sp>
      <p:sp>
        <p:nvSpPr>
          <p:cNvPr id="68" name="Text 66">
            <a:extLst xmlns:a="http://schemas.openxmlformats.org/drawingml/2006/main">
              <a:ext uri="{FF2B5EF4-FFF2-40B4-BE49-F238E27FC236}">
                <a16:creationId xmlns:a16="http://schemas.microsoft.com/office/drawing/2014/main" id="{E98A552E-AE36-4C81-A62E-13A801E23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153912"/>
            <a:ext cx="107442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70">
                <a:solidFill>
                  <a:srgbClr val="97A2AD"/>
                </a:solidFill>
                <a:latin typeface="Arial"/>
                <a:ea typeface="Arial"/>
                <a:cs typeface="Arial"/>
              </a:rPr>
              <a:t>Frozen source: outputs/phase9/final_benchmark.csv + decision metrics · peak reduction is not a universal scalar</a:t>
            </a:r>
            <a:endParaRPr sz="670"/>
          </a:p>
        </p:txBody>
      </p:sp>
      <p:sp>
        <p:nvSpPr>
          <p:cNvPr id="69" name="Text 67">
            <a:extLst xmlns:a="http://schemas.openxmlformats.org/drawingml/2006/main">
              <a:ext uri="{FF2B5EF4-FFF2-40B4-BE49-F238E27FC236}">
                <a16:creationId xmlns:a16="http://schemas.microsoft.com/office/drawing/2014/main" id="{0555ECAD-DC9A-48A2-AB04-DEB7D3625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8996A4"/>
                </a:solidFill>
                <a:latin typeface="Microsoft YaHei"/>
                <a:ea typeface="Microsoft YaHei"/>
                <a:cs typeface="Microsoft YaHei"/>
              </a:rPr>
              <a:t>智储云控 · DOEF | 补充实验与方法说明</a:t>
            </a:r>
            <a:endParaRPr sz="750"/>
          </a:p>
        </p:txBody>
      </p:sp>
      <p:sp>
        <p:nvSpPr>
          <p:cNvPr id="70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48BCDC4B-608C-4017-9CA5-D5D9F96330D0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A98A8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18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27271018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939B359-1F55-4202-8CEC-25F445A8A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6F4E9C"/>
                </a:solidFill>
                <a:latin typeface="Arial"/>
                <a:ea typeface="Arial"/>
                <a:cs typeface="Arial"/>
              </a:rPr>
              <a:t>DOEF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9388A91-22D5-4A37-AA1A-399218994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A8897"/>
                </a:solidFill>
                <a:latin typeface="Arial"/>
                <a:ea typeface="Arial"/>
                <a:cs typeface="Arial"/>
              </a:rPr>
              <a:t>附录 · 案例</a:t>
            </a:r>
            <a:endParaRPr sz="83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378337E-6BDC-479A-93E2-F81445D72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1320" y="173736"/>
            <a:ext cx="896112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6F4E9C"/>
          </a:solidFill>
          <a:ln xmlns:a="http://schemas.openxmlformats.org/drawingml/2006/main" w="12700">
            <a:solidFill>
              <a:srgbClr val="6F4E9C">
                <a:alpha val="0"/>
              </a:srgbClr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4B063F5F-371E-48BB-AAF4-452ADAC75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4472" y="214884"/>
            <a:ext cx="74980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答疑</a:t>
            </a:r>
            <a:endParaRPr sz="82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CA90EFEE-404B-4350-B699-C9CF21F38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75488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预测误差对充放电计划的影响</a:t>
            </a:r>
            <a:endParaRPr sz="24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F39BB723-5875-4C2D-9C2D-BCF08DE17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98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5C6873"/>
                </a:solidFill>
                <a:latin typeface="Microsoft YaHei"/>
                <a:ea typeface="Microsoft YaHei"/>
                <a:cs typeface="Microsoft YaHei"/>
              </a:rPr>
              <a:t>预先选定的测试案例用于解释预测如何改变调度结果，不能代表全部建筑表现。</a:t>
            </a:r>
            <a:endParaRPr sz="124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41C867E7-94D3-4EC3-831D-454365E6A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572768"/>
            <a:ext cx="7827264" cy="4370832"/>
          </a:xfrm>
          <a:prstGeom xmlns:a="http://schemas.openxmlformats.org/drawingml/2006/main" prst="roundRect">
            <a:avLst>
              <a:gd name="adj" fmla="val 188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2E8F0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pic>
        <p:nvPicPr>
          <p:cNvPr id="3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29cee20ec4462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1840" y="1609344"/>
            <a:ext cx="7640320" cy="4297680"/>
          </a:xfrm>
          <a:prstGeom xmlns:a="http://schemas.openxmlformats.org/drawingml/2006/main" prst="rect">
            <a:avLst/>
          </a:prstGeom>
        </p:spPr>
      </p:pic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595278E4-BD35-44EF-80B6-597EE8A5D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" y="5193792"/>
            <a:ext cx="7735824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5DF7A9EA-5D39-4D97-A319-EE7EEDFB9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5431536"/>
            <a:ext cx="6903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680">
                <a:solidFill>
                  <a:srgbClr val="5C6873"/>
                </a:solidFill>
                <a:latin typeface="Arial"/>
                <a:ea typeface="Arial"/>
                <a:cs typeface="Arial"/>
              </a:rPr>
              <a:t>Read as a mechanism trace, not a universal performance claim; the case and values remain frozen.</a:t>
            </a:r>
            <a:endParaRPr sz="680"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B83DE82B-3D80-4047-8A2F-34D34939E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572768"/>
            <a:ext cx="2788920" cy="4370832"/>
          </a:xfrm>
          <a:prstGeom xmlns:a="http://schemas.openxmlformats.org/drawingml/2006/main" prst="roundRect">
            <a:avLst>
              <a:gd name="adj" fmla="val 2951"/>
            </a:avLst>
          </a:prstGeom>
          <a:solidFill xmlns:a="http://schemas.openxmlformats.org/drawingml/2006/main">
            <a:srgbClr val="0B192B"/>
          </a:solidFill>
          <a:ln xmlns:a="http://schemas.openxmlformats.org/drawingml/2006/main" w="10160">
            <a:solidFill>
              <a:srgbClr val="0B192B"/>
            </a:solidFill>
            <a:prstDash val="solid"/>
          </a:ln>
        </p:spPr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18CBEA46-5D76-4169-873E-634ACF7AA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1704" y="1901952"/>
            <a:ext cx="1444752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3B2B20"/>
          </a:solidFill>
          <a:ln xmlns:a="http://schemas.openxmlformats.org/drawingml/2006/main" w="12700">
            <a:solidFill>
              <a:srgbClr val="3B2B20">
                <a:alpha val="0"/>
              </a:srgbClr>
            </a:solidFill>
            <a:prstDash val="solid"/>
          </a:ln>
        </p:spPr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B80B1138-587B-4500-9266-EFAE711FD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856" y="1943100"/>
            <a:ext cx="129844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C494"/>
                </a:solidFill>
                <a:latin typeface="Microsoft YaHei"/>
                <a:ea typeface="Microsoft YaHei"/>
                <a:cs typeface="Microsoft YaHei"/>
              </a:rPr>
              <a:t>案例说明</a:t>
            </a:r>
            <a:endParaRPr sz="8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4117330C-A978-4F02-A651-E33868EF2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2578608"/>
            <a:ext cx="182880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20">
                <a:solidFill>
                  <a:srgbClr val="B6C4CF"/>
                </a:solidFill>
                <a:latin typeface="Microsoft YaHei"/>
                <a:ea typeface="Microsoft YaHei"/>
                <a:cs typeface="Microsoft YaHei"/>
              </a:rPr>
              <a:t>• 预先确定的测试案例</a:t>
            </a:r>
            <a:endParaRPr sz="1020"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8A9B4398-6C63-4B55-A7AD-27624B0BA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3054096"/>
            <a:ext cx="182880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20">
                <a:solidFill>
                  <a:srgbClr val="B6C4CF"/>
                </a:solidFill>
                <a:latin typeface="Microsoft YaHei"/>
                <a:ea typeface="Microsoft YaHei"/>
                <a:cs typeface="Microsoft YaHei"/>
              </a:rPr>
              <a:t>• 用于说明调度机制</a:t>
            </a:r>
            <a:endParaRPr sz="1020"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A9BE67B2-9B56-4652-B5FA-4FCDD7C00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3529584"/>
            <a:ext cx="182880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20">
                <a:solidFill>
                  <a:srgbClr val="B6C4CF"/>
                </a:solidFill>
                <a:latin typeface="Microsoft YaHei"/>
                <a:ea typeface="Microsoft YaHei"/>
                <a:cs typeface="Microsoft YaHei"/>
              </a:rPr>
              <a:t>• 展示预测与实际负荷</a:t>
            </a:r>
            <a:endParaRPr sz="102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9084A3EB-A45D-4610-806E-AF7E135D9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4005072"/>
            <a:ext cx="182880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20">
                <a:solidFill>
                  <a:srgbClr val="B6C4CF"/>
                </a:solidFill>
                <a:latin typeface="Microsoft YaHei"/>
                <a:ea typeface="Microsoft YaHei"/>
                <a:cs typeface="Microsoft YaHei"/>
              </a:rPr>
              <a:t>• 关注高负荷时段的偏差</a:t>
            </a:r>
            <a:endParaRPr sz="102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E64FFAC3-6B91-4FE6-8CAE-340AC652E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4480560"/>
            <a:ext cx="182880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20">
                <a:solidFill>
                  <a:srgbClr val="B6C4CF"/>
                </a:solidFill>
                <a:latin typeface="Microsoft YaHei"/>
                <a:ea typeface="Microsoft YaHei"/>
                <a:cs typeface="Microsoft YaHei"/>
              </a:rPr>
              <a:t>• 总体表现见全样本结果</a:t>
            </a:r>
            <a:endParaRPr sz="1020"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695F1483-2045-4C2C-BC80-DAF276EDF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153912"/>
            <a:ext cx="107442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70">
                <a:solidFill>
                  <a:srgbClr val="97A2AD"/>
                </a:solidFill>
                <a:latin typeface="Arial"/>
                <a:ea typeface="Arial"/>
                <a:cs typeface="Arial"/>
              </a:rPr>
              <a:t>Exact frozen source: outputs/phase13_1/figures/sci_05_storage_dispatch_frozen.png · no value extraction or case reselection</a:t>
            </a:r>
            <a:endParaRPr sz="670"/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53D65808-BA89-4361-89A3-000CDA5EE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8996A4"/>
                </a:solidFill>
                <a:latin typeface="Microsoft YaHei"/>
                <a:ea typeface="Microsoft YaHei"/>
                <a:cs typeface="Microsoft YaHei"/>
              </a:rPr>
              <a:t>智储云控 · DOEF | 补充实验与方法说明</a:t>
            </a:r>
            <a:endParaRPr sz="75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3E1EF24E-E00C-4B93-9E2C-1284C446ECA7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A98A8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19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29192711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6B898A6-FF92-4B33-B929-A305E8AD8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6F4E9C"/>
                </a:solidFill>
                <a:latin typeface="Arial"/>
                <a:ea typeface="Arial"/>
                <a:cs typeface="Arial"/>
              </a:rPr>
              <a:t>DOEF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0BED9D5-826D-4EB9-9975-98F424EB5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A8897"/>
                </a:solidFill>
                <a:latin typeface="Arial"/>
                <a:ea typeface="Arial"/>
                <a:cs typeface="Arial"/>
              </a:rPr>
              <a:t>附录 · 权重</a:t>
            </a:r>
            <a:endParaRPr sz="83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F4DE4724-34F1-4EB2-ACA5-949ABD992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1320" y="173736"/>
            <a:ext cx="896112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6F4E9C"/>
          </a:solidFill>
          <a:ln xmlns:a="http://schemas.openxmlformats.org/drawingml/2006/main" w="12700">
            <a:solidFill>
              <a:srgbClr val="6F4E9C">
                <a:alpha val="0"/>
              </a:srgbClr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391998A2-8564-43B3-A132-286022AE6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4472" y="214884"/>
            <a:ext cx="74980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答疑</a:t>
            </a:r>
            <a:endParaRPr sz="82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06CB4377-0ABB-4F09-A7D8-854230C8A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75488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逐建筑融合权重</a:t>
            </a:r>
            <a:endParaRPr sz="24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D4088D0F-CDD7-452D-8C4B-FFF59E202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98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5C6873"/>
                </a:solidFill>
                <a:latin typeface="Microsoft YaHei"/>
                <a:ea typeface="Microsoft YaHei"/>
                <a:cs typeface="Microsoft YaHei"/>
              </a:rPr>
              <a:t>候选权重为 0.0、0.1、…、1.0，按验证集目标和平局规则选择，测试期保持不变。</a:t>
            </a:r>
            <a:endParaRPr sz="124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758F6A63-A79B-4D9D-A225-99CA3CACA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572768"/>
            <a:ext cx="6766560" cy="4306824"/>
          </a:xfrm>
          <a:prstGeom xmlns:a="http://schemas.openxmlformats.org/drawingml/2006/main" prst="roundRect">
            <a:avLst>
              <a:gd name="adj" fmla="val 19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2E8F0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pic>
        <p:nvPicPr>
          <p:cNvPr id="7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dacc34f0bc448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8368" y="1843659"/>
            <a:ext cx="6693408" cy="3765042"/>
          </a:xfrm>
          <a:prstGeom xmlns:a="http://schemas.openxmlformats.org/drawingml/2006/main" prst="rect">
            <a:avLst/>
          </a:prstGeom>
        </p:spPr>
      </p:pic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1BBC8202-9FB7-4840-B5A9-FFD699EA8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808" y="1792224"/>
            <a:ext cx="1627632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B3F"/>
          </a:solidFill>
          <a:ln xmlns:a="http://schemas.openxmlformats.org/drawingml/2006/main" w="12700">
            <a:solidFill>
              <a:srgbClr val="182B3F"/>
            </a:solidFill>
            <a:prstDash val="solid"/>
          </a:ln>
        </p:spPr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62316B6C-63C2-4C92-9AD1-5F5CF7B25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2672" y="1892808"/>
            <a:ext cx="1517904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7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Building</a:t>
            </a:r>
            <a:endParaRPr sz="770"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A617DF9D-D9D0-427D-B651-A2A301D55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1792224"/>
            <a:ext cx="1152144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B3F"/>
          </a:solidFill>
          <a:ln xmlns:a="http://schemas.openxmlformats.org/drawingml/2006/main" w="12700">
            <a:solidFill>
              <a:srgbClr val="182B3F"/>
            </a:solidFill>
            <a:prstDash val="solid"/>
          </a:ln>
        </p:spPr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382FDAB0-D51B-4DCE-8F2A-792FAFA5B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0304" y="1892808"/>
            <a:ext cx="1042416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7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 forecast</a:t>
            </a:r>
            <a:endParaRPr sz="770"/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1DD7D008-0403-4643-9D33-B9D039C93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7584" y="1792224"/>
            <a:ext cx="1152144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B3F"/>
          </a:solidFill>
          <a:ln xmlns:a="http://schemas.openxmlformats.org/drawingml/2006/main" w="12700">
            <a:solidFill>
              <a:srgbClr val="182B3F"/>
            </a:solidFill>
            <a:prstDash val="solid"/>
          </a:ln>
        </p:spPr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0A859733-8932-47EA-BD9D-F2B102792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2448" y="1892808"/>
            <a:ext cx="1042416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7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 decision</a:t>
            </a:r>
            <a:endParaRPr sz="770"/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DEDAC5A6-3215-498C-891D-3EC988E57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808" y="2176272"/>
            <a:ext cx="1627632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6AEBA3E0-742B-44B5-80E4-9EFD6525E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2672" y="2286000"/>
            <a:ext cx="151790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18212B"/>
                </a:solidFill>
                <a:latin typeface="Arial"/>
                <a:ea typeface="Arial"/>
                <a:cs typeface="Arial"/>
              </a:rPr>
              <a:t>Rolando</a:t>
            </a:r>
            <a:endParaRPr sz="880"/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2D55E240-4C62-4E5A-8D59-67059EE40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2176272"/>
            <a:ext cx="1152144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3FE24138-1285-488E-88B1-2A26B960A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0304" y="2286000"/>
            <a:ext cx="10424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18212B"/>
                </a:solidFill>
                <a:latin typeface="Arial"/>
                <a:ea typeface="Arial"/>
                <a:cs typeface="Arial"/>
              </a:rPr>
              <a:t>.9</a:t>
            </a:r>
            <a:endParaRPr sz="880"/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9EE9FCA7-9016-48DB-91D4-7CC186C75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7584" y="2176272"/>
            <a:ext cx="1152144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556E4A7C-3AA6-4D06-AC6D-E3461860A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2448" y="2286000"/>
            <a:ext cx="10424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18212B"/>
                </a:solidFill>
                <a:latin typeface="Arial"/>
                <a:ea typeface="Arial"/>
                <a:cs typeface="Arial"/>
              </a:rPr>
              <a:t>.7</a:t>
            </a:r>
            <a:endParaRPr sz="880"/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93573DF4-94C4-49C9-8672-ECC22876D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808" y="2606040"/>
            <a:ext cx="1627632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DA9007E2-E545-40B3-96AC-8A775B580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2672" y="2715768"/>
            <a:ext cx="151790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18212B"/>
                </a:solidFill>
                <a:latin typeface="Arial"/>
                <a:ea typeface="Arial"/>
                <a:cs typeface="Arial"/>
              </a:rPr>
              <a:t>Lavon</a:t>
            </a:r>
            <a:endParaRPr sz="880"/>
          </a:p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C9D70AAD-468D-4C99-853E-B3AF7CF49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2606040"/>
            <a:ext cx="1152144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ADB94E1B-D737-4034-9F9A-C6F3040E8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0304" y="2715768"/>
            <a:ext cx="10424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18212B"/>
                </a:solidFill>
                <a:latin typeface="Arial"/>
                <a:ea typeface="Arial"/>
                <a:cs typeface="Arial"/>
              </a:rPr>
              <a:t>0</a:t>
            </a:r>
            <a:endParaRPr sz="880"/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92A65E7B-B1D5-4507-A591-D5A3E4DF9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7584" y="2606040"/>
            <a:ext cx="1152144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F8B469DC-4448-4E8D-9964-D0F6AC584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2448" y="2715768"/>
            <a:ext cx="10424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18212B"/>
                </a:solidFill>
                <a:latin typeface="Arial"/>
                <a:ea typeface="Arial"/>
                <a:cs typeface="Arial"/>
              </a:rPr>
              <a:t>0</a:t>
            </a:r>
            <a:endParaRPr sz="880"/>
          </a:p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09639812-60C0-414C-B491-3835321C6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808" y="3035808"/>
            <a:ext cx="1627632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BFA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6FC30D1C-F07D-4C20-8AAA-3C52656A6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2672" y="3145536"/>
            <a:ext cx="151790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 b="1">
                <a:solidFill>
                  <a:srgbClr val="6F4E9C"/>
                </a:solidFill>
                <a:latin typeface="Arial"/>
                <a:ea typeface="Arial"/>
                <a:cs typeface="Arial"/>
              </a:rPr>
              <a:t>Joey</a:t>
            </a:r>
            <a:endParaRPr sz="880"/>
          </a:p>
        </p:txBody>
      </p:sp>
      <p:sp>
        <p:nvSpPr>
          <p:cNvPr id="30" name="Shape 27">
            <a:extLst xmlns:a="http://schemas.openxmlformats.org/drawingml/2006/main">
              <a:ext uri="{FF2B5EF4-FFF2-40B4-BE49-F238E27FC236}">
                <a16:creationId xmlns:a16="http://schemas.microsoft.com/office/drawing/2014/main" id="{A017313C-B75E-4878-88E2-A65DC426A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3035808"/>
            <a:ext cx="1152144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BFA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308AF313-D062-4AD8-B4EF-360AFCCD8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0304" y="3145536"/>
            <a:ext cx="10424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 b="1">
                <a:solidFill>
                  <a:srgbClr val="6F4E9C"/>
                </a:solidFill>
                <a:latin typeface="Arial"/>
                <a:ea typeface="Arial"/>
                <a:cs typeface="Arial"/>
              </a:rPr>
              <a:t>.6</a:t>
            </a:r>
            <a:endParaRPr sz="880"/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4E040FB9-4FF6-45D1-BB4A-2EC121A6A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7584" y="3035808"/>
            <a:ext cx="1152144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BFA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9477CBCE-7ADE-4E63-A2F4-E8662B3E6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2448" y="3145536"/>
            <a:ext cx="10424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 b="1">
                <a:solidFill>
                  <a:srgbClr val="6F4E9C"/>
                </a:solidFill>
                <a:latin typeface="Arial"/>
                <a:ea typeface="Arial"/>
                <a:cs typeface="Arial"/>
              </a:rPr>
              <a:t>.3</a:t>
            </a:r>
            <a:endParaRPr sz="880"/>
          </a:p>
        </p:txBody>
      </p:sp>
      <p:sp>
        <p:nvSpPr>
          <p:cNvPr id="34" name="Shape 31">
            <a:extLst xmlns:a="http://schemas.openxmlformats.org/drawingml/2006/main">
              <a:ext uri="{FF2B5EF4-FFF2-40B4-BE49-F238E27FC236}">
                <a16:creationId xmlns:a16="http://schemas.microsoft.com/office/drawing/2014/main" id="{E5BDE3CB-AC3C-4652-A6D8-0819AE7A8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808" y="3465576"/>
            <a:ext cx="1627632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35" name="Text 32">
            <a:extLst xmlns:a="http://schemas.openxmlformats.org/drawingml/2006/main">
              <a:ext uri="{FF2B5EF4-FFF2-40B4-BE49-F238E27FC236}">
                <a16:creationId xmlns:a16="http://schemas.microsoft.com/office/drawing/2014/main" id="{854C4949-A549-41D7-8008-BC34DA578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2672" y="3575304"/>
            <a:ext cx="151790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18212B"/>
                </a:solidFill>
                <a:latin typeface="Arial"/>
                <a:ea typeface="Arial"/>
                <a:cs typeface="Arial"/>
              </a:rPr>
              <a:t>Caitlin</a:t>
            </a:r>
            <a:endParaRPr sz="880"/>
          </a:p>
        </p:txBody>
      </p:sp>
      <p:sp>
        <p:nvSpPr>
          <p:cNvPr id="36" name="Shape 33">
            <a:extLst xmlns:a="http://schemas.openxmlformats.org/drawingml/2006/main">
              <a:ext uri="{FF2B5EF4-FFF2-40B4-BE49-F238E27FC236}">
                <a16:creationId xmlns:a16="http://schemas.microsoft.com/office/drawing/2014/main" id="{55B21DA3-8032-465E-8FCE-33EAC4190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3465576"/>
            <a:ext cx="1152144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37" name="Text 34">
            <a:extLst xmlns:a="http://schemas.openxmlformats.org/drawingml/2006/main">
              <a:ext uri="{FF2B5EF4-FFF2-40B4-BE49-F238E27FC236}">
                <a16:creationId xmlns:a16="http://schemas.microsoft.com/office/drawing/2014/main" id="{2338C7D1-63D0-4C61-B5C4-08C06B045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0304" y="3575304"/>
            <a:ext cx="10424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18212B"/>
                </a:solidFill>
                <a:latin typeface="Arial"/>
                <a:ea typeface="Arial"/>
                <a:cs typeface="Arial"/>
              </a:rPr>
              <a:t>.4</a:t>
            </a:r>
            <a:endParaRPr sz="880"/>
          </a:p>
        </p:txBody>
      </p:sp>
      <p:sp>
        <p:nvSpPr>
          <p:cNvPr id="38" name="Shape 35">
            <a:extLst xmlns:a="http://schemas.openxmlformats.org/drawingml/2006/main">
              <a:ext uri="{FF2B5EF4-FFF2-40B4-BE49-F238E27FC236}">
                <a16:creationId xmlns:a16="http://schemas.microsoft.com/office/drawing/2014/main" id="{037A12EF-62B2-40E4-A66B-E2ACFE0D8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7584" y="3465576"/>
            <a:ext cx="1152144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39" name="Text 36">
            <a:extLst xmlns:a="http://schemas.openxmlformats.org/drawingml/2006/main">
              <a:ext uri="{FF2B5EF4-FFF2-40B4-BE49-F238E27FC236}">
                <a16:creationId xmlns:a16="http://schemas.microsoft.com/office/drawing/2014/main" id="{982800F7-6D34-45FA-811D-7471D4E2F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2448" y="3575304"/>
            <a:ext cx="10424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18212B"/>
                </a:solidFill>
                <a:latin typeface="Arial"/>
                <a:ea typeface="Arial"/>
                <a:cs typeface="Arial"/>
              </a:rPr>
              <a:t>.8</a:t>
            </a:r>
            <a:endParaRPr sz="880"/>
          </a:p>
        </p:txBody>
      </p:sp>
      <p:sp>
        <p:nvSpPr>
          <p:cNvPr id="40" name="Shape 37">
            <a:extLst xmlns:a="http://schemas.openxmlformats.org/drawingml/2006/main">
              <a:ext uri="{FF2B5EF4-FFF2-40B4-BE49-F238E27FC236}">
                <a16:creationId xmlns:a16="http://schemas.microsoft.com/office/drawing/2014/main" id="{B1D48ABA-F4CE-48BC-8F64-7BDE68185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808" y="3895344"/>
            <a:ext cx="1627632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41" name="Text 38">
            <a:extLst xmlns:a="http://schemas.openxmlformats.org/drawingml/2006/main">
              <a:ext uri="{FF2B5EF4-FFF2-40B4-BE49-F238E27FC236}">
                <a16:creationId xmlns:a16="http://schemas.microsoft.com/office/drawing/2014/main" id="{59FA7FC2-EC2C-4B4D-B310-3C330ADC5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2672" y="4005072"/>
            <a:ext cx="151790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18212B"/>
                </a:solidFill>
                <a:latin typeface="Arial"/>
                <a:ea typeface="Arial"/>
                <a:cs typeface="Arial"/>
              </a:rPr>
              <a:t>Addie</a:t>
            </a:r>
            <a:endParaRPr sz="880"/>
          </a:p>
        </p:txBody>
      </p:sp>
      <p:sp>
        <p:nvSpPr>
          <p:cNvPr id="42" name="Shape 39">
            <a:extLst xmlns:a="http://schemas.openxmlformats.org/drawingml/2006/main">
              <a:ext uri="{FF2B5EF4-FFF2-40B4-BE49-F238E27FC236}">
                <a16:creationId xmlns:a16="http://schemas.microsoft.com/office/drawing/2014/main" id="{9A55F48D-B280-4EC2-BA71-B2C0554E9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3895344"/>
            <a:ext cx="1152144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43" name="Text 40">
            <a:extLst xmlns:a="http://schemas.openxmlformats.org/drawingml/2006/main">
              <a:ext uri="{FF2B5EF4-FFF2-40B4-BE49-F238E27FC236}">
                <a16:creationId xmlns:a16="http://schemas.microsoft.com/office/drawing/2014/main" id="{50EE472F-7B7F-41C0-85DE-A1EE77BB6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0304" y="4005072"/>
            <a:ext cx="10424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18212B"/>
                </a:solidFill>
                <a:latin typeface="Arial"/>
                <a:ea typeface="Arial"/>
                <a:cs typeface="Arial"/>
              </a:rPr>
              <a:t>1</a:t>
            </a:r>
            <a:endParaRPr sz="880"/>
          </a:p>
        </p:txBody>
      </p:sp>
      <p:sp>
        <p:nvSpPr>
          <p:cNvPr id="44" name="Shape 41">
            <a:extLst xmlns:a="http://schemas.openxmlformats.org/drawingml/2006/main">
              <a:ext uri="{FF2B5EF4-FFF2-40B4-BE49-F238E27FC236}">
                <a16:creationId xmlns:a16="http://schemas.microsoft.com/office/drawing/2014/main" id="{09EE80E0-BF68-4FC1-9F4C-5B0ADE65D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7584" y="3895344"/>
            <a:ext cx="1152144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45" name="Text 42">
            <a:extLst xmlns:a="http://schemas.openxmlformats.org/drawingml/2006/main">
              <a:ext uri="{FF2B5EF4-FFF2-40B4-BE49-F238E27FC236}">
                <a16:creationId xmlns:a16="http://schemas.microsoft.com/office/drawing/2014/main" id="{314D8679-DCDB-44C4-BD1E-63E38DC10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2448" y="4005072"/>
            <a:ext cx="10424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18212B"/>
                </a:solidFill>
                <a:latin typeface="Arial"/>
                <a:ea typeface="Arial"/>
                <a:cs typeface="Arial"/>
              </a:rPr>
              <a:t>1</a:t>
            </a:r>
            <a:endParaRPr sz="880"/>
          </a:p>
        </p:txBody>
      </p:sp>
      <p:sp>
        <p:nvSpPr>
          <p:cNvPr id="46" name="Shape 43">
            <a:extLst xmlns:a="http://schemas.openxmlformats.org/drawingml/2006/main">
              <a:ext uri="{FF2B5EF4-FFF2-40B4-BE49-F238E27FC236}">
                <a16:creationId xmlns:a16="http://schemas.microsoft.com/office/drawing/2014/main" id="{8BE8EF6A-BDBD-42DB-9311-B623F8CBD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808" y="4325112"/>
            <a:ext cx="1627632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47" name="Text 44">
            <a:extLst xmlns:a="http://schemas.openxmlformats.org/drawingml/2006/main">
              <a:ext uri="{FF2B5EF4-FFF2-40B4-BE49-F238E27FC236}">
                <a16:creationId xmlns:a16="http://schemas.microsoft.com/office/drawing/2014/main" id="{3DB34743-DDE8-4D56-B3B9-7ED6C8243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2672" y="4434840"/>
            <a:ext cx="151790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18212B"/>
                </a:solidFill>
                <a:latin typeface="Arial"/>
                <a:ea typeface="Arial"/>
                <a:cs typeface="Arial"/>
              </a:rPr>
              <a:t>Gerardo</a:t>
            </a:r>
            <a:endParaRPr sz="880"/>
          </a:p>
        </p:txBody>
      </p:sp>
      <p:sp>
        <p:nvSpPr>
          <p:cNvPr id="48" name="Shape 45">
            <a:extLst xmlns:a="http://schemas.openxmlformats.org/drawingml/2006/main">
              <a:ext uri="{FF2B5EF4-FFF2-40B4-BE49-F238E27FC236}">
                <a16:creationId xmlns:a16="http://schemas.microsoft.com/office/drawing/2014/main" id="{252A56C6-6408-499D-BA3C-BD803D5A9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4325112"/>
            <a:ext cx="1152144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49" name="Text 46">
            <a:extLst xmlns:a="http://schemas.openxmlformats.org/drawingml/2006/main">
              <a:ext uri="{FF2B5EF4-FFF2-40B4-BE49-F238E27FC236}">
                <a16:creationId xmlns:a16="http://schemas.microsoft.com/office/drawing/2014/main" id="{3F84B2F7-3D48-4F05-B261-27C15583E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0304" y="4434840"/>
            <a:ext cx="10424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18212B"/>
                </a:solidFill>
                <a:latin typeface="Arial"/>
                <a:ea typeface="Arial"/>
                <a:cs typeface="Arial"/>
              </a:rPr>
              <a:t>0</a:t>
            </a:r>
            <a:endParaRPr sz="880"/>
          </a:p>
        </p:txBody>
      </p:sp>
      <p:sp>
        <p:nvSpPr>
          <p:cNvPr id="50" name="Shape 47">
            <a:extLst xmlns:a="http://schemas.openxmlformats.org/drawingml/2006/main">
              <a:ext uri="{FF2B5EF4-FFF2-40B4-BE49-F238E27FC236}">
                <a16:creationId xmlns:a16="http://schemas.microsoft.com/office/drawing/2014/main" id="{215D90A0-BF47-469A-93D1-63679503E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7584" y="4325112"/>
            <a:ext cx="1152144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51" name="Text 48">
            <a:extLst xmlns:a="http://schemas.openxmlformats.org/drawingml/2006/main">
              <a:ext uri="{FF2B5EF4-FFF2-40B4-BE49-F238E27FC236}">
                <a16:creationId xmlns:a16="http://schemas.microsoft.com/office/drawing/2014/main" id="{FF3C46E0-762B-4ECE-8341-3AE0F58AA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2448" y="4434840"/>
            <a:ext cx="10424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18212B"/>
                </a:solidFill>
                <a:latin typeface="Arial"/>
                <a:ea typeface="Arial"/>
                <a:cs typeface="Arial"/>
              </a:rPr>
              <a:t>1</a:t>
            </a:r>
            <a:endParaRPr sz="880"/>
          </a:p>
        </p:txBody>
      </p:sp>
      <p:sp>
        <p:nvSpPr>
          <p:cNvPr id="52" name="Shape 49">
            <a:extLst xmlns:a="http://schemas.openxmlformats.org/drawingml/2006/main">
              <a:ext uri="{FF2B5EF4-FFF2-40B4-BE49-F238E27FC236}">
                <a16:creationId xmlns:a16="http://schemas.microsoft.com/office/drawing/2014/main" id="{7E854B26-50C6-4B1E-AC1D-FDF6DB59E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808" y="4754880"/>
            <a:ext cx="1627632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53" name="Text 50">
            <a:extLst xmlns:a="http://schemas.openxmlformats.org/drawingml/2006/main">
              <a:ext uri="{FF2B5EF4-FFF2-40B4-BE49-F238E27FC236}">
                <a16:creationId xmlns:a16="http://schemas.microsoft.com/office/drawing/2014/main" id="{2281C33B-12AE-4896-A7C3-DD02B667E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2672" y="4864608"/>
            <a:ext cx="151790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18212B"/>
                </a:solidFill>
                <a:latin typeface="Arial"/>
                <a:ea typeface="Arial"/>
                <a:cs typeface="Arial"/>
              </a:rPr>
              <a:t>Alexis</a:t>
            </a:r>
            <a:endParaRPr sz="880"/>
          </a:p>
        </p:txBody>
      </p:sp>
      <p:sp>
        <p:nvSpPr>
          <p:cNvPr id="54" name="Shape 51">
            <a:extLst xmlns:a="http://schemas.openxmlformats.org/drawingml/2006/main">
              <a:ext uri="{FF2B5EF4-FFF2-40B4-BE49-F238E27FC236}">
                <a16:creationId xmlns:a16="http://schemas.microsoft.com/office/drawing/2014/main" id="{B312EA61-2255-4AEF-95C0-475C15A53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4754880"/>
            <a:ext cx="1152144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55" name="Text 52">
            <a:extLst xmlns:a="http://schemas.openxmlformats.org/drawingml/2006/main">
              <a:ext uri="{FF2B5EF4-FFF2-40B4-BE49-F238E27FC236}">
                <a16:creationId xmlns:a16="http://schemas.microsoft.com/office/drawing/2014/main" id="{5BF5EA8B-5F34-4457-89B5-4D907C7F7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0304" y="4864608"/>
            <a:ext cx="10424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18212B"/>
                </a:solidFill>
                <a:latin typeface="Arial"/>
                <a:ea typeface="Arial"/>
                <a:cs typeface="Arial"/>
              </a:rPr>
              <a:t>.6</a:t>
            </a:r>
            <a:endParaRPr sz="880"/>
          </a:p>
        </p:txBody>
      </p:sp>
      <p:sp>
        <p:nvSpPr>
          <p:cNvPr id="56" name="Shape 53">
            <a:extLst xmlns:a="http://schemas.openxmlformats.org/drawingml/2006/main">
              <a:ext uri="{FF2B5EF4-FFF2-40B4-BE49-F238E27FC236}">
                <a16:creationId xmlns:a16="http://schemas.microsoft.com/office/drawing/2014/main" id="{1A78AB0D-90DF-43E9-BA70-3695EA3AB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7584" y="4754880"/>
            <a:ext cx="1152144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57" name="Text 54">
            <a:extLst xmlns:a="http://schemas.openxmlformats.org/drawingml/2006/main">
              <a:ext uri="{FF2B5EF4-FFF2-40B4-BE49-F238E27FC236}">
                <a16:creationId xmlns:a16="http://schemas.microsoft.com/office/drawing/2014/main" id="{0D1B7604-26EC-40B9-AA24-9653620E2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2448" y="4864608"/>
            <a:ext cx="10424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18212B"/>
                </a:solidFill>
                <a:latin typeface="Arial"/>
                <a:ea typeface="Arial"/>
                <a:cs typeface="Arial"/>
              </a:rPr>
              <a:t>.7</a:t>
            </a:r>
            <a:endParaRPr sz="880"/>
          </a:p>
        </p:txBody>
      </p:sp>
      <p:sp>
        <p:nvSpPr>
          <p:cNvPr id="58" name="Shape 55">
            <a:extLst xmlns:a="http://schemas.openxmlformats.org/drawingml/2006/main">
              <a:ext uri="{FF2B5EF4-FFF2-40B4-BE49-F238E27FC236}">
                <a16:creationId xmlns:a16="http://schemas.microsoft.com/office/drawing/2014/main" id="{C21A0580-D771-4CA3-9E70-B9A1362AE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808" y="5184648"/>
            <a:ext cx="1627632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59" name="Text 56">
            <a:extLst xmlns:a="http://schemas.openxmlformats.org/drawingml/2006/main">
              <a:ext uri="{FF2B5EF4-FFF2-40B4-BE49-F238E27FC236}">
                <a16:creationId xmlns:a16="http://schemas.microsoft.com/office/drawing/2014/main" id="{7BC3E5EE-2243-4766-BACE-F5B94A70D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2672" y="5294376"/>
            <a:ext cx="151790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18212B"/>
                </a:solidFill>
                <a:latin typeface="Arial"/>
                <a:ea typeface="Arial"/>
                <a:cs typeface="Arial"/>
              </a:rPr>
              <a:t>Byron</a:t>
            </a:r>
            <a:endParaRPr sz="880"/>
          </a:p>
        </p:txBody>
      </p:sp>
      <p:sp>
        <p:nvSpPr>
          <p:cNvPr id="60" name="Shape 57">
            <a:extLst xmlns:a="http://schemas.openxmlformats.org/drawingml/2006/main">
              <a:ext uri="{FF2B5EF4-FFF2-40B4-BE49-F238E27FC236}">
                <a16:creationId xmlns:a16="http://schemas.microsoft.com/office/drawing/2014/main" id="{BE33718D-E1C0-4BD1-8D07-2FC20AC61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5184648"/>
            <a:ext cx="1152144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61" name="Text 58">
            <a:extLst xmlns:a="http://schemas.openxmlformats.org/drawingml/2006/main">
              <a:ext uri="{FF2B5EF4-FFF2-40B4-BE49-F238E27FC236}">
                <a16:creationId xmlns:a16="http://schemas.microsoft.com/office/drawing/2014/main" id="{C5FA0E6D-F97C-4C03-A09F-70824D246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0304" y="5294376"/>
            <a:ext cx="10424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18212B"/>
                </a:solidFill>
                <a:latin typeface="Arial"/>
                <a:ea typeface="Arial"/>
                <a:cs typeface="Arial"/>
              </a:rPr>
              <a:t>.9</a:t>
            </a:r>
            <a:endParaRPr sz="880"/>
          </a:p>
        </p:txBody>
      </p:sp>
      <p:sp>
        <p:nvSpPr>
          <p:cNvPr id="62" name="Shape 59">
            <a:extLst xmlns:a="http://schemas.openxmlformats.org/drawingml/2006/main">
              <a:ext uri="{FF2B5EF4-FFF2-40B4-BE49-F238E27FC236}">
                <a16:creationId xmlns:a16="http://schemas.microsoft.com/office/drawing/2014/main" id="{5AF7333D-F0D1-471B-B5F6-747A1D706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7584" y="5184648"/>
            <a:ext cx="1152144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63" name="Text 60">
            <a:extLst xmlns:a="http://schemas.openxmlformats.org/drawingml/2006/main">
              <a:ext uri="{FF2B5EF4-FFF2-40B4-BE49-F238E27FC236}">
                <a16:creationId xmlns:a16="http://schemas.microsoft.com/office/drawing/2014/main" id="{11DE4005-083F-4552-BD85-5DADF4078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2448" y="5294376"/>
            <a:ext cx="10424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18212B"/>
                </a:solidFill>
                <a:latin typeface="Arial"/>
                <a:ea typeface="Arial"/>
                <a:cs typeface="Arial"/>
              </a:rPr>
              <a:t>.8</a:t>
            </a:r>
            <a:endParaRPr sz="880"/>
          </a:p>
        </p:txBody>
      </p:sp>
      <p:sp>
        <p:nvSpPr>
          <p:cNvPr id="64" name="Shape 61">
            <a:extLst xmlns:a="http://schemas.openxmlformats.org/drawingml/2006/main">
              <a:ext uri="{FF2B5EF4-FFF2-40B4-BE49-F238E27FC236}">
                <a16:creationId xmlns:a16="http://schemas.microsoft.com/office/drawing/2014/main" id="{BEBB2ED9-6137-4516-94F9-FA350D1C4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362456"/>
            <a:ext cx="1984248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0EBFA"/>
          </a:solidFill>
          <a:ln xmlns:a="http://schemas.openxmlformats.org/drawingml/2006/main" w="12700">
            <a:solidFill>
              <a:srgbClr val="D9CCEF">
                <a:alpha val="0"/>
              </a:srgbClr>
            </a:solidFill>
            <a:prstDash val="solid"/>
          </a:ln>
        </p:spPr>
      </p:sp>
      <p:sp>
        <p:nvSpPr>
          <p:cNvPr id="65" name="Text 62">
            <a:extLst xmlns:a="http://schemas.openxmlformats.org/drawingml/2006/main">
              <a:ext uri="{FF2B5EF4-FFF2-40B4-BE49-F238E27FC236}">
                <a16:creationId xmlns:a16="http://schemas.microsoft.com/office/drawing/2014/main" id="{8230873C-EB2A-494F-B52D-10114F7D2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7152" y="1403604"/>
            <a:ext cx="183794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80" b="1">
                <a:solidFill>
                  <a:srgbClr val="6F4E9C"/>
                </a:solidFill>
                <a:latin typeface="Microsoft YaHei"/>
                <a:ea typeface="Microsoft YaHei"/>
                <a:cs typeface="Microsoft YaHei"/>
              </a:rPr>
              <a:t>Joey: 0.6 → 0.3</a:t>
            </a:r>
            <a:endParaRPr sz="880"/>
          </a:p>
        </p:txBody>
      </p:sp>
      <p:sp>
        <p:nvSpPr>
          <p:cNvPr id="66" name="Text 63">
            <a:extLst xmlns:a="http://schemas.openxmlformats.org/drawingml/2006/main">
              <a:ext uri="{FF2B5EF4-FFF2-40B4-BE49-F238E27FC236}">
                <a16:creationId xmlns:a16="http://schemas.microsoft.com/office/drawing/2014/main" id="{8D1FE715-CCA7-4FB9-ADB5-4C58EBE8B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153912"/>
            <a:ext cx="107442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70">
                <a:solidFill>
                  <a:srgbClr val="97A2AD"/>
                </a:solidFill>
                <a:latin typeface="Arial"/>
                <a:ea typeface="Arial"/>
                <a:cs typeface="Arial"/>
              </a:rPr>
              <a:t>Frozen source: selected_weights.csv + SCI-04 · no interpolation between grid points</a:t>
            </a:r>
            <a:endParaRPr sz="670"/>
          </a:p>
        </p:txBody>
      </p:sp>
      <p:sp>
        <p:nvSpPr>
          <p:cNvPr id="67" name="Text 64">
            <a:extLst xmlns:a="http://schemas.openxmlformats.org/drawingml/2006/main">
              <a:ext uri="{FF2B5EF4-FFF2-40B4-BE49-F238E27FC236}">
                <a16:creationId xmlns:a16="http://schemas.microsoft.com/office/drawing/2014/main" id="{08B69663-4E42-4A18-8AC0-6E9AC8DCE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8996A4"/>
                </a:solidFill>
                <a:latin typeface="Microsoft YaHei"/>
                <a:ea typeface="Microsoft YaHei"/>
                <a:cs typeface="Microsoft YaHei"/>
              </a:rPr>
              <a:t>智储云控 · DOEF | 补充实验与方法说明</a:t>
            </a:r>
            <a:endParaRPr sz="750"/>
          </a:p>
        </p:txBody>
      </p:sp>
      <p:sp>
        <p:nvSpPr>
          <p:cNvPr id="69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079DBD83-C34A-4A3B-82A9-3D41479167AD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A98A8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20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1953745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003FEF0-E393-4C5D-ABB1-E55A7DA00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6F4E9C"/>
                </a:solidFill>
                <a:latin typeface="Arial"/>
                <a:ea typeface="Arial"/>
                <a:cs typeface="Arial"/>
              </a:rPr>
              <a:t>DOEF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5DD521D-1C0D-486B-B5FC-E6EB9790D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A8897"/>
                </a:solidFill>
                <a:latin typeface="Arial"/>
                <a:ea typeface="Arial"/>
                <a:cs typeface="Arial"/>
              </a:rPr>
              <a:t>附录 · 统计</a:t>
            </a:r>
            <a:endParaRPr sz="83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818B6608-8622-4CCE-BE7C-41FF5F232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1320" y="173736"/>
            <a:ext cx="896112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6F4E9C"/>
          </a:solidFill>
          <a:ln xmlns:a="http://schemas.openxmlformats.org/drawingml/2006/main" w="12700">
            <a:solidFill>
              <a:srgbClr val="6F4E9C">
                <a:alpha val="0"/>
              </a:srgbClr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13EB2A80-8ABA-4DD0-BFEE-52764F705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4472" y="214884"/>
            <a:ext cx="74980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答疑</a:t>
            </a:r>
            <a:endParaRPr sz="82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C6384FC8-86B1-4FB2-A775-A4236C67F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75488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建筑级 bootstrap 不确定性分析</a:t>
            </a:r>
            <a:endParaRPr sz="24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6C89CDF1-23AE-463F-BB92-BA1F6B285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98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5C6873"/>
                </a:solidFill>
                <a:latin typeface="Microsoft YaHei"/>
                <a:ea typeface="Microsoft YaHei"/>
                <a:cs typeface="Microsoft YaHei"/>
              </a:rPr>
              <a:t>以建筑为单位进行配对重采样，区间描述本次 8 栋建筑样本内的不确定性。</a:t>
            </a:r>
            <a:endParaRPr sz="124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77D26F1C-A678-46F4-A644-A07A1571A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" y="1673352"/>
            <a:ext cx="7882128" cy="3273552"/>
          </a:xfrm>
          <a:prstGeom xmlns:a="http://schemas.openxmlformats.org/drawingml/2006/main" prst="roundRect">
            <a:avLst>
              <a:gd name="adj" fmla="val 25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0E7EF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9B8D5699-096A-49C6-B539-D18DF2BC7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3319272"/>
            <a:ext cx="66568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510">
            <a:solidFill>
              <a:srgbClr val="B9C6D2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A4194BAB-7A8A-4FFA-BAFD-AEDFA2E47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1624" y="2267712"/>
            <a:ext cx="0" cy="208483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B35C00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0C6B5B68-50E5-4AEC-ABF2-441CA22C5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0184" y="3657600"/>
            <a:ext cx="1828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>
                <a:solidFill>
                  <a:srgbClr val="B35C00"/>
                </a:solidFill>
                <a:latin typeface="Arial"/>
                <a:ea typeface="Arial"/>
                <a:cs typeface="Arial"/>
              </a:rPr>
              <a:t>0</a:t>
            </a:r>
            <a:endParaRPr sz="80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A1C3EE7A-CB6D-4AB1-8C74-5A7F53443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5035" y="3319272"/>
            <a:ext cx="379513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6F4E9C"/>
            </a:solidFill>
            <a:prstDash val="solid"/>
            <a:headEnd type="none"/>
            <a:tailEnd type="none"/>
          </a:ln>
        </p:spPr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FBEE71BB-44BC-4852-8A94-B8B3D1E5C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4286" y="3236976"/>
            <a:ext cx="164592" cy="16459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2B2"/>
          </a:solidFill>
          <a:ln xmlns:a="http://schemas.openxmlformats.org/drawingml/2006/main" w="15240">
            <a:solidFill>
              <a:srgbClr val="FFFFFF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4142A918-1CDC-4E75-A37C-FBAA96107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148840"/>
            <a:ext cx="21488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6F4E9C"/>
                </a:solidFill>
                <a:latin typeface="Arial"/>
                <a:ea typeface="Arial"/>
                <a:cs typeface="Arial"/>
              </a:rPr>
              <a:t>95% bootstrap interval</a:t>
            </a:r>
            <a:endParaRPr sz="10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E866AAB1-6901-44DC-90C2-5DE3985BD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6230" y="2596896"/>
            <a:ext cx="1060704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3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point estimate</a:t>
            </a:r>
            <a:endParaRPr sz="83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6A007EC9-3DAD-4EB1-B187-45E80F680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672" y="2148840"/>
            <a:ext cx="22402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 b="1">
                <a:solidFill>
                  <a:srgbClr val="18A76C"/>
                </a:solidFill>
                <a:latin typeface="Arial"/>
                <a:ea typeface="Arial"/>
                <a:cs typeface="Arial"/>
              </a:rPr>
              <a:t>interval remains below 0</a:t>
            </a:r>
            <a:endParaRPr sz="10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42FCE693-E027-430A-BE46-D2846A322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60" y="1673352"/>
            <a:ext cx="2670048" cy="3273552"/>
          </a:xfrm>
          <a:prstGeom xmlns:a="http://schemas.openxmlformats.org/drawingml/2006/main" prst="roundRect">
            <a:avLst>
              <a:gd name="adj" fmla="val 3082"/>
            </a:avLst>
          </a:prstGeom>
          <a:solidFill xmlns:a="http://schemas.openxmlformats.org/drawingml/2006/main">
            <a:srgbClr val="0B192B"/>
          </a:solidFill>
          <a:ln xmlns:a="http://schemas.openxmlformats.org/drawingml/2006/main" w="10160">
            <a:solidFill>
              <a:srgbClr val="0B192B"/>
            </a:solidFill>
            <a:prstDash val="solid"/>
          </a:ln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03E607AE-B17E-49F9-AB19-2AB00D56B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5712" y="2048256"/>
            <a:ext cx="20574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24C7FF"/>
                </a:solidFill>
                <a:latin typeface="Arial"/>
                <a:ea typeface="Arial"/>
                <a:cs typeface="Arial"/>
              </a:rPr>
              <a:t>10,000</a:t>
            </a:r>
            <a:endParaRPr sz="28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0930A4FA-57EE-4EEF-9851-D3F99314B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5712" y="2706624"/>
            <a:ext cx="20574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A9B8C6"/>
                </a:solidFill>
                <a:latin typeface="Microsoft YaHei"/>
                <a:ea typeface="Microsoft YaHei"/>
                <a:cs typeface="Microsoft YaHei"/>
              </a:rPr>
              <a:t>resamples · seed 42</a:t>
            </a:r>
            <a:endParaRPr sz="115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89C5D78E-4136-4BB5-BA0A-4489E3E16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5712" y="3273552"/>
            <a:ext cx="20574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C7B8FF"/>
                </a:solidFill>
                <a:latin typeface="Arial"/>
                <a:ea typeface="Arial"/>
                <a:cs typeface="Arial"/>
              </a:rPr>
              <a:t>−0.004198</a:t>
            </a:r>
            <a:endParaRPr sz="28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217FBC29-EE38-43E7-A368-9B1AE708C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5712" y="3931920"/>
            <a:ext cx="20574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A9B8C6"/>
                </a:solidFill>
                <a:latin typeface="Microsoft YaHei"/>
                <a:ea typeface="Microsoft YaHei"/>
                <a:cs typeface="Microsoft YaHei"/>
              </a:rPr>
              <a:t>point estimate</a:t>
            </a:r>
            <a:endParaRPr sz="115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6B6E6860-940F-4D39-989B-C53E0BA4F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" y="5266944"/>
            <a:ext cx="129844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5C6873"/>
                </a:solidFill>
                <a:latin typeface="Arial"/>
                <a:ea typeface="Arial"/>
                <a:cs typeface="Arial"/>
              </a:rPr>
              <a:t>95% interval</a:t>
            </a:r>
            <a:endParaRPr sz="95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9722D84A-DF19-4A51-9009-E99F58F07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1720" y="5184648"/>
            <a:ext cx="30632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[ −0.006850 ,  −0.001719 ]</a:t>
            </a:r>
            <a:endParaRPr sz="160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098BE338-C6BD-4ECC-895A-D81578BBA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5212080"/>
            <a:ext cx="2130552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FF1E8"/>
          </a:solidFill>
          <a:ln xmlns:a="http://schemas.openxmlformats.org/drawingml/2006/main" w="12700">
            <a:solidFill>
              <a:srgbClr val="F0D6C4">
                <a:alpha val="0"/>
              </a:srgbClr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2279C7CC-3F5F-4A6A-B257-09BCCBE2B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5253228"/>
            <a:ext cx="198424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B35C00"/>
                </a:solidFill>
                <a:latin typeface="Microsoft YaHei"/>
                <a:ea typeface="Microsoft YaHei"/>
                <a:cs typeface="Microsoft YaHei"/>
              </a:rPr>
              <a:t>fixed 8-building scope only</a:t>
            </a:r>
            <a:endParaRPr sz="8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8CB64ED2-2B97-488D-9EE6-5FB4AF455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153912"/>
            <a:ext cx="107442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70">
                <a:solidFill>
                  <a:srgbClr val="97A2AD"/>
                </a:solidFill>
                <a:latin typeface="Arial"/>
                <a:ea typeface="Arial"/>
                <a:cs typeface="Arial"/>
              </a:rPr>
              <a:t>Frozen source: outputs/phase9_1/final_reporting_summary.json · no new resampling</a:t>
            </a:r>
            <a:endParaRPr sz="67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34A5CE01-1AB8-4AB5-87DD-92BCA0950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8996A4"/>
                </a:solidFill>
                <a:latin typeface="Microsoft YaHei"/>
                <a:ea typeface="Microsoft YaHei"/>
                <a:cs typeface="Microsoft YaHei"/>
              </a:rPr>
              <a:t>智储云控 · DOEF | 补充实验与方法说明</a:t>
            </a:r>
            <a:endParaRPr sz="750"/>
          </a:p>
        </p:txBody>
      </p:sp>
      <p:sp>
        <p:nvSpPr>
          <p:cNvPr id="28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9B3EA14B-6C4E-46B9-9034-31B562867A82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A98A8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21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70992679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AD852248-2A28-4991-90DD-375470C26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6F4E9C"/>
                </a:solidFill>
                <a:latin typeface="Arial"/>
                <a:ea typeface="Arial"/>
                <a:cs typeface="Arial"/>
              </a:rPr>
              <a:t>DOEF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7470B94-A2B3-42D8-AFFE-F04902BBD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A8897"/>
                </a:solidFill>
                <a:latin typeface="Arial"/>
                <a:ea typeface="Arial"/>
                <a:cs typeface="Arial"/>
              </a:rPr>
              <a:t>附录 · 复现</a:t>
            </a:r>
            <a:endParaRPr sz="83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D6E5FA5C-5EFD-4D7C-81C5-3555B9DCC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1320" y="173736"/>
            <a:ext cx="896112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6F4E9C"/>
          </a:solidFill>
          <a:ln xmlns:a="http://schemas.openxmlformats.org/drawingml/2006/main" w="12700">
            <a:solidFill>
              <a:srgbClr val="6F4E9C">
                <a:alpha val="0"/>
              </a:srgbClr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AC042C8D-BA53-4143-959E-E074F2551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4472" y="214884"/>
            <a:ext cx="74980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答疑</a:t>
            </a:r>
            <a:endParaRPr sz="82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26E80D72-9969-48F8-B2B5-95DEFAA06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75488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DOEF 公式与预测输出的一致性</a:t>
            </a:r>
            <a:endParaRPr sz="25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64642703-FC79-4447-ADAC-8662999E1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98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5C6873"/>
                </a:solidFill>
                <a:latin typeface="Microsoft YaHei"/>
                <a:ea typeface="Microsoft YaHei"/>
                <a:cs typeface="Microsoft YaHei"/>
              </a:rPr>
              <a:t>按公式复算 5,760 个测试预测，与保存的输出逐点比对；该检查不涉及重新训练。</a:t>
            </a:r>
            <a:endParaRPr sz="124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9A63F6D3-6805-4CE0-B823-75F409E21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627632"/>
            <a:ext cx="5074920" cy="4279392"/>
          </a:xfrm>
          <a:prstGeom xmlns:a="http://schemas.openxmlformats.org/drawingml/2006/main" prst="roundRect">
            <a:avLst>
              <a:gd name="adj" fmla="val 1923"/>
            </a:avLst>
          </a:prstGeom>
          <a:solidFill xmlns:a="http://schemas.openxmlformats.org/drawingml/2006/main">
            <a:srgbClr val="0B192B"/>
          </a:solidFill>
          <a:ln xmlns:a="http://schemas.openxmlformats.org/drawingml/2006/main" w="10160">
            <a:solidFill>
              <a:srgbClr val="0B192B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7D47A0D0-ED94-4158-9F4A-FBF9B2A74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" y="2176272"/>
            <a:ext cx="43891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100" b="1">
                <a:solidFill>
                  <a:srgbClr val="F8FBFF"/>
                </a:solidFill>
                <a:latin typeface="Arial"/>
                <a:ea typeface="Arial"/>
                <a:cs typeface="Arial"/>
              </a:rPr>
              <a:t>wᵦ × LightGBM + (1 − wᵦ) × DayWeek</a:t>
            </a:r>
            <a:endParaRPr sz="21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7896B4DF-EBD6-48DB-B5D2-3C605A642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8064" y="2999232"/>
            <a:ext cx="868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800" b="1">
                <a:solidFill>
                  <a:srgbClr val="24C7FF"/>
                </a:solidFill>
                <a:latin typeface="Arial"/>
                <a:ea typeface="Arial"/>
                <a:cs typeface="Arial"/>
              </a:rPr>
              <a:t>=</a:t>
            </a:r>
            <a:endParaRPr sz="28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AC20600B-EA17-4723-8739-2E0F95041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584448"/>
            <a:ext cx="32461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B4C5D2"/>
                </a:solidFill>
                <a:latin typeface="Arial"/>
                <a:ea typeface="Arial"/>
                <a:cs typeface="Arial"/>
              </a:rPr>
              <a:t>保存的融合预测</a:t>
            </a:r>
            <a:endParaRPr sz="1500"/>
          </a:p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B4C5D2"/>
                </a:solidFill>
                <a:latin typeface="Arial"/>
                <a:ea typeface="Arial"/>
                <a:cs typeface="Arial"/>
              </a:rPr>
              <a:t>ensemble_prediction</a:t>
            </a:r>
            <a:endParaRPr sz="150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9DABC237-34D0-45BF-8C6E-580F809B7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4974336"/>
            <a:ext cx="2487168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173A54"/>
          </a:solidFill>
          <a:ln xmlns:a="http://schemas.openxmlformats.org/drawingml/2006/main" w="12700">
            <a:solidFill>
              <a:srgbClr val="173A54">
                <a:alpha val="0"/>
              </a:srgbClr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F2D6F35F-DBC9-4446-8586-FC309FBDE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3976" y="5015484"/>
            <a:ext cx="234086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b="1">
                <a:solidFill>
                  <a:srgbClr val="24C7FF"/>
                </a:solidFill>
                <a:latin typeface="Microsoft YaHei"/>
                <a:ea typeface="Microsoft YaHei"/>
                <a:cs typeface="Microsoft YaHei"/>
              </a:rPr>
              <a:t>逐点一致性检查</a:t>
            </a:r>
            <a:endParaRPr sz="90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9FEBF8A1-23E5-443B-9342-C977E0BAB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9904" y="1627632"/>
            <a:ext cx="5413248" cy="4279392"/>
          </a:xfrm>
          <a:prstGeom xmlns:a="http://schemas.openxmlformats.org/drawingml/2006/main" prst="roundRect">
            <a:avLst>
              <a:gd name="adj" fmla="val 192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0E7EF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A64CB227-06B3-48DB-9566-4E3274C4C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157984"/>
            <a:ext cx="202996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5,760</a:t>
            </a:r>
            <a:endParaRPr sz="28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052ABBA4-4398-4BDF-AD02-5CDEB1F0E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816352"/>
            <a:ext cx="202996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5C6873"/>
                </a:solidFill>
                <a:latin typeface="Microsoft YaHei"/>
                <a:ea typeface="Microsoft YaHei"/>
                <a:cs typeface="Microsoft YaHei"/>
              </a:rPr>
              <a:t>个预测值参与比对</a:t>
            </a:r>
            <a:endParaRPr sz="115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F07E03D5-3977-41EF-9B2F-678EF67DE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2248" y="2157984"/>
            <a:ext cx="202996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18A76C"/>
                </a:solidFill>
                <a:latin typeface="Arial"/>
                <a:ea typeface="Arial"/>
                <a:cs typeface="Arial"/>
              </a:rPr>
              <a:t>0.0 kW</a:t>
            </a:r>
            <a:endParaRPr sz="28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9B693A37-1426-4DFB-AE5F-DCEEE5711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2248" y="2816352"/>
            <a:ext cx="202996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5C6873"/>
                </a:solidFill>
                <a:latin typeface="Microsoft YaHei"/>
                <a:ea typeface="Microsoft YaHei"/>
                <a:cs typeface="Microsoft YaHei"/>
              </a:rPr>
              <a:t>max absolute difference</a:t>
            </a:r>
            <a:endParaRPr sz="115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0204E6DC-1624-4872-B80A-452A33EA0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3520440"/>
            <a:ext cx="41879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5DEE6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B4955161-43DD-44E4-9549-632B8592A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3840480"/>
            <a:ext cx="39319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18212B"/>
                </a:solidFill>
                <a:latin typeface="Arial"/>
                <a:ea typeface="Arial"/>
                <a:cs typeface="Arial"/>
              </a:rPr>
              <a:t>8 buildings × 720 Test hours</a:t>
            </a:r>
            <a:endParaRPr sz="12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5C873AEF-BFE8-47A4-B590-6C2312A6E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4370832"/>
            <a:ext cx="393192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5C6873"/>
                </a:solidFill>
                <a:latin typeface="Arial"/>
                <a:ea typeface="Arial"/>
                <a:cs typeface="Arial"/>
              </a:rPr>
              <a:t>公式复算与保存的预测一致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5C6873"/>
                </a:solidFill>
                <a:latin typeface="Arial"/>
                <a:ea typeface="Arial"/>
                <a:cs typeface="Arial"/>
              </a:rPr>
              <a:t>容差 1e−12</a:t>
            </a:r>
            <a:endParaRPr sz="11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F72A3193-A1B1-4814-A9D2-ACDF8D1F4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153912"/>
            <a:ext cx="107442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70">
                <a:solidFill>
                  <a:srgbClr val="97A2AD"/>
                </a:solidFill>
                <a:latin typeface="Arial"/>
                <a:ea typeface="Arial"/>
                <a:cs typeface="Arial"/>
              </a:rPr>
              <a:t>Frozen source: Phase 9.1 reporting summary · identity check only</a:t>
            </a:r>
            <a:endParaRPr sz="67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0DCE472F-E8B0-4F7D-9731-6EBE423E6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8996A4"/>
                </a:solidFill>
                <a:latin typeface="Microsoft YaHei"/>
                <a:ea typeface="Microsoft YaHei"/>
                <a:cs typeface="Microsoft YaHei"/>
              </a:rPr>
              <a:t>智储云控 · DOEF | 补充实验与方法说明</a:t>
            </a:r>
            <a:endParaRPr sz="75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6D02B546-7F24-4F68-8720-3E9ADB4533CE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A98A8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22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13405142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5C4BE3D-94D8-4E61-9189-4C3D18462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6F4E9C"/>
                </a:solidFill>
                <a:latin typeface="Arial"/>
                <a:ea typeface="Arial"/>
                <a:cs typeface="Arial"/>
              </a:rPr>
              <a:t>DOEF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4B66B48-B26B-4B17-99CD-C5DE61D99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A8897"/>
                </a:solidFill>
                <a:latin typeface="Arial"/>
                <a:ea typeface="Arial"/>
                <a:cs typeface="Arial"/>
              </a:rPr>
              <a:t>附录 · 对比</a:t>
            </a:r>
            <a:endParaRPr sz="83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FB0E5672-56F0-46AB-8969-8E4F90E89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1320" y="173736"/>
            <a:ext cx="896112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6F4E9C"/>
          </a:solidFill>
          <a:ln xmlns:a="http://schemas.openxmlformats.org/drawingml/2006/main" w="12700">
            <a:solidFill>
              <a:srgbClr val="6F4E9C">
                <a:alpha val="0"/>
              </a:srgbClr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9A859564-643E-448F-9641-6B76B4055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4472" y="214884"/>
            <a:ext cx="74980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答疑</a:t>
            </a:r>
            <a:endParaRPr sz="82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BEEBF713-3D8D-4961-904C-81F408CDF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75488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稳健调度的对比实验</a:t>
            </a:r>
            <a:endParaRPr sz="24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0B0182FD-4779-4E42-8065-7028B3A6D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98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5C6873"/>
                </a:solidFill>
                <a:latin typeface="Microsoft YaHei"/>
                <a:ea typeface="Microsoft YaHei"/>
                <a:cs typeface="Microsoft YaHei"/>
              </a:rPr>
              <a:t>验证集选出的稳健调度方案在测试期后悔值更高；保留该结果，未反调参数。</a:t>
            </a:r>
            <a:endParaRPr sz="124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E11E8C4C-BED9-4244-93A0-FC9450FB9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572768"/>
            <a:ext cx="5001768" cy="4315968"/>
          </a:xfrm>
          <a:prstGeom xmlns:a="http://schemas.openxmlformats.org/drawingml/2006/main" prst="roundRect">
            <a:avLst>
              <a:gd name="adj" fmla="val 19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0E7EF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6F1C6CEB-3BAE-43CA-8E94-346DAE504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901952"/>
            <a:ext cx="16002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6F4E9C"/>
                </a:solidFill>
                <a:latin typeface="Arial"/>
                <a:ea typeface="Arial"/>
                <a:cs typeface="Arial"/>
              </a:rPr>
              <a:t>Validation selection</a:t>
            </a:r>
            <a:endParaRPr sz="10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42AE5BE8-1080-4E6F-800C-EA3DC0891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331720"/>
            <a:ext cx="30175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18212B"/>
                </a:solidFill>
                <a:latin typeface="Arial"/>
                <a:ea typeface="Arial"/>
                <a:cs typeface="Arial"/>
              </a:rPr>
              <a:t>robust λ = 0.5</a:t>
            </a:r>
            <a:endParaRPr sz="24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66EE334F-7621-492E-8DDD-0C57D044C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017520"/>
            <a:ext cx="3959352" cy="896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5C6873"/>
                </a:solidFill>
                <a:latin typeface="Microsoft YaHei"/>
                <a:ea typeface="Microsoft YaHei"/>
                <a:cs typeface="Microsoft YaHei"/>
              </a:rPr>
              <a:t>λ 由验证集选择；测试期保持不变。</a:t>
            </a:r>
            <a:endParaRPr sz="115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274E082B-F4EA-42E6-922A-CE8957169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029200"/>
            <a:ext cx="1609344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0EBFA"/>
          </a:solidFill>
          <a:ln xmlns:a="http://schemas.openxmlformats.org/drawingml/2006/main" w="12700">
            <a:solidFill>
              <a:srgbClr val="DBD0F0">
                <a:alpha val="0"/>
              </a:srgbClr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C330FAB5-A092-432B-BBEC-86BD2F656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5070348"/>
            <a:ext cx="14630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6F4E9C"/>
                </a:solidFill>
                <a:latin typeface="Microsoft YaHei"/>
                <a:ea typeface="Microsoft YaHei"/>
                <a:cs typeface="Microsoft YaHei"/>
              </a:rPr>
              <a:t>selection integrity</a:t>
            </a:r>
            <a:endParaRPr sz="84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B5F4CD47-F470-4CF0-A69E-3C85A8EE7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1032" y="1572768"/>
            <a:ext cx="5532120" cy="4315968"/>
          </a:xfrm>
          <a:prstGeom xmlns:a="http://schemas.openxmlformats.org/drawingml/2006/main" prst="roundRect">
            <a:avLst>
              <a:gd name="adj" fmla="val 1907"/>
            </a:avLst>
          </a:prstGeom>
          <a:solidFill xmlns:a="http://schemas.openxmlformats.org/drawingml/2006/main">
            <a:srgbClr val="0B192B"/>
          </a:solidFill>
          <a:ln xmlns:a="http://schemas.openxmlformats.org/drawingml/2006/main" w="10160">
            <a:solidFill>
              <a:srgbClr val="0B192B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8323775E-D352-4839-9B2A-BD16DD718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7648" y="1901952"/>
            <a:ext cx="14173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AFC1D0"/>
                </a:solidFill>
                <a:latin typeface="Arial"/>
                <a:ea typeface="Arial"/>
                <a:cs typeface="Arial"/>
              </a:rPr>
              <a:t>Test mean regret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4AB95A00-5475-4E33-AD6D-852BD5E0F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7648" y="2331720"/>
            <a:ext cx="201168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FF9C7A"/>
                </a:solidFill>
                <a:latin typeface="Arial"/>
                <a:ea typeface="Arial"/>
                <a:cs typeface="Arial"/>
              </a:rPr>
              <a:t>20.4635 kW</a:t>
            </a:r>
            <a:endParaRPr sz="28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5EC2FAE2-D4E3-43AD-A12B-B54159765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7648" y="2990088"/>
            <a:ext cx="20116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A9B8C6"/>
                </a:solidFill>
                <a:latin typeface="Microsoft YaHei"/>
                <a:ea typeface="Microsoft YaHei"/>
                <a:cs typeface="Microsoft YaHei"/>
              </a:rPr>
              <a:t>robust variant</a:t>
            </a:r>
            <a:endParaRPr sz="115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50BEA740-8421-4760-B64B-663B43791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60" y="2331720"/>
            <a:ext cx="201168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24C7FF"/>
                </a:solidFill>
                <a:latin typeface="Arial"/>
                <a:ea typeface="Arial"/>
                <a:cs typeface="Arial"/>
              </a:rPr>
              <a:t>11.1274 kW</a:t>
            </a:r>
            <a:endParaRPr sz="28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8CC27782-7C1D-4681-8705-857B5B64E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60" y="2990088"/>
            <a:ext cx="20116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A9B8C6"/>
                </a:solidFill>
                <a:latin typeface="Microsoft YaHei"/>
                <a:ea typeface="Microsoft YaHei"/>
                <a:cs typeface="Microsoft YaHei"/>
              </a:rPr>
              <a:t>deterministic</a:t>
            </a:r>
            <a:endParaRPr sz="115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1CC62745-8B4B-47A5-A6A5-2CCF8F96B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7648" y="3721608"/>
            <a:ext cx="449884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31506A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63AB48F2-86D2-4248-9713-E6D7264E9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7648" y="4096512"/>
            <a:ext cx="44805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该稳健方案的测试后悔值高于确定性对照，</a:t>
            </a:r>
            <a:endParaRPr sz="1200"/>
          </a:p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最终 DOEF 未采用这一方案。</a:t>
            </a:r>
            <a:endParaRPr sz="120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689D7306-04DD-4A41-ACCC-5A979238A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5166360"/>
            <a:ext cx="2240280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452A23"/>
          </a:solidFill>
          <a:ln xmlns:a="http://schemas.openxmlformats.org/drawingml/2006/main" w="12700">
            <a:solidFill>
              <a:srgbClr val="452A23">
                <a:alpha val="0"/>
              </a:srgbClr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59069EE1-8A1E-43A6-95EF-087DDFF98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2944" y="5207508"/>
            <a:ext cx="209397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90" b="1">
                <a:solidFill>
                  <a:srgbClr val="FFC0A5"/>
                </a:solidFill>
                <a:latin typeface="Microsoft YaHei"/>
                <a:ea typeface="Microsoft YaHei"/>
                <a:cs typeface="Microsoft YaHei"/>
              </a:rPr>
              <a:t>稳健调度失效案例</a:t>
            </a:r>
            <a:endParaRPr sz="79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49BDE763-8BDD-4E99-831E-3DA6A68FF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153912"/>
            <a:ext cx="107442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70">
                <a:solidFill>
                  <a:srgbClr val="97A2AD"/>
                </a:solidFill>
                <a:latin typeface="Arial"/>
                <a:ea typeface="Arial"/>
                <a:cs typeface="Arial"/>
              </a:rPr>
              <a:t>Frozen Phase 5.7 negative result · robust λ=0.5 · no rerun</a:t>
            </a:r>
            <a:endParaRPr sz="67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65203DFF-EA72-4119-B1DC-DFAF18A27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8996A4"/>
                </a:solidFill>
                <a:latin typeface="Microsoft YaHei"/>
                <a:ea typeface="Microsoft YaHei"/>
                <a:cs typeface="Microsoft YaHei"/>
              </a:rPr>
              <a:t>智储云控 · DOEF | 补充实验与方法说明</a:t>
            </a:r>
            <a:endParaRPr sz="750"/>
          </a:p>
        </p:txBody>
      </p:sp>
      <p:sp>
        <p:nvSpPr>
          <p:cNvPr id="26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A1A91E38-BF95-4051-9328-EDFA37617EDD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A98A8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23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0199276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2026-09-06T14:22:38.3490000Z</dcterms:created>
  <dcterms:modified xsi:type="dcterms:W3CDTF">2026-09-06T14:22:38.3490000Z</dcterms:modified>
</coreProperties>
</file>