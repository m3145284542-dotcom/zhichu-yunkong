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381385c1664f8e" /><Relationship Type="http://schemas.openxmlformats.org/officeDocument/2006/relationships/extended-properties" Target="/docProps/app.xml" Id="R214b7c2373414f6e" /><Relationship Type="http://schemas.openxmlformats.org/officeDocument/2006/relationships/officeDocument" Target="/ppt/presentation.xml" Id="Ra19979233ab24a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e63a78bc8a4e95"/>
  </p:sldMasterIdLst>
  <p:notesMasterIdLst>
    <p:notesMasterId xmlns:r="http://schemas.openxmlformats.org/officeDocument/2006/relationships" r:id="R407f35f6417c463a"/>
  </p:notesMasterIdLst>
  <p:sldIdLst>
    <p:sldId xmlns:r="http://schemas.openxmlformats.org/officeDocument/2006/relationships" id="256" r:id="R14f2ac8a15fd461a"/>
    <p:sldId xmlns:r="http://schemas.openxmlformats.org/officeDocument/2006/relationships" id="257" r:id="R3b424372b2c84681"/>
    <p:sldId xmlns:r="http://schemas.openxmlformats.org/officeDocument/2006/relationships" id="258" r:id="R726e58d906894aaa"/>
    <p:sldId xmlns:r="http://schemas.openxmlformats.org/officeDocument/2006/relationships" id="259" r:id="Rbedf812733654419"/>
    <p:sldId xmlns:r="http://schemas.openxmlformats.org/officeDocument/2006/relationships" id="260" r:id="Re186736ad9b54980"/>
    <p:sldId xmlns:r="http://schemas.openxmlformats.org/officeDocument/2006/relationships" id="261" r:id="Rb1fdbd4d442c4b74"/>
    <p:sldId xmlns:r="http://schemas.openxmlformats.org/officeDocument/2006/relationships" id="262" r:id="R6e8c0cfbd6f940e9"/>
    <p:sldId xmlns:r="http://schemas.openxmlformats.org/officeDocument/2006/relationships" id="263" r:id="R203138c446df4baa"/>
    <p:sldId xmlns:r="http://schemas.openxmlformats.org/officeDocument/2006/relationships" id="264" r:id="R7d816892e39e4e0e"/>
    <p:sldId xmlns:r="http://schemas.openxmlformats.org/officeDocument/2006/relationships" id="265" r:id="R1484d64e0975424d"/>
    <p:sldId xmlns:r="http://schemas.openxmlformats.org/officeDocument/2006/relationships" id="266" r:id="R89c19964e1ed42fd"/>
    <p:sldId xmlns:r="http://schemas.openxmlformats.org/officeDocument/2006/relationships" id="267" r:id="Rb59b0e4123b3453e"/>
    <p:sldId xmlns:r="http://schemas.openxmlformats.org/officeDocument/2006/relationships" id="268" r:id="Rd0778e341afb42c4"/>
    <p:sldId xmlns:r="http://schemas.openxmlformats.org/officeDocument/2006/relationships" id="269" r:id="Rdfc138c20fc64c71"/>
    <p:sldId xmlns:r="http://schemas.openxmlformats.org/officeDocument/2006/relationships" id="270" r:id="Re878cc053db9448a"/>
    <p:sldId xmlns:r="http://schemas.openxmlformats.org/officeDocument/2006/relationships" id="271" r:id="R652525d5ec88429b"/>
    <p:sldId xmlns:r="http://schemas.openxmlformats.org/officeDocument/2006/relationships" id="272" r:id="Rd8bdf987d9f24674"/>
    <p:sldId xmlns:r="http://schemas.openxmlformats.org/officeDocument/2006/relationships" id="273" r:id="Recc7001e3e9b40b8"/>
    <p:sldId xmlns:r="http://schemas.openxmlformats.org/officeDocument/2006/relationships" id="274" r:id="R8e4b616665b24906"/>
    <p:sldId xmlns:r="http://schemas.openxmlformats.org/officeDocument/2006/relationships" id="275" r:id="R3c185500ac6840a0"/>
    <p:sldId xmlns:r="http://schemas.openxmlformats.org/officeDocument/2006/relationships" id="276" r:id="R583184d7c36348bb"/>
    <p:sldId xmlns:r="http://schemas.openxmlformats.org/officeDocument/2006/relationships" id="277" r:id="R0e6b0163e2f74592"/>
    <p:sldId xmlns:r="http://schemas.openxmlformats.org/officeDocument/2006/relationships" id="278" r:id="Rf9ba274a248442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fde1d100014397" /><Relationship Type="http://schemas.openxmlformats.org/officeDocument/2006/relationships/slideMaster" Target="/ppt/slideMasters/slideMaster1.xml" Id="Rc7e63a78bc8a4e95" /><Relationship Type="http://schemas.openxmlformats.org/officeDocument/2006/relationships/notesMaster" Target="/ppt/notesMasters/notesMaster1.xml" Id="R407f35f6417c463a" /><Relationship Type="http://schemas.openxmlformats.org/officeDocument/2006/relationships/presProps" Target="/ppt/presProps.xml" Id="R2dec66735cc0484a" /><Relationship Type="http://schemas.openxmlformats.org/officeDocument/2006/relationships/viewProps" Target="/ppt/viewProps.xml" Id="R1a23e0476c6549d7" /><Relationship Type="http://schemas.openxmlformats.org/officeDocument/2006/relationships/tableStyles" Target="/ppt/tableStyles.xml" Id="R83430384f8a54247" /><Relationship Type="http://schemas.openxmlformats.org/officeDocument/2006/relationships/slide" Target="/ppt/slides/slide1.xml" Id="R14f2ac8a15fd461a" /><Relationship Type="http://schemas.openxmlformats.org/officeDocument/2006/relationships/slide" Target="/ppt/slides/slide2.xml" Id="R3b424372b2c84681" /><Relationship Type="http://schemas.openxmlformats.org/officeDocument/2006/relationships/slide" Target="/ppt/slides/slide3.xml" Id="R726e58d906894aaa" /><Relationship Type="http://schemas.openxmlformats.org/officeDocument/2006/relationships/slide" Target="/ppt/slides/slide4.xml" Id="Rbedf812733654419" /><Relationship Type="http://schemas.openxmlformats.org/officeDocument/2006/relationships/slide" Target="/ppt/slides/slide5.xml" Id="Re186736ad9b54980" /><Relationship Type="http://schemas.openxmlformats.org/officeDocument/2006/relationships/slide" Target="/ppt/slides/slide6.xml" Id="Rb1fdbd4d442c4b74" /><Relationship Type="http://schemas.openxmlformats.org/officeDocument/2006/relationships/slide" Target="/ppt/slides/slide7.xml" Id="R6e8c0cfbd6f940e9" /><Relationship Type="http://schemas.openxmlformats.org/officeDocument/2006/relationships/slide" Target="/ppt/slides/slide8.xml" Id="R203138c446df4baa" /><Relationship Type="http://schemas.openxmlformats.org/officeDocument/2006/relationships/slide" Target="/ppt/slides/slide9.xml" Id="R7d816892e39e4e0e" /><Relationship Type="http://schemas.openxmlformats.org/officeDocument/2006/relationships/slide" Target="/ppt/slides/slide10.xml" Id="R1484d64e0975424d" /><Relationship Type="http://schemas.openxmlformats.org/officeDocument/2006/relationships/slide" Target="/ppt/slides/slide11.xml" Id="R89c19964e1ed42fd" /><Relationship Type="http://schemas.openxmlformats.org/officeDocument/2006/relationships/slide" Target="/ppt/slides/slide12.xml" Id="Rb59b0e4123b3453e" /><Relationship Type="http://schemas.openxmlformats.org/officeDocument/2006/relationships/slide" Target="/ppt/slides/slide13.xml" Id="Rd0778e341afb42c4" /><Relationship Type="http://schemas.openxmlformats.org/officeDocument/2006/relationships/slide" Target="/ppt/slides/slide14.xml" Id="Rdfc138c20fc64c71" /><Relationship Type="http://schemas.openxmlformats.org/officeDocument/2006/relationships/slide" Target="/ppt/slides/slide15.xml" Id="Re878cc053db9448a" /><Relationship Type="http://schemas.openxmlformats.org/officeDocument/2006/relationships/slide" Target="/ppt/slides/slide16.xml" Id="R652525d5ec88429b" /><Relationship Type="http://schemas.openxmlformats.org/officeDocument/2006/relationships/slide" Target="/ppt/slides/slide17.xml" Id="Rd8bdf987d9f24674" /><Relationship Type="http://schemas.openxmlformats.org/officeDocument/2006/relationships/slide" Target="/ppt/slides/slide18.xml" Id="Recc7001e3e9b40b8" /><Relationship Type="http://schemas.openxmlformats.org/officeDocument/2006/relationships/slide" Target="/ppt/slides/slide19.xml" Id="R8e4b616665b24906" /><Relationship Type="http://schemas.openxmlformats.org/officeDocument/2006/relationships/slide" Target="/ppt/slides/slide20.xml" Id="R3c185500ac6840a0" /><Relationship Type="http://schemas.openxmlformats.org/officeDocument/2006/relationships/slide" Target="/ppt/slides/slide21.xml" Id="R583184d7c36348bb" /><Relationship Type="http://schemas.openxmlformats.org/officeDocument/2006/relationships/slide" Target="/ppt/slides/slide22.xml" Id="R0e6b0163e2f74592" /><Relationship Type="http://schemas.openxmlformats.org/officeDocument/2006/relationships/slide" Target="/ppt/slides/slide23.xml" Id="Rf9ba274a248442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d57dabf572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55a054ab944718" /><Relationship Type="http://schemas.openxmlformats.org/officeDocument/2006/relationships/notesMaster" Target="/ppt/notesMasters/notesMaster1.xml" Id="Rb947912ec2e948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a728af90074415" /><Relationship Type="http://schemas.openxmlformats.org/officeDocument/2006/relationships/notesMaster" Target="/ppt/notesMasters/notesMaster1.xml" Id="R037b67cce34741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0f7cab5594ce6" /><Relationship Type="http://schemas.openxmlformats.org/officeDocument/2006/relationships/notesMaster" Target="/ppt/notesMasters/notesMaster1.xml" Id="Rf66299c3b1174d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1aeacb7bc34ce2" /><Relationship Type="http://schemas.openxmlformats.org/officeDocument/2006/relationships/notesMaster" Target="/ppt/notesMasters/notesMaster1.xml" Id="R509e2880dfa149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fe7d621d154c06" /><Relationship Type="http://schemas.openxmlformats.org/officeDocument/2006/relationships/notesMaster" Target="/ppt/notesMasters/notesMaster1.xml" Id="Rdf3402c71d224b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9fcae3d6d344fd" /><Relationship Type="http://schemas.openxmlformats.org/officeDocument/2006/relationships/notesMaster" Target="/ppt/notesMasters/notesMaster1.xml" Id="Rcc11ac5c316648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453b4093a7413e" /><Relationship Type="http://schemas.openxmlformats.org/officeDocument/2006/relationships/notesMaster" Target="/ppt/notesMasters/notesMaster1.xml" Id="Rfae939baa67546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9eb2a205664e06" /><Relationship Type="http://schemas.openxmlformats.org/officeDocument/2006/relationships/notesMaster" Target="/ppt/notesMasters/notesMaster1.xml" Id="R0dd715716d5444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10afc88fe04890" /><Relationship Type="http://schemas.openxmlformats.org/officeDocument/2006/relationships/notesMaster" Target="/ppt/notesMasters/notesMaster1.xml" Id="R3218f7e0470c49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7fa86cd5314085" /><Relationship Type="http://schemas.openxmlformats.org/officeDocument/2006/relationships/notesMaster" Target="/ppt/notesMasters/notesMaster1.xml" Id="R6453e184e76b45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86e61111444040" /><Relationship Type="http://schemas.openxmlformats.org/officeDocument/2006/relationships/notesMaster" Target="/ppt/notesMasters/notesMaster1.xml" Id="R80ca8e7584ff46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13fb5a4bea4ca3" /><Relationship Type="http://schemas.openxmlformats.org/officeDocument/2006/relationships/notesMaster" Target="/ppt/notesMasters/notesMaster1.xml" Id="R5c48f46db4b245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aad36c227b4217" /><Relationship Type="http://schemas.openxmlformats.org/officeDocument/2006/relationships/notesMaster" Target="/ppt/notesMasters/notesMaster1.xml" Id="Ra97d4018ea554f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a8153810644ea6" /><Relationship Type="http://schemas.openxmlformats.org/officeDocument/2006/relationships/notesMaster" Target="/ppt/notesMasters/notesMaster1.xml" Id="R3b6a0ca8939347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ea4aa2bf6f4aed" /><Relationship Type="http://schemas.openxmlformats.org/officeDocument/2006/relationships/notesMaster" Target="/ppt/notesMasters/notesMaster1.xml" Id="R81bea60b174446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f62a9cf7d04598" /><Relationship Type="http://schemas.openxmlformats.org/officeDocument/2006/relationships/notesMaster" Target="/ppt/notesMasters/notesMaster1.xml" Id="R596e86908f824e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334de7506e427f" /><Relationship Type="http://schemas.openxmlformats.org/officeDocument/2006/relationships/notesMaster" Target="/ppt/notesMasters/notesMaster1.xml" Id="Rdbfe6f13c59c44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e6cbb154334134" /><Relationship Type="http://schemas.openxmlformats.org/officeDocument/2006/relationships/notesMaster" Target="/ppt/notesMasters/notesMaster1.xml" Id="Rc27ffedbd8c242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757cf456a84dbe" /><Relationship Type="http://schemas.openxmlformats.org/officeDocument/2006/relationships/notesMaster" Target="/ppt/notesMasters/notesMaster1.xml" Id="R50f093efc21843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2e497343e94d6b" /><Relationship Type="http://schemas.openxmlformats.org/officeDocument/2006/relationships/notesMaster" Target="/ppt/notesMasters/notesMaster1.xml" Id="R0f1d7c56af8d45a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eaec5031ea4bae" /><Relationship Type="http://schemas.openxmlformats.org/officeDocument/2006/relationships/notesMaster" Target="/ppt/notesMasters/notesMaster1.xml" Id="R5a19d73add304b2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333fc46a354a04" /><Relationship Type="http://schemas.openxmlformats.org/officeDocument/2006/relationships/notesMaster" Target="/ppt/notesMasters/notesMaster1.xml" Id="Rf4ca3ac104ca48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71fef6d7694150" /><Relationship Type="http://schemas.openxmlformats.org/officeDocument/2006/relationships/notesMaster" Target="/ppt/notesMasters/notesMaster1.xml" Id="Reeb9b1b07b244c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开场定位：这是 AI + 储能决策问题。不要把 LightGBM 说成创新。过渡：既然预测服务于决策，传统预测指标是否真的能选出更好的储能方案？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用这一页制造核心张力。只说“在冻结项目范围内出现排序反转”，不说预测精度无关，也不把很小的差异升级为普遍因果机制。下一页解释预测如何进入调度链。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设明天下午办公楼会出现用电高峰，而电池容量有限，电池应该几点放电？如果预测把峰值判断得过早，电池就可能在真正峰值到来前耗尽。图中智能电表提供历史负荷，DOEF形成预测，优化器生成充放电计划，未来由储能设备执行，再评价建筑电网侧峰值。实际负荷和设备回执构成评价反馈。当前完成的是离线仿真，电表、EMS及PCS/BMS尚未接入；图中现场环节均为目标设计。当前预测是逐小时提前24小时，再按目标日组装；真实日前服务需要独立验证统一截止时间与发布时间。来源：src/features/load_features.py；src/battery；reports/submission/technical_report.md第1、9节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这一页只讲一个改变：selection criterion。组件预测不变，电池约束不变。DOEF 不是联合训练、双层优化或新的 LightGBM。下一页给完整冻结信息流。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算法只解释一次。强调三段：Train 拟合组件；Validation 把候选权重送入同一电池优化，以 mean daily regret 选择并冻结；Test 只报告。Oracle 只作不可部署 hindsight 上界。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这是最强结果页。先落 6.36% 与 3.61%，再落 6/2/0。主动指出最差建筑 peak reduction 为 -1.017%，负结果没有被删。不要说 SOTA、普适最优、经济收益。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用“回答不同问题”化解 M02 的反转，避免讲成“峰时误差一定导致 regret”这种未经证明的普遍机制。核心句：预测指标仍然必要，但下游工程评价不能缺席。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用完整 8 栋反驳单楼/挑楼质疑。强调选楼不看 Validation/Test 性能，只基于质量和 Train 期形态。证据只支持固定范围的 multi-building robustness，不支持 unseen-building transfer。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这页专门防“你们是不是看 Test 调出来的？”权重只在 Validation 选，并在 Test 前冻结。也不要说 Test 从未被历史阶段看过，只能说 Phase 8/DOEF 选择不使用 Test。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原型是离线仿真决策支持系统。算法与调度程序已完成离线计算，GUI读取保存的实验结果。演示从开始八建筑巡演，到核对当前建筑参数、观察每日峰值与削峰结果，最后进入八建筑综合比较。播放按钮不重新预测或求解，也不下发控制命令。新增建筑需重新处理数据并独立验证。来源：gui/index.html；gui/app.js；gui/server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创新表述必须守边界：基础预测器不是创新，普通线性加权也不是创新。创新是 Validation 下游 regret 选权重 + 冻结信息边界 + 全八栋证据 + 同一储能评价链。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楼宇能源管理与储能评估人员，当前提供离线方案比较。下一阶段先完成数据和时间语义核对，再做只读影子运行，随后开展人工审批试运行，验收通过后才考虑受控自动运行。现场读取实际SOC，并接收功率、告警和执行回执；异常时按设备方案回退并允许人工接管。协议适配、硬件联调及跨季节验证均待实施。3.61%是固定八建筑平均归一化决策后悔值相对改善，不是现场收益承诺。来源：docs/ENGINEERING_INTEGRATION.md；reports/submission/technical_report.md第9节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Q&amp;A：解释 296→82→8。强调模型成绩没有参与选楼。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9d5655f664e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fef2e574243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c3b9fc60f4c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359323652465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IN_DARK">
    <p:bg>
      <p:bgPr>
        <a:solidFill xmlns:a="http://schemas.openxmlformats.org/drawingml/2006/main">
          <a:srgbClr val="07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540B39-5907-481D-98B2-D1AC53FE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FF"/>
          </a:solidFill>
          <a:ln xmlns:a="http://schemas.openxmlformats.org/drawingml/2006/main" w="12700">
            <a:solidFill>
              <a:srgbClr val="24C7FF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0EF1822-077D-46D6-9D5F-7569A4CACFF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MAIN_LIGHT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48727A-F3AC-4057-95C6-92848AE6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12700">
            <a:solidFill>
              <a:srgbClr val="1677FF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866D630-2BC0-4A1C-ACB6-CA34947EE34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APPENDIX"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87AD01A-BB50-4E16-81A8-A4C2A4DE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A045B2B-FA82-40D7-B298-8B58DE5E222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1004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bc706da16a45a6" /><Relationship Type="http://schemas.openxmlformats.org/officeDocument/2006/relationships/slideLayout" Target="/ppt/slideLayouts/slideLayout1.xml" Id="R0955b2c0ed20472f" /><Relationship Type="http://schemas.openxmlformats.org/officeDocument/2006/relationships/slideLayout" Target="/ppt/slideLayouts/slideLayout2.xml" Id="R1a5f686417354d1d" /><Relationship Type="http://schemas.openxmlformats.org/officeDocument/2006/relationships/slideLayout" Target="/ppt/slideLayouts/slideLayout3.xml" Id="R50c49f3e2710416b" /><Relationship Type="http://schemas.openxmlformats.org/officeDocument/2006/relationships/slideLayout" Target="/ppt/slideLayouts/slideLayout4.xml" Id="Reb2d6104a2704fb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BA15602-B7E9-43F8-A61A-5B2C8DD5B60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55b2c0ed20472f"/>
    <p:sldLayoutId xmlns:r="http://schemas.openxmlformats.org/officeDocument/2006/relationships" id="2147483650" r:id="R1a5f686417354d1d"/>
    <p:sldLayoutId xmlns:r="http://schemas.openxmlformats.org/officeDocument/2006/relationships" id="2147483651" r:id="R50c49f3e2710416b"/>
    <p:sldLayoutId xmlns:r="http://schemas.openxmlformats.org/officeDocument/2006/relationships" id="2147483652" r:id="Reb2d6104a2704fb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933faa11c44b20" /><Relationship Type="http://schemas.openxmlformats.org/officeDocument/2006/relationships/notesSlide" Target="/ppt/notesSlides/notesSlide1.xml" Id="R09de9c1f641247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9ae94631684421" /><Relationship Type="http://schemas.openxmlformats.org/officeDocument/2006/relationships/image" Target="/ppt/media/image.png" Id="R4a79b6b07a4d4ee6" /><Relationship Type="http://schemas.openxmlformats.org/officeDocument/2006/relationships/notesSlide" Target="/ppt/notesSlides/notesSlide2.xml" Id="R28c5f08fd68c49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aca31d5e3240b8" /><Relationship Type="http://schemas.openxmlformats.org/officeDocument/2006/relationships/image" Target="/ppt/media/image2.png" Id="Rf512178c523f4e7a" /><Relationship Type="http://schemas.openxmlformats.org/officeDocument/2006/relationships/notesSlide" Target="/ppt/notesSlides/notesSlide3.xml" Id="Rbe1757fa2d2046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fa9a9e45494903" /><Relationship Type="http://schemas.openxmlformats.org/officeDocument/2006/relationships/notesSlide" Target="/ppt/notesSlides/notesSlide4.xml" Id="R3089c79d16be4d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6e4401d50e4349" /><Relationship Type="http://schemas.openxmlformats.org/officeDocument/2006/relationships/image" Target="/ppt/media/image3.png" Id="R2f026fe508f0462d" /><Relationship Type="http://schemas.openxmlformats.org/officeDocument/2006/relationships/notesSlide" Target="/ppt/notesSlides/notesSlide5.xml" Id="R62262e013e8442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3915c18bc24877" /><Relationship Type="http://schemas.openxmlformats.org/officeDocument/2006/relationships/image" Target="/ppt/media/image4.png" Id="R1edc5ae2bf3f4bad" /><Relationship Type="http://schemas.openxmlformats.org/officeDocument/2006/relationships/notesSlide" Target="/ppt/notesSlides/notesSlide6.xml" Id="Rb7f0bd43e5e143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bd841a25234da1" /><Relationship Type="http://schemas.openxmlformats.org/officeDocument/2006/relationships/notesSlide" Target="/ppt/notesSlides/notesSlide7.xml" Id="Rcc63f021a19341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c9eef675964d8a" /><Relationship Type="http://schemas.openxmlformats.org/officeDocument/2006/relationships/image" Target="/ppt/media/image5.png" Id="R759fe18618084fbc" /><Relationship Type="http://schemas.openxmlformats.org/officeDocument/2006/relationships/notesSlide" Target="/ppt/notesSlides/notesSlide8.xml" Id="R03917c21a2f54c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03fc84e30f84586" /><Relationship Type="http://schemas.openxmlformats.org/officeDocument/2006/relationships/image" Target="/ppt/media/image6.png" Id="Rb9b219eb747a46fe" /><Relationship Type="http://schemas.openxmlformats.org/officeDocument/2006/relationships/notesSlide" Target="/ppt/notesSlides/notesSlide9.xml" Id="Rd0d80f49250c4d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2fa4d630784e9a" /><Relationship Type="http://schemas.openxmlformats.org/officeDocument/2006/relationships/notesSlide" Target="/ppt/notesSlides/notesSlide10.xml" Id="Rfeb000ebee4a4f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f9d4eafaf94a22" /><Relationship Type="http://schemas.openxmlformats.org/officeDocument/2006/relationships/image" Target="/ppt/media/image7.png" Id="R0fe5cf5469f34f97" /><Relationship Type="http://schemas.openxmlformats.org/officeDocument/2006/relationships/notesSlide" Target="/ppt/notesSlides/notesSlide11.xml" Id="Rb95df2b475a645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f8a198ce1745c4" /><Relationship Type="http://schemas.openxmlformats.org/officeDocument/2006/relationships/notesSlide" Target="/ppt/notesSlides/notesSlide12.xml" Id="Rfe9ff48b132145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340c8a51e8242cb" /><Relationship Type="http://schemas.openxmlformats.org/officeDocument/2006/relationships/notesSlide" Target="/ppt/notesSlides/notesSlide13.xml" Id="R84ee7b68075346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dcc9e984d854ea7" /><Relationship Type="http://schemas.openxmlformats.org/officeDocument/2006/relationships/image" Target="/ppt/media/image8.png" Id="Rf89eaafdf524424b" /><Relationship Type="http://schemas.openxmlformats.org/officeDocument/2006/relationships/notesSlide" Target="/ppt/notesSlides/notesSlide14.xml" Id="R6b46684e32b14d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3bb2f9a37bb425a" /><Relationship Type="http://schemas.openxmlformats.org/officeDocument/2006/relationships/notesSlide" Target="/ppt/notesSlides/notesSlide15.xml" Id="R4998f7ab94e548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6c24f5d3ade422c" /><Relationship Type="http://schemas.openxmlformats.org/officeDocument/2006/relationships/notesSlide" Target="/ppt/notesSlides/notesSlide16.xml" Id="Rd9e71c039d2345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0179d344d0a4c7f" /><Relationship Type="http://schemas.openxmlformats.org/officeDocument/2006/relationships/notesSlide" Target="/ppt/notesSlides/notesSlide17.xml" Id="Rdbaf91a054c046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2569331d4f04814" /><Relationship Type="http://schemas.openxmlformats.org/officeDocument/2006/relationships/notesSlide" Target="/ppt/notesSlides/notesSlide18.xml" Id="Rba5219c6c05c42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9b77bdcc6354eb0" /><Relationship Type="http://schemas.openxmlformats.org/officeDocument/2006/relationships/image" Target="/ppt/media/image9.png" Id="R4f64fcdfb46b4c44" /><Relationship Type="http://schemas.openxmlformats.org/officeDocument/2006/relationships/notesSlide" Target="/ppt/notesSlides/notesSlide19.xml" Id="R210994b80d6344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90aaf74669842fa" /><Relationship Type="http://schemas.openxmlformats.org/officeDocument/2006/relationships/image" Target="/ppt/media/image10.png" Id="Rbc21cb6860d64077" /><Relationship Type="http://schemas.openxmlformats.org/officeDocument/2006/relationships/notesSlide" Target="/ppt/notesSlides/notesSlide20.xml" Id="Rf84c72aa942941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36bdbc7b5c54c1b" /><Relationship Type="http://schemas.openxmlformats.org/officeDocument/2006/relationships/notesSlide" Target="/ppt/notesSlides/notesSlide21.xml" Id="R9cd01a9969454b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966ee8c799e4b65" /><Relationship Type="http://schemas.openxmlformats.org/officeDocument/2006/relationships/notesSlide" Target="/ppt/notesSlides/notesSlide22.xml" Id="R047ef28972954e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40b214935d944f7" /><Relationship Type="http://schemas.openxmlformats.org/officeDocument/2006/relationships/notesSlide" Target="/ppt/notesSlides/notesSlide23.xml" Id="Rb32c4c58aa1e4f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00A512-1F0E-43E9-87D0-932FE50C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24C7FF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33CFA7-206F-4525-A933-C82DBF25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890A7"/>
                </a:solidFill>
                <a:latin typeface="Arial"/>
                <a:ea typeface="Arial"/>
                <a:cs typeface="Arial"/>
              </a:rPr>
              <a:t>作品介绍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095A9C-C6BD-4577-98D2-954B181E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310896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900" b="1" spc="100">
                <a:solidFill>
                  <a:srgbClr val="24C7FF"/>
                </a:solidFill>
                <a:latin typeface="Arial"/>
                <a:ea typeface="Arial"/>
                <a:cs typeface="Arial"/>
              </a:rPr>
              <a:t>智储云控</a:t>
            </a:r>
            <a:endParaRPr sz="4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3FD044C-111E-4015-BB51-81D140E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93392"/>
            <a:ext cx="5852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34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基于决策导向预测融合的</a:t>
            </a:r>
            <a:endParaRPr sz="34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34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建筑储能削峰优化系统</a:t>
            </a:r>
            <a:endParaRPr sz="3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9014C7-4A8C-469B-93BE-18E965CA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657600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B6C5D2"/>
                </a:solidFill>
                <a:latin typeface="Microsoft YaHei"/>
                <a:ea typeface="Microsoft YaHei"/>
                <a:cs typeface="Microsoft YaHei"/>
              </a:rPr>
              <a:t>面向储能决策的集成负荷预测方法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C392DB2-6E08-4C80-ADB6-04F52E0B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170432"/>
            <a:ext cx="4709160" cy="429768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0D1F33">
              <a:alpha val="98000"/>
            </a:srgbClr>
          </a:solidFill>
          <a:ln xmlns:a="http://schemas.openxmlformats.org/drawingml/2006/main" w="12700">
            <a:solidFill>
              <a:srgbClr val="1D3A57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476323-09F9-498E-B012-3FC98C9C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65960"/>
            <a:ext cx="932688" cy="932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>
              <a:alpha val="18000"/>
            </a:srgbClr>
          </a:solidFill>
          <a:ln xmlns:a="http://schemas.openxmlformats.org/drawingml/2006/main" w="25400">
            <a:solidFill>
              <a:srgbClr val="D55E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C9179C-E44F-42FE-BABB-0039EB60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212848"/>
            <a:ext cx="7498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24h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9B50FE5-39FA-4F51-A855-F9E890C1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90672"/>
            <a:ext cx="12070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负荷预测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936689-7E28-4F6F-BF0B-92EC46E6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1965960"/>
            <a:ext cx="932688" cy="932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E9C">
              <a:alpha val="18000"/>
            </a:srgbClr>
          </a:solidFill>
          <a:ln xmlns:a="http://schemas.openxmlformats.org/drawingml/2006/main" w="25400">
            <a:solidFill>
              <a:srgbClr val="6F4E9C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8883E63-213B-4236-AFE6-92091BE0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212848"/>
            <a:ext cx="7498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6F4E9C"/>
                </a:solidFill>
                <a:latin typeface="Arial"/>
                <a:ea typeface="Arial"/>
                <a:cs typeface="Arial"/>
              </a:rPr>
              <a:t>储能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AD05A6-CFC4-4889-B8AA-196052D0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090672"/>
            <a:ext cx="12070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约束调度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BCEACC5-F235-4CFF-BF42-CCA2F66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1965960"/>
            <a:ext cx="932688" cy="932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C7FF">
              <a:alpha val="18000"/>
            </a:srgbClr>
          </a:solidFill>
          <a:ln xmlns:a="http://schemas.openxmlformats.org/drawingml/2006/main" w="25400">
            <a:solidFill>
              <a:srgbClr val="24C7F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1AAAE32-3F45-4168-A73B-1E5E268C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212848"/>
            <a:ext cx="7498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峰值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70FCACF-FFA2-4F68-BA36-2D86D2BF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3090672"/>
            <a:ext cx="12070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实际削峰</a:t>
            </a:r>
            <a:endParaRPr sz="1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C1814BA-0112-4B65-BB95-83449244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6" y="2432304"/>
            <a:ext cx="402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4728C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27E932A-3732-4F9C-88B4-994ADB3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432304"/>
            <a:ext cx="402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4728C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2789F15-C5DC-4F7E-ADD2-FC715BD4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608576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7BA70A4-E38B-45FF-A902-7D961046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4460128"/>
            <a:ext cx="0" cy="461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A79E401-E889-411D-A086-9794F22F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408208"/>
            <a:ext cx="0" cy="5653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070E66B-F87F-4531-AF54-E9E69531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4486577"/>
            <a:ext cx="0" cy="4085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AC7574A-81AB-4286-8128-F1991205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572876"/>
            <a:ext cx="0" cy="2359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E3ABF21-17A3-4D5B-BBB4-282AAAB9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438391"/>
            <a:ext cx="0" cy="5049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1FCE62B-2F6D-4027-8E5C-C8C8D8D2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4414569"/>
            <a:ext cx="0" cy="5526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3E476F7-609F-4819-91C8-06BEB872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516899"/>
            <a:ext cx="0" cy="3479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66A7105-1ADC-4B84-A20A-794F40C8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4538310"/>
            <a:ext cx="0" cy="3051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D3103DD-24B9-409C-A32F-3D437488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4422057"/>
            <a:ext cx="0" cy="537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5A3605F-494D-4D8D-B4AD-3087AEEA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4427088"/>
            <a:ext cx="0" cy="5275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7C7D056-FFB2-4734-AB27-43501B5A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4" y="4550131"/>
            <a:ext cx="0" cy="2814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B088919-50C8-43B1-9B7C-A41DD46B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505974"/>
            <a:ext cx="0" cy="369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F81D96B-E9C7-4D41-88A7-36951250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803904"/>
            <a:ext cx="3584448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A54"/>
          </a:solidFill>
          <a:ln xmlns:a="http://schemas.openxmlformats.org/drawingml/2006/main"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B7B179D-A856-4AE5-962A-5F6D3713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3845052"/>
            <a:ext cx="34381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4C7FF"/>
                </a:solidFill>
                <a:latin typeface="Microsoft YaHei"/>
                <a:ea typeface="Microsoft YaHei"/>
                <a:cs typeface="Microsoft YaHei"/>
              </a:rPr>
              <a:t>负荷预测与削峰调度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C91C8AA-3233-4ADC-8BBB-18A5D7CF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095875"/>
            <a:ext cx="3703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>
                <a:solidFill>
                  <a:srgbClr val="9EB3C5"/>
                </a:solidFill>
                <a:latin typeface="Microsoft YaHei"/>
                <a:ea typeface="Microsoft YaHei"/>
                <a:cs typeface="Microsoft YaHei"/>
              </a:rPr>
              <a:t>24 小时超前预测 → 电池调度 → 实际峰值评价</a:t>
            </a:r>
            <a:endParaRPr sz="112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BCE7FFA-3345-4083-8872-EAB8A78A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89320"/>
            <a:ext cx="3749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47B90"/>
                </a:solidFill>
                <a:latin typeface="Microsoft YaHei"/>
                <a:ea typeface="Microsoft YaHei"/>
                <a:cs typeface="Microsoft YaHei"/>
              </a:rPr>
              <a:t>全球校园人工智能算法精英大赛 · AI+能源</a:t>
            </a:r>
            <a:endParaRPr sz="82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2523EED-7F12-414D-A67D-E3877BA5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F8295"/>
                </a:solidFill>
                <a:latin typeface="Microsoft YaHei"/>
                <a:ea typeface="Microsoft YaHei"/>
                <a:cs typeface="Microsoft YaHei"/>
              </a:rPr>
              <a:t>团队编号：AIC-2026-27833449</a:t>
            </a:r>
            <a:endParaRPr sz="750"/>
          </a:p>
        </p:txBody>
      </p:sp>
      <p:sp>
        <p:nvSpPr>
          <p:cNvPr id="3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3AFD922-7D87-4AFF-94DC-812888BCFC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0755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D76BCF-1380-4459-A3DA-1C940F38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21BF9E-C673-41A8-B9F8-60A32657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研究问题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A2D69FB-CFA9-42BF-A625-28228BCC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预测精度与削峰效果的排序差异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D815A10-B990-4078-82EC-27EA3ABF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八建筑测试结果中，XGBoost 的 RMSE 略低于 LightGBM，决策后悔值却略高。</a:t>
            </a:r>
            <a:endParaRPr sz="124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2E432F1-8EB4-4317-9DE4-399E3EB0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90472"/>
            <a:ext cx="8366760" cy="4425696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9b6b07a4d4e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180" y="1545336"/>
            <a:ext cx="7672832" cy="431596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D0BBF1F-72D7-4417-BE5A-2A50E1E9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1490472"/>
            <a:ext cx="2395728" cy="4425696"/>
          </a:xfrm>
          <a:prstGeom xmlns:a="http://schemas.openxmlformats.org/drawingml/2006/main" prst="roundRect">
            <a:avLst>
              <a:gd name="adj" fmla="val 3435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2611904-BCD9-45DF-A9B1-26179D69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1783080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C7FF"/>
                </a:solidFill>
                <a:latin typeface="Microsoft YaHei"/>
                <a:ea typeface="Microsoft YaHei"/>
                <a:cs typeface="Microsoft YaHei"/>
              </a:rPr>
              <a:t>指标排序差异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BBEF064-86BD-4467-AE19-887C5662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2240280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FC4D6"/>
                </a:solidFill>
                <a:latin typeface="Arial"/>
                <a:ea typeface="Arial"/>
                <a:cs typeface="Arial"/>
              </a:rPr>
              <a:t>RMSE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99DC7C2-5646-427D-AB48-1107BCA0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2532888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XGBoost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0.216751</a:t>
            </a:r>
            <a:endParaRPr sz="1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3438435-7E88-4D72-94F1-F50017EE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3346704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30" b="1">
                <a:solidFill>
                  <a:srgbClr val="AFC4D6"/>
                </a:solidFill>
                <a:latin typeface="Arial"/>
                <a:ea typeface="Arial"/>
                <a:cs typeface="Arial"/>
              </a:rPr>
              <a:t>决策后悔值</a:t>
            </a:r>
            <a:endParaRPr sz="113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F0A1839-54AF-44BA-A9F0-105ED022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3657600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LightGBM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0.116127</a:t>
            </a:r>
            <a:endParaRPr sz="18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EC689D6-5206-40A8-8772-25469AF7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517136"/>
            <a:ext cx="1783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1506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5CEAB92-BD3A-41E7-A5D8-9E71ED60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4736592"/>
            <a:ext cx="17190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预测指标与调度指标</a:t>
            </a:r>
            <a:endParaRPr sz="1170"/>
          </a:p>
          <a:p xmlns:a="http://schemas.openxmlformats.org/drawingml/2006/main">
            <a:pPr marL="0" indent="0">
              <a:buNone/>
            </a:pPr>
            <a:r>
              <a:rPr sz="117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需要分别评价</a:t>
            </a:r>
            <a:endParaRPr sz="117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55B9A4E-9214-4B72-8CAD-B995D2F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504688"/>
            <a:ext cx="199339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0291B"/>
          </a:solidFill>
          <a:ln xmlns:a="http://schemas.openxmlformats.org/drawingml/2006/main" w="12700">
            <a:solidFill>
              <a:srgbClr val="73513C">
                <a:alpha val="0"/>
              </a:srgbClr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BA50B9B-6377-43BC-A23A-2BE0C237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5545836"/>
            <a:ext cx="18470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C494"/>
                </a:solidFill>
                <a:latin typeface="Microsoft YaHei"/>
                <a:ea typeface="Microsoft YaHei"/>
                <a:cs typeface="Microsoft YaHei"/>
              </a:rPr>
              <a:t>预测精度仍是必要指标</a:t>
            </a:r>
            <a:endParaRPr sz="73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5A78F2C-852A-43F1-9708-F30B575C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数据来源：Phase 9 最终基准；中文图基于相同冻结数据</a:t>
            </a:r>
            <a:endParaRPr sz="67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F040AA5-EDE8-408A-BF13-622F5FFE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92DBF4F-7B00-42C2-9586-E5FFE483AAD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551832"/>
      </p:ext>
    </p:extLst>
  </p:cSld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Text 0">
            <ns1:extLst>
              <ns1:ext uri="{FF2B5EF4-FFF2-40B4-BE49-F238E27FC236}">
                <ns2:creationId id="{4DEB39F2-BE86-40D9-94A3-96F0B68FECCE}"/>
              </ns1:ext>
            </ns1:extLst>
          </ns0:cNvPr>
          <ns0:cNvSpPr>
            <ns1:spLocks noGrp="1"/>
          </ns0:cNvSpPr>
          <ns0:nvPr/>
        </ns0:nvSpPr>
        <ns0:spPr>
          <ns1:xfrm>
            <ns1:off x="438912" y="192024"/>
            <ns1:ext cx="658368" cy="2011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850" b="1" spc="130">
                <ns1:solidFill>
                  <ns1:srgbClr val="24C7FF"/>
                </ns1:solidFill>
                <ns1:latin typeface="Arial"/>
                <ns1:ea typeface="Arial"/>
                <ns1:cs typeface="Arial"/>
              </ns1:rPr>
              <ns1:t>DOEF</ns1:t>
            </ns1:r>
            <ns1:endParaRPr sz="850"/>
          </ns1:p>
        </ns0:txBody>
      </ns0:sp>
      <ns0:sp>
        <ns0:nvSpPr>
          <ns0:cNvPr id="3" name="Text 1">
            <ns1:extLst>
              <ns1:ext uri="{FF2B5EF4-FFF2-40B4-BE49-F238E27FC236}">
                <ns2:creationId id="{B708DAC6-A962-473E-B73A-E73D52F89BBF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192024"/>
            <ns1:ext cx="2926080" cy="2011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830" b="1" spc="100">
                <ns1:solidFill>
                  <ns1:srgbClr val="7890A7"/>
                </ns1:solidFill>
                <ns1:latin typeface="Arial"/>
                <ns1:ea typeface="Arial"/>
                <ns1:cs typeface="Arial"/>
              </ns1:rPr>
              <ns1:t>办公楼应用</ns1:t>
            </ns1:r>
            <ns1:endParaRPr sz="830"/>
          </ns1:p>
        </ns0:txBody>
      </ns0:sp>
      <ns0:sp>
        <ns0:nvSpPr>
          <ns0:cNvPr id="4" name="Text 2">
            <ns1:extLst>
              <ns1:ext uri="{FF2B5EF4-FFF2-40B4-BE49-F238E27FC236}">
                <ns2:creationId id="{D5285C5B-CD9B-4A80-81C3-6545C456F0CF}"/>
              </ns1:ext>
            </ns1:extLst>
          </ns0:cNvPr>
          <ns0:cNvSpPr>
            <ns1:spLocks noGrp="1"/>
          </ns0:cNvSpPr>
          <ns0:nvPr/>
        </ns0:nvSpPr>
        <ns0:spPr>
          <ns1:xfrm>
            <ns1:off x="566928" y="475488"/>
            <ns1:ext cx="11064240" cy="566928"/>
          </ns1:xfrm>
          <ns1:prstGeom prst="rect">
            <ns1:avLst/>
          </ns1:prstGeom>
          <ns1:noFill/>
        </ns0:spPr>
        <ns0:txBody>
          <ns1:bodyPr wrap="square" lIns="0" tIns="0" rIns="0" bIns="0" anchor="ctr">
            <ns1:normAutofit fontScale="100000"/>
          </ns1:bodyPr>
          <ns1:lstStyle/>
          <ns1:p>
            <ns1:pPr marL="0" indent="0">
              <ns1:buNone/>
            </ns1:pPr>
            <ns1:r>
              <ns1:rPr sz="2600" b="1">
                <ns1:solidFill>
                  <ns1:srgbClr val="F8FBFF"/>
                </ns1:solidFill>
                <ns1:latin typeface="Microsoft YaHei"/>
                <ns1:ea typeface="Microsoft YaHei"/>
                <ns1:cs typeface="Microsoft YaHei"/>
              </ns1:rPr>
              <ns1:t>智储云控如何服务一栋办公楼？</ns1:t>
            </ns1:r>
            <ns1:endParaRPr sz="2600"/>
          </ns1:p>
        </ns0:txBody>
      </ns0:sp>
      <ns0:sp>
        <ns0:nvSpPr>
          <ns0:cNvPr id="5" name="Text 3">
            <ns1:extLst>
              <ns1:ext uri="{FF2B5EF4-FFF2-40B4-BE49-F238E27FC236}">
                <ns2:creationId id="{D36B021D-783F-4A04-AC90-9D9DA3E352B5}"/>
              </ns1:ext>
            </ns1:extLst>
          </ns0:cNvPr>
          <ns0:cNvSpPr>
            <ns1:spLocks noGrp="1"/>
          </ns0:cNvSpPr>
          <ns0:nvPr/>
        </ns0:nvSpPr>
        <ns0:spPr>
          <ns1:xfrm>
            <ns1:off x="585216" y="1078992"/>
            <ns1:ext cx="10698480" cy="365760"/>
          </ns1:xfrm>
          <ns1:prstGeom prst="rect">
            <ns1:avLst/>
          </ns1:prstGeom>
          <ns1:noFill/>
        </ns0:spPr>
        <ns0:txBody>
          <ns1:bodyPr wrap="square" lIns="0" tIns="0" rIns="0" bIns="0" anchor="ctr">
            <ns1:normAutofit fontScale="100000"/>
          </ns1:bodyPr>
          <ns1:lstStyle/>
          <ns1:p>
            <ns1:pPr marL="0" indent="0">
              <ns1:buNone/>
            </ns1:pPr>
            <ns1:r>
              <ns1:rPr sz="1240">
                <ns1:solidFill>
                  <ns1:srgbClr val="9DB0C2"/>
                </ns1:solidFill>
                <ns1:latin typeface="Microsoft YaHei"/>
                <ns1:ea typeface="Microsoft YaHei"/>
                <ns1:cs typeface="Microsoft YaHei"/>
              </ns1:rPr>
              <ns1:t>使用者：楼宇能源管理人员与储能方案评估人员</ns1:t>
            </ns1:r>
            <ns1:endParaRPr sz="1240"/>
          </ns1:p>
        </ns0:txBody>
      </ns0:sp>
      <ns0:sp>
        <ns0:nvSpPr>
          <ns0:cNvPr id="6" name="Shape 4">
            <ns1:extLst>
              <ns1:ext uri="{FF2B5EF4-FFF2-40B4-BE49-F238E27FC236}">
                <ns2:creationId id="{ABF7048D-0C41-4AA6-BC0B-22AB650C3CDF}"/>
              </ns1:ext>
            </ns1:extLst>
          </ns0:cNvPr>
          <ns0:cNvSpPr>
            <ns1:spLocks noGrp="1"/>
          </ns0:cNvSpPr>
          <ns0:nvPr/>
        </ns0:nvSpPr>
        <ns0:spPr>
          <ns1:xfrm>
            <ns1:off x="694944" y="1545336"/>
            <ns1:ext cx="10808208" cy="3968496"/>
          </ns1:xfrm>
          <ns1:prstGeom prst="roundRect">
            <ns1:avLst>
              <ns1:gd name="adj" fmla="val 2074"/>
            </ns1:avLst>
          </ns1:prstGeom>
          <ns1:solidFill>
            <ns1:srgbClr val="FFFFFF"/>
          </ns1:solidFill>
          <ns1:ln w="10160">
            <ns1:solidFill>
              <ns1:srgbClr val="E2E8F0"/>
            </ns1:solidFill>
            <ns1:prstDash val="solid"/>
          </ns1:ln>
          <ns1:effectLst>
            <ns1:outerShdw blurRad="19050" dist="50800" dir="2700000" sx="100000" sy="100000" kx="0" ky="0" algn="bl" rotWithShape="0">
              <ns1:srgbClr val="000000">
                <ns1:alpha val="16000"/>
              </ns1:srgbClr>
            </ns1:outerShdw>
          </ns1:effectLst>
        </ns0:spPr>
      </ns0:sp>
      <ns0:sp>
        <ns0:nvSpPr>
          <ns0:cNvPr id="8" name="Shape 5">
            <ns1:extLst>
              <ns1:ext uri="{FF2B5EF4-FFF2-40B4-BE49-F238E27FC236}">
                <ns2:creationId id="{B3BA0DA8-9EBE-4305-ABF2-5701B9A52BB6}"/>
              </ns1:ext>
            </ns1:extLst>
          </ns0:cNvPr>
          <ns0:cNvSpPr>
            <ns1:spLocks noGrp="1"/>
          </ns0:cNvSpPr>
          <ns0:nvPr/>
        </ns0:nvSpPr>
        <ns0:spPr>
          <ns1:xfrm>
            <ns1:off x="2834640" y="1691640"/>
            <ns1:ext cx="6537960" cy="393192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FFFFFF">
                <ns1:alpha val="0"/>
              </ns1:srgbClr>
            </ns1:solidFill>
            <ns1:prstDash val="solid"/>
          </ns1:ln>
        </ns0:spPr>
      </ns0:sp>
      <ns0:sp>
        <ns0:nvSpPr>
          <ns0:cNvPr id="9" name="Text 6">
            <ns1:extLst>
              <ns1:ext uri="{FF2B5EF4-FFF2-40B4-BE49-F238E27FC236}">
                <ns2:creationId id="{1B0C4640-88FF-4AE0-9BBD-23183E8159EE}"/>
              </ns1:ext>
            </ns1:extLst>
          </ns0:cNvPr>
          <ns0:cNvSpPr>
            <ns1:spLocks noGrp="1"/>
          </ns0:cNvSpPr>
          <ns0:nvPr/>
        </ns0:nvSpPr>
        <ns0:spPr>
          <ns1:xfrm>
            <ns1:off x="2834640" y="1773936"/>
            <ns1:ext cx="6537960" cy="219456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300" b="1">
                <ns1:solidFill>
                  <ns1:srgbClr val="18212B"/>
                </ns1:solidFill>
                <ns1:latin typeface="Arial"/>
                <ns1:ea typeface="Arial"/>
                <ns1:cs typeface="Arial"/>
              </ns1:rPr>
              <ns1:t>办公楼储能削峰的使用闭环</ns1:t>
            </ns1:r>
            <ns1:endParaRPr sz="1300"/>
          </ns1:p>
        </ns0:txBody>
      </ns0:sp>
      <ns0:sp>
        <ns0:nvSpPr>
          <ns0:cNvPr id="10" name="Shape 7">
            <ns1:extLst>
              <ns1:ext uri="{FF2B5EF4-FFF2-40B4-BE49-F238E27FC236}">
                <ns2:creationId id="{5AD10904-A4CC-4EA8-BF7B-120E06CEFB43}"/>
              </ns1:ext>
            </ns1:extLst>
          </ns0:cNvPr>
          <ns0:cNvSpPr>
            <ns1:spLocks noGrp="1"/>
          </ns0:cNvSpPr>
          <ns0:nvPr/>
        </ns0:nvSpPr>
        <ns0:spPr>
          <ns1:xfrm>
            <ns1:off x="868680" y="5596128"/>
            <ns1:ext cx="2212848" cy="292608"/>
          </ns1:xfrm>
          <ns1:prstGeom prst="roundRect">
            <ns1:avLst>
              <ns1:gd name="adj" fmla="val 18750"/>
            </ns1:avLst>
          </ns1:prstGeom>
          <ns1:solidFill>
            <ns1:srgbClr val="173A54"/>
          </ns1:solidFill>
          <ns1:ln w="12700">
            <ns1:solidFill>
              <ns1:srgbClr val="173A54">
                <ns1:alpha val="0"/>
              </ns1:srgbClr>
            </ns1:solidFill>
            <ns1:prstDash val="solid"/>
          </ns1:ln>
        </ns0:spPr>
      </ns0:sp>
      <ns0:sp>
        <ns0:nvSpPr>
          <ns0:cNvPr id="11" name="Text 8">
            <ns1:extLst>
              <ns1:ext uri="{FF2B5EF4-FFF2-40B4-BE49-F238E27FC236}">
                <ns2:creationId id="{8417B8FF-EF17-43EB-AC31-0797B8DC7230}"/>
              </ns1:ext>
            </ns1:extLst>
          </ns0:cNvPr>
          <ns0:cNvSpPr>
            <ns1:spLocks noGrp="1"/>
          </ns0:cNvSpPr>
          <ns0:nvPr/>
        </ns0:nvSpPr>
        <ns0:spPr>
          <ns1:xfrm>
            <ns1:off x="941832" y="5637276"/>
            <ns1:ext cx="2066544" cy="182880"/>
          </ns1:xfrm>
          <ns1:prstGeom prst="rect">
            <ns1:avLst/>
          </ns1:prstGeom>
          <ns1:noFill/>
        </ns0:spPr>
        <ns0:txBody>
          <ns1:bodyPr wrap="square" lIns="0" tIns="0" rIns="0" bIns="0" anchor="ctr">
            <ns1:normAutofit fontScale="100000"/>
          </ns1:bodyPr>
          <ns1:lstStyle/>
          <ns1:p>
            <ns1:pPr marL="0" indent="0" algn="ctr">
              <ns1:buNone/>
            </ns1:pPr>
            <ns1:r>
              <ns1:rPr sz="850" b="1">
                <ns1:solidFill>
                  <ns1:srgbClr val="24C7FF"/>
                </ns1:solidFill>
                <ns1:latin typeface="Microsoft YaHei"/>
                <ns1:ea typeface="Microsoft YaHei"/>
                <ns1:cs typeface="Microsoft YaHei"/>
              </ns1:rPr>
              <ns1:t>流程示意</ns1:t>
            </ns1:r>
            <ns1:endParaRPr sz="850"/>
          </ns1:p>
        </ns0:txBody>
      </ns0:sp>
      <ns0:sp>
        <ns0:nvSpPr>
          <ns0:cNvPr id="12" name="Text 9">
            <ns1:extLst>
              <ns1:ext uri="{FF2B5EF4-FFF2-40B4-BE49-F238E27FC236}">
                <ns2:creationId id="{DD6D5970-464C-4E55-AEE6-086E0C394666}"/>
              </ns1:ext>
            </ns1:extLst>
          </ns0:cNvPr>
          <ns0:cNvSpPr>
            <ns1:spLocks noGrp="1"/>
          </ns0:cNvSpPr>
          <ns0:nvPr/>
        </ns0:nvSpPr>
        <ns0:spPr>
          <ns1:xfrm>
            <ns1:off x="3273552" y="5605272"/>
            <ns1:ext cx="7726680" cy="292608"/>
          </ns1:xfrm>
          <ns1:prstGeom prst="rect">
            <ns1:avLst/>
          </ns1:prstGeom>
          <ns1:noFill/>
        </ns0:spPr>
        <ns0:txBody>
          <ns1:bodyPr wrap="square" lIns="0" tIns="0" rIns="0" bIns="0" anchor="ctr">
            <ns1:normAutofit fontScale="100000"/>
          </ns1:bodyPr>
          <ns1:lstStyle/>
          <ns1:p>
            <ns1:pPr marL="0" indent="0">
              <ns1:buNone/>
            </ns1:pPr>
            <ns1:r>
              <ns1:rPr sz="1080">
                <ns1:solidFill>
                  <ns1:srgbClr val="A9B9C8"/>
                </ns1:solidFill>
                <ns1:latin typeface="Microsoft YaHei"/>
                <ns1:ea typeface="Microsoft YaHei"/>
                <ns1:cs typeface="Microsoft YaHei"/>
              </ns1:rPr>
              <ns1:t>关键问题：有限的电池电量，是否留给了真正的峰值时段？</ns1:t>
            </ns1:r>
            <ns1:endParaRPr sz="1080"/>
          </ns1:p>
        </ns0:txBody>
      </ns0:sp>
      <ns0:sp>
        <ns0:nvSpPr>
          <ns0:cNvPr id="13" name="Text 10">
            <ns1:extLst>
              <ns1:ext uri="{FF2B5EF4-FFF2-40B4-BE49-F238E27FC236}">
                <ns2:creationId id="{7BBD1FF8-E503-450B-A9B1-742C636E2E69}"/>
              </ns1:ext>
            </ns1:extLst>
          </ns0:cNvPr>
          <ns0:cNvSpPr>
            <ns1:spLocks noGrp="1"/>
          </ns0:cNvSpPr>
          <ns0:nvPr/>
        </ns0:nvSpPr>
        <ns0:spPr>
          <ns1:xfrm>
            <ns1:off x="566928" y="6153912"/>
            <ns1:ext cx="10744200" cy="146304"/>
          </ns1:xfrm>
          <ns1:prstGeom prst="rect">
            <ns1:avLst/>
          </ns1:prstGeom>
          <ns1:noFill/>
        </ns0:spPr>
        <ns0:txBody>
          <ns1:bodyPr wrap="square" lIns="0" tIns="0" rIns="0" bIns="0" anchor="ctr">
            <ns1:normAutofit fontScale="100000"/>
          </ns1:bodyPr>
          <ns1:lstStyle/>
          <ns1:p>
            <ns1:pPr marL="0" indent="0">
              <ns1:buNone/>
            </ns1:pPr>
            <ns1:r>
              <ns1:rPr sz="670">
                <ns1:solidFill>
                  <ns1:srgbClr val="597087"/>
                </ns1:solidFill>
                <ns1:latin typeface="Arial"/>
                <ns1:ea typeface="Arial"/>
                <ns1:cs typeface="Arial"/>
              </ns1:rPr>
              <ns1:t>应用设计示意；电表接入与设备执行尚未实现</ns1:t>
            </ns1:r>
            <ns1:endParaRPr sz="670"/>
          </ns1:p>
        </ns0:txBody>
      </ns0:sp>
      <ns0:sp>
        <ns0:nvSpPr>
          <ns0:cNvPr id="14" name="Text 11">
            <ns1:extLst>
              <ns1:ext uri="{FF2B5EF4-FFF2-40B4-BE49-F238E27FC236}">
                <ns2:creationId id="{F5FB8004-7847-461D-82EF-4C43880FC965}"/>
              </ns1:ext>
            </ns1:extLst>
          </ns0:cNvPr>
          <ns0:cNvSpPr>
            <ns1:spLocks noGrp="1"/>
          </ns0:cNvSpPr>
          <ns0:nvPr/>
        </ns0:nvSpPr>
        <ns0:spPr>
          <ns1:xfrm>
            <ns1:off x="566928" y="6437376"/>
            <ns1:ext cx="10332720" cy="164592"/>
          </ns1:xfrm>
          <ns1:prstGeom prst="rect">
            <ns1:avLst/>
          </ns1:prstGeom>
          <ns1:noFill/>
        </ns0:spPr>
        <ns0:txBody>
          <ns1:bodyPr wrap="square" lIns="0" tIns="0" rIns="0" bIns="0" anchor="ctr">
            <ns1:normAutofit fontScale="100000"/>
          </ns1:bodyPr>
          <ns1:lstStyle/>
          <ns1:p>
            <ns1:pPr marL="0" indent="0">
              <ns1:buNone/>
            </ns1:pPr>
            <ns1:r>
              <ns1:rPr sz="750">
                <ns1:solidFill>
                  <ns1:srgbClr val="6F8295"/>
                </ns1:solidFill>
                <ns1:latin typeface="Microsoft YaHei"/>
                <ns1:ea typeface="Microsoft YaHei"/>
                <ns1:cs typeface="Microsoft YaHei"/>
              </ns1:rPr>
              <ns1:t>智储云控 · DOEF | 8 栋办公建筑仿真实验</ns1:t>
            </ns1:r>
            <ns1:endParaRPr sz="750"/>
          </ns1:p>
        </ns0:txBody>
      </ns0:sp>
      <ns0:sp>
        <ns0:nvSpPr>
          <ns0:cNvPr id="25" name="Slide Number Placeholder 0">
            <ns1:extLst>
              <ns1:ext uri="{FF2B5EF4-FFF2-40B4-BE49-F238E27FC236}">
                <ns2:creationId id="{F55361AA-503C-4F79-B931-C15DB3DCC0CD}"/>
              </ns1:ext>
            </ns1:extLst>
          </ns0:cNvPr>
          <ns0:cNvSpPr>
            <ns1:spLocks noGrp="1"/>
          </ns0:cNvSpPr>
          <ns0:nvPr>
            <ns0:ph type="sldNum" idx="4294967295"/>
          </ns0:nvPr>
        </ns0:nvSpPr>
        <ns0:spPr>
          <ns1:xfrm>
            <ns1:off x="11475720" y="6446520"/>
            <ns1:ext cx="411480" cy="164592"/>
          </ns1:xfrm>
          <ns1:prstGeom prst="rect">
            <ns1:avLst/>
          </ns1:prstGeom>
        </ns0:spPr>
        <ns0:txBody>
          <ns1:bodyPr/>
          <ns1:lstStyle>
            <ns1:lvl1pPr>
              <ns1:buNone/>
              <ns1:defRPr sz="800">
                <ns1:solidFill>
                  <ns1:srgbClr val="6F8295"/>
                </ns1:solidFill>
                <ns1:latin typeface="Arial"/>
                <ns1:ea typeface="Arial"/>
                <ns1:cs typeface="Arial"/>
              </ns1:defRPr>
            </ns1:lvl1pPr>
          </ns1:lstStyle>
          <ns1:p>
            <ns1:pPr algn="r">
              <ns1:buNone/>
            </ns1:pPr>
            <ns1:fld id="{F7021451-1387-4CA6-816F-3879F97B5CBC}" type="slidenum">
              <ns1:rPr b="0"/>
              <ns1:t>3</ns1:t>
            </ns1:fld>
            <ns1:endParaRPr/>
          </ns1:p>
        </ns0:txBody>
      </ns0:sp>
      <ns0:sp>
        <ns0:nvSpPr>
          <ns0:cNvPr id="27" name="">
            <ns1:extLst>
              <ns1:ext uri="{FF2B5EF4-FFF2-40B4-BE49-F238E27FC236}">
                <ns2:creationId id="{992A3A8E-8BD9-41F6-B39D-F0877E1C1FA0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2647950"/>
            <ns1:ext cx="17907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智能电表 / EMS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0BEDDCEA-29F0-4502-A7AE-AC15936B6F2F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3105150"/>
            <ns1:ext cx="17907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历史小时级负荷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0C326CC9-E186-492D-952E-3743646B3A9F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3638550"/>
            <ns1:ext cx="17907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200">
                <ns1:solidFill>
                  <ns1:srgbClr val="A65E1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>
                <ns1:solidFill>
                  <ns1:srgbClr val="A65E10"/>
                </ns1:solidFill>
                <ns1:latin typeface="Microsoft YaHei"/>
                <ns1:ea typeface="Microsoft YaHei"/>
                <ns1:cs typeface="Microsoft YaHei"/>
              </ns1:rPr>
              <ns1:t>现场接入待实现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C7375BBE-D37B-492F-B578-89E5EF0ADBE2}"/>
              </ns1:ext>
            </ns1:extLst>
          </ns0:cNvPr>
          <ns0:cNvSpPr>
            <ns1:spLocks noGrp="1"/>
          </ns0:cNvSpPr>
          <ns0:nvPr/>
        </ns0:nvSpPr>
        <ns0:spPr>
          <ns1:xfrm>
            <ns1:off x="2819400" y="3009900"/>
            <ns1:ext cx="2667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80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→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477B5872-23B5-43B9-B031-11CE075A0E6E}"/>
              </ns1:ext>
            </ns1:extLst>
          </ns0:cNvPr>
          <ns0:cNvSpPr>
            <ns1:spLocks noGrp="1"/>
          </ns0:cNvSpPr>
          <ns0:nvPr/>
        </ns0:nvSpPr>
        <ns0:spPr>
          <ns1:xfrm>
            <ns1:off x="3086100" y="2647950"/>
            <ns1:ext cx="17907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智储云控</ns1:t>
            </ns1:r>
          </ns1:p>
        </ns0:txBody>
      </ns0:sp>
      <ns0:sp>
        <ns0:nvSpPr>
          <ns0:cNvPr id="32" name="">
            <ns1:extLst>
              <ns1:ext uri="{FF2B5EF4-FFF2-40B4-BE49-F238E27FC236}">
                <ns2:creationId id="{99E2FB3B-73C1-41C0-9F9D-A78B2BC324D0}"/>
              </ns1:ext>
            </ns1:extLst>
          </ns0:cNvPr>
          <ns0:cNvSpPr>
            <ns1:spLocks noGrp="1"/>
          </ns0:cNvSpPr>
          <ns0:nvPr/>
        </ns0:nvSpPr>
        <ns0:spPr>
          <ns1:xfrm>
            <ns1:off x="3086100" y="3105150"/>
            <ns1:ext cx="17907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DOEF 负荷预测</ns1:t>
            </ns1:r>
          </ns1:p>
        </ns0:txBody>
      </ns0:sp>
      <ns0:sp>
        <ns0:nvSpPr>
          <ns0:cNvPr id="33" name="">
            <ns1:extLst>
              <ns1:ext uri="{FF2B5EF4-FFF2-40B4-BE49-F238E27FC236}">
                <ns2:creationId id="{2CD6C537-E45E-4CB4-8F9C-E00BFEB770C9}"/>
              </ns1:ext>
            </ns1:extLst>
          </ns0:cNvPr>
          <ns0:cNvSpPr>
            <ns1:spLocks noGrp="1"/>
          </ns0:cNvSpPr>
          <ns0:nvPr/>
        </ns0:nvSpPr>
        <ns0:spPr>
          <ns1:xfrm>
            <ns1:off x="3086100" y="3638550"/>
            <ns1:ext cx="17907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200">
                <ns1:solidFill>
                  <ns1:srgbClr val="087BA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>
                <ns1:solidFill>
                  <ns1:srgbClr val="087BA5"/>
                </ns1:solidFill>
                <ns1:latin typeface="Microsoft YaHei"/>
                <ns1:ea typeface="Microsoft YaHei"/>
                <ns1:cs typeface="Microsoft YaHei"/>
              </ns1:rPr>
              <ns1:t>离线预测已实现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6EE32FAA-FE0F-48CB-BA29-F65402CC156A}"/>
              </ns1:ext>
            </ns1:extLst>
          </ns0:cNvPr>
          <ns0:cNvSpPr>
            <ns1:spLocks noGrp="1"/>
          </ns0:cNvSpPr>
          <ns0:nvPr/>
        </ns0:nvSpPr>
        <ns0:spPr>
          <ns1:xfrm>
            <ns1:off x="4876800" y="3009900"/>
            <ns1:ext cx="2667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80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→</ns1:t>
            </ns1:r>
          </ns1:p>
        </ns0:txBody>
      </ns0:sp>
      <ns0:sp>
        <ns0:nvSpPr>
          <ns0:cNvPr id="35" name="">
            <ns1:extLst>
              <ns1:ext uri="{FF2B5EF4-FFF2-40B4-BE49-F238E27FC236}">
                <ns2:creationId id="{71BC1AC2-272F-4100-B575-A84B5271809A}"/>
              </ns1:ext>
            </ns1:extLst>
          </ns0:cNvPr>
          <ns0:cNvSpPr>
            <ns1:spLocks noGrp="1"/>
          </ns0:cNvSpPr>
          <ns0:nvPr/>
        </ns0:nvSpPr>
        <ns0:spPr>
          <ns1:xfrm>
            <ns1:off x="5143500" y="2647950"/>
            <ns1:ext cx="17907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储能优化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5779A976-9BD8-4105-9DED-5F8071A834E1}"/>
              </ns1:ext>
            </ns1:extLst>
          </ns0:cNvPr>
          <ns0:cNvSpPr>
            <ns1:spLocks noGrp="1"/>
          </ns0:cNvSpPr>
          <ns0:nvPr/>
        </ns0:nvSpPr>
        <ns0:spPr>
          <ns1:xfrm>
            <ns1:off x="5143500" y="3105150"/>
            <ns1:ext cx="17907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24 h 充放电计划</ns1:t>
            </ns1:r>
          </ns1:p>
        </ns0:txBody>
      </ns0:sp>
      <ns0:sp>
        <ns0:nvSpPr>
          <ns0:cNvPr id="37" name="">
            <ns1:extLst>
              <ns1:ext uri="{FF2B5EF4-FFF2-40B4-BE49-F238E27FC236}">
                <ns2:creationId id="{B44819D6-E091-4FCD-A626-74127EF7E319}"/>
              </ns1:ext>
            </ns1:extLst>
          </ns0:cNvPr>
          <ns0:cNvSpPr>
            <ns1:spLocks noGrp="1"/>
          </ns0:cNvSpPr>
          <ns0:nvPr/>
        </ns0:nvSpPr>
        <ns0:spPr>
          <ns1:xfrm>
            <ns1:off x="5143500" y="3638550"/>
            <ns1:ext cx="17907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200">
                <ns1:solidFill>
                  <ns1:srgbClr val="087BA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>
                <ns1:solidFill>
                  <ns1:srgbClr val="087BA5"/>
                </ns1:solidFill>
                <ns1:latin typeface="Microsoft YaHei"/>
                <ns1:ea typeface="Microsoft YaHei"/>
                <ns1:cs typeface="Microsoft YaHei"/>
              </ns1:rPr>
              <ns1:t>约束求解已实现</ns1:t>
            </ns1:r>
          </ns1:p>
        </ns0:txBody>
      </ns0:sp>
      <ns0:sp>
        <ns0:nvSpPr>
          <ns0:cNvPr id="38" name="">
            <ns1:extLst>
              <ns1:ext uri="{FF2B5EF4-FFF2-40B4-BE49-F238E27FC236}">
                <ns2:creationId id="{3A3AF439-AEF7-4C10-AD07-CDD7CBE4E25B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3009900"/>
            <ns1:ext cx="2667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80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→</ns1:t>
            </ns1:r>
          </ns1:p>
        </ns0:txBody>
      </ns0:sp>
      <ns0:sp>
        <ns0:nvSpPr>
          <ns0:cNvPr id="39" name="">
            <ns1:extLst>
              <ns1:ext uri="{FF2B5EF4-FFF2-40B4-BE49-F238E27FC236}">
                <ns2:creationId id="{C8136A3D-BA67-4D37-8E5A-42FC42AFF0CB}"/>
              </ns1:ext>
            </ns1:extLst>
          </ns0:cNvPr>
          <ns0:cNvSpPr>
            <ns1:spLocks noGrp="1"/>
          </ns0:cNvSpPr>
          <ns0:nvPr/>
        </ns0:nvSpPr>
        <ns0:spPr>
          <ns1:xfrm>
            <ns1:off x="7200900" y="2647950"/>
            <ns1:ext cx="17907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储能系统</ns1:t>
            </ns1:r>
          </ns1:p>
        </ns0:txBody>
      </ns0:sp>
      <ns0:sp>
        <ns0:nvSpPr>
          <ns0:cNvPr id="40" name="">
            <ns1:extLst>
              <ns1:ext uri="{FF2B5EF4-FFF2-40B4-BE49-F238E27FC236}">
                <ns2:creationId id="{063C9149-B697-4D25-AF6B-151650BE7D24}"/>
              </ns1:ext>
            </ns1:extLst>
          </ns0:cNvPr>
          <ns0:cNvSpPr>
            <ns1:spLocks noGrp="1"/>
          </ns0:cNvSpPr>
          <ns0:nvPr/>
        </ns0:nvSpPr>
        <ns0:spPr>
          <ns1:xfrm>
            <ns1:off x="7200900" y="3105150"/>
            <ns1:ext cx="17907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充电 / 放电</ns1:t>
            </ns1:r>
          </ns1:p>
        </ns0:txBody>
      </ns0:sp>
      <ns0:sp>
        <ns0:nvSpPr>
          <ns0:cNvPr id="41" name="">
            <ns1:extLst>
              <ns1:ext uri="{FF2B5EF4-FFF2-40B4-BE49-F238E27FC236}">
                <ns2:creationId id="{5E406E77-ED9B-4932-A485-AE802BDA65C0}"/>
              </ns1:ext>
            </ns1:extLst>
          </ns0:cNvPr>
          <ns0:cNvSpPr>
            <ns1:spLocks noGrp="1"/>
          </ns0:cNvSpPr>
          <ns0:nvPr/>
        </ns0:nvSpPr>
        <ns0:spPr>
          <ns1:xfrm>
            <ns1:off x="7200900" y="3638550"/>
            <ns1:ext cx="17907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200">
                <ns1:solidFill>
                  <ns1:srgbClr val="A65E1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>
                <ns1:solidFill>
                  <ns1:srgbClr val="A65E10"/>
                </ns1:solidFill>
                <ns1:latin typeface="Microsoft YaHei"/>
                <ns1:ea typeface="Microsoft YaHei"/>
                <ns1:cs typeface="Microsoft YaHei"/>
              </ns1:rPr>
              <ns1:t>设备执行待实现</ns1:t>
            </ns1:r>
          </ns1:p>
        </ns0:txBody>
      </ns0:sp>
      <ns0:sp>
        <ns0:nvSpPr>
          <ns0:cNvPr id="42" name="">
            <ns1:extLst>
              <ns1:ext uri="{FF2B5EF4-FFF2-40B4-BE49-F238E27FC236}">
                <ns2:creationId id="{15086434-C9BB-4958-AAB6-6EE7549A8660}"/>
              </ns1:ext>
            </ns1:extLst>
          </ns0:cNvPr>
          <ns0:cNvSpPr>
            <ns1:spLocks noGrp="1"/>
          </ns0:cNvSpPr>
          <ns0:nvPr/>
        </ns0:nvSpPr>
        <ns0:spPr>
          <ns1:xfrm>
            <ns1:off x="8991600" y="3009900"/>
            <ns1:ext cx="2667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80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→</ns1:t>
            </ns1:r>
          </ns1:p>
        </ns0:txBody>
      </ns0:sp>
      <ns0:sp>
        <ns0:nvSpPr>
          <ns0:cNvPr id="43" name="">
            <ns1:extLst>
              <ns1:ext uri="{FF2B5EF4-FFF2-40B4-BE49-F238E27FC236}">
                <ns2:creationId id="{52080826-D089-4720-81FF-1ECDD6D58604}"/>
              </ns1:ext>
            </ns1:extLst>
          </ns0:cNvPr>
          <ns0:cNvSpPr>
            <ns1:spLocks noGrp="1"/>
          </ns0:cNvSpPr>
          <ns0:nvPr/>
        </ns0:nvSpPr>
        <ns0:spPr>
          <ns1:xfrm>
            <ns1:off x="9258300" y="2647950"/>
            <ns1:ext cx="17907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建筑电网侧</ns1:t>
            </ns1:r>
          </ns1:p>
        </ns0:txBody>
      </ns0:sp>
      <ns0:sp>
        <ns0:nvSpPr>
          <ns0:cNvPr id="44" name="">
            <ns1:extLst>
              <ns1:ext uri="{FF2B5EF4-FFF2-40B4-BE49-F238E27FC236}">
                <ns2:creationId id="{DD0CD58A-68B2-4015-A543-9DEDD97D90F0}"/>
              </ns1:ext>
            </ns1:extLst>
          </ns0:cNvPr>
          <ns0:cNvSpPr>
            <ns1:spLocks noGrp="1"/>
          </ns0:cNvSpPr>
          <ns0:nvPr/>
        </ns0:nvSpPr>
        <ns0:spPr>
          <ns1:xfrm>
            <ns1:off x="9258300" y="3105150"/>
            <ns1:ext cx="17907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评价最大取电功率</ns1:t>
            </ns1:r>
          </ns1:p>
        </ns0:txBody>
      </ns0:sp>
      <ns0:sp>
        <ns0:nvSpPr>
          <ns0:cNvPr id="45" name="">
            <ns1:extLst>
              <ns1:ext uri="{FF2B5EF4-FFF2-40B4-BE49-F238E27FC236}">
                <ns2:creationId id="{BDEFA43D-2C36-4695-BDA1-99A8B00BEAA2}"/>
              </ns1:ext>
            </ns1:extLst>
          </ns0:cNvPr>
          <ns0:cNvSpPr>
            <ns1:spLocks noGrp="1"/>
          </ns0:cNvSpPr>
          <ns0:nvPr/>
        </ns0:nvSpPr>
        <ns0:spPr>
          <ns1:xfrm>
            <ns1:off x="9258300" y="3638550"/>
            <ns1:ext cx="17907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200">
                <ns1:solidFill>
                  <ns1:srgbClr val="087BA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>
                <ns1:solidFill>
                  <ns1:srgbClr val="087BA5"/>
                </ns1:solidFill>
                <ns1:latin typeface="Microsoft YaHei"/>
                <ns1:ea typeface="Microsoft YaHei"/>
                <ns1:cs typeface="Microsoft YaHei"/>
              </ns1:rPr>
              <ns1:t>已完成仿真评价</ns1:t>
            </ns1:r>
          </ns1:p>
        </ns0:txBody>
      </ns0:sp>
      <ns0:sp>
        <ns0:nvSpPr>
          <ns0:cNvPr id="46" name="">
            <ns1:extLst>
              <ns1:ext uri="{FF2B5EF4-FFF2-40B4-BE49-F238E27FC236}">
                <ns2:creationId id="{A6D637B8-5FFE-4C78-9AB9-1BE9AFEBFD83}"/>
              </ns1:ext>
            </ns1:extLst>
          </ns0:cNvPr>
          <ns0:cNvSpPr>
            <ns1:spLocks noGrp="1"/>
          </ns0:cNvSpPr>
          <ns0:nvPr/>
        </ns0:nvSpPr>
        <ns0:spPr>
          <ns1:xfrm>
            <ns1:off x="1276350" y="4248150"/>
            <ns1:ext cx="96202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57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>
                <ns1:solidFill>
                  <ns1:srgbClr val="18212B"/>
                </ns1:solidFill>
                <ns1:latin typeface="Microsoft YaHei"/>
                <ns1:ea typeface="Microsoft YaHei"/>
                <ns1:cs typeface="Microsoft YaHei"/>
              </ns1:rPr>
              <ns1:t>评价反馈：实际负荷与执行回执 → 核对峰值、执行偏差与异常</ns1:t>
            </ns1:r>
          </ns1:p>
        </ns0:txBody>
      </ns0:sp>
      <ns0:sp>
        <ns0:nvSpPr>
          <ns0:cNvPr id="47" name="">
            <ns1:extLst>
              <ns1:ext uri="{FF2B5EF4-FFF2-40B4-BE49-F238E27FC236}">
                <ns2:creationId id="{0BEC5622-0099-40A1-B62D-59240A4A22FA}"/>
              </ns1:ext>
            </ns1:extLst>
          </ns0:cNvPr>
          <ns0:cNvSpPr>
            <ns1:spLocks noGrp="1"/>
          </ns0:cNvSpPr>
          <ns0:nvPr/>
        </ns0:nvSpPr>
        <ns0:spPr>
          <ns1:xfrm>
            <ns1:off x="1276350" y="4743450"/>
            <ns1:ext cx="96202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28575" tIns="19050" rIns="28575" bIns="19050" anchor="ctr">
            <ns1:noAutofit/>
          </ns1:bodyPr>
          <ns1:lstStyle/>
          <ns1:p>
            <ns1:pPr algn="ctr">
              <ns1:defRPr sz="1350">
                <ns1:solidFill>
                  <ns1:srgbClr val="52637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>
                <ns1:solidFill>
                  <ns1:srgbClr val="526373"/>
                </ns1:solidFill>
                <ns1:latin typeface="Microsoft YaHei"/>
                <ns1:ea typeface="Microsoft YaHei"/>
                <ns1:cs typeface="Microsoft YaHei"/>
              </ns1:rPr>
              <ns1:t>当前：冻结实验回放；未来：接入电表、EMS 与 PCS/BMS</ns1:t>
            </ns1:r>
          </ns1:p>
        </ns0:txBody>
      </ns0:sp>
    </ns0:spTree>
    <ns0:extLst>
      <ns0:ext uri="{BB962C8B-B14F-4D97-AF65-F5344CB8AC3E}">
        <ns3:creationId val="361802589"/>
      </ns0:ext>
    </ns0:extLst>
  </ns0:cSld>
</ns0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A57335-B093-42A9-BD60-7A20CB36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24C7FF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9CE0D5-AC02-4FAF-B65F-CE6B97B8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890A7"/>
                </a:solidFill>
                <a:latin typeface="Arial"/>
                <a:ea typeface="Arial"/>
                <a:cs typeface="Arial"/>
              </a:rPr>
              <a:t>方法设计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1BF517C-A76C-4137-BC24-6EDC5DC1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以验证集削峰表现选择融合权重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BD83D09-10B2-4FDC-8C34-E8438130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9DB0C2"/>
                </a:solidFill>
                <a:latin typeface="Microsoft YaHei"/>
                <a:ea typeface="Microsoft YaHei"/>
                <a:cs typeface="Microsoft YaHei"/>
              </a:rPr>
              <a:t>预测分量与电池约束保持一致，融合权重依据验证集决策后悔值选择。</a:t>
            </a:r>
            <a:endParaRPr sz="124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3FE7F9-A20A-4DEE-AF2D-B7D0EF38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0"/>
            <a:ext cx="1508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527087"/>
                </a:solidFill>
                <a:latin typeface="Microsoft YaHei"/>
                <a:ea typeface="Microsoft YaHei"/>
                <a:cs typeface="Microsoft YaHei"/>
              </a:rPr>
              <a:t>传统预测选择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EDEF5F2-0DD2-4D17-A92D-B7C90DAF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682496"/>
            <a:ext cx="2724912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8405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AFF9F2F-B31B-4D66-B452-47D0ACB4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874520"/>
            <a:ext cx="2578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8FBFF"/>
                </a:solidFill>
                <a:latin typeface="Arial"/>
                <a:ea typeface="Arial"/>
                <a:cs typeface="Arial"/>
              </a:rPr>
              <a:t>负荷预测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C98E22B-8E0B-4F19-8665-B5FD01B0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011680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6078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F4A701A-42EA-47D4-99A0-8A0BF38E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1682496"/>
            <a:ext cx="2724912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8405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A58F39-62D3-4AC9-AE50-3EF48C24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1874520"/>
            <a:ext cx="2578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8FBFF"/>
                </a:solidFill>
                <a:latin typeface="Arial"/>
                <a:ea typeface="Arial"/>
                <a:cs typeface="Arial"/>
              </a:rPr>
              <a:t>MAE / RMSE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45B0B72-5238-4E0C-8C50-26BC9F6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011680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7087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F2AB76C-E00C-4C0F-B064-D64116E8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682496"/>
            <a:ext cx="2724912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338"/>
          </a:solidFill>
          <a:ln xmlns:a="http://schemas.openxmlformats.org/drawingml/2006/main" w="10160">
            <a:solidFill>
              <a:srgbClr val="527087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CF7C045-7865-4CD3-BA53-C0C55BAB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874520"/>
            <a:ext cx="25786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B7C5D0"/>
                </a:solidFill>
                <a:latin typeface="Arial"/>
                <a:ea typeface="Arial"/>
                <a:cs typeface="Arial"/>
              </a:rPr>
              <a:t>选择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B8942DC-96EE-426B-983D-24163435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05456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527087"/>
                </a:solidFill>
                <a:latin typeface="Microsoft YaHei"/>
                <a:ea typeface="Microsoft YaHei"/>
                <a:cs typeface="Microsoft YaHei"/>
              </a:rPr>
              <a:t>预测误差最小</a:t>
            </a:r>
            <a:endParaRPr sz="9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D023CB-8C58-445E-AECC-CAE5BFF3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30752"/>
            <a:ext cx="1508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F4E9C"/>
                </a:solidFill>
                <a:latin typeface="Microsoft YaHei"/>
                <a:ea typeface="Microsoft YaHei"/>
                <a:cs typeface="Microsoft YaHei"/>
              </a:rPr>
              <a:t>DOEF 选择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C98EC30-D0EE-44F1-954B-B54400C3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584448"/>
            <a:ext cx="197967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8405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D07CF9E-BD29-439E-8535-7B750F6C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76472"/>
            <a:ext cx="18333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8FBFF"/>
                </a:solidFill>
                <a:latin typeface="Arial"/>
                <a:ea typeface="Arial"/>
                <a:cs typeface="Arial"/>
              </a:rPr>
              <a:t>负荷预测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3357BA4-8A30-4F49-BA68-526B2E32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972" y="391363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6078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20852AA-8074-445E-808B-84E3B47E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428" y="3584448"/>
            <a:ext cx="197967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84059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135FF98-27DF-4B94-91F5-0D0C350F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3776472"/>
            <a:ext cx="18333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8FBFF"/>
                </a:solidFill>
                <a:latin typeface="Arial"/>
                <a:ea typeface="Arial"/>
                <a:cs typeface="Arial"/>
              </a:rPr>
              <a:t>储能调度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E2CFE43-71B8-4D8D-A10B-0435EE8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91363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6078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94A5A24-6E05-4956-8739-4A585BB7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584448"/>
            <a:ext cx="197967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84059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B54D8D4-DAFE-4A28-993F-F8E0FA47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776472"/>
            <a:ext cx="18333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8FBFF"/>
                </a:solidFill>
                <a:latin typeface="Arial"/>
                <a:ea typeface="Arial"/>
                <a:cs typeface="Arial"/>
              </a:rPr>
              <a:t>决策后悔值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9C1D5D9-248F-41EE-A542-475F2386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388" y="391363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4E9C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23E14A8-7168-4441-B294-470557FA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844" y="3584448"/>
            <a:ext cx="1979676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A2740"/>
          </a:solidFill>
          <a:ln xmlns:a="http://schemas.openxmlformats.org/drawingml/2006/main" w="10160">
            <a:solidFill>
              <a:srgbClr val="6F4E9C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947DDF-E3B2-4B79-8EEB-4267685C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96" y="3776472"/>
            <a:ext cx="18333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D8CCFF"/>
                </a:solidFill>
                <a:latin typeface="Arial"/>
                <a:ea typeface="Arial"/>
                <a:cs typeface="Arial"/>
              </a:rPr>
              <a:t>固定权重 wᵦ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F887174-F923-4957-89A4-5FFBAE4E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4074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4E9C"/>
                </a:solidFill>
                <a:latin typeface="Microsoft YaHei"/>
                <a:ea typeface="Microsoft YaHei"/>
                <a:cs typeface="Microsoft YaHei"/>
              </a:rPr>
              <a:t>决策后悔值最小</a:t>
            </a:r>
            <a:endParaRPr sz="9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39EEF5C-BA34-4970-BD6F-01B755E3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64408"/>
            <a:ext cx="10149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057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911EE01-DA9F-4752-8865-644E192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5504688"/>
            <a:ext cx="429768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1D43"/>
          </a:solidFill>
          <a:ln xmlns:a="http://schemas.openxmlformats.org/drawingml/2006/main" w="12700">
            <a:solidFill>
              <a:srgbClr val="5F45A8">
                <a:alpha val="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364B11A-54F6-4A84-A38C-78E5B11D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5545836"/>
            <a:ext cx="4151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D9CCFF"/>
                </a:solidFill>
                <a:latin typeface="Microsoft YaHei"/>
                <a:ea typeface="Microsoft YaHei"/>
                <a:cs typeface="Microsoft YaHei"/>
              </a:rPr>
              <a:t>权重选择依据：验证集决策后悔值</a:t>
            </a:r>
            <a:endParaRPr sz="102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40AD635-79D6-412F-A0DD-04F03BD5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5925312"/>
            <a:ext cx="5715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8298AA"/>
                </a:solidFill>
                <a:latin typeface="Microsoft YaHei"/>
                <a:ea typeface="Microsoft YaHei"/>
                <a:cs typeface="Microsoft YaHei"/>
              </a:rPr>
              <a:t>预测器与优化器分别运行，权重在验证集确定</a:t>
            </a:r>
            <a:endParaRPr sz="10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31CA16E-C076-41A4-8D59-38215ED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F8295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B05E880-FFD4-4F19-958E-0C3C81ADE40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1581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91466B-52D6-4360-B9EC-C32125E5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B17E89-EC50-45CA-9BB0-EB8754F6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DOEF 方法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3E7782-644D-4B77-9658-8A2E8690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DOEF：周期基线与 LightGBM 融合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4671F8-EBC7-4E7B-8512-001048A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逐建筑选择 DayWeek 与 LightGBM 的权重，验证完成后固定权重并评价测试集。</a:t>
            </a:r>
            <a:endParaRPr sz="124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318B50D-47BE-4E73-A2F0-BA2FE785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17320"/>
            <a:ext cx="11109960" cy="4690872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26fe508f046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48180" y="1435608"/>
            <a:ext cx="8274304" cy="4654296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EC5FEAB-50BD-4EA7-A18D-46D64FF9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方法：wᵦ·LightGBM + (1−wᵦ)·DayWeek；验证后固定权重</a:t>
            </a:r>
            <a:endParaRPr sz="67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A4E4AA3-B628-4101-81AC-701ABC75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382CBE7-EA0F-4EBE-AE14-45E4A437FD8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04889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6C9088-763C-4472-A2F1-C0E30699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D0C47E-3853-4AD2-8092-6F66EFA0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实验结果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D9A5FE-7B55-493A-AB27-61B49DB0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预测误差降低 6.36%，决策后悔值降低 3.61%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BB2FEB-849C-4158-ABBB-6A154F1C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相对 LightGBM，八建筑等权平均的归一化 MAE 和归一化决策后悔值均下降。</a:t>
            </a:r>
            <a:endParaRPr sz="124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C6E2432-6903-458D-A3D6-3596CBEF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444752"/>
            <a:ext cx="8430768" cy="4434840"/>
          </a:xfrm>
          <a:prstGeom xmlns:a="http://schemas.openxmlformats.org/drawingml/2006/main" prst="roundRect">
            <a:avLst>
              <a:gd name="adj" fmla="val 1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c5ae2bf3f4b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656" y="1490472"/>
            <a:ext cx="7721600" cy="4343400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15F038A-048E-4FAD-9DFC-2D978B3B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444752"/>
            <a:ext cx="2331720" cy="443484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40D5590-676B-4F22-8A53-87B110F0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1847088"/>
            <a:ext cx="1783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6.36%</a:t>
            </a:r>
            <a:endParaRPr sz="2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160133D-79D1-4AFB-92D1-7AB84B9A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2505456"/>
            <a:ext cx="1783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B8C6"/>
                </a:solidFill>
                <a:latin typeface="Microsoft YaHei"/>
                <a:ea typeface="Microsoft YaHei"/>
                <a:cs typeface="Microsoft YaHei"/>
              </a:rPr>
              <a:t>归一化 MAE 相对改善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3F9896D-574A-4DB2-B018-78CCB155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3136392"/>
            <a:ext cx="1783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BBA7FF"/>
                </a:solidFill>
                <a:latin typeface="Arial"/>
                <a:ea typeface="Arial"/>
                <a:cs typeface="Arial"/>
              </a:rPr>
              <a:t>3.61%</a:t>
            </a:r>
            <a:endParaRPr sz="2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C056286-0BCE-4C44-8191-972D5721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3794760"/>
            <a:ext cx="1783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B8C6"/>
                </a:solidFill>
                <a:latin typeface="Microsoft YaHei"/>
                <a:ea typeface="Microsoft YaHei"/>
                <a:cs typeface="Microsoft YaHei"/>
              </a:rPr>
              <a:t>归一化后悔值相对改善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24910FF-6120-43FD-B021-BF25042E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4471416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6  /  2  /  0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DB66484-6C1D-4275-99A6-43BFDE59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4956048"/>
            <a:ext cx="1783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9FB1C1"/>
                </a:solidFill>
                <a:latin typeface="Arial"/>
                <a:ea typeface="Arial"/>
                <a:cs typeface="Arial"/>
              </a:rPr>
              <a:t>胜 / 平 / 负</a:t>
            </a:r>
            <a:endParaRPr sz="92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FD07900-99F2-4F31-B890-F70A75CE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5358384"/>
            <a:ext cx="192024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0291B"/>
          </a:solidFill>
          <a:ln xmlns:a="http://schemas.openxmlformats.org/drawingml/2006/main" w="12700">
            <a:solidFill>
              <a:srgbClr val="73513C">
                <a:alpha val="0"/>
              </a:srgbClr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916DD26-7C31-4DA1-A8FD-4944EB9C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5399532"/>
            <a:ext cx="17739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FFC494"/>
                </a:solidFill>
                <a:latin typeface="Microsoft YaHei"/>
                <a:ea typeface="Microsoft YaHei"/>
                <a:cs typeface="Microsoft YaHei"/>
              </a:rPr>
              <a:t>最小整段削峰率：−1.017%</a:t>
            </a:r>
            <a:endParaRPr sz="78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2B5E644-8B4B-416E-BBE5-B7AA66EE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数据来源：最终基准；相对理想基准的后悔值不代表经济损失</a:t>
            </a:r>
            <a:endParaRPr sz="67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02B6CDC-D0BC-4D15-ADE0-4E837BD6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F29AB25-FCD6-4001-9652-3B04356133B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14069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547820-1D2B-477A-BDCE-1E0DF46C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24C7FF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032C31-F557-48F7-9F40-A331DB25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890A7"/>
                </a:solidFill>
                <a:latin typeface="Arial"/>
                <a:ea typeface="Arial"/>
                <a:cs typeface="Arial"/>
              </a:rPr>
              <a:t>评价指标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38826C5-87D6-443B-93F2-2CC276E5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预测误差与决策后悔值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62CC93-059E-4D87-A6E0-F420047A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9DB0C2"/>
                </a:solidFill>
                <a:latin typeface="Microsoft YaHei"/>
                <a:ea typeface="Microsoft YaHei"/>
                <a:cs typeface="Microsoft YaHei"/>
              </a:rPr>
              <a:t>RMSE 衡量负荷预测偏差；决策后悔值衡量相对 Oracle 的实际峰值差。</a:t>
            </a:r>
            <a:endParaRPr sz="124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C027C7B-D4D2-48A7-84D8-1D4206D5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27632"/>
            <a:ext cx="4983480" cy="4187952"/>
          </a:xfrm>
          <a:prstGeom xmlns:a="http://schemas.openxmlformats.org/drawingml/2006/main" prst="roundRect">
            <a:avLst>
              <a:gd name="adj" fmla="val 1965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8405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F6D0D46-4EB1-4F6C-883C-AA1A981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27632"/>
            <a:ext cx="4983480" cy="4187952"/>
          </a:xfrm>
          <a:prstGeom xmlns:a="http://schemas.openxmlformats.org/drawingml/2006/main" prst="roundRect">
            <a:avLst>
              <a:gd name="adj" fmla="val 1965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84059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B5B4A65-D50D-4ECC-9089-F9D7DBFC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38528"/>
            <a:ext cx="1572768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A3448"/>
          </a:solidFill>
          <a:ln xmlns:a="http://schemas.openxmlformats.org/drawingml/2006/main" w="12700">
            <a:solidFill>
              <a:srgbClr val="1A3448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1812745-D205-4C5B-BE52-F38673AF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979676"/>
            <a:ext cx="14264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 b="1">
                <a:solidFill>
                  <a:srgbClr val="A9D9F2"/>
                </a:solidFill>
                <a:latin typeface="Microsoft YaHei"/>
                <a:ea typeface="Microsoft YaHei"/>
                <a:cs typeface="Microsoft YaHei"/>
              </a:rPr>
              <a:t>预测指标</a:t>
            </a:r>
            <a:endParaRPr sz="86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9CFFA2-B353-4042-A359-FEF66CF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441448"/>
            <a:ext cx="2011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RMSE</a:t>
            </a:r>
            <a:endParaRPr sz="3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25EDEE-1ECA-4FB5-831A-4DDB9670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008376"/>
            <a:ext cx="3566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预测负荷与实际负荷的偏差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2801786-752E-463B-B3CB-2E5E6F8D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566160"/>
            <a:ext cx="38862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5B7C6"/>
                </a:solidFill>
                <a:latin typeface="Microsoft YaHei"/>
                <a:ea typeface="Microsoft YaHei"/>
                <a:cs typeface="Microsoft YaHei"/>
              </a:rPr>
              <a:t>对各时刻的预测误差平方取平均，再开方。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5B7C6"/>
                </a:solidFill>
                <a:latin typeface="Microsoft YaHei"/>
                <a:ea typeface="Microsoft YaHei"/>
                <a:cs typeface="Microsoft YaHei"/>
              </a:rPr>
              <a:t>用于评价负荷预测质量。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B2CACB-97C7-40F0-A478-D78526D6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1938528"/>
            <a:ext cx="1755648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B2148"/>
          </a:solidFill>
          <a:ln xmlns:a="http://schemas.openxmlformats.org/drawingml/2006/main" w="12700">
            <a:solidFill>
              <a:srgbClr val="2B2148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83DEFEF-9ACE-4862-844C-C31A4D99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1979676"/>
            <a:ext cx="16093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D8CCFF"/>
                </a:solidFill>
                <a:latin typeface="Microsoft YaHei"/>
                <a:ea typeface="Microsoft YaHei"/>
                <a:cs typeface="Microsoft YaHei"/>
              </a:rPr>
              <a:t>调度指标</a:t>
            </a:r>
            <a:endParaRPr sz="8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B76E52-1F6E-484C-BF86-D1F113E0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441448"/>
            <a:ext cx="21945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BCA9FF"/>
                </a:solidFill>
                <a:latin typeface="Arial"/>
                <a:ea typeface="Arial"/>
                <a:cs typeface="Arial"/>
              </a:rPr>
              <a:t>后悔值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0280B21-F902-4463-ABCF-B99839A8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008376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2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相对 Oracle 的实际峰值差</a:t>
            </a:r>
            <a:endParaRPr sz="15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2C0EFC-53B3-4B5D-9232-E50A564A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566160"/>
            <a:ext cx="38404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5B7C6"/>
                </a:solidFill>
                <a:latin typeface="Microsoft YaHei"/>
                <a:ea typeface="Microsoft YaHei"/>
                <a:cs typeface="Microsoft YaHei"/>
              </a:rPr>
              <a:t>预测生成电池计划，用实际负荷评价峰值。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5B7C6"/>
                </a:solidFill>
                <a:latin typeface="Microsoft YaHei"/>
                <a:ea typeface="Microsoft YaHei"/>
                <a:cs typeface="Microsoft YaHei"/>
              </a:rPr>
              <a:t>Oracle 知道未来负荷，仅作事后参照。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5555C4E-AD0B-4AFF-9B01-C0D5FA0B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4407408"/>
            <a:ext cx="5852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66F85"/>
            </a:solidFill>
            <a:prstDash val="solid"/>
            <a:headEnd type="none"/>
            <a:tailEnd type="triangle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858AAF6-74B8-4F08-AC99-E68589FA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3986784"/>
            <a:ext cx="621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8298AA"/>
                </a:solidFill>
                <a:latin typeface="Microsoft YaHei"/>
                <a:ea typeface="Microsoft YaHei"/>
                <a:cs typeface="Microsoft YaHei"/>
              </a:rPr>
              <a:t>双层评价</a:t>
            </a:r>
            <a:endParaRPr sz="88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F9917E9-1F75-4990-B806-49559AD7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6007608"/>
            <a:ext cx="461772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A54"/>
          </a:solidFill>
          <a:ln xmlns:a="http://schemas.openxmlformats.org/drawingml/2006/main"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3214A04-4C57-48B4-949C-688033AD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6048756"/>
            <a:ext cx="4471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10" b="1">
                <a:solidFill>
                  <a:srgbClr val="24C7FF"/>
                </a:solidFill>
                <a:latin typeface="Microsoft YaHei"/>
                <a:ea typeface="Microsoft YaHei"/>
                <a:cs typeface="Microsoft YaHei"/>
              </a:rPr>
              <a:t>同时报告预测精度与调度表现</a:t>
            </a:r>
            <a:endParaRPr sz="101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A26049B-B463-4A99-B3B4-99179A7B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F8295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52F3014-814B-45BD-9EB7-A648FD5C449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61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F1641A-382B-442C-9815-8143B0E5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933683-C7F8-4E45-807C-A1F85BA2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多建筑比较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B4A52C-A4FB-4DBF-8F86-494F3FEE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八建筑后悔值对比：6 胜、2 平、0 负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0FA09BF-21BF-4D45-AB00-AF29C3E7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296 栋办公建筑候选中，82 栋通过质量筛选，再依据训练期负荷形态选出 8 栋。</a:t>
            </a:r>
            <a:endParaRPr sz="124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8D2733D-9338-447E-9CE2-CD6CCC61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9464040" cy="4507992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fe18618084f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8580" y="1499616"/>
            <a:ext cx="7884160" cy="4434840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4D48827-D16B-4D52-A6B9-BC760412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1463040"/>
            <a:ext cx="1389888" cy="4507992"/>
          </a:xfrm>
          <a:prstGeom xmlns:a="http://schemas.openxmlformats.org/drawingml/2006/main" prst="roundRect">
            <a:avLst>
              <a:gd name="adj" fmla="val 5921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0C7CE50-E80E-49F9-9CA5-F661EE0A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1874520"/>
            <a:ext cx="10241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8 / 8</a:t>
            </a:r>
            <a:endParaRPr sz="25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294A483-BC29-4338-8678-0A7844E6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395728"/>
            <a:ext cx="10789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B2C1CD"/>
                </a:solidFill>
                <a:latin typeface="Microsoft YaHei"/>
                <a:ea typeface="Microsoft YaHei"/>
                <a:cs typeface="Microsoft YaHei"/>
              </a:rPr>
              <a:t>全部展示</a:t>
            </a:r>
            <a:endParaRPr sz="10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8072165-62DD-46F0-8F7C-30B96E45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2816352"/>
            <a:ext cx="987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14B61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BF8F85B-A9D5-4EC2-BF83-CE67D0E9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3063240"/>
            <a:ext cx="9144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6AD7FF"/>
                </a:solidFill>
                <a:latin typeface="Arial"/>
                <a:ea typeface="Arial"/>
                <a:cs typeface="Arial"/>
              </a:rPr>
              <a:t>6</a:t>
            </a:r>
            <a:endParaRPr sz="2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CE849F0-9B7E-4551-B7C3-4E463C35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3493008"/>
            <a:ext cx="914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9EB0BE"/>
                </a:solidFill>
                <a:latin typeface="Arial"/>
                <a:ea typeface="Arial"/>
                <a:cs typeface="Arial"/>
              </a:rPr>
              <a:t>降低</a:t>
            </a:r>
            <a:endParaRPr sz="88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C404593-20D6-4FC7-A924-56EC7A59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3913632"/>
            <a:ext cx="9144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7E2EA"/>
                </a:solidFill>
                <a:latin typeface="Arial"/>
                <a:ea typeface="Arial"/>
                <a:cs typeface="Arial"/>
              </a:rPr>
              <a:t>2</a:t>
            </a:r>
            <a:endParaRPr sz="2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073BE60-BE23-406E-8E64-22897FA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4343400"/>
            <a:ext cx="914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9EB0BE"/>
                </a:solidFill>
                <a:latin typeface="Arial"/>
                <a:ea typeface="Arial"/>
                <a:cs typeface="Arial"/>
              </a:rPr>
              <a:t>持平</a:t>
            </a:r>
            <a:endParaRPr sz="88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1838FB8-A18E-4CD5-9749-48CF3B7C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4754880"/>
            <a:ext cx="9144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D9AA6"/>
                </a:solidFill>
                <a:latin typeface="Arial"/>
                <a:ea typeface="Arial"/>
                <a:cs typeface="Arial"/>
              </a:rPr>
              <a:t>0</a:t>
            </a:r>
            <a:endParaRPr sz="2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39A2C0-A921-4C05-A1EB-AF8586F7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5184648"/>
            <a:ext cx="914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9EB0BE"/>
                </a:solidFill>
                <a:latin typeface="Arial"/>
                <a:ea typeface="Arial"/>
                <a:cs typeface="Arial"/>
              </a:rPr>
              <a:t>升高</a:t>
            </a:r>
            <a:endParaRPr sz="88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3FC0CEB-B21D-45DF-A143-BB23F5BE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建筑按预先固定顺序展示，未重新排序或删减</a:t>
            </a:r>
            <a:endParaRPr sz="67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9B6129D-0A91-4D3C-97FD-E77BC55B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F7B1466-78D0-4F4E-B81D-3A311613D7F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6495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A6D4249-BDD4-4B34-8995-A1A26FB3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236E17-AE67-4B51-804E-4C286D42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实验设计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692A0AF-15DB-49AF-8555-7365C02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验证集权重选择与测试集评价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0C9EA5-D65F-4FFA-BE7E-BE6AE54F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验证集比较 11 个候选权重；测试集只用于评价，不参与模型、权重或平局规则选择。</a:t>
            </a:r>
            <a:endParaRPr sz="124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A4F321C-AA80-40D4-84AC-0CF8290A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08760"/>
            <a:ext cx="8183880" cy="4315968"/>
          </a:xfrm>
          <a:prstGeom xmlns:a="http://schemas.openxmlformats.org/drawingml/2006/main" prst="roundRect">
            <a:avLst>
              <a:gd name="adj" fmla="val 1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219eb747a46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9424" y="1545336"/>
            <a:ext cx="6898888" cy="4242816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F97075F-19BD-4B2B-851F-17A3D614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508760"/>
            <a:ext cx="2578608" cy="4315968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36F685C-E2CE-4C5A-9A64-5D5D6D8D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1856232"/>
            <a:ext cx="201168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7285E"/>
          </a:solidFill>
          <a:ln xmlns:a="http://schemas.openxmlformats.org/drawingml/2006/main" w="12700">
            <a:solidFill>
              <a:srgbClr val="37285E">
                <a:alpha val="0"/>
              </a:srgbClr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EE2E4D7-0DEC-458C-A21A-571D2A37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897380"/>
            <a:ext cx="1865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 b="1">
                <a:solidFill>
                  <a:srgbClr val="E2D8FF"/>
                </a:solidFill>
                <a:latin typeface="Microsoft YaHei"/>
                <a:ea typeface="Microsoft YaHei"/>
                <a:cs typeface="Microsoft YaHei"/>
              </a:rPr>
              <a:t>验证后固定权重</a:t>
            </a:r>
            <a:endParaRPr sz="86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8E678EF-38F3-41B4-869C-6F61AAC5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5786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BDFF"/>
                </a:solidFill>
                <a:latin typeface="Arial"/>
                <a:ea typeface="Arial"/>
                <a:cs typeface="Arial"/>
              </a:rPr>
              <a:t>验证集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B83E31C-F1A1-4123-8408-6A62C899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907792"/>
            <a:ext cx="1737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搜索 0.0 → 1.0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步长 0.1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0ABCED-5B61-417D-8497-9E2B5D32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67328"/>
            <a:ext cx="1527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6F4E9C"/>
            </a:solidFill>
            <a:prstDash val="solid"/>
            <a:headEnd type="none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FF8ED39-C783-4AD0-88E2-21CAD98C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023360"/>
            <a:ext cx="117043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C52D7B0-25EB-4880-8FE2-39146259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064508"/>
            <a:ext cx="102412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固定权重 wᵦ</a:t>
            </a:r>
            <a:endParaRPr sz="9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5F5282C-AD96-4B01-9054-1C3FEED6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4434840"/>
            <a:ext cx="0" cy="484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8291A1"/>
            </a:solidFill>
            <a:prstDash val="solid"/>
            <a:headEnd type="none"/>
            <a:tailEnd type="triangle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11754FA-B3A7-4EA8-9439-56BBADA6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047488"/>
            <a:ext cx="658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0CBD5"/>
                </a:solidFill>
                <a:latin typeface="Arial"/>
                <a:ea typeface="Arial"/>
                <a:cs typeface="Arial"/>
              </a:rPr>
              <a:t>测试集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79DADF-59AB-46F9-A70C-B475F76C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5074920"/>
            <a:ext cx="11155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8FA1B0"/>
                </a:solidFill>
                <a:latin typeface="Arial"/>
                <a:ea typeface="Arial"/>
                <a:cs typeface="Arial"/>
              </a:rPr>
              <a:t>仅用于评价</a:t>
            </a:r>
            <a:endParaRPr sz="93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730955B-5143-4D4B-ABB1-344FD118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候选网格含 11 组权重；历史上已查看测试期，不主张原始盲测</a:t>
            </a:r>
            <a:endParaRPr sz="67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E280D4D-B7B3-41A6-81BF-0D726E64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266878F-69F4-4EC7-8EC6-F2A8B1B35BE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90454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477A53-4D1D-4B6B-861A-7B0871B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24C7FF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8B4104-0259-4552-9EBC-0C150ECD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890A7"/>
                </a:solidFill>
                <a:latin typeface="Arial"/>
                <a:ea typeface="Arial"/>
                <a:cs typeface="Arial"/>
              </a:rPr>
              <a:t>实现流程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DE48656-23F9-43B9-B4C2-62BC2612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当前原型：离线仿真决策支持系统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2B69C9-1D1C-4A18-8785-85C66ADA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9DB0C2"/>
                </a:solidFill>
                <a:latin typeface="Microsoft YaHei"/>
                <a:ea typeface="Microsoft YaHei"/>
                <a:cs typeface="Microsoft YaHei"/>
              </a:rPr>
              <a:t>离线仿真已实现预测、优化和实际负荷评价；真实楼宇在线部署仍需验证。</a:t>
            </a:r>
            <a:endParaRPr sz="124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2361F76-0A30-49ED-AE79-A9A45E4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2615184" cy="3172968"/>
          </a:xfrm>
          <a:prstGeom xmlns:a="http://schemas.openxmlformats.org/drawingml/2006/main" prst="roundRect">
            <a:avLst>
              <a:gd name="adj" fmla="val 3147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84059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8A10FF-6CCD-4A05-941C-7BBD837F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93392"/>
            <a:ext cx="530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889A2"/>
                </a:solidFill>
                <a:latin typeface="Arial"/>
                <a:ea typeface="Arial"/>
                <a:cs typeface="Arial"/>
              </a:rPr>
              <a:t>01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FE589F6-1D4B-41B8-A7DE-AF822AEC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87168"/>
            <a:ext cx="2286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已知历史负荷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9DE625-AA50-40AE-9A92-C5CD7CF2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55264"/>
            <a:ext cx="2286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4B5C4"/>
                </a:solidFill>
                <a:latin typeface="Microsoft YaHei"/>
                <a:ea typeface="Microsoft YaHei"/>
                <a:cs typeface="Microsoft YaHei"/>
              </a:rPr>
              <a:t>截至预测时刻可用的正滞后与日历状态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11ADB7F-4C22-473C-94ED-7DC0AFE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342900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41677F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74EAD2-0D11-4868-AFB1-44BD8FA5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83080"/>
            <a:ext cx="2615184" cy="3172968"/>
          </a:xfrm>
          <a:prstGeom xmlns:a="http://schemas.openxmlformats.org/drawingml/2006/main" prst="roundRect">
            <a:avLst>
              <a:gd name="adj" fmla="val 3147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45D7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B0FD37B-62F8-46B7-BE8A-2745FA34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993392"/>
            <a:ext cx="530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889A2"/>
                </a:solidFill>
                <a:latin typeface="Arial"/>
                <a:ea typeface="Arial"/>
                <a:cs typeface="Arial"/>
              </a:rPr>
              <a:t>02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C81E22B-9DF8-4E5B-9124-6BF223C5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487168"/>
            <a:ext cx="2286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生成次日预测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7695F14-CEA8-43E7-BE76-FB56EC07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255264"/>
            <a:ext cx="2286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4B5C4"/>
                </a:solidFill>
                <a:latin typeface="Microsoft YaHei"/>
                <a:ea typeface="Microsoft YaHei"/>
                <a:cs typeface="Microsoft YaHei"/>
              </a:rPr>
              <a:t>DayWeek + LightGBM，采用验证集确定的 wᵦ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890F5CF-4B2F-42EB-91E0-4A4B709D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42900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41677F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90412DA-495B-4C44-A382-A4B7BF7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783080"/>
            <a:ext cx="2615184" cy="3172968"/>
          </a:xfrm>
          <a:prstGeom xmlns:a="http://schemas.openxmlformats.org/drawingml/2006/main" prst="roundRect">
            <a:avLst>
              <a:gd name="adj" fmla="val 3147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45D7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CC8758E-AFC7-4445-BDF1-0FA062C0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993392"/>
            <a:ext cx="530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03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3FDE950-F244-4BE4-BC93-0B1576FA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487168"/>
            <a:ext cx="2286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求解 24h 电池计划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C86A34-9402-4E81-BD2D-B595B1A4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55264"/>
            <a:ext cx="2286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4B5C4"/>
                </a:solidFill>
                <a:latin typeface="Microsoft YaHei"/>
                <a:ea typeface="Microsoft YaHei"/>
                <a:cs typeface="Microsoft YaHei"/>
              </a:rPr>
              <a:t>相同容量 / 功率 / SOC / 效率 / 每日重置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097027E-5B92-4B85-A49D-26A40275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3429000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41677F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65906ED-3254-4614-B9C1-768C1B4F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83080"/>
            <a:ext cx="2615184" cy="3172968"/>
          </a:xfrm>
          <a:prstGeom xmlns:a="http://schemas.openxmlformats.org/drawingml/2006/main" prst="roundRect">
            <a:avLst>
              <a:gd name="adj" fmla="val 3147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84059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89614FE-A506-4A7D-A2AF-072D9A6E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993392"/>
            <a:ext cx="530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889A2"/>
                </a:solidFill>
                <a:latin typeface="Arial"/>
                <a:ea typeface="Arial"/>
                <a:cs typeface="Arial"/>
              </a:rPr>
              <a:t>04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AB3CB85-F6CF-46F1-9D61-FA3F9873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487168"/>
            <a:ext cx="2286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真实负荷后评估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E5F588F-FFCF-40F0-B164-A30F7B0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3255264"/>
            <a:ext cx="2286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4B5C4"/>
                </a:solidFill>
                <a:latin typeface="Microsoft YaHei"/>
                <a:ea typeface="Microsoft YaHei"/>
                <a:cs typeface="Microsoft YaHei"/>
              </a:rPr>
              <a:t>MAE/RMSE + 峰值 + 理想基准后悔值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506AFDF-F7A5-44CB-BB2F-A27EA204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413248"/>
            <a:ext cx="123444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A54"/>
          </a:solidFill>
          <a:ln xmlns:a="http://schemas.openxmlformats.org/drawingml/2006/main"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5702811-2AA7-45E2-8631-AE15619B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454396"/>
            <a:ext cx="10881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24C7FF"/>
                </a:solidFill>
                <a:latin typeface="Microsoft YaHei"/>
                <a:ea typeface="Microsoft YaHei"/>
                <a:cs typeface="Microsoft YaHei"/>
              </a:rPr>
              <a:t>可复现</a:t>
            </a:r>
            <a:endParaRPr sz="84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A7CA09A-DEF1-4DAD-BEC1-98930DE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413248"/>
            <a:ext cx="100584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1D43"/>
          </a:solidFill>
          <a:ln xmlns:a="http://schemas.openxmlformats.org/drawingml/2006/main" w="12700">
            <a:solidFill>
              <a:srgbClr val="251D43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46DC605-E843-417B-B3FB-4548AFDD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5454396"/>
            <a:ext cx="8595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CFC1FF"/>
                </a:solidFill>
                <a:latin typeface="Microsoft YaHei"/>
                <a:ea typeface="Microsoft YaHei"/>
                <a:cs typeface="Microsoft YaHei"/>
              </a:rPr>
              <a:t>已固定</a:t>
            </a:r>
            <a:endParaRPr sz="84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9C25429-F29C-4792-9207-463FBAC7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13248"/>
            <a:ext cx="144475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A281D"/>
          </a:solidFill>
          <a:ln xmlns:a="http://schemas.openxmlformats.org/drawingml/2006/main" w="12700">
            <a:solidFill>
              <a:srgbClr val="3A281D">
                <a:alpha val="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43C6561-914D-4777-8839-3FD6E558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454396"/>
            <a:ext cx="12984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FFC494"/>
                </a:solidFill>
                <a:latin typeface="Microsoft YaHei"/>
                <a:ea typeface="Microsoft YaHei"/>
                <a:cs typeface="Microsoft YaHei"/>
              </a:rPr>
              <a:t>未部署</a:t>
            </a:r>
            <a:endParaRPr sz="84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3D2EAF7-5568-4445-9015-1F7F877F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31536"/>
            <a:ext cx="54132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5C6D3"/>
                </a:solidFill>
                <a:latin typeface="Microsoft YaHei"/>
                <a:ea typeface="Microsoft YaHei"/>
                <a:cs typeface="Microsoft YaHei"/>
              </a:rPr>
              <a:t>GUI：建筑巡演 → 核对电池配置 → 查看削峰结果 → 八建筑比较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DBE566A-F2C0-4801-9B3D-8D963372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F8295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845D69C-AA19-49ED-A2D8-A437D10EE62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03884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733A76-09F0-470E-9C7D-D6AD7C3A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24C7FF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20B17E-63A9-4FFC-98B6-B886D23A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890A7"/>
                </a:solidFill>
                <a:latin typeface="Arial"/>
                <a:ea typeface="Arial"/>
                <a:cs typeface="Arial"/>
              </a:rPr>
              <a:t>作品贡献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80BD991-B0C7-440F-922B-643588F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决策导向融合与多建筑评测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F1D034-0A55-4304-8414-2DE3C51B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9DB0C2"/>
                </a:solidFill>
                <a:latin typeface="Microsoft YaHei"/>
                <a:ea typeface="Microsoft YaHei"/>
                <a:cs typeface="Microsoft YaHei"/>
              </a:rPr>
              <a:t>通过验证集调度表现选择预测组合，并在相同电池约束下开展多建筑比较。</a:t>
            </a:r>
            <a:endParaRPr sz="124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DEFFC6-90CE-4DB7-8C05-E2E077A3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0472"/>
            <a:ext cx="10826496" cy="4297680"/>
          </a:xfrm>
          <a:prstGeom xmlns:a="http://schemas.openxmlformats.org/drawingml/2006/main" prst="roundRect">
            <a:avLst>
              <a:gd name="adj" fmla="val 19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5cf5469f34f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60168" y="1536192"/>
            <a:ext cx="7477760" cy="420624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477942F-2504-4B69-B95C-0087969A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597087"/>
                </a:solidFill>
                <a:latin typeface="Arial"/>
                <a:ea typeface="Arial"/>
                <a:cs typeface="Arial"/>
              </a:rPr>
              <a:t>贡献限定于本项目；不主张世界首次、最先进性能或端到端部署</a:t>
            </a:r>
            <a:endParaRPr sz="67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D35B1B-FF7E-439D-8B07-6A2A307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F8295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F8DB38A-1BC4-4A5F-B38D-39B9381D17F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60360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E08584-612D-42ED-A610-19D6C8B5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24C7FF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C3C405F-750E-4DAE-82DD-12AF5912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890A7"/>
                </a:solidFill>
                <a:latin typeface="Arial"/>
                <a:ea typeface="Arial"/>
                <a:cs typeface="Arial"/>
              </a:rPr>
              <a:t>应用前景与结论</a:t>
            </a:r>
            <a:endParaRPr sz="83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72B219C-8CD5-4DDD-ABC9-75764579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115568"/>
            <a:ext cx="5760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建筑储能削峰的</a:t>
            </a:r>
            <a:endParaRPr sz="3400"/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方案评估与试点路径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006A687-5C4A-48F5-84C1-B8B28C04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2491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80">
                <a:solidFill>
                  <a:srgbClr val="24C7FF"/>
                </a:solidFill>
                <a:latin typeface="Arial"/>
                <a:ea typeface="Arial"/>
                <a:cs typeface="Arial"/>
              </a:rPr>
              <a:t>用于楼宇能源管理与储能方案评估</a:t>
            </a:r>
            <a:endParaRPr sz="1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644BBB-6BB8-4385-AA13-974F6943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216152"/>
            <a:ext cx="4663440" cy="1115568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9465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C190856-F4F0-4986-BFCB-4BD68FA0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1435608"/>
            <a:ext cx="438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01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6CB8A67-D1BC-4A5A-9D30-F364CBB3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380744"/>
            <a:ext cx="33649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使用对象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B8C937-9200-43C6-AF06-048A781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810512"/>
            <a:ext cx="336499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7B8"/>
                </a:solidFill>
                <a:latin typeface="Microsoft YaHei"/>
                <a:ea typeface="Microsoft YaHei"/>
                <a:cs typeface="Microsoft YaHei"/>
              </a:rPr>
              <a:t>楼宇能源管理与储能评估人员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0FFBBB3-59FF-49F2-8537-745FFDCD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660904"/>
            <a:ext cx="4663440" cy="1115568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9465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E3BAF4-CFF6-4BD4-852C-0A04BAF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2880360"/>
            <a:ext cx="438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FC0FF"/>
                </a:solidFill>
                <a:latin typeface="Arial"/>
                <a:ea typeface="Arial"/>
                <a:cs typeface="Arial"/>
              </a:rPr>
              <a:t>02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AC670AE-ACD0-4F87-8155-D632DEDC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825496"/>
            <a:ext cx="33649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使用流程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8183CE4-7631-4288-A707-BE0903FC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255264"/>
            <a:ext cx="336499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7B8"/>
                </a:solidFill>
                <a:latin typeface="Microsoft YaHei"/>
                <a:ea typeface="Microsoft YaHei"/>
                <a:cs typeface="Microsoft YaHei"/>
              </a:rPr>
              <a:t>巡演建筑 → 查看参数与削峰效果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B168329-C1C0-4264-8EF2-446032BA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105656"/>
            <a:ext cx="4663440" cy="1115568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E1D2C"/>
          </a:solidFill>
          <a:ln xmlns:a="http://schemas.openxmlformats.org/drawingml/2006/main" w="10160">
            <a:solidFill>
              <a:srgbClr val="29465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C37C8A-1DB6-408E-A52E-4664FED9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4325112"/>
            <a:ext cx="438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03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FD200BE-4F70-45B3-9CC3-82338B8C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270248"/>
            <a:ext cx="33649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试点条件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27A45C-CADB-4FB1-B7F0-B9BA53DF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700016"/>
            <a:ext cx="336499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3A7B8"/>
                </a:solidFill>
                <a:latin typeface="Microsoft YaHei"/>
                <a:ea typeface="Microsoft YaHei"/>
                <a:cs typeface="Microsoft YaHei"/>
              </a:rPr>
              <a:t>影子运行 → 人工审批 → 受控执行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97DA8DE-56F1-4700-BFB0-C1E47396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77056"/>
            <a:ext cx="5257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B8C8D5"/>
                </a:solidFill>
                <a:latin typeface="Microsoft YaHei"/>
                <a:ea typeface="Microsoft YaHei"/>
                <a:cs typeface="Microsoft YaHei"/>
              </a:rPr>
              <a:t>当前支持离线方案比较；跨季节与现场试点验证后，再评估电费和寿命收益。</a:t>
            </a:r>
            <a:endParaRPr sz="17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50C59A1-ABB4-4719-96B8-0C555815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138928"/>
            <a:ext cx="206654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A54"/>
          </a:solidFill>
          <a:ln xmlns:a="http://schemas.openxmlformats.org/drawingml/2006/main"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27A261-D81B-4718-811F-394E386E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80076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24C7FF"/>
                </a:solidFill>
                <a:latin typeface="Microsoft YaHei"/>
                <a:ea typeface="Microsoft YaHei"/>
                <a:cs typeface="Microsoft YaHei"/>
              </a:rPr>
              <a:t>DOEF v1.0 · 离线决策支持原型</a:t>
            </a:r>
            <a:endParaRPr sz="8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DBCEDC3-B3B6-4AA3-8938-DFDE35AE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50992"/>
            <a:ext cx="5715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71889A"/>
                </a:solidFill>
                <a:latin typeface="Microsoft YaHei"/>
                <a:ea typeface="Microsoft YaHei"/>
                <a:cs typeface="Microsoft YaHei"/>
              </a:rPr>
              <a:t>8 栋办公建筑 · 单一测试月 · 尚无成本、碳减排或现场部署结论</a:t>
            </a:r>
            <a:endParaRPr sz="97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BF3506E-C0E0-41D8-B262-386AC729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F8295"/>
                </a:solidFill>
                <a:latin typeface="Microsoft YaHei"/>
                <a:ea typeface="Microsoft YaHei"/>
                <a:cs typeface="Microsoft YaHei"/>
              </a:rPr>
              <a:t>智储云控 · DOEF | 8 栋办公建筑仿真实验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4978B75-B5D5-447E-8C7A-A51CB47FA39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8274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944069-FF14-444B-B343-DDD3F3CC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133F31-C63D-404B-8895-93859A87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数据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8B139F-9A74-4799-A4D2-8E184F03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627E92E-6629-4C50-8B7E-552B720B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CF14DB4-ACBA-4229-A6CD-61DBEAD5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建筑筛选与样本构成</a:t>
            </a:r>
            <a:endParaRPr sz="2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5FB3294-7969-4B5A-A153-403EF48E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先按数据质量确定候选范围，再用训练期负荷形态选楼；不使用验证或测试成绩。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0B47835-F33C-49D6-A5ED-7FFDB244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27048"/>
            <a:ext cx="2468880" cy="1115568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0E7EF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DD38270-E3BF-402B-B854-010984CF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19072"/>
            <a:ext cx="1280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1,578</a:t>
            </a:r>
            <a:endParaRPr sz="2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6FB1BF-106C-46E5-B6AA-052BB07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7627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873"/>
                </a:solidFill>
                <a:latin typeface="Arial"/>
                <a:ea typeface="Arial"/>
                <a:cs typeface="Arial"/>
              </a:rPr>
              <a:t>建筑序列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8EAB3C0-E34B-4D12-8119-80405898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084832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A9B6C2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1115612-225A-4D48-854E-5874CE2F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527048"/>
            <a:ext cx="2468880" cy="1115568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0E7EF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C306E57-5D67-4681-AAF8-D496EC17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19072"/>
            <a:ext cx="1280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296</a:t>
            </a:r>
            <a:endParaRPr sz="2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264DEFA-30AE-4A07-82C1-7DD111D2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17627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873"/>
                </a:solidFill>
                <a:latin typeface="Arial"/>
                <a:ea typeface="Arial"/>
                <a:cs typeface="Arial"/>
              </a:rPr>
              <a:t>办公楼候选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BD95288-6EB6-4DC0-AF52-3720334D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84832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A9B6C2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2216CF4-CD3A-4B63-8F78-3DA39800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27048"/>
            <a:ext cx="2468880" cy="1115568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0E7EF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42D04F5-26EF-415A-81A4-8DAC274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9072"/>
            <a:ext cx="1280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82</a:t>
            </a:r>
            <a:endParaRPr sz="2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4F0993B-4B79-4D8E-9920-2A70847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627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873"/>
                </a:solidFill>
                <a:latin typeface="Arial"/>
                <a:ea typeface="Arial"/>
                <a:cs typeface="Arial"/>
              </a:rPr>
              <a:t>质量合格</a:t>
            </a:r>
            <a:endParaRPr sz="9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F8EEFBC-B5F2-4EDE-A63F-A48A07F2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084832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A9B6C2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E5CAD6A-438A-4D69-9256-45590FDB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527048"/>
            <a:ext cx="2468880" cy="1115568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10160">
            <a:solidFill>
              <a:srgbClr val="A9D7F6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C84A4EE-E7D2-4CD0-A6EB-9DEA3514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719072"/>
            <a:ext cx="12801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8</a:t>
            </a:r>
            <a:endParaRPr sz="2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5736BD3-48AE-412A-94B6-1334082B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17627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873"/>
                </a:solidFill>
                <a:latin typeface="Arial"/>
                <a:ea typeface="Arial"/>
                <a:cs typeface="Arial"/>
              </a:rPr>
              <a:t>固定办公楼</a:t>
            </a:r>
            <a:endParaRPr sz="9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F805D43-ABE7-4920-ADCE-85085588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53512"/>
            <a:ext cx="4709160" cy="2916936"/>
          </a:xfrm>
          <a:prstGeom xmlns:a="http://schemas.openxmlformats.org/drawingml/2006/main" prst="roundRect">
            <a:avLst>
              <a:gd name="adj" fmla="val 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0E7EF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2B3B03-A76B-4E36-8B0E-64854AC4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8688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建筑样本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9AC5795-DB78-47EA-80F2-80DE3E86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5C6873"/>
                </a:solidFill>
                <a:latin typeface="Arial"/>
                <a:ea typeface="Arial"/>
                <a:cs typeface="Arial"/>
              </a:rPr>
              <a:t>01  Hog · Rolando</a:t>
            </a:r>
            <a:endParaRPr sz="101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513D08B-F37F-4929-8C74-9224E5BC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8808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5C6873"/>
                </a:solidFill>
                <a:latin typeface="Arial"/>
                <a:ea typeface="Arial"/>
                <a:cs typeface="Arial"/>
              </a:rPr>
              <a:t>02  Hog · Lavon</a:t>
            </a:r>
            <a:endParaRPr sz="101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ABF22B1-958B-43DC-8EA5-55BDCE71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4296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5C6873"/>
                </a:solidFill>
                <a:latin typeface="Arial"/>
                <a:ea typeface="Arial"/>
                <a:cs typeface="Arial"/>
              </a:rPr>
              <a:t>03  Hog · Joey</a:t>
            </a:r>
            <a:endParaRPr sz="101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DE5CEAD-33BB-477D-BC12-5C1AE888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9784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5C6873"/>
                </a:solidFill>
                <a:latin typeface="Arial"/>
                <a:ea typeface="Arial"/>
                <a:cs typeface="Arial"/>
              </a:rPr>
              <a:t>04  Lamb · Caitlin</a:t>
            </a:r>
            <a:endParaRPr sz="101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B36B5F8-AE4F-4D8D-BBFE-C0EB7387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3703320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5C6873"/>
                </a:solidFill>
                <a:latin typeface="Arial"/>
                <a:ea typeface="Arial"/>
                <a:cs typeface="Arial"/>
              </a:rPr>
              <a:t>05  Robin · Addie</a:t>
            </a:r>
            <a:endParaRPr sz="101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4C81135-C14D-4636-B73C-1B5B675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4178808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5C6873"/>
                </a:solidFill>
                <a:latin typeface="Arial"/>
                <a:ea typeface="Arial"/>
                <a:cs typeface="Arial"/>
              </a:rPr>
              <a:t>06  Lamb · Gerardo</a:t>
            </a:r>
            <a:endParaRPr sz="101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9E55E48-B647-4CA7-9722-5AE91D23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4654296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5C6873"/>
                </a:solidFill>
                <a:latin typeface="Arial"/>
                <a:ea typeface="Arial"/>
                <a:cs typeface="Arial"/>
              </a:rPr>
              <a:t>07  Hog · Alexis</a:t>
            </a:r>
            <a:endParaRPr sz="101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6766931-7324-4FE6-B212-2B8E4BAC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5129784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5C6873"/>
                </a:solidFill>
                <a:latin typeface="Arial"/>
                <a:ea typeface="Arial"/>
                <a:cs typeface="Arial"/>
              </a:rPr>
              <a:t>08  Hog · Byron</a:t>
            </a:r>
            <a:endParaRPr sz="101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D4493C9-0D62-44E2-8FC9-9F978237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953512"/>
            <a:ext cx="5925312" cy="2916936"/>
          </a:xfrm>
          <a:prstGeom xmlns:a="http://schemas.openxmlformats.org/drawingml/2006/main" prst="roundRect">
            <a:avLst>
              <a:gd name="adj" fmla="val 2821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5BD79AC-EA2B-4AF3-9315-B6AE8C76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236976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仅用训练期负荷形态特征</a:t>
            </a:r>
            <a:endParaRPr sz="11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54B1E1A-667A-41D4-B595-291D357F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30752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4C3CF"/>
                </a:solidFill>
                <a:latin typeface="Arial"/>
                <a:ea typeface="Arial"/>
                <a:cs typeface="Arial"/>
              </a:rPr>
              <a:t>• 平均负荷的对数</a:t>
            </a:r>
            <a:endParaRPr sz="93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6D8149-6005-44B8-8C0F-DB3D1073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0752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4C3CF"/>
                </a:solidFill>
                <a:latin typeface="Arial"/>
                <a:ea typeface="Arial"/>
                <a:cs typeface="Arial"/>
              </a:rPr>
              <a:t>• 变异系数</a:t>
            </a:r>
            <a:endParaRPr sz="93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87E8957-B533-43F4-86A3-85D45B41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23944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4C3CF"/>
                </a:solidFill>
                <a:latin typeface="Arial"/>
                <a:ea typeface="Arial"/>
                <a:cs typeface="Arial"/>
              </a:rPr>
              <a:t>• 峰均比</a:t>
            </a:r>
            <a:endParaRPr sz="93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B79419B-B84D-428A-908F-F1DA35C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23944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4C3CF"/>
                </a:solidFill>
                <a:latin typeface="Arial"/>
                <a:ea typeface="Arial"/>
                <a:cs typeface="Arial"/>
              </a:rPr>
              <a:t>• 峰谷差</a:t>
            </a:r>
            <a:endParaRPr sz="93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EE21659-169A-4E1C-B6F3-03E13B01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17136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4C3CF"/>
                </a:solidFill>
                <a:latin typeface="Arial"/>
                <a:ea typeface="Arial"/>
                <a:cs typeface="Arial"/>
              </a:rPr>
              <a:t>• 滞后 24 小时自相关</a:t>
            </a:r>
            <a:endParaRPr sz="93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4ECE0C4-C19C-49FE-812C-4C64E01B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7136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4C3CF"/>
                </a:solidFill>
                <a:latin typeface="Arial"/>
                <a:ea typeface="Arial"/>
                <a:cs typeface="Arial"/>
              </a:rPr>
              <a:t>• 滞后 168 小时自相关</a:t>
            </a:r>
            <a:endParaRPr sz="93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8056A6D-1FED-444D-98B9-F4D5E2B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10328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4C3CF"/>
                </a:solidFill>
                <a:latin typeface="Arial"/>
                <a:ea typeface="Arial"/>
                <a:cs typeface="Arial"/>
              </a:rPr>
              <a:t>• 工作日与周末差异</a:t>
            </a:r>
            <a:endParaRPr sz="93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08DC003-4DC2-4134-8F22-090B468C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10328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4C3CF"/>
                </a:solidFill>
                <a:latin typeface="Arial"/>
                <a:ea typeface="Arial"/>
                <a:cs typeface="Arial"/>
              </a:rPr>
              <a:t>• 日负荷曲线变异</a:t>
            </a:r>
            <a:endParaRPr sz="93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7C0E022-96FF-4A7A-A694-9C4E20DF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267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4C3CF"/>
                </a:solidFill>
                <a:latin typeface="Arial"/>
                <a:ea typeface="Arial"/>
                <a:cs typeface="Arial"/>
              </a:rPr>
              <a:t>• 稳健异常值比例</a:t>
            </a:r>
            <a:endParaRPr sz="93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141C2C5-C72D-4FEB-AE7D-95DDCB6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504688"/>
            <a:ext cx="208483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D2548"/>
          </a:solidFill>
          <a:ln xmlns:a="http://schemas.openxmlformats.org/drawingml/2006/main" w="12700">
            <a:solidFill>
              <a:srgbClr val="2D2548">
                <a:alpha val="0"/>
              </a:srgbClr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432C445-BB7A-4C60-BD71-E70DE4CE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5545836"/>
            <a:ext cx="193852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 b="1">
                <a:solidFill>
                  <a:srgbClr val="D9CCFF"/>
                </a:solidFill>
                <a:latin typeface="Microsoft YaHei"/>
                <a:ea typeface="Microsoft YaHei"/>
                <a:cs typeface="Microsoft YaHei"/>
              </a:rPr>
              <a:t>不使用验证集或测试集性能</a:t>
            </a:r>
            <a:endParaRPr sz="79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3C386D7E-CF4E-4054-A982-E38C7258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数据来源：outputs/phase7/selected_buildings.json</a:t>
            </a:r>
            <a:endParaRPr sz="67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1A245BFC-B69A-4244-8C20-EFE318CA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4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27604F2-4CF9-4FAC-9B2E-D94A0B572D5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5690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05643-13C1-40D8-9213-6615835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892479-5208-4C27-A7C8-0DB877CD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方法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FFDB8BE-700F-4E6E-AB9C-8241BB10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F3B157-75A0-4899-87D4-E0727D4E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A4660E-BBE9-42EA-A413-C17074A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因果特征与时间切分</a:t>
            </a:r>
            <a:endParaRPr sz="2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2C2EC9F-7370-41FB-B447-CA52AFF0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24 h 超前预测仅使用当时可获得的负荷和日历信息，按目标可用性处理切分边界。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DC883FA-07F9-493E-A305-8192B94E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44752"/>
            <a:ext cx="8732520" cy="4434840"/>
          </a:xfrm>
          <a:prstGeom xmlns:a="http://schemas.openxmlformats.org/drawingml/2006/main" prst="roundRect">
            <a:avLst>
              <a:gd name="adj" fmla="val 1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eaafdf52442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3028" y="1472184"/>
            <a:ext cx="7786624" cy="4379976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0281C41-D179-484E-B0B8-130A5C48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1444752"/>
            <a:ext cx="1947672" cy="443484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3A5798B-C411-4849-8F9C-E3B1E7A7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92224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4C7FF"/>
                </a:solidFill>
                <a:latin typeface="Microsoft YaHei"/>
                <a:ea typeface="Microsoft YaHei"/>
                <a:cs typeface="Microsoft YaHei"/>
              </a:rPr>
              <a:t>信息边界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8DD7E17-3DD1-4EFA-A7B1-61D2B282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771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5C4D0"/>
                </a:solidFill>
                <a:latin typeface="Arial"/>
                <a:ea typeface="Arial"/>
                <a:cs typeface="Arial"/>
              </a:rPr>
              <a:t>• 正向滞后特征</a:t>
            </a:r>
            <a:endParaRPr sz="93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20EEB3B-8891-4AAC-916C-E880CAD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97480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5C4D0"/>
                </a:solidFill>
                <a:latin typeface="Arial"/>
                <a:ea typeface="Arial"/>
                <a:cs typeface="Arial"/>
              </a:rPr>
              <a:t>• 移位历史特征</a:t>
            </a:r>
            <a:endParaRPr sz="93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5EDC6A5-360F-4ED9-B733-2B8E9823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2724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5C4D0"/>
                </a:solidFill>
                <a:latin typeface="Arial"/>
                <a:ea typeface="Arial"/>
                <a:cs typeface="Arial"/>
              </a:rPr>
              <a:t>• 日历信息</a:t>
            </a:r>
            <a:endParaRPr sz="93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AEF29DB-C1B8-4819-93FC-B785F49B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5701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5C4D0"/>
                </a:solidFill>
                <a:latin typeface="Arial"/>
                <a:ea typeface="Arial"/>
                <a:cs typeface="Arial"/>
              </a:rPr>
              <a:t>• 不使用气象数据</a:t>
            </a:r>
            <a:endParaRPr sz="93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7766156-A636-4170-9486-FCAA2D6E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8678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B5C4D0"/>
                </a:solidFill>
                <a:latin typeface="Arial"/>
                <a:ea typeface="Arial"/>
                <a:cs typeface="Arial"/>
              </a:rPr>
              <a:t>• 无目标信息泄漏</a:t>
            </a:r>
            <a:endParaRPr sz="93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0850B53-21FD-44E3-B953-4200CC5B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773168"/>
            <a:ext cx="153619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2B20"/>
          </a:solidFill>
          <a:ln xmlns:a="http://schemas.openxmlformats.org/drawingml/2006/main" w="12700">
            <a:solidFill>
              <a:srgbClr val="3B2B20">
                <a:alpha val="0"/>
              </a:srgbClr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32F70C2-8C1F-4D1E-A017-D7F4E244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4814316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>
                <a:solidFill>
                  <a:srgbClr val="FFC494"/>
                </a:solidFill>
                <a:latin typeface="Microsoft YaHei"/>
                <a:ea typeface="Microsoft YaHei"/>
                <a:cs typeface="Microsoft YaHei"/>
              </a:rPr>
              <a:t>历史测试期已被查看</a:t>
            </a:r>
            <a:endParaRPr sz="71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F12CF3D-5490-4448-8BF0-2773EE5F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方法图保留历史测试期已被查看的边界说明</a:t>
            </a:r>
            <a:endParaRPr sz="67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E9B5B55-461C-446A-9867-21B341F7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5F1C17A-EE3B-44B3-8DBF-6DF40A59306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8625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2419EC-9411-41AC-A1A6-AF5E77F7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8F44AB-7E45-4930-B232-E3C79967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模型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4A4907-6B42-438A-A92F-DCACFCB3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22690F-3362-4A85-92E3-0772D892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8E865E-565E-4C3A-96D7-BDADE095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预测基线与模型组成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028A353-6FFF-41EA-A268-0D5F337B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DayWeek 与逐建筑 LightGBM 构成 DOEF，其余模型用于基线比较。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92C5DAD-1D23-446A-B1B0-CA65A16B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2057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BF879E-354E-4580-9B29-F9658DD9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方法</a:t>
            </a:r>
            <a:endParaRPr sz="9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A84808B-79AB-4B05-BE21-4827BCB6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1627632"/>
            <a:ext cx="30175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342239D-DE64-44E0-8B98-4D1BC0E8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746504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定义 / 输入</a:t>
            </a:r>
            <a:endParaRPr sz="9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B15898A-B00E-4384-AD9C-A59E5713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1627632"/>
            <a:ext cx="30175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2AA4367-295D-4BCF-A493-1759149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746504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基准比较中的角色</a:t>
            </a:r>
            <a:endParaRPr sz="9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7E1CD4F-7952-48F5-9399-FDB9B7A3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1627632"/>
            <a:ext cx="1920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BBD090-A8B3-450C-979F-BEC465EA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74650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创新定位</a:t>
            </a:r>
            <a:endParaRPr sz="9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B5A6A7B-051A-4AD1-B54E-BB4A6819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66544"/>
            <a:ext cx="20574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B7A2D3D-714E-4981-91C3-8903D268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76272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前日持久性</a:t>
            </a:r>
            <a:endParaRPr sz="94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1CACD3C-EDAC-4F30-BF89-13B78F9E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2066544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5D8CB69-5105-452B-979B-D0ABAC5F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176272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t−24 h</a:t>
            </a:r>
            <a:endParaRPr sz="94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CB1E566-BE09-4A72-9423-CAEDD55B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066544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F028E85-4D62-4EC5-BFE8-BADD7F4B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76272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94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18E3E5-7DCC-4F4F-8861-5A2993B3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066544"/>
            <a:ext cx="192024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59A3860-744B-4716-ABB5-411445A7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17627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sz="94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A2DECE3-BC8C-4EB2-963C-4FADFEEB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60320"/>
            <a:ext cx="20574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9940A28-AB99-40E8-B4C4-301D4CC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70048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周周期</a:t>
            </a:r>
            <a:endParaRPr sz="94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C17712C-EB82-4F77-88C5-B14017C3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2560320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6A0CA86-AC58-43AA-B90C-66656D2F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670048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t−168 h</a:t>
            </a:r>
            <a:endParaRPr sz="94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8CAA2E8-B8A1-47F6-B203-FBC08AAD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60320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37C25BD-740E-4AAC-8C88-428DF228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670048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94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D4D0D5D-53B7-4D2E-BFA4-1465663C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560320"/>
            <a:ext cx="192024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6CEB8CD-76AD-48D6-884B-CB80A0B5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67004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sz="94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88DBA0B-B5EC-4EA2-A702-3ABEBCC9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54096"/>
            <a:ext cx="20574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0CF3420-848B-4A36-97F8-1F4D032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63824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DayWeek</a:t>
            </a:r>
            <a:endParaRPr sz="94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7E98E84-F7C1-4953-B9E0-837D6CE0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3054096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733D9C7-1B2D-4C18-93DD-4458B32D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16382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0.5·Day + 0.5·Week</a:t>
            </a:r>
            <a:endParaRPr sz="94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EE8F96F-E889-4717-9270-AC8BB72C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3054096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EF69C5B-3FE1-4EAE-BA64-4E4EC2CE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16382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DOEF 分量</a:t>
            </a:r>
            <a:endParaRPr sz="94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827EA18-B769-4B10-A130-92088E27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3054096"/>
            <a:ext cx="192024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4EB698B-EF5E-4FA7-B067-A9A7F800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16382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sz="94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EF5323BE-A620-475C-8EE8-FF9D78BD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47872"/>
            <a:ext cx="20574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9DA0E8F-FD1A-4943-AA89-309A732E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657600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LightGBM</a:t>
            </a:r>
            <a:endParaRPr sz="94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B28FDCA-08DE-4B9D-89A2-9DE4EB36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3547872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38DC976-12C5-4308-B9BD-0A34D73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65760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因果特征</a:t>
            </a:r>
            <a:endParaRPr sz="94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11BA1EC6-24CD-4F9A-99AB-AADC583F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3547872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EA381ADC-DAF1-42DA-8996-4BFD45D9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65760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DOEF 分量 / 基线</a:t>
            </a:r>
            <a:endParaRPr sz="94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6C327781-DE55-4615-8EA5-B6B9AB3A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3547872"/>
            <a:ext cx="192024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FCF2055D-DFF6-4AAA-AAFB-B00A7478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657600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sz="94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92A110A2-6219-4383-A09B-E250508B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41648"/>
            <a:ext cx="20574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A76472D1-7BBA-4C62-87C2-3ECBB13E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51376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XGBoost</a:t>
            </a:r>
            <a:endParaRPr sz="94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49EC3E05-03D6-4273-B20D-7486A208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4041648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5B20F006-E4DF-4CE8-97A5-29A507AB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4151376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因果特征</a:t>
            </a:r>
            <a:endParaRPr sz="94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8BA59C9D-8725-430A-9676-28287AB5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4041648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F608C025-1C5C-4F16-B98C-3A605FB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4151376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对照模型</a:t>
            </a:r>
            <a:endParaRPr sz="94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7DE8C74C-A205-4F79-937C-804C7268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041648"/>
            <a:ext cx="192024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EA773400-A5A6-4BDE-A257-F49FAA2B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151376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sz="94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C0FEC87C-3F66-4DEE-82FA-E26950D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35424"/>
            <a:ext cx="20574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E0F05784-E5DA-46DC-B980-D44EA475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45152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CatBoost</a:t>
            </a:r>
            <a:endParaRPr sz="94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ABCCAC1C-C89C-4283-BA65-876FDD22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4535424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0F8C69D7-7993-4BD1-8557-91D3A6A6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4645152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因果特征</a:t>
            </a:r>
            <a:endParaRPr sz="94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92F82A85-9D02-45D4-992C-E3073C53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4535424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1C55F21C-7F6C-48F7-A494-390487F0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4645152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对照模型</a:t>
            </a:r>
            <a:endParaRPr sz="94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6428C8AC-E4F0-4372-96BB-20F96610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535424"/>
            <a:ext cx="192024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FA6CC62C-2603-4995-A087-7E54920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64515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sz="940"/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E2E890E5-979A-4300-BDEE-E192AAAC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29200"/>
            <a:ext cx="20574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EE00B1A1-41C1-4F1B-99A6-E05CFF88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38928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DOEF</a:t>
            </a:r>
            <a:endParaRPr sz="940"/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A3B6E682-8F3A-480F-9CDE-38EC8080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5029200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D82501FF-7749-4F06-8FBD-D632B3E6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5138928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wᵦ·LGBM+(1−wᵦ)·DayWeek</a:t>
            </a:r>
            <a:endParaRPr sz="940"/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AC39305F-525B-4200-8450-00840D71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5029200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1AEAF580-7525-48B8-BE1F-C4E19E27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138928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最终固定方法</a:t>
            </a:r>
            <a:endParaRPr sz="94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89F71C3D-D971-45E6-B990-045F579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5029200"/>
            <a:ext cx="192024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AE40AB7E-32C1-4451-A275-E9A7961C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5138928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方法框架</a:t>
            </a:r>
            <a:endParaRPr sz="940"/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0FE534F7-3FCF-4F53-BF7D-4655E911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2976"/>
            <a:ext cx="205740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23EB9F90-F3D3-4F94-AAD9-7043412E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32704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Peak-aware LGBM</a:t>
            </a:r>
            <a:endParaRPr sz="940"/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B5D199F7-D20F-4A51-B310-2409FAF4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5522976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74125964-C5A9-4121-BF8C-7F321C4F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563270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Arial"/>
                <a:ea typeface="Arial"/>
                <a:cs typeface="Arial"/>
              </a:rPr>
              <a:t>补充实验</a:t>
            </a:r>
            <a:endParaRPr sz="940"/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0426412C-4FCE-4B98-A191-4109E395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5522976"/>
            <a:ext cx="30175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2F801BBF-9600-4FEB-93F4-2D819F3D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63270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未采用</a:t>
            </a:r>
            <a:endParaRPr sz="940"/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F9A742F1-A396-4424-B792-1CD51C15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5522976"/>
            <a:ext cx="192024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F7E0D73C-8527-42B3-A267-D50ABC0B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563270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sz="940"/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E078BCBA-80B3-44DB-9AE2-291313EE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各基准方法定义固定；主讲部分聚焦最终方法</a:t>
            </a:r>
            <a:endParaRPr sz="670"/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8B1F9B3A-DABB-4CCB-AA7F-01AC87AB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8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E3CE86-68C4-4870-B679-BB1E0826B17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066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8C87BE-0D18-480A-A190-08E19238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9B76CF-FED6-4476-B710-1FA57482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约束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BCF50D-949C-403F-B892-33C62BAE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F19EF09-0E57-41AE-A32A-81F5DD91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10C099-8BE3-4EC4-8E47-800EC345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电池参数与调度约束</a:t>
            </a:r>
            <a:endParaRPr sz="2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72828E5-0650-4F33-8991-32830CB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各预测方法共享同一建筑的电池与优化器，电池规模由训练期负荷确定。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7C0485-6B21-43D1-AA35-F9BBA229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709928"/>
            <a:ext cx="5184648" cy="100584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7ED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CED038-5892-4AC7-8933-6461BE67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74520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容量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F38316-47D9-46B6-A9BE-E75996BD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865376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平均日用电量的 10%</a:t>
            </a:r>
            <a:endParaRPr sz="11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BB393CB-C823-44F4-B47B-BE0EE178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249424"/>
            <a:ext cx="27432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5C6873"/>
                </a:solidFill>
                <a:latin typeface="Arial"/>
                <a:ea typeface="Arial"/>
                <a:cs typeface="Arial"/>
              </a:rPr>
              <a:t>kWh</a:t>
            </a:r>
            <a:endParaRPr sz="86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E75CD4B-5087-4571-9EC4-8AD04192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09928"/>
            <a:ext cx="5184648" cy="100584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7ED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47912B8-EBED-4798-95DF-65B95CF1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74520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充电 / 放电功率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D908CD7-620B-41BC-929E-5F072A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865376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每小时为容量的 25%</a:t>
            </a:r>
            <a:endParaRPr sz="11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B481F50-CE9D-4247-AF6D-D69D26EC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249424"/>
            <a:ext cx="27432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5C6873"/>
                </a:solidFill>
                <a:latin typeface="Arial"/>
                <a:ea typeface="Arial"/>
                <a:cs typeface="Arial"/>
              </a:rPr>
              <a:t>kW</a:t>
            </a:r>
            <a:endParaRPr sz="86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9AB6627-07C5-47B0-86C3-2A199A73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35224"/>
            <a:ext cx="5184648" cy="100584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7ED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B2A168F-1608-4492-8656-448B3FE2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99816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SOC 范围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E1B401-35D4-472A-BEED-14FB9A4F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3090672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10% → 90%</a:t>
            </a:r>
            <a:endParaRPr sz="11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5377649-FE02-4288-A913-3A21206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3474720"/>
            <a:ext cx="27432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5C6873"/>
                </a:solidFill>
                <a:latin typeface="Arial"/>
                <a:ea typeface="Arial"/>
                <a:cs typeface="Arial"/>
              </a:rPr>
              <a:t>电量状态（kWh）</a:t>
            </a:r>
            <a:endParaRPr sz="86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CCA6513-FD0F-436A-B2F8-D9956086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935224"/>
            <a:ext cx="5184648" cy="100584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7ED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7ED9D0B-CB8F-4BDE-BCD0-1BE92C0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99816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初始 / 终止 SOC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6E83950-B1BD-4019-9268-1EF6ED6C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090672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50% / 50%</a:t>
            </a:r>
            <a:endParaRPr sz="11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36C5623-5F50-4B3A-B6BF-8888B6F4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474720"/>
            <a:ext cx="27432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5C6873"/>
                </a:solidFill>
                <a:latin typeface="Arial"/>
                <a:ea typeface="Arial"/>
                <a:cs typeface="Arial"/>
              </a:rPr>
              <a:t>每日重置</a:t>
            </a:r>
            <a:endParaRPr sz="86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E69B84D-BAB5-4E85-B080-25AF8B2F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60520"/>
            <a:ext cx="5184648" cy="100584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7ED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A77357E-D1AF-46C7-9919-21CE5723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325112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充电 / 放电效率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B208045-64B2-4417-B868-8A1BE9A9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315968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0.94868 / 0.94868</a:t>
            </a:r>
            <a:endParaRPr sz="112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8F65F4D-EFEA-4024-AEB7-ACDCF648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700016"/>
            <a:ext cx="27432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5C6873"/>
                </a:solidFill>
                <a:latin typeface="Arial"/>
                <a:ea typeface="Arial"/>
                <a:cs typeface="Arial"/>
              </a:rPr>
              <a:t>往返效率 0.90</a:t>
            </a:r>
            <a:endParaRPr sz="86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8CC6222-D29C-4B3F-A6AA-E55C27E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160520"/>
            <a:ext cx="5184648" cy="100584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7ED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86DC57A-1910-4B2E-904D-F8B18413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325112"/>
            <a:ext cx="1417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优化器</a:t>
            </a:r>
            <a:endParaRPr sz="10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AD5D0D1-10EB-4403-871D-ED659643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315968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确定性日削峰优化</a:t>
            </a:r>
            <a:endParaRPr sz="112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9A6A789-28E7-4BB2-AE40-6CB05154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700016"/>
            <a:ext cx="27432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5C6873"/>
                </a:solidFill>
                <a:latin typeface="Arial"/>
                <a:ea typeface="Arial"/>
                <a:cs typeface="Arial"/>
              </a:rPr>
              <a:t>scipy.optimize.milp</a:t>
            </a:r>
            <a:endParaRPr sz="86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701905B-496C-49DE-995E-573600D5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669280"/>
            <a:ext cx="7790688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12700">
            <a:solidFill>
              <a:srgbClr val="C8E5F8">
                <a:alpha val="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0FCDF51-059B-4E49-8804-F87BE4F6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5710428"/>
            <a:ext cx="76443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时间步长 1 小时：负荷电量 kWh · 调度功率 kW · 容量/SOC kWh</a:t>
            </a:r>
            <a:endParaRPr sz="88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0FDEC7-9A01-4182-A95A-F2F53A92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参数来源：building_battery_configs.csv；所有预测方法共享电池与优化器</a:t>
            </a:r>
            <a:endParaRPr sz="67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B54B344-7AFD-4E87-86EE-06D60A85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8A2414A-5903-446D-ADA2-8257F70987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3652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805BA4-7FDD-44E7-A224-99F07121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AE6FD5-74D0-473C-913E-A585F606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预测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9F5E195-BC79-44AD-8D08-BE9164CC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5823494-8C1F-4A13-98F9-1F3BBAC4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99C821-7B3C-4A22-9213-9F44CC70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八建筑预测结果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B423F0C-A45E-46EA-8A59-5B89A07E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八建筑测试集等权平均；MAE、RMSE 和后悔值按各建筑训练期平均负荷归一化。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89BF56-85CE-414A-9BFE-0BD2D080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09344"/>
            <a:ext cx="257860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1D3D80D-3815-417B-B252-53DDC399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28216"/>
            <a:ext cx="2432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方法</a:t>
            </a:r>
            <a:endParaRPr sz="8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9D43850-DB64-4C8C-B797-3B26F3D3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1609344"/>
            <a:ext cx="199339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022E5E-7893-4C36-8B29-896E5F9C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728216"/>
            <a:ext cx="18470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归一化 MAE</a:t>
            </a:r>
            <a:endParaRPr sz="88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F585CC4-12D9-439E-9856-155FE232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609344"/>
            <a:ext cx="199339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B9AF3F3-66EB-4CBA-AC04-5CADFED6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1728216"/>
            <a:ext cx="18470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归一化 RMSE</a:t>
            </a:r>
            <a:endParaRPr sz="88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F8AAA97-513E-4F33-AC75-32A007A5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1609344"/>
            <a:ext cx="21762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46DD3A9-4930-46CE-AA22-B62F0887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1728216"/>
            <a:ext cx="20299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归一化后悔值</a:t>
            </a:r>
            <a:endParaRPr sz="88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8515EEA-E9A8-438C-8F5C-CF306C86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1609344"/>
            <a:ext cx="199339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1C7FCDD-9D32-40E1-9FFB-A0E6254D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1728216"/>
            <a:ext cx="18470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平均削峰率</a:t>
            </a:r>
            <a:endParaRPr sz="88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3CBBE45-9D35-44C5-95D7-CFE90323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66544"/>
            <a:ext cx="257860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FE0B326-D453-4579-AD7A-86F0532B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185416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前日持久性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3ECC0F5-6B94-499D-9900-60C009C5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06654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E337D6A-4A6A-4DF3-B295-CCDDE86D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8541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.225885</a:t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978DB14-5AD8-49B1-A246-EA2A9360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6654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E8C8C3E-DDF4-46FB-979D-63F9728C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18541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.430193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AF80A68-B62B-4698-BD25-D677644C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066544"/>
            <a:ext cx="21762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B9429EB-BD84-43B4-BFFC-1DF21DF3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2185416"/>
            <a:ext cx="20299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.162986</a:t>
            </a:r>
            <a:endParaRPr sz="9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6E8AAF4-C7C4-45B6-A533-DBBD8345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06654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67CF07F-7681-4B00-8028-8B1E2EA2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18541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−1.878%</a:t>
            </a:r>
            <a:endParaRPr sz="9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2CA90CA-317E-4923-B0CD-4A8889E4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9464"/>
            <a:ext cx="257860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0593A25-708E-41F5-BF8A-F2D66669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688336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周周期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25EB4A4-6971-4B82-9F12-DD0AACE2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56946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BE65831-0466-4312-970C-F084B3B9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68833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.201578</a:t>
            </a:r>
            <a:endParaRPr sz="9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D9DE969-F03C-44FC-B1A6-0C99759E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6946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5BC2083-79A9-4CFB-A39F-328ABDCE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68833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.328414</a:t>
            </a:r>
            <a:endParaRPr sz="9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4B41ECC-BBBF-4012-ABA5-60767AA1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569464"/>
            <a:ext cx="21762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1DEECE9-53A5-49EF-825C-F21AB47C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2688336"/>
            <a:ext cx="20299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.144323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156B01B-7C71-4A57-BBBE-E8BA2561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6946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E815BDA-85E5-4298-8B7D-9AB650EF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68833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3.085%</a:t>
            </a:r>
            <a:endParaRPr sz="9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5393B00-7DA9-4EBC-B84F-2D8F25B8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72384"/>
            <a:ext cx="257860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F6C364A-59CE-4AC0-862E-63F5EA2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91256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DayWeek</a:t>
            </a:r>
            <a:endParaRPr sz="9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22BE529F-2A36-4A62-8E55-AA5A1585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307238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0B2CEE5-070A-44A8-89FB-DE80B09E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9125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.183478</a:t>
            </a:r>
            <a:endParaRPr sz="9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73CF4F49-F41F-4405-8945-D0A48A4D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07238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7218341-76D1-4CA9-AAF3-2A84E5FE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19125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.296621</a:t>
            </a:r>
            <a:endParaRPr sz="9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A9D6439-BDF0-417F-A27E-AC6F0015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072384"/>
            <a:ext cx="21762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FF0F7D9B-EA55-49D0-AB50-357CAA5F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3191256"/>
            <a:ext cx="20299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.143019</a:t>
            </a:r>
            <a:endParaRPr sz="9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8C402A0-BF3C-4D50-87F7-9A9BBE7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07238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37655127-94BA-4CE0-86BD-38BD444D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319125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4.907%</a:t>
            </a:r>
            <a:endParaRPr sz="95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9435BD47-9AA8-4F1D-B4C2-46150B18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75304"/>
            <a:ext cx="257860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E9AF287-CF95-4224-8778-2E273D61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694176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LightGBM</a:t>
            </a:r>
            <a:endParaRPr sz="95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02010D4B-B811-44AE-9E17-C9D2538F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357530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97EF69DE-E30B-4097-86C7-3E6EC59D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69417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.147338</a:t>
            </a:r>
            <a:endParaRPr sz="95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A180AEA-024D-40D8-875B-25D5573D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57530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5760C4C7-CE0B-4412-ABD9-45F1A957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69417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.216942</a:t>
            </a:r>
            <a:endParaRPr sz="95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A4012B96-24B7-4FA2-9EA2-B2745605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575304"/>
            <a:ext cx="21762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900774-4AB6-495C-B577-C1F1EAE2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3694176"/>
            <a:ext cx="20299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.116127</a:t>
            </a:r>
            <a:endParaRPr sz="95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71C654E0-0350-4284-B4E1-17122B1C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57530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BA5B3E78-2847-41DD-B55E-6333DF0F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369417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1.008%</a:t>
            </a:r>
            <a:endParaRPr sz="95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335DB02B-4301-47A7-9F20-F929CEAB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78224"/>
            <a:ext cx="257860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AED87C06-3FEA-464B-B4F4-46D21717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197096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XGBoost</a:t>
            </a:r>
            <a:endParaRPr sz="9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DD3ED022-4545-4378-99AE-96E7C18A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407822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5F2F46A9-982B-462C-8BB6-1B18BF8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19709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.149781</a:t>
            </a:r>
            <a:endParaRPr sz="95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4EDECA59-8295-4610-ACBD-7E5D9229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07822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98159472-A2C3-4C5C-8BD8-C991676A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419709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.216751</a:t>
            </a:r>
            <a:endParaRPr sz="950"/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55E5E525-770B-42F5-A2E8-91366D3B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4078224"/>
            <a:ext cx="21762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EBA64500-4773-4121-AAC1-1AB2D4E3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4197096"/>
            <a:ext cx="20299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.117534</a:t>
            </a:r>
            <a:endParaRPr sz="950"/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4B3E5CF1-BEE4-469C-A775-6A50F26E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407822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1812A07D-D253-4F40-BD0E-9260C0ED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419709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0.453%</a:t>
            </a:r>
            <a:endParaRPr sz="950"/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CCAA38F7-33E6-434C-A9DD-E83FFBDB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581144"/>
            <a:ext cx="257860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6949DAF4-D523-4328-853C-D69790C8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00016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CatBoost</a:t>
            </a:r>
            <a:endParaRPr sz="95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FF15810A-B480-4688-AFC2-8DE31B8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458114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12B344B9-EB07-4B54-8B58-7277F340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70001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.173604</a:t>
            </a:r>
            <a:endParaRPr sz="950"/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D1DD8978-2B1D-45EB-B4F6-E510B4C6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58114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41E523F1-6AA1-479C-B8F8-28084260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470001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.239211</a:t>
            </a:r>
            <a:endParaRPr sz="950"/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DB691C3C-72AC-4D21-AFD5-8BD445D5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4581144"/>
            <a:ext cx="21762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748AD96B-12B1-435D-8726-BF6F903A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4700016"/>
            <a:ext cx="20299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.118740</a:t>
            </a:r>
            <a:endParaRPr sz="950"/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3309E03F-1AD2-45FE-9833-61E07C18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458114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2BF428B7-2FB1-47D9-BB55-4AFAF3CE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470001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−24.482%</a:t>
            </a:r>
            <a:endParaRPr sz="950"/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1B6F19C2-17DD-40F1-A77A-015FAAB8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84064"/>
            <a:ext cx="257860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F1CFA5BA-D03E-4B5E-94D2-0DF18FCE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202936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DOEF</a:t>
            </a:r>
            <a:endParaRPr sz="950"/>
          </a:p>
        </p:txBody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1546C0E9-0978-42BA-B81F-A991F3D2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508406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202EEC9B-E738-4ED9-A806-EF70983D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20293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.137970</a:t>
            </a:r>
            <a:endParaRPr sz="950"/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60015E0E-A38B-462C-910E-CA7722BB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08406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58C08A23-B473-4161-A671-39D8532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520293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.207822</a:t>
            </a:r>
            <a:endParaRPr sz="950"/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1EB5E9DD-F672-4F00-A8B8-6DB0D5E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5084064"/>
            <a:ext cx="21762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03715BFC-2F9D-47BF-981B-CD04CDDD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5202936"/>
            <a:ext cx="20299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.111929</a:t>
            </a:r>
            <a:endParaRPr sz="950"/>
          </a:p>
        </p:txBody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30A43A38-58F6-4432-A01B-1231B86F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508406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6DBFDD37-A1A1-46B8-95CF-70585E8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520293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6.442%</a:t>
            </a:r>
            <a:endParaRPr sz="950"/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F8261168-61AB-4C10-B6F4-408B27DF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86984"/>
            <a:ext cx="257860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1287EA8B-4779-43EB-95F8-E7761B4C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705856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Peak-aware LGBM</a:t>
            </a:r>
            <a:endParaRPr sz="950"/>
          </a:p>
        </p:txBody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C7D00A21-B6F2-4A0B-8E15-1F511B0C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558698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894F12D8-32FD-456A-A497-8F03BB32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70585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.147587</a:t>
            </a:r>
            <a:endParaRPr sz="950"/>
          </a:p>
        </p:txBody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B4F12CF4-19FA-4AFE-A80F-EDF13C0B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58698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15062899-95F7-4537-BBE0-B8F9FD23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570585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.217284</a:t>
            </a:r>
            <a:endParaRPr sz="950"/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7E89B6D2-86D9-4FD9-B9D9-EC836C08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5586984"/>
            <a:ext cx="21762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2B11395F-81C7-4F8B-8536-950768D9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5705856"/>
            <a:ext cx="20299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.116202</a:t>
            </a:r>
            <a:endParaRPr sz="950"/>
          </a:p>
        </p:txBody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13B54828-0C9C-40B9-96BB-830B8FE4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5586984"/>
            <a:ext cx="19933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97" name="Text 95">
            <a:extLst xmlns:a="http://schemas.openxmlformats.org/drawingml/2006/main">
              <a:ext uri="{FF2B5EF4-FFF2-40B4-BE49-F238E27FC236}">
                <a16:creationId xmlns:a16="http://schemas.microsoft.com/office/drawing/2014/main" id="{0F0D2601-05EA-4CBB-9FFC-07E32079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5705856"/>
            <a:ext cx="18470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1.129%</a:t>
            </a:r>
            <a:endParaRPr sz="950"/>
          </a:p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F12ACD35-A9F2-4B37-BA24-68FDC320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数据来源：outputs/phase9/final_benchmark.csv；归一化误差与后悔值越低越好</a:t>
            </a:r>
            <a:endParaRPr sz="670"/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D4566AB1-EBCF-48DB-9716-813956FA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10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8E77F0-C4FD-4ABC-B4A0-159B245DA5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33008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F467B5-3118-424C-B313-E258D6B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357160-C2A1-40C7-8584-6F4BE72B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决策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3B37A8-C8E7-4878-883A-DCA02FD0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54DCBE3-C24B-4C21-B548-5DE9FC54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E56832-77CB-4E9D-9C62-062C85C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削峰率分布与失效案例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157C4CF-3596-437B-8A06-BEDEE180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均值、中位数和最小值共同描述调度表现，负削峰率表示取电峰值反而升高。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D976D60-2BB1-4AA5-8901-162CB7A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54480"/>
            <a:ext cx="3712464" cy="4517136"/>
          </a:xfrm>
          <a:prstGeom xmlns:a="http://schemas.openxmlformats.org/drawingml/2006/main" prst="roundRect">
            <a:avLst>
              <a:gd name="adj" fmla="val 2217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BA0D0B-4E69-4D68-9AC8-84E638C8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56232"/>
            <a:ext cx="2999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均值与中位数的差异</a:t>
            </a:r>
            <a:endParaRPr sz="14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C2110DD-7C74-451C-8460-56C85271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42032"/>
            <a:ext cx="23774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FC1D0"/>
                </a:solidFill>
                <a:latin typeface="Arial"/>
                <a:ea typeface="Arial"/>
                <a:cs typeface="Arial"/>
              </a:rPr>
              <a:t>CatBoost 削峰率</a:t>
            </a:r>
            <a:endParaRPr sz="1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9BE8738-5677-4D0D-8D1F-9FB1B66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89504"/>
            <a:ext cx="1417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9C7A"/>
                </a:solidFill>
                <a:latin typeface="Arial"/>
                <a:ea typeface="Arial"/>
                <a:cs typeface="Arial"/>
              </a:rPr>
              <a:t>−24.48%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62909C-4EE6-4BA6-BB00-23CF09F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547872"/>
            <a:ext cx="1417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B8C6"/>
                </a:solidFill>
                <a:latin typeface="Microsoft YaHei"/>
                <a:ea typeface="Microsoft YaHei"/>
                <a:cs typeface="Microsoft YaHei"/>
              </a:rPr>
              <a:t>均值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389095-7F8C-4A37-A559-BA3E86DC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2889504"/>
            <a:ext cx="1417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+4.82%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E2C9A8B-C588-4585-9F5C-8592951F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3547872"/>
            <a:ext cx="1417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B8C6"/>
                </a:solidFill>
                <a:latin typeface="Microsoft YaHei"/>
                <a:ea typeface="Microsoft YaHei"/>
                <a:cs typeface="Microsoft YaHei"/>
              </a:rPr>
              <a:t>中位数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E15CD59-62C7-44A6-BBFC-910385AA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24528"/>
            <a:ext cx="285292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A8B8C5"/>
                </a:solidFill>
                <a:latin typeface="Microsoft YaHei"/>
                <a:ea typeface="Microsoft YaHei"/>
                <a:cs typeface="Microsoft YaHei"/>
              </a:rPr>
              <a:t>极端负值拉低平均削峰率，需结合中位数和最小值判断调度表现。</a:t>
            </a:r>
            <a:endParaRPr sz="11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9DE1956-F3E0-442C-98ED-5D41CBBF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321808"/>
            <a:ext cx="155448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52A23"/>
          </a:solidFill>
          <a:ln xmlns:a="http://schemas.openxmlformats.org/drawingml/2006/main" w="12700">
            <a:solidFill>
              <a:srgbClr val="452A23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C823AF2-343A-4901-A5B1-D36766F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62956"/>
            <a:ext cx="14081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FFC0A5"/>
                </a:solidFill>
                <a:latin typeface="Microsoft YaHei"/>
                <a:ea typeface="Microsoft YaHei"/>
                <a:cs typeface="Microsoft YaHei"/>
              </a:rPr>
              <a:t>最小值 = −245.94%</a:t>
            </a:r>
            <a:endParaRPr sz="81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EDF4EB5-B436-467B-B633-81067FDB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847088"/>
            <a:ext cx="159105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F54D688-2F30-47CF-BAD7-93CF0263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65960"/>
            <a:ext cx="144475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方法</a:t>
            </a:r>
            <a:endParaRPr sz="8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F4E97F5-1763-430E-AACB-F9ED82E9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847088"/>
            <a:ext cx="1243584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BA86B17-BAF7-4F4D-B76A-8B45925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965960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归一化后悔值</a:t>
            </a:r>
            <a:endParaRPr sz="8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07C5FEE-8DEA-4604-9435-9B508AC7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1847088"/>
            <a:ext cx="1335024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7CD29A4-7E68-47E0-8CFD-2AC29266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965960"/>
            <a:ext cx="1188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削峰率均值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2CF07EF-9851-4B96-9C27-52A40313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847088"/>
            <a:ext cx="1335024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727360-11F0-41D9-A30C-BBEFC0F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1965960"/>
            <a:ext cx="1188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削峰率中位数</a:t>
            </a:r>
            <a:endParaRPr sz="8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D77D2CD-CE49-4DA7-BCA4-49CC24C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1847088"/>
            <a:ext cx="1335024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A23DBEC-7572-4686-BADA-779D64D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1965960"/>
            <a:ext cx="1188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削峰率最小值</a:t>
            </a:r>
            <a:endParaRPr sz="8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2752FDE-8678-4B45-8D98-4CF5837E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286000"/>
            <a:ext cx="1591056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9AD8A6B-702A-457F-8328-4A0016C1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68880"/>
            <a:ext cx="1444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LightGBM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72D1248-51C3-4941-A6A6-02708B9E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286000"/>
            <a:ext cx="124358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6BD3675-73B1-4384-A1DC-FCEBC11A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46888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.116127</a:t>
            </a:r>
            <a:endParaRPr sz="9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AED9E4D-F7F3-45A8-80E7-23EB7A92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2286000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5E4C484-7B0D-47F5-B655-AD0857A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468880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1.008%</a:t>
            </a:r>
            <a:endParaRPr sz="9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5CCE566-600A-4C6E-B8ED-9D17686B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86000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18781AE-5C3C-4F9B-8637-821D10E6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2468880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5.057%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EFFFA-19DF-47E8-8889-52150D23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286000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BA1479E-BB44-498C-BB95-6B6DA862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2468880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−41.192%</a:t>
            </a:r>
            <a:endParaRPr sz="9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85B54DD-A4F5-4C80-A7F1-8FF84D1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953512"/>
            <a:ext cx="1591056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6C24E35-DE0E-4FE5-8CB2-0FEC8DB7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136392"/>
            <a:ext cx="1444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XGBoost</a:t>
            </a:r>
            <a:endParaRPr sz="9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244B93F1-0C68-49F8-85D8-AFA6238A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953512"/>
            <a:ext cx="124358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53B36FA-F7E3-46C9-B3E4-62DA880C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136392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.117534</a:t>
            </a:r>
            <a:endParaRPr sz="9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F60549F-02F5-4BD1-8953-3568389C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2953512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133E72A0-3060-4D08-8428-18EDD54E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36392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0.453%</a:t>
            </a:r>
            <a:endParaRPr sz="9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6CAECA36-AB98-4B10-B247-314E5170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953512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B2A2660D-C488-4162-A835-30F6E1C4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3136392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4.588%</a:t>
            </a:r>
            <a:endParaRPr sz="9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D07C1BA6-04A9-49E4-BA19-1A001512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953512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E855497-BF88-4EF6-A987-88A6AF27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3136392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8212B"/>
                </a:solidFill>
                <a:latin typeface="Arial"/>
                <a:ea typeface="Arial"/>
                <a:cs typeface="Arial"/>
              </a:rPr>
              <a:t>−44.357%</a:t>
            </a:r>
            <a:endParaRPr sz="95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6F4EB709-9587-486D-B24A-4D0B48D8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621024"/>
            <a:ext cx="1591056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FBADBC03-A94C-4C42-BA60-2E59A830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803904"/>
            <a:ext cx="1444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5C00"/>
                </a:solidFill>
                <a:latin typeface="Arial"/>
                <a:ea typeface="Arial"/>
                <a:cs typeface="Arial"/>
              </a:rPr>
              <a:t>CatBoost</a:t>
            </a:r>
            <a:endParaRPr sz="95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B46F1D3E-4D38-46A8-982A-7869F0D9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621024"/>
            <a:ext cx="124358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DA64ABA-29D0-4A8D-BCE6-F4863DF6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803904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5C00"/>
                </a:solidFill>
                <a:latin typeface="Arial"/>
                <a:ea typeface="Arial"/>
                <a:cs typeface="Arial"/>
              </a:rPr>
              <a:t>.118740</a:t>
            </a:r>
            <a:endParaRPr sz="95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14599B91-15C0-4548-8DC7-59D3D25A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621024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504BB6C-F552-4CD6-8EFD-F925BCF8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803904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5C00"/>
                </a:solidFill>
                <a:latin typeface="Arial"/>
                <a:ea typeface="Arial"/>
                <a:cs typeface="Arial"/>
              </a:rPr>
              <a:t>−24.482%</a:t>
            </a:r>
            <a:endParaRPr sz="95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332C032B-EFE5-4EA1-9BAA-C9C1D1D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621024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7BBFC7BC-5F69-4013-B8DB-549BAB66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3803904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5C00"/>
                </a:solidFill>
                <a:latin typeface="Arial"/>
                <a:ea typeface="Arial"/>
                <a:cs typeface="Arial"/>
              </a:rPr>
              <a:t>4.821%</a:t>
            </a:r>
            <a:endParaRPr sz="95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71DE3049-13D0-415D-B75A-B955D987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3621024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6AE9293C-389E-4726-B654-4F9419FF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3803904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5C00"/>
                </a:solidFill>
                <a:latin typeface="Arial"/>
                <a:ea typeface="Arial"/>
                <a:cs typeface="Arial"/>
              </a:rPr>
              <a:t>−245.943%</a:t>
            </a:r>
            <a:endParaRPr sz="95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BC934C9C-EB43-4F6F-800B-F34AD70E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288536"/>
            <a:ext cx="1591056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0A28FC78-B310-4302-B269-A780E701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71416"/>
            <a:ext cx="1444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DOEF</a:t>
            </a:r>
            <a:endParaRPr sz="9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74AD0A2D-8DC8-4A44-9048-6E484221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288536"/>
            <a:ext cx="124358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DC5D933E-83FF-4FC2-9A4B-64AABE73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4471416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.111929</a:t>
            </a:r>
            <a:endParaRPr sz="95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F461B200-2C6D-4A74-B2E5-0B32AA9D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288536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E5836F90-EB47-4444-AD46-FB491FE2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471416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6.442%</a:t>
            </a:r>
            <a:endParaRPr sz="950"/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85C98A9C-3DCC-4E4D-BBB0-7C3943FB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288536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0E47CC3F-2173-44A2-873D-C3388DCF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4471416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5.629%</a:t>
            </a:r>
            <a:endParaRPr sz="950"/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8145F821-26A2-4AFA-AF96-97F2B6C3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288536"/>
            <a:ext cx="1335024" cy="667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6350">
            <a:solidFill>
              <a:srgbClr val="E0E7EF"/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AA394785-52EA-45F0-B482-9EA3CDE8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4471416"/>
            <a:ext cx="1188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−1.017%</a:t>
            </a:r>
            <a:endParaRPr sz="950"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8DD483C3-0F83-4B61-8549-DD818BCD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数据来源：最终基准与决策指标；削峰率需同时考察均值及分布</a:t>
            </a:r>
            <a:endParaRPr sz="670"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4FA7C6BB-CE1B-4B5F-B75E-8A77CDA6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7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7B9080B-011F-46CE-A292-DFCE461151E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135857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7F4A3C-45D6-439E-8B8D-ADC2E543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39303B-9043-42DA-AC2A-E1C3BB64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案例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0497819-49F4-4C32-86D5-9C55D39B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B653CBC-A7EA-43CE-B34C-35E94F92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09CA99-A9CA-4719-BB3B-A0AE4958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预测误差对充放电计划的影响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E5DD37-3272-4C84-B1E0-F4BD51F7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预先选定的测试案例用于解释预测如何改变调度结果，不能代表全部建筑表现。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127F2AC-093F-4B9E-8377-16FB4574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7827264" cy="4370832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4fcdfb46b4c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" y="1714500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5C5C837-BFAC-4C1A-B8E8-EBE8663F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5193792"/>
            <a:ext cx="7735824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6F1C67A-ADF4-4A11-9345-0DA6BD1A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431536"/>
            <a:ext cx="6903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>
                <a:solidFill>
                  <a:srgbClr val="5C6873"/>
                </a:solidFill>
                <a:latin typeface="Arial"/>
                <a:ea typeface="Arial"/>
                <a:cs typeface="Arial"/>
              </a:rPr>
              <a:t>案例用于解释调度机制，不代表普遍性能；沿用固定案例与原始数值。</a:t>
            </a:r>
            <a:endParaRPr sz="68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7A03A47-A352-4ECD-A7C2-50C4870A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572768"/>
            <a:ext cx="2788920" cy="4370832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E9A8647-399C-4ECF-97A7-56CD6858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1901952"/>
            <a:ext cx="144475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2B20"/>
          </a:solidFill>
          <a:ln xmlns:a="http://schemas.openxmlformats.org/drawingml/2006/main" w="12700">
            <a:solidFill>
              <a:srgbClr val="3B2B20">
                <a:alpha val="0"/>
              </a:srgbClr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F351565-BD08-46F1-954D-39EA0A04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1943100"/>
            <a:ext cx="12984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C494"/>
                </a:solidFill>
                <a:latin typeface="Microsoft YaHei"/>
                <a:ea typeface="Microsoft YaHei"/>
                <a:cs typeface="Microsoft YaHei"/>
              </a:rPr>
              <a:t>案例说明</a:t>
            </a:r>
            <a:endParaRPr sz="8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C149F28-93AC-4288-90D7-91D94BEF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578608"/>
            <a:ext cx="18288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6C4CF"/>
                </a:solidFill>
                <a:latin typeface="Microsoft YaHei"/>
                <a:ea typeface="Microsoft YaHei"/>
                <a:cs typeface="Microsoft YaHei"/>
              </a:rPr>
              <a:t>• 预先确定的测试案例</a:t>
            </a:r>
            <a:endParaRPr sz="102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E74C2A0-AE5B-4A4F-AE4E-D0BE235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054096"/>
            <a:ext cx="18288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6C4CF"/>
                </a:solidFill>
                <a:latin typeface="Microsoft YaHei"/>
                <a:ea typeface="Microsoft YaHei"/>
                <a:cs typeface="Microsoft YaHei"/>
              </a:rPr>
              <a:t>• 用于说明调度机制</a:t>
            </a:r>
            <a:endParaRPr sz="102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58F79B0-85D2-4085-BD60-BBF72F5C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529584"/>
            <a:ext cx="18288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6C4CF"/>
                </a:solidFill>
                <a:latin typeface="Microsoft YaHei"/>
                <a:ea typeface="Microsoft YaHei"/>
                <a:cs typeface="Microsoft YaHei"/>
              </a:rPr>
              <a:t>• 展示预测与实际负荷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4497BB6-F1CC-45A3-8D48-C3902E4F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005072"/>
            <a:ext cx="18288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6C4CF"/>
                </a:solidFill>
                <a:latin typeface="Microsoft YaHei"/>
                <a:ea typeface="Microsoft YaHei"/>
                <a:cs typeface="Microsoft YaHei"/>
              </a:rPr>
              <a:t>• 关注高负荷时段的偏差</a:t>
            </a:r>
            <a:endParaRPr sz="102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3FF9A1D-1A82-40CA-A9AB-C6EF68B2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480560"/>
            <a:ext cx="18288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6C4CF"/>
                </a:solidFill>
                <a:latin typeface="Microsoft YaHei"/>
                <a:ea typeface="Microsoft YaHei"/>
                <a:cs typeface="Microsoft YaHei"/>
              </a:rPr>
              <a:t>• 总体表现见全样本结果</a:t>
            </a:r>
            <a:endParaRPr sz="102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B7AF496-5B32-4FB5-AC84-6B229C8B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来源：Phase 8 预先固定调度案例；曲线图像未重绘，未重新选择案例</a:t>
            </a:r>
            <a:endParaRPr sz="67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51E8E63-B762-4D7F-81BF-6096DE88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8323F5-8EFC-4A55-B020-E665120A8BA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19</a:t>
            </a:fld>
            <a:endParaRPr/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04CE1-34CF-4D0C-AB0E-E2BD96B3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代表性测试调度：Hog_office_Joey，2017-12-14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DA88D-4442-47A4-ADE8-BA32C4D0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19300"/>
            <a:ext cx="990600" cy="99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实际负荷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CDA3CC-4192-4DC9-BFE4-BC86D988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8360"/>
            <a:ext cx="990600" cy="99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决策选权重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490F3-2E52-4290-8658-1261CDE0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17420"/>
            <a:ext cx="990600" cy="99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预测选权重</a:t>
            </a:r>
          </a:p>
        </p:txBody>
      </p:sp>
    </p:spTree>
    <p:extLst>
      <p:ext uri="{BB962C8B-B14F-4D97-AF65-F5344CB8AC3E}">
        <p14:creationId xmlns:p14="http://schemas.microsoft.com/office/powerpoint/2010/main" val="195815481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8CAE75D-5DA4-4AC9-A5D2-E27FDF10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4F6754-EC1A-4F1B-8EEC-47D53245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权重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F9B5D05-170D-40F7-A2F4-204CF977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CEC5E41-67D8-4CE5-9F54-6C8838BC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976ADB-DB8B-4EE2-8E38-F1C59A4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逐建筑融合权重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DEF01F2-AE0D-4C42-BB3F-D402F512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候选权重为 0.0、0.1、…、1.0，按验证集目标和平局规则选择，测试期保持不变。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B8A3B3F-72D7-4EAA-B465-81BC6C3D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72768"/>
            <a:ext cx="6766560" cy="4306824"/>
          </a:xfrm>
          <a:prstGeom xmlns:a="http://schemas.openxmlformats.org/drawingml/2006/main" prst="roundRect">
            <a:avLst>
              <a:gd name="adj" fmla="val 19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pic>
        <p:nvPicPr>
          <p:cNvPr id="7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1cb6860d64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062" y="1843659"/>
            <a:ext cx="6122020" cy="3765042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3DBA26C-5112-451B-8C0B-DCF8A0E1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792224"/>
            <a:ext cx="1627632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C49D582-72EC-4AE7-A195-891E2DA0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1892808"/>
            <a:ext cx="1517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建筑</a:t>
            </a:r>
            <a:endParaRPr sz="77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1B1FE98-6643-4163-A9E4-EC49BA6E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792224"/>
            <a:ext cx="115214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1920C95-140A-466D-87AB-2EAC430A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892808"/>
            <a:ext cx="10424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预测选权重</a:t>
            </a:r>
            <a:endParaRPr sz="77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E6445AC-5C99-4149-90C8-23C553F0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1792224"/>
            <a:ext cx="115214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3F"/>
          </a:solidFill>
          <a:ln xmlns:a="http://schemas.openxmlformats.org/drawingml/2006/main" w="12700">
            <a:solidFill>
              <a:srgbClr val="182B3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89B7C3A-9DC9-4400-A00F-B3BB0F3A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1892808"/>
            <a:ext cx="10424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决策选权重</a:t>
            </a:r>
            <a:endParaRPr sz="77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CC9F5B8-EF21-457C-B3DC-29037D2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176272"/>
            <a:ext cx="1627632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B3A3BEF-2B72-4F01-A44C-2463518C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286000"/>
            <a:ext cx="15179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Rolando</a:t>
            </a:r>
            <a:endParaRPr sz="8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9E89591-4878-43F9-8C9A-56C171FF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176272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E756951-8D5E-4FCF-8CD5-5C4CF8D7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286000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.9</a:t>
            </a:r>
            <a:endParaRPr sz="88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BFCC10F-AD38-41E0-ACA5-2041D704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2176272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2318AEB-0559-41B4-B4DE-DA09708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2286000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.7</a:t>
            </a:r>
            <a:endParaRPr sz="88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31B17B8-48D5-44DC-883B-7034639B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606040"/>
            <a:ext cx="1627632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25283BA-452F-4E49-B621-0B501DDA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715768"/>
            <a:ext cx="15179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Lavon</a:t>
            </a:r>
            <a:endParaRPr sz="88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2A5F869-58C8-4AC7-9EF5-AA00C0FC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606040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E718086-03E9-4DAD-9AFC-2BFA1147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15768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0</a:t>
            </a:r>
            <a:endParaRPr sz="88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896EA80-08AF-4D97-889B-F72F47AD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2606040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16B09D9-F182-46F3-AB78-921F7E21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2715768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0</a:t>
            </a:r>
            <a:endParaRPr sz="88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27F0C1B-ACAA-4237-A816-F4BE6020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035808"/>
            <a:ext cx="1627632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A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26B97D1-B568-4307-8A30-FA3E7F28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3145536"/>
            <a:ext cx="15179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6F4E9C"/>
                </a:solidFill>
                <a:latin typeface="Arial"/>
                <a:ea typeface="Arial"/>
                <a:cs typeface="Arial"/>
              </a:rPr>
              <a:t>Joey</a:t>
            </a:r>
            <a:endParaRPr sz="88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3AB5814-BBC4-4687-B221-A6CFA002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035808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A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4DD2301-0410-4DC6-8972-AFB3535D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145536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6F4E9C"/>
                </a:solidFill>
                <a:latin typeface="Arial"/>
                <a:ea typeface="Arial"/>
                <a:cs typeface="Arial"/>
              </a:rPr>
              <a:t>.6</a:t>
            </a:r>
            <a:endParaRPr sz="88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EE14C6A-1C1F-419D-99CF-A2EAA117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035808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A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47F726F-638E-4F1E-AE7F-3ECAA55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3145536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6F4E9C"/>
                </a:solidFill>
                <a:latin typeface="Arial"/>
                <a:ea typeface="Arial"/>
                <a:cs typeface="Arial"/>
              </a:rPr>
              <a:t>.3</a:t>
            </a:r>
            <a:endParaRPr sz="88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38271F10-340A-484B-ABF4-9ECC5E82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465576"/>
            <a:ext cx="1627632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7BA83B9-3423-4850-8C1E-90D3AB61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3575304"/>
            <a:ext cx="15179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Caitlin</a:t>
            </a:r>
            <a:endParaRPr sz="88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AD7821D9-72A1-47FA-A408-3E7457D6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65576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0C8005C-FA3E-41D5-9F9F-765A0F19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575304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.4</a:t>
            </a:r>
            <a:endParaRPr sz="88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879DE88B-4625-4C1E-A249-3FEBAEA5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465576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08A42FC4-36B1-4942-A78E-24983731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3575304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.8</a:t>
            </a:r>
            <a:endParaRPr sz="88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04867948-ED0D-4299-B921-F47E1885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895344"/>
            <a:ext cx="1627632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0B17C2AC-BBBB-4F01-A8A4-AD7DA288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4005072"/>
            <a:ext cx="15179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Addie</a:t>
            </a:r>
            <a:endParaRPr sz="88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3C00ECF-B8CF-44A4-B365-231E78EE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895344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E79A6A4C-8796-4C1C-A21B-C38132D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005072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1</a:t>
            </a:r>
            <a:endParaRPr sz="88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3A2A879A-CB99-47D9-B74F-731F01F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895344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126E13B8-C66D-4AE9-B18E-6A3FC19B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4005072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1</a:t>
            </a:r>
            <a:endParaRPr sz="880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98C179EF-09C9-4577-A279-A904BFCA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4325112"/>
            <a:ext cx="1627632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B0B8D687-1F42-4681-A066-F862DDA2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4434840"/>
            <a:ext cx="15179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Gerardo</a:t>
            </a:r>
            <a:endParaRPr sz="880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609AFC05-19B7-4D56-8DD2-D7E1849D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325112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1660EE55-7F3D-418D-9832-7641855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434840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0</a:t>
            </a:r>
            <a:endParaRPr sz="880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E471A565-6B03-4F11-AA23-E3472F6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4325112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E06D57D3-3759-42CF-9441-EFBD4F8F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4434840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1</a:t>
            </a:r>
            <a:endParaRPr sz="880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CA505A4B-769D-4E39-8DDF-008ED01F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4754880"/>
            <a:ext cx="1627632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BE69FAC9-6CEC-4032-900E-971F1523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4864608"/>
            <a:ext cx="15179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Alexis</a:t>
            </a:r>
            <a:endParaRPr sz="880"/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4857920A-3CD6-477E-933D-91D02D21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754880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D52E7061-21BE-4C14-9751-BB16338F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864608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.6</a:t>
            </a:r>
            <a:endParaRPr sz="880"/>
          </a:p>
        </p:txBody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ACEB84A9-A969-456F-AA45-714A1705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4754880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0BA13CC5-53C7-4677-9A22-634C244D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4864608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.7</a:t>
            </a:r>
            <a:endParaRPr sz="880"/>
          </a:p>
        </p:txBody>
      </p:sp>
      <p:sp>
        <p:nvSpPr>
          <p:cNvPr id="58" name="Shape 55">
            <a:extLst xmlns:a="http://schemas.openxmlformats.org/drawingml/2006/main">
              <a:ext uri="{FF2B5EF4-FFF2-40B4-BE49-F238E27FC236}">
                <a16:creationId xmlns:a16="http://schemas.microsoft.com/office/drawing/2014/main" id="{228D9A63-796C-4C77-AEE5-3E41E778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5184648"/>
            <a:ext cx="1627632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5AC83160-D4AB-4C14-9423-11FCAC14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5294376"/>
            <a:ext cx="15179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Byron</a:t>
            </a:r>
            <a:endParaRPr sz="880"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786FB2A3-5FC7-4AB4-8F27-65F5718C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184648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E26EC465-9207-4E28-B7E2-7015429B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94376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.9</a:t>
            </a:r>
            <a:endParaRPr sz="88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02FF4137-127E-4542-A005-D571E36E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184648"/>
            <a:ext cx="1152144" cy="429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5715">
            <a:solidFill>
              <a:srgbClr val="E0E7EF"/>
            </a:solidFill>
            <a:prstDash val="solid"/>
          </a:ln>
        </p:spPr>
      </p:sp>
      <p:sp>
        <p:nvSpPr>
          <p:cNvPr id="63" name="Text 60">
            <a:extLst xmlns:a="http://schemas.openxmlformats.org/drawingml/2006/main">
              <a:ext uri="{FF2B5EF4-FFF2-40B4-BE49-F238E27FC236}">
                <a16:creationId xmlns:a16="http://schemas.microsoft.com/office/drawing/2014/main" id="{3D8EA0EA-73D8-4EB1-8066-D921B78F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5294376"/>
            <a:ext cx="10424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8212B"/>
                </a:solidFill>
                <a:latin typeface="Arial"/>
                <a:ea typeface="Arial"/>
                <a:cs typeface="Arial"/>
              </a:rPr>
              <a:t>.8</a:t>
            </a:r>
            <a:endParaRPr sz="880"/>
          </a:p>
        </p:txBody>
      </p:sp>
      <p:sp>
        <p:nvSpPr>
          <p:cNvPr id="64" name="Shape 61">
            <a:extLst xmlns:a="http://schemas.openxmlformats.org/drawingml/2006/main">
              <a:ext uri="{FF2B5EF4-FFF2-40B4-BE49-F238E27FC236}">
                <a16:creationId xmlns:a16="http://schemas.microsoft.com/office/drawing/2014/main" id="{99D6355E-D3A9-4E3B-BC1A-A4535F07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62456"/>
            <a:ext cx="1984248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2700">
            <a:solidFill>
              <a:srgbClr val="D9CCEF">
                <a:alpha val="0"/>
              </a:srgbClr>
            </a:solidFill>
            <a:prstDash val="solid"/>
          </a:ln>
        </p:spPr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15E21171-07CF-44F5-9845-3580B2AB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1403604"/>
            <a:ext cx="1837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6F4E9C"/>
                </a:solidFill>
                <a:latin typeface="Microsoft YaHei"/>
                <a:ea typeface="Microsoft YaHei"/>
                <a:cs typeface="Microsoft YaHei"/>
              </a:rPr>
              <a:t>Joey: 0.6 → 0.3</a:t>
            </a:r>
            <a:endParaRPr sz="880"/>
          </a:p>
        </p:txBody>
      </p:sp>
      <p:sp>
        <p:nvSpPr>
          <p:cNvPr id="66" name="Text 63">
            <a:extLst xmlns:a="http://schemas.openxmlformats.org/drawingml/2006/main">
              <a:ext uri="{FF2B5EF4-FFF2-40B4-BE49-F238E27FC236}">
                <a16:creationId xmlns:a16="http://schemas.microsoft.com/office/drawing/2014/main" id="{C2DF8F9F-E85F-4DFA-BABE-65D5C3F1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数据来源：selected_weights.csv；未在网格点之间插值</a:t>
            </a:r>
            <a:endParaRPr sz="670"/>
          </a:p>
        </p:txBody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FF67D409-DF05-4015-8006-F2FA1A81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6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A09E27E-138B-4C39-B066-AB558D4797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96118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815628-1F7F-412C-B0EB-AA060A7A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E0A53B-6BCD-402E-BBCB-B4FD3FEC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统计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3E1687-CE76-4B81-92EC-27E10BE5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CB08C0-E861-4ED6-9071-CD3ECF61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748F42-DA40-48AE-AD74-14CC8F28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建筑级自助法不确定性分析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A5B3430-AA89-483A-9B64-9B81222C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以建筑为单位进行配对重采样，区间描述本次 8 栋建筑样本内的不确定性。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DD19C9-D9FC-4ED4-AD92-A4712454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73352"/>
            <a:ext cx="7882128" cy="3273552"/>
          </a:xfrm>
          <a:prstGeom xmlns:a="http://schemas.openxmlformats.org/drawingml/2006/main" prst="roundRect">
            <a:avLst>
              <a:gd name="adj" fmla="val 2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0E7EF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423E438-4B7B-4337-AF86-B418C437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319272"/>
            <a:ext cx="6656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B9C6D2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5B02A6A-CDC5-4254-BF25-E0E648D1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624" y="2267712"/>
            <a:ext cx="0" cy="20848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35C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1F98B95-4F48-4C20-8244-62D12CCE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184" y="3657600"/>
            <a:ext cx="182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B35C00"/>
                </a:solidFill>
                <a:latin typeface="Arial"/>
                <a:ea typeface="Arial"/>
                <a:cs typeface="Arial"/>
              </a:rPr>
              <a:t>0</a:t>
            </a:r>
            <a:endParaRPr sz="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001C7C7-8C60-4FD3-BF5E-CEE7C968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35" y="3319272"/>
            <a:ext cx="37951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6F4E9C"/>
            </a:solidFill>
            <a:prstDash val="solid"/>
            <a:headEnd type="none"/>
            <a:tailEnd type="non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CC992A6-403A-4982-BAD2-6BB72CCF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286" y="323697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C1235AE-DC1D-457F-8DFF-E0E3F1DC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F4E9C"/>
                </a:solidFill>
                <a:latin typeface="Arial"/>
                <a:ea typeface="Arial"/>
                <a:cs typeface="Arial"/>
              </a:rPr>
              <a:t>95% 自助法区间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17CBFA8-5575-4194-9909-0F6492DB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230" y="2596896"/>
            <a:ext cx="10607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点估计</a:t>
            </a:r>
            <a:endParaRPr sz="83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0465950-4423-4890-BD60-13AF39A7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148840"/>
            <a:ext cx="2240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18A76C"/>
                </a:solidFill>
                <a:latin typeface="Arial"/>
                <a:ea typeface="Arial"/>
                <a:cs typeface="Arial"/>
              </a:rPr>
              <a:t>区间上界低于 0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41570D3-BA70-409E-980D-5263D849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673352"/>
            <a:ext cx="2670048" cy="3273552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24394A5-BDCC-4FA8-A63C-5EC4E18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048256"/>
            <a:ext cx="2057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10,000</a:t>
            </a:r>
            <a:endParaRPr sz="2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A0AB35C-C5BF-4737-BABC-2BAE5320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706624"/>
            <a:ext cx="2057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B8C6"/>
                </a:solidFill>
                <a:latin typeface="Microsoft YaHei"/>
                <a:ea typeface="Microsoft YaHei"/>
                <a:cs typeface="Microsoft YaHei"/>
              </a:rPr>
              <a:t>次重采样 · 种子 42</a:t>
            </a:r>
            <a:endParaRPr sz="11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F5E39FD-5FE2-4F20-B685-1C39FC7D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273552"/>
            <a:ext cx="2057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C7B8FF"/>
                </a:solidFill>
                <a:latin typeface="Arial"/>
                <a:ea typeface="Arial"/>
                <a:cs typeface="Arial"/>
              </a:rPr>
              <a:t>−0.004198</a:t>
            </a:r>
            <a:endParaRPr sz="2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FD9EA4-85C6-4AC4-89F4-E28DA83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931920"/>
            <a:ext cx="2057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B8C6"/>
                </a:solidFill>
                <a:latin typeface="Microsoft YaHei"/>
                <a:ea typeface="Microsoft YaHei"/>
                <a:cs typeface="Microsoft YaHei"/>
              </a:rPr>
              <a:t>点估计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A59E1FB-51D3-459E-A0D0-3252494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266944"/>
            <a:ext cx="12984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6873"/>
                </a:solidFill>
                <a:latin typeface="Arial"/>
                <a:ea typeface="Arial"/>
                <a:cs typeface="Arial"/>
              </a:rPr>
              <a:t>95% 区间</a:t>
            </a:r>
            <a:endParaRPr sz="9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42BD61C-BD4D-4231-BCC4-FFD3DB0D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184648"/>
            <a:ext cx="3063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[ −0.006850 ,  −0.001719 ]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8D19461-67D9-402E-B934-6ACEE26F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5212080"/>
            <a:ext cx="213055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2700">
            <a:solidFill>
              <a:srgbClr val="F0D6C4">
                <a:alpha val="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33318ED-E6F4-4B14-8E43-0A933A8A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5253228"/>
            <a:ext cx="19842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仅适用于固定 8 栋建筑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4B5BE5E-9C2F-4C2C-9C1B-C254500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数据来源：Phase 9.1 最终统计；未重新采样</a:t>
            </a:r>
            <a:endParaRPr sz="67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1BA0B1C-CF1F-4855-A1A7-7BA1A743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56C4AB6-808A-4A64-86F3-BE3CB93D89D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86883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1E5CCD-8DC8-4AA5-83FF-F9CA7C07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6B3D7A-C18F-4176-9499-289A4AB0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复现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0DF975-7D9F-486B-ACBF-D368E91F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A71A080-4088-4562-8CF7-288ADAC3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4082DD-7927-4F4B-8ECA-DE746717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DOEF 公式与预测输出的一致性</a:t>
            </a:r>
            <a:endParaRPr sz="2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9CBF3A4-41EE-4209-B149-D310CB87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按公式复算 5,760 个测试预测，与保存的输出逐点比对；该检查不涉及重新训练。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942B9C-4AEE-4872-A94B-237F843A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27632"/>
            <a:ext cx="5074920" cy="4279392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FC1C71-BDDF-4989-8EBB-7FBC8BCF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176272"/>
            <a:ext cx="43891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wᵦ × LightGBM + (1 − wᵦ) × DayWeek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3D2C44-737A-4FE9-BDFA-240E80C5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299923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=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1203EC1-7CDA-4DA7-81FB-56FF2A1F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84448"/>
            <a:ext cx="32461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B4C5D2"/>
                </a:solidFill>
                <a:latin typeface="Arial"/>
                <a:ea typeface="Arial"/>
                <a:cs typeface="Arial"/>
              </a:rPr>
              <a:t>保存的融合预测</a:t>
            </a:r>
            <a:endParaRPr sz="1500"/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B4C5D2"/>
                </a:solidFill>
                <a:latin typeface="Arial"/>
                <a:ea typeface="Arial"/>
                <a:cs typeface="Arial"/>
              </a:rPr>
              <a:t>ensemble_prediction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D0002AB-F30A-419B-A000-9D94420B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74336"/>
            <a:ext cx="2487168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A54"/>
          </a:solidFill>
          <a:ln xmlns:a="http://schemas.openxmlformats.org/drawingml/2006/main"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450DB3E-A23B-4E09-A5E5-CC054BE8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76" y="5015484"/>
            <a:ext cx="23408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24C7FF"/>
                </a:solidFill>
                <a:latin typeface="Microsoft YaHei"/>
                <a:ea typeface="Microsoft YaHei"/>
                <a:cs typeface="Microsoft YaHei"/>
              </a:rPr>
              <a:t>逐点一致性检查</a:t>
            </a:r>
            <a:endParaRPr sz="9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F040810-0E45-4AD1-93CA-CC552CA9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627632"/>
            <a:ext cx="5413248" cy="4279392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0E7EF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F2E4EA2-0FB0-40F6-94C9-926E634E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57984"/>
            <a:ext cx="20299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5,760</a:t>
            </a:r>
            <a:endParaRPr sz="2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806502D-DE20-446B-A658-7FED561E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816352"/>
            <a:ext cx="20299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个预测值参与比对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2C26D72-5E7B-4148-92EC-CCF90CC6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157984"/>
            <a:ext cx="20299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8A76C"/>
                </a:solidFill>
                <a:latin typeface="Arial"/>
                <a:ea typeface="Arial"/>
                <a:cs typeface="Arial"/>
              </a:rPr>
              <a:t>0.0 kW</a:t>
            </a:r>
            <a:endParaRPr sz="2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A10CE8-FA49-496D-BF61-954D64A3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816352"/>
            <a:ext cx="20299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最大绝对差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E75B85-7252-4E99-96B0-53BED80F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4187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DEE6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A827809-7A74-4D69-85CC-BD9BB49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40480"/>
            <a:ext cx="3931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8 栋建筑 × 720 测试小时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39F3E21-64EA-4A25-8C5A-03B334A3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370832"/>
            <a:ext cx="3931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873"/>
                </a:solidFill>
                <a:latin typeface="Arial"/>
                <a:ea typeface="Arial"/>
                <a:cs typeface="Arial"/>
              </a:rPr>
              <a:t>公式复算与保存的预测一致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873"/>
                </a:solidFill>
                <a:latin typeface="Arial"/>
                <a:ea typeface="Arial"/>
                <a:cs typeface="Arial"/>
              </a:rPr>
              <a:t>容差 1e−12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59ED351-466A-4066-AA8E-75B997A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数据来源：Phase 9.1 最终统计；仅验证公式与预测输出一致性</a:t>
            </a:r>
            <a:endParaRPr sz="67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C867D5D-7F0A-4AEE-A219-D6D920F5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F9A6CA9-72D3-469C-986A-1FDDB714589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164856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AA5CB3-1D42-4DED-BC4F-35136E2A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92024"/>
            <a:ext cx="6583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30">
                <a:solidFill>
                  <a:srgbClr val="6F4E9C"/>
                </a:solidFill>
                <a:latin typeface="Arial"/>
                <a:ea typeface="Arial"/>
                <a:cs typeface="Arial"/>
              </a:rPr>
              <a:t>DOEF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C9AF4E-0A63-451A-AF94-42399E7D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1" spc="100">
                <a:solidFill>
                  <a:srgbClr val="7A8897"/>
                </a:solidFill>
                <a:latin typeface="Arial"/>
                <a:ea typeface="Arial"/>
                <a:cs typeface="Arial"/>
              </a:rPr>
              <a:t>附录 · 对比</a:t>
            </a:r>
            <a:endParaRPr sz="83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677DE7-DA43-4822-AB78-D6B6C903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73736"/>
            <a:ext cx="896112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40DBF02-2927-49A8-9D85-2A57C633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214884"/>
            <a:ext cx="74980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</a:t>
            </a:r>
            <a:endParaRPr sz="82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D4790D-841F-4C47-8988-4C29C7AA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548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稳健调度的对比实验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BE83A7-1C82-4C52-83B3-D2D2ED8F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4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验证集选出的稳健调度方案在测试期后悔值更高；保留该结果，未反调参数。</a:t>
            </a:r>
            <a:endParaRPr sz="12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675CA80-A3D0-43D5-B48A-185F76BC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72768"/>
            <a:ext cx="5001768" cy="4315968"/>
          </a:xfrm>
          <a:prstGeom xmlns:a="http://schemas.openxmlformats.org/drawingml/2006/main" prst="roundRect">
            <a:avLst>
              <a:gd name="adj" fmla="val 1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0E7EF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D1C7E0E-28D4-4320-B672-7DF23886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1952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F4E9C"/>
                </a:solidFill>
                <a:latin typeface="Arial"/>
                <a:ea typeface="Arial"/>
                <a:cs typeface="Arial"/>
              </a:rPr>
              <a:t>验证集选择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37408EA-CA29-4D93-8677-659037B5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31720"/>
            <a:ext cx="3017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稳健方案 λ = 0.5</a:t>
            </a:r>
            <a:endParaRPr sz="2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100A2C-605E-4569-8DFD-5A733956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17520"/>
            <a:ext cx="395935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873"/>
                </a:solidFill>
                <a:latin typeface="Microsoft YaHei"/>
                <a:ea typeface="Microsoft YaHei"/>
                <a:cs typeface="Microsoft YaHei"/>
              </a:rPr>
              <a:t>λ 由验证集选择；测试期保持不变。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B077063-5301-4E4E-8613-6B1806B3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29200"/>
            <a:ext cx="160934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2700">
            <a:solidFill>
              <a:srgbClr val="DBD0F0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545459-9CDA-4619-8DF1-3DF84374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070348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6F4E9C"/>
                </a:solidFill>
                <a:latin typeface="Microsoft YaHei"/>
                <a:ea typeface="Microsoft YaHei"/>
                <a:cs typeface="Microsoft YaHei"/>
              </a:rPr>
              <a:t>选择过程完整性</a:t>
            </a:r>
            <a:endParaRPr sz="84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BF50196-B1E6-44D6-90C3-43FBB197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1572768"/>
            <a:ext cx="5532120" cy="4315968"/>
          </a:xfrm>
          <a:prstGeom xmlns:a="http://schemas.openxmlformats.org/drawingml/2006/main" prst="roundRect">
            <a:avLst>
              <a:gd name="adj" fmla="val 1907"/>
            </a:avLst>
          </a:prstGeom>
          <a:solidFill xmlns:a="http://schemas.openxmlformats.org/drawingml/2006/main">
            <a:srgbClr val="0B192B"/>
          </a:solidFill>
          <a:ln xmlns:a="http://schemas.openxmlformats.org/drawingml/2006/main" w="10160">
            <a:solidFill>
              <a:srgbClr val="0B192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1FC2301-C412-4950-AA9A-0B55E926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901952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FC1D0"/>
                </a:solidFill>
                <a:latin typeface="Arial"/>
                <a:ea typeface="Arial"/>
                <a:cs typeface="Arial"/>
              </a:rPr>
              <a:t>测试平均后悔值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F405040-6C29-4F61-ADCB-353CDD21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331720"/>
            <a:ext cx="2011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9C7A"/>
                </a:solidFill>
                <a:latin typeface="Arial"/>
                <a:ea typeface="Arial"/>
                <a:cs typeface="Arial"/>
              </a:rPr>
              <a:t>20.4635 kW</a:t>
            </a:r>
            <a:endParaRPr sz="2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C9157B3-25A6-4760-8ABB-1C5CBCBC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990088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B8C6"/>
                </a:solidFill>
                <a:latin typeface="Microsoft YaHei"/>
                <a:ea typeface="Microsoft YaHei"/>
                <a:cs typeface="Microsoft YaHei"/>
              </a:rPr>
              <a:t>稳健方案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2555696-DB78-4F0F-BA90-D3F64EC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331720"/>
            <a:ext cx="2011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4C7FF"/>
                </a:solidFill>
                <a:latin typeface="Arial"/>
                <a:ea typeface="Arial"/>
                <a:cs typeface="Arial"/>
              </a:rPr>
              <a:t>11.1274 kW</a:t>
            </a:r>
            <a:endParaRPr sz="2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89495AE-62CE-4C59-B368-8E0AA86D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90088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B8C6"/>
                </a:solidFill>
                <a:latin typeface="Microsoft YaHei"/>
                <a:ea typeface="Microsoft YaHei"/>
                <a:cs typeface="Microsoft YaHei"/>
              </a:rPr>
              <a:t>确定性对照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68A7E55-0B56-4780-90BF-AE38C0F8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21608"/>
            <a:ext cx="44988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1506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548EB83-B34F-4469-8225-5E6133C6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096512"/>
            <a:ext cx="44805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该稳健方案的测试后悔值高于确定性对照，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BFF"/>
                </a:solidFill>
                <a:latin typeface="Microsoft YaHei"/>
                <a:ea typeface="Microsoft YaHei"/>
                <a:cs typeface="Microsoft YaHei"/>
              </a:rPr>
              <a:t>最终 DOEF 未采用这一方案。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FA198EC-E68F-49E7-BFFC-20BA7086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5166360"/>
            <a:ext cx="2240280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52A23"/>
          </a:solidFill>
          <a:ln xmlns:a="http://schemas.openxmlformats.org/drawingml/2006/main" w="12700">
            <a:solidFill>
              <a:srgbClr val="452A23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6FE1FFC-0991-4153-AEF0-7EFC602E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5207508"/>
            <a:ext cx="20939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 b="1">
                <a:solidFill>
                  <a:srgbClr val="FFC0A5"/>
                </a:solidFill>
                <a:latin typeface="Microsoft YaHei"/>
                <a:ea typeface="Microsoft YaHei"/>
                <a:cs typeface="Microsoft YaHei"/>
              </a:rPr>
              <a:t>稳健调度失效案例</a:t>
            </a:r>
            <a:endParaRPr sz="79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EE705A0-ECB9-4861-BE09-EB0E979A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53912"/>
            <a:ext cx="10744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97A2AD"/>
                </a:solidFill>
                <a:latin typeface="Arial"/>
                <a:ea typeface="Arial"/>
                <a:cs typeface="Arial"/>
              </a:rPr>
              <a:t>Phase 5.7 已有负向结果；稳健方案 λ=0.5，未重新运行</a:t>
            </a:r>
            <a:endParaRPr sz="67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672B96F-546E-4E06-8D89-38AF08DE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10332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996A4"/>
                </a:solidFill>
                <a:latin typeface="Microsoft YaHei"/>
                <a:ea typeface="Microsoft YaHei"/>
                <a:cs typeface="Microsoft YaHei"/>
              </a:rPr>
              <a:t>智储云控 · DOEF | 补充实验与方法说明</a:t>
            </a:r>
            <a:endParaRPr sz="75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2DCA88A-9813-41FC-8C61-5BDC8662051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70544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2026-09-11T08:51:09.4340000Z</dcterms:created>
  <dcterms:modified xsi:type="dcterms:W3CDTF">2026-09-11T08:51:09.4340000Z</dcterms:modified>
</coreProperties>
</file>