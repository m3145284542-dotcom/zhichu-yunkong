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ba8bcd90ef4113" /><Relationship Type="http://schemas.openxmlformats.org/officeDocument/2006/relationships/extended-properties" Target="/docProps/app.xml" Id="Rebf1f98a97d646f7" /><Relationship Type="http://schemas.openxmlformats.org/officeDocument/2006/relationships/officeDocument" Target="/ppt/presentation.xml" Id="R075990aab22649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c344cd44c7458f"/>
  </p:sldMasterIdLst>
  <p:notesMasterIdLst>
    <p:notesMasterId xmlns:r="http://schemas.openxmlformats.org/officeDocument/2006/relationships" r:id="Rf2d213ae26b14883"/>
  </p:notesMasterIdLst>
  <p:sldIdLst>
    <p:sldId xmlns:r="http://schemas.openxmlformats.org/officeDocument/2006/relationships" id="256" r:id="Re1be27c12e634091"/>
    <p:sldId xmlns:r="http://schemas.openxmlformats.org/officeDocument/2006/relationships" id="257" r:id="R67caaec7a9164004"/>
    <p:sldId xmlns:r="http://schemas.openxmlformats.org/officeDocument/2006/relationships" id="258" r:id="R9f1cf8e7080e47f0"/>
    <p:sldId xmlns:r="http://schemas.openxmlformats.org/officeDocument/2006/relationships" id="259" r:id="R5b95b668867b4858"/>
    <p:sldId xmlns:r="http://schemas.openxmlformats.org/officeDocument/2006/relationships" id="260" r:id="Rd2038bf26a214bfc"/>
    <p:sldId xmlns:r="http://schemas.openxmlformats.org/officeDocument/2006/relationships" id="261" r:id="Re797665c90754a2b"/>
    <p:sldId xmlns:r="http://schemas.openxmlformats.org/officeDocument/2006/relationships" id="262" r:id="R4d4aeb2e3ff74973"/>
    <p:sldId xmlns:r="http://schemas.openxmlformats.org/officeDocument/2006/relationships" id="263" r:id="Rb69fba13045b4710"/>
    <p:sldId xmlns:r="http://schemas.openxmlformats.org/officeDocument/2006/relationships" id="264" r:id="Re9eed2f8c87946c2"/>
    <p:sldId xmlns:r="http://schemas.openxmlformats.org/officeDocument/2006/relationships" id="265" r:id="Rf2a3ec76627f42c2"/>
    <p:sldId xmlns:r="http://schemas.openxmlformats.org/officeDocument/2006/relationships" id="266" r:id="Rffc2094caf1a450c"/>
    <p:sldId xmlns:r="http://schemas.openxmlformats.org/officeDocument/2006/relationships" id="267" r:id="R6b4167f7a2b54876"/>
    <p:sldId xmlns:r="http://schemas.openxmlformats.org/officeDocument/2006/relationships" id="268" r:id="R597dccff7cb649c9"/>
    <p:sldId xmlns:r="http://schemas.openxmlformats.org/officeDocument/2006/relationships" id="269" r:id="R5ea4ba56b1f448ec"/>
    <p:sldId xmlns:r="http://schemas.openxmlformats.org/officeDocument/2006/relationships" id="270" r:id="R82c338465b4c4273"/>
    <p:sldId xmlns:r="http://schemas.openxmlformats.org/officeDocument/2006/relationships" id="271" r:id="R1340e550f3584260"/>
    <p:sldId xmlns:r="http://schemas.openxmlformats.org/officeDocument/2006/relationships" id="272" r:id="R9ec239e49a824c33"/>
    <p:sldId xmlns:r="http://schemas.openxmlformats.org/officeDocument/2006/relationships" id="273" r:id="Ra5a20ae427c94f9e"/>
    <p:sldId xmlns:r="http://schemas.openxmlformats.org/officeDocument/2006/relationships" id="274" r:id="R386adf8540f34277"/>
    <p:sldId xmlns:r="http://schemas.openxmlformats.org/officeDocument/2006/relationships" id="275" r:id="R852c736ced704ceb"/>
    <p:sldId xmlns:r="http://schemas.openxmlformats.org/officeDocument/2006/relationships" id="276" r:id="R4cee036417f54b49"/>
    <p:sldId xmlns:r="http://schemas.openxmlformats.org/officeDocument/2006/relationships" id="277" r:id="Rd3f956c34b0a459e"/>
    <p:sldId xmlns:r="http://schemas.openxmlformats.org/officeDocument/2006/relationships" id="278" r:id="Rcd4c1ef4f9c84d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c5f6efb0eb448f7" /><Relationship Type="http://schemas.openxmlformats.org/officeDocument/2006/relationships/slideMaster" Target="/ppt/slideMasters/slideMaster1.xml" Id="Rf4c344cd44c7458f" /><Relationship Type="http://schemas.openxmlformats.org/officeDocument/2006/relationships/notesMaster" Target="/ppt/notesMasters/notesMaster1.xml" Id="Rf2d213ae26b14883" /><Relationship Type="http://schemas.openxmlformats.org/officeDocument/2006/relationships/presProps" Target="/ppt/presProps.xml" Id="R89ecc12bd19042e5" /><Relationship Type="http://schemas.openxmlformats.org/officeDocument/2006/relationships/viewProps" Target="/ppt/viewProps.xml" Id="Rda19499315b24e3a" /><Relationship Type="http://schemas.openxmlformats.org/officeDocument/2006/relationships/tableStyles" Target="/ppt/tableStyles.xml" Id="Re1ec7a09352e4bfa" /><Relationship Type="http://schemas.openxmlformats.org/officeDocument/2006/relationships/slide" Target="/ppt/slides/slide1.xml" Id="Re1be27c12e634091" /><Relationship Type="http://schemas.openxmlformats.org/officeDocument/2006/relationships/slide" Target="/ppt/slides/slide2.xml" Id="R67caaec7a9164004" /><Relationship Type="http://schemas.openxmlformats.org/officeDocument/2006/relationships/slide" Target="/ppt/slides/slide3.xml" Id="R9f1cf8e7080e47f0" /><Relationship Type="http://schemas.openxmlformats.org/officeDocument/2006/relationships/slide" Target="/ppt/slides/slide4.xml" Id="R5b95b668867b4858" /><Relationship Type="http://schemas.openxmlformats.org/officeDocument/2006/relationships/slide" Target="/ppt/slides/slide5.xml" Id="Rd2038bf26a214bfc" /><Relationship Type="http://schemas.openxmlformats.org/officeDocument/2006/relationships/slide" Target="/ppt/slides/slide6.xml" Id="Re797665c90754a2b" /><Relationship Type="http://schemas.openxmlformats.org/officeDocument/2006/relationships/slide" Target="/ppt/slides/slide7.xml" Id="R4d4aeb2e3ff74973" /><Relationship Type="http://schemas.openxmlformats.org/officeDocument/2006/relationships/slide" Target="/ppt/slides/slide8.xml" Id="Rb69fba13045b4710" /><Relationship Type="http://schemas.openxmlformats.org/officeDocument/2006/relationships/slide" Target="/ppt/slides/slide9.xml" Id="Re9eed2f8c87946c2" /><Relationship Type="http://schemas.openxmlformats.org/officeDocument/2006/relationships/slide" Target="/ppt/slides/slide10.xml" Id="Rf2a3ec76627f42c2" /><Relationship Type="http://schemas.openxmlformats.org/officeDocument/2006/relationships/slide" Target="/ppt/slides/slide11.xml" Id="Rffc2094caf1a450c" /><Relationship Type="http://schemas.openxmlformats.org/officeDocument/2006/relationships/slide" Target="/ppt/slides/slide12.xml" Id="R6b4167f7a2b54876" /><Relationship Type="http://schemas.openxmlformats.org/officeDocument/2006/relationships/slide" Target="/ppt/slides/slide13.xml" Id="R597dccff7cb649c9" /><Relationship Type="http://schemas.openxmlformats.org/officeDocument/2006/relationships/slide" Target="/ppt/slides/slide14.xml" Id="R5ea4ba56b1f448ec" /><Relationship Type="http://schemas.openxmlformats.org/officeDocument/2006/relationships/slide" Target="/ppt/slides/slide15.xml" Id="R82c338465b4c4273" /><Relationship Type="http://schemas.openxmlformats.org/officeDocument/2006/relationships/slide" Target="/ppt/slides/slide16.xml" Id="R1340e550f3584260" /><Relationship Type="http://schemas.openxmlformats.org/officeDocument/2006/relationships/slide" Target="/ppt/slides/slide17.xml" Id="R9ec239e49a824c33" /><Relationship Type="http://schemas.openxmlformats.org/officeDocument/2006/relationships/slide" Target="/ppt/slides/slide18.xml" Id="Ra5a20ae427c94f9e" /><Relationship Type="http://schemas.openxmlformats.org/officeDocument/2006/relationships/slide" Target="/ppt/slides/slide19.xml" Id="R386adf8540f34277" /><Relationship Type="http://schemas.openxmlformats.org/officeDocument/2006/relationships/slide" Target="/ppt/slides/slide20.xml" Id="R852c736ced704ceb" /><Relationship Type="http://schemas.openxmlformats.org/officeDocument/2006/relationships/slide" Target="/ppt/slides/slide21.xml" Id="R4cee036417f54b49" /><Relationship Type="http://schemas.openxmlformats.org/officeDocument/2006/relationships/slide" Target="/ppt/slides/slide22.xml" Id="Rd3f956c34b0a459e" /><Relationship Type="http://schemas.openxmlformats.org/officeDocument/2006/relationships/slide" Target="/ppt/slides/slide23.xml" Id="Rcd4c1ef4f9c84d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d20945cc874ab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75c1671c97d4a39" /><Relationship Type="http://schemas.openxmlformats.org/officeDocument/2006/relationships/notesMaster" Target="/ppt/notesMasters/notesMaster1.xml" Id="Ree74d280ab134b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fd65faef6349d5" /><Relationship Type="http://schemas.openxmlformats.org/officeDocument/2006/relationships/notesMaster" Target="/ppt/notesMasters/notesMaster1.xml" Id="Rfa10ee503f094e0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8b34fc436641b7" /><Relationship Type="http://schemas.openxmlformats.org/officeDocument/2006/relationships/notesMaster" Target="/ppt/notesMasters/notesMaster1.xml" Id="R8bdabc44f1ab47d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f60037999149ba" /><Relationship Type="http://schemas.openxmlformats.org/officeDocument/2006/relationships/notesMaster" Target="/ppt/notesMasters/notesMaster1.xml" Id="R7baddf23733d4b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6def42b9ad4979" /><Relationship Type="http://schemas.openxmlformats.org/officeDocument/2006/relationships/notesMaster" Target="/ppt/notesMasters/notesMaster1.xml" Id="R98fd15d889614b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ba743f03494a48" /><Relationship Type="http://schemas.openxmlformats.org/officeDocument/2006/relationships/notesMaster" Target="/ppt/notesMasters/notesMaster1.xml" Id="R46a8c827cfc3498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fe58462bf246e9" /><Relationship Type="http://schemas.openxmlformats.org/officeDocument/2006/relationships/notesMaster" Target="/ppt/notesMasters/notesMaster1.xml" Id="Rffe65118d6ed419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57ae79fad64347" /><Relationship Type="http://schemas.openxmlformats.org/officeDocument/2006/relationships/notesMaster" Target="/ppt/notesMasters/notesMaster1.xml" Id="R3eeaefee5502414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ed0df1e9cc34dd4" /><Relationship Type="http://schemas.openxmlformats.org/officeDocument/2006/relationships/notesMaster" Target="/ppt/notesMasters/notesMaster1.xml" Id="R72b2110b66244a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cc378b361a4a02" /><Relationship Type="http://schemas.openxmlformats.org/officeDocument/2006/relationships/notesMaster" Target="/ppt/notesMasters/notesMaster1.xml" Id="Rce7ca3d995bd49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a5cedd2e2214e11" /><Relationship Type="http://schemas.openxmlformats.org/officeDocument/2006/relationships/notesMaster" Target="/ppt/notesMasters/notesMaster1.xml" Id="R48146993a4bc4ce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4063588aed4582" /><Relationship Type="http://schemas.openxmlformats.org/officeDocument/2006/relationships/notesMaster" Target="/ppt/notesMasters/notesMaster1.xml" Id="R42b95d508d4c4cf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9cd0f5343d4ee6" /><Relationship Type="http://schemas.openxmlformats.org/officeDocument/2006/relationships/notesMaster" Target="/ppt/notesMasters/notesMaster1.xml" Id="R59c7ec2b9fd54c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346f9396364225" /><Relationship Type="http://schemas.openxmlformats.org/officeDocument/2006/relationships/notesMaster" Target="/ppt/notesMasters/notesMaster1.xml" Id="Re1774f8fe3e541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d5403257a044abc" /><Relationship Type="http://schemas.openxmlformats.org/officeDocument/2006/relationships/notesMaster" Target="/ppt/notesMasters/notesMaster1.xml" Id="R242221c3970a405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03d594bacf84eb9" /><Relationship Type="http://schemas.openxmlformats.org/officeDocument/2006/relationships/notesMaster" Target="/ppt/notesMasters/notesMaster1.xml" Id="R3c4fc255fe0a4a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bb2a64216144e56" /><Relationship Type="http://schemas.openxmlformats.org/officeDocument/2006/relationships/notesMaster" Target="/ppt/notesMasters/notesMaster1.xml" Id="R6d7f7d4c395f49b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dfc006b6d54b67" /><Relationship Type="http://schemas.openxmlformats.org/officeDocument/2006/relationships/notesMaster" Target="/ppt/notesMasters/notesMaster1.xml" Id="R6ed5943f4ad641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186e2748c0e40a1" /><Relationship Type="http://schemas.openxmlformats.org/officeDocument/2006/relationships/notesMaster" Target="/ppt/notesMasters/notesMaster1.xml" Id="R3e68c504d471494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9afb0ce71c84006" /><Relationship Type="http://schemas.openxmlformats.org/officeDocument/2006/relationships/notesMaster" Target="/ppt/notesMasters/notesMaster1.xml" Id="R84d1aadc6f3343d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b52e9dfcc6f4ef4" /><Relationship Type="http://schemas.openxmlformats.org/officeDocument/2006/relationships/notesMaster" Target="/ppt/notesMasters/notesMaster1.xml" Id="Rde5622aea4fb46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3a07140c8874f06" /><Relationship Type="http://schemas.openxmlformats.org/officeDocument/2006/relationships/notesMaster" Target="/ppt/notesMasters/notesMaster1.xml" Id="R15afb5e528ae405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06f4393ca5d4861" /><Relationship Type="http://schemas.openxmlformats.org/officeDocument/2006/relationships/notesMaster" Target="/ppt/notesMasters/notesMaster1.xml" Id="R4d0287b07e0345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开场定位：这是 AI + 储能决策问题。不要把 LightGBM 说成创新。过渡：既然预测服务于决策，传统预测指标是否真的能选出更好的储能方案？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用这一页制造核心张力。只说“在冻结项目范围内出现排序反转”，不说预测精度无关，也不把很小的差异升级为普遍因果机制。下一页解释预测如何进入调度链。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 AI 与电气评委建立共同心智模型：历史负荷→次日预测→受约束电池调度→真实削峰结果。概念图不是实验结果。过渡：既然下游目标不同，模型选择标准也要重新对齐。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这一页只讲一个改变：selection criterion。组件预测不变，电池约束不变。DOEF 不是联合训练、双层优化或新的 LightGBM。下一页给完整冻结信息流。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算法只解释一次。强调三段：Train 拟合组件；Validation 把候选权重送入同一电池优化，以 mean daily regret 选择并冻结；Test 只报告。Oracle 只作不可部署 hindsight 上界。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这是最强结果页。先落 6.36% 与 3.61%，再落 6/2/0。主动指出最差建筑 peak reduction 为 -1.017%，负结果没有被删。不要说 SOTA、普适最优、经济收益。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用“回答不同问题”化解 M02 的反转，避免讲成“峰时误差一定导致 regret”这种未经证明的普遍机制。核心句：预测指标仍然必要，但下游工程评价不能缺席。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用完整 8 栋反驳单楼/挑楼质疑。强调选楼不看 Validation/Test 性能，只基于质量和 Train 期形态。证据只支持固定范围的 multi-building robustness，不支持 unseen-building transfer。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这页专门防“你们是不是看 Test 调出来的？”权重只在 Validation 选，并在 Test 前冻结。也不要说 Test 从未被历史阶段看过，只能说 Phase 8/DOEF 选择不使用 Test。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把方法翻译成工程工作流：第二天怎么从历史数据走到调度。明确“repeatable workflow ≠ field deployment”，不声称工业实时验证。下一页提炼创新。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创新表述必须守边界：基础预测器不是创新，普通线性加权也不是创新。创新是 Validation 下游 regret 选权重 + 冻结信息边界 + 全八栋证据 + 同一储能评价链。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只收束，不引入新结果。最后一句：对储能削峰这样的下游任务，评价预测模型时应同时看预测误差和它支持的工程决策。停在这里，进入评委提问。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Q&amp;A：解释 296→82→8。强调模型成绩没有参与选楼。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4d07902bb646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ff4e86f10c49c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69601dc3d348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05594a102c41e5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MAIN_DARK">
    <p:bg>
      <p:bgPr>
        <a:solidFill xmlns:a="http://schemas.openxmlformats.org/drawingml/2006/main">
          <a:srgbClr val="0711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B9D9EA-864C-4A99-928A-18725741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C7FF"/>
          </a:solidFill>
          <a:ln xmlns:a="http://schemas.openxmlformats.org/drawingml/2006/main" w="12700">
            <a:solidFill>
              <a:srgbClr val="24C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B79E5F1-DDDF-4A89-A457-8B728CB80ED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MAIN_LIGHT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B36E461-7D0D-44AA-BFD7-53C470C05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FF"/>
          </a:solidFill>
          <a:ln xmlns:a="http://schemas.openxmlformats.org/drawingml/2006/main" w="12700">
            <a:solidFill>
              <a:srgbClr val="1677FF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3A53074-E402-41B6-BC61-CDAFAA5F2CC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APPENDIX"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EEAC747-D4C3-4947-B821-DDB7DBC90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5658803-58B6-4FA6-9C03-1C39F4EADCE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dc37caa7ab4484" /><Relationship Type="http://schemas.openxmlformats.org/officeDocument/2006/relationships/slideLayout" Target="/ppt/slideLayouts/slideLayout1.xml" Id="R4453ca66cb6a4e3f" /><Relationship Type="http://schemas.openxmlformats.org/officeDocument/2006/relationships/slideLayout" Target="/ppt/slideLayouts/slideLayout2.xml" Id="Ra46b45107feb4f0e" /><Relationship Type="http://schemas.openxmlformats.org/officeDocument/2006/relationships/slideLayout" Target="/ppt/slideLayouts/slideLayout3.xml" Id="R33a44b799ab64223" /><Relationship Type="http://schemas.openxmlformats.org/officeDocument/2006/relationships/slideLayout" Target="/ppt/slideLayouts/slideLayout4.xml" Id="Rbf91f47ac6704f7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E12EE18-BE5C-4370-9786-C518151AD81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53ca66cb6a4e3f"/>
    <p:sldLayoutId xmlns:r="http://schemas.openxmlformats.org/officeDocument/2006/relationships" id="2147483650" r:id="Ra46b45107feb4f0e"/>
    <p:sldLayoutId xmlns:r="http://schemas.openxmlformats.org/officeDocument/2006/relationships" id="2147483651" r:id="R33a44b799ab64223"/>
    <p:sldLayoutId xmlns:r="http://schemas.openxmlformats.org/officeDocument/2006/relationships" id="2147483652" r:id="Rbf91f47ac6704f7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81972b00054cd8" /><Relationship Type="http://schemas.openxmlformats.org/officeDocument/2006/relationships/notesSlide" Target="/ppt/notesSlides/notesSlide1.xml" Id="R8c3875ceccfb44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849b75a5b9a4b22" /><Relationship Type="http://schemas.openxmlformats.org/officeDocument/2006/relationships/image" Target="/ppt/media/image.png" Id="R70f8439b5b624b53" /><Relationship Type="http://schemas.openxmlformats.org/officeDocument/2006/relationships/notesSlide" Target="/ppt/notesSlides/notesSlide2.xml" Id="R5b418fdcac0743c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d1d443e5e14e88" /><Relationship Type="http://schemas.openxmlformats.org/officeDocument/2006/relationships/image" Target="/ppt/media/image2.png" Id="Rc2ba4c1ceb3242ae" /><Relationship Type="http://schemas.openxmlformats.org/officeDocument/2006/relationships/notesSlide" Target="/ppt/notesSlides/notesSlide3.xml" Id="R0359b74f636d42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66de5fe0924c87" /><Relationship Type="http://schemas.openxmlformats.org/officeDocument/2006/relationships/notesSlide" Target="/ppt/notesSlides/notesSlide4.xml" Id="Rdc4d74a2f7b840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e89ba00f1c4b09" /><Relationship Type="http://schemas.openxmlformats.org/officeDocument/2006/relationships/image" Target="/ppt/media/image3.png" Id="R7f2ceb13b4de4f96" /><Relationship Type="http://schemas.openxmlformats.org/officeDocument/2006/relationships/notesSlide" Target="/ppt/notesSlides/notesSlide5.xml" Id="R7bf918691b284d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949da30d79a437d" /><Relationship Type="http://schemas.openxmlformats.org/officeDocument/2006/relationships/image" Target="/ppt/media/image4.png" Id="R3e3c59ebfdfe4cc7" /><Relationship Type="http://schemas.openxmlformats.org/officeDocument/2006/relationships/notesSlide" Target="/ppt/notesSlides/notesSlide6.xml" Id="R70b1a68487b34d8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17d84c768b4a54" /><Relationship Type="http://schemas.openxmlformats.org/officeDocument/2006/relationships/notesSlide" Target="/ppt/notesSlides/notesSlide7.xml" Id="Re0e0937d22f744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041104c0cdb4024" /><Relationship Type="http://schemas.openxmlformats.org/officeDocument/2006/relationships/image" Target="/ppt/media/image5.png" Id="R2d3a4ffe185d4379" /><Relationship Type="http://schemas.openxmlformats.org/officeDocument/2006/relationships/notesSlide" Target="/ppt/notesSlides/notesSlide8.xml" Id="R86e6d706944943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6d6bc7323164f7c" /><Relationship Type="http://schemas.openxmlformats.org/officeDocument/2006/relationships/image" Target="/ppt/media/image6.png" Id="R429cb54824214d4d" /><Relationship Type="http://schemas.openxmlformats.org/officeDocument/2006/relationships/notesSlide" Target="/ppt/notesSlides/notesSlide9.xml" Id="R684aaa9cf49548e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3771cb206c4b9e" /><Relationship Type="http://schemas.openxmlformats.org/officeDocument/2006/relationships/notesSlide" Target="/ppt/notesSlides/notesSlide10.xml" Id="R8bb159f9a88c470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74e7645aff43c7" /><Relationship Type="http://schemas.openxmlformats.org/officeDocument/2006/relationships/image" Target="/ppt/media/image7.png" Id="R1ef62882d57b40cf" /><Relationship Type="http://schemas.openxmlformats.org/officeDocument/2006/relationships/notesSlide" Target="/ppt/notesSlides/notesSlide11.xml" Id="R5322e6fec7c644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b5b013e2aa4776" /><Relationship Type="http://schemas.openxmlformats.org/officeDocument/2006/relationships/notesSlide" Target="/ppt/notesSlides/notesSlide12.xml" Id="R05a65207fa84418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830e21ec70344efd" /><Relationship Type="http://schemas.openxmlformats.org/officeDocument/2006/relationships/notesSlide" Target="/ppt/notesSlides/notesSlide13.xml" Id="Re2ac22c95e4f4d4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b8b8e348f214861" /><Relationship Type="http://schemas.openxmlformats.org/officeDocument/2006/relationships/image" Target="/ppt/media/image8.png" Id="R245b767113bc4ebd" /><Relationship Type="http://schemas.openxmlformats.org/officeDocument/2006/relationships/notesSlide" Target="/ppt/notesSlides/notesSlide14.xml" Id="R1833f7b143d24a3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f61aec3a7fc4372" /><Relationship Type="http://schemas.openxmlformats.org/officeDocument/2006/relationships/notesSlide" Target="/ppt/notesSlides/notesSlide15.xml" Id="R9c466660541048d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809ca2513df418d" /><Relationship Type="http://schemas.openxmlformats.org/officeDocument/2006/relationships/notesSlide" Target="/ppt/notesSlides/notesSlide16.xml" Id="R1956b5acb91e4d3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5d10b1214fe14185" /><Relationship Type="http://schemas.openxmlformats.org/officeDocument/2006/relationships/notesSlide" Target="/ppt/notesSlides/notesSlide17.xml" Id="R35b7650f1a6e4f2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113c3e2a1b14d6c" /><Relationship Type="http://schemas.openxmlformats.org/officeDocument/2006/relationships/notesSlide" Target="/ppt/notesSlides/notesSlide18.xml" Id="R3d124ad8b88647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be124e3ab3a14b9c" /><Relationship Type="http://schemas.openxmlformats.org/officeDocument/2006/relationships/image" Target="/ppt/media/image9.png" Id="Re4772a95e5d94a49" /><Relationship Type="http://schemas.openxmlformats.org/officeDocument/2006/relationships/notesSlide" Target="/ppt/notesSlides/notesSlide19.xml" Id="R96d98de622734cc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c2ad0be82c24269" /><Relationship Type="http://schemas.openxmlformats.org/officeDocument/2006/relationships/image" Target="/ppt/media/image10.png" Id="Rad389d1992e146f7" /><Relationship Type="http://schemas.openxmlformats.org/officeDocument/2006/relationships/notesSlide" Target="/ppt/notesSlides/notesSlide20.xml" Id="Rd9e24530a82b445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6b63d8a3be994637" /><Relationship Type="http://schemas.openxmlformats.org/officeDocument/2006/relationships/notesSlide" Target="/ppt/notesSlides/notesSlide21.xml" Id="Reb3389842dcd478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b756b6db0704e0e" /><Relationship Type="http://schemas.openxmlformats.org/officeDocument/2006/relationships/notesSlide" Target="/ppt/notesSlides/notesSlide22.xml" Id="R3cd1b594867040c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a56390c8453d4f92" /><Relationship Type="http://schemas.openxmlformats.org/officeDocument/2006/relationships/notesSlide" Target="/ppt/notesSlides/notesSlide23.xml" Id="R02fdebe8c1414c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A6EFD40-8E70-49B2-ABB0-726D9CB4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91058F-CEF3-4D67-B455-1B64ADE5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作品介绍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03F2CC-D0AC-4664-B8CC-254976B5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143000"/>
            <a:ext cx="310896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900" b="1" spc="100">
                <a:solidFill>
                  <a:srgbClr val="24C7FF"/>
                </a:solidFill>
                <a:latin typeface="Arial"/>
                <a:ea typeface="Arial"/>
                <a:cs typeface="Arial"/>
              </a:rPr>
              <a:t>智能云储</a:t>
            </a:r>
            <a:endParaRPr sz="49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E6AF5CE-CCED-4FCB-A9F1-6BDB1FE6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93392"/>
            <a:ext cx="585216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基于决策导向预测融合的</a:t>
            </a:r>
            <a:endParaRPr sz="3400"/>
          </a:p>
          <a:p xmlns:a="http://schemas.openxmlformats.org/drawingml/2006/main">
            <a:pPr marL="0" indent="0">
              <a:lnSpc>
                <a:spcPct val="100000"/>
              </a:lnSpc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建筑储能削峰优化系统</a:t>
            </a:r>
            <a:endParaRPr sz="34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BB4F8A1-9747-48C2-B066-DEE5BE61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3657600"/>
            <a:ext cx="51206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B6C5D2"/>
                </a:solidFill>
                <a:latin typeface="Microsoft YaHei"/>
                <a:ea typeface="Microsoft YaHei"/>
                <a:cs typeface="Microsoft YaHei"/>
              </a:rPr>
              <a:t>面向储能决策的集成负荷预测方法</a:t>
            </a:r>
            <a:endParaRPr sz="16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5D26B53-E085-455A-8DE9-87F3F58A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170432"/>
            <a:ext cx="4709160" cy="429768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0D1F33">
              <a:alpha val="98000"/>
            </a:srgbClr>
          </a:solidFill>
          <a:ln xmlns:a="http://schemas.openxmlformats.org/drawingml/2006/main" w="12700">
            <a:solidFill>
              <a:srgbClr val="1D3A57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E563D24-B827-4C1C-8F71-DFC915C5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55E00">
              <a:alpha val="18000"/>
            </a:srgbClr>
          </a:solidFill>
          <a:ln xmlns:a="http://schemas.openxmlformats.org/drawingml/2006/main" w="25400">
            <a:solidFill>
              <a:srgbClr val="D55E00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3366387-D910-465E-AA2D-B442F54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24h</a:t>
            </a:r>
            <a:endParaRPr sz="12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4C4511B-2E24-48F8-83F1-CF81E2BD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</a:t>
            </a:r>
            <a:endParaRPr sz="11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2B86E36C-841A-4D77-A604-39637431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208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4E9C">
              <a:alpha val="18000"/>
            </a:srgbClr>
          </a:solidFill>
          <a:ln xmlns:a="http://schemas.openxmlformats.org/drawingml/2006/main" w="25400">
            <a:solidFill>
              <a:srgbClr val="6F4E9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61774F6-592A-4646-8A04-02011650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储能</a:t>
            </a:r>
            <a:endParaRPr sz="12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63BF3E9-5E0A-4F65-9892-E9BF94E3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5048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约束调度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569FAD6-5478-4E1A-9A28-4B3B068E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8672" y="1965960"/>
            <a:ext cx="932688" cy="93268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C7FF">
              <a:alpha val="18000"/>
            </a:srgbClr>
          </a:solidFill>
          <a:ln xmlns:a="http://schemas.openxmlformats.org/drawingml/2006/main" w="25400">
            <a:solidFill>
              <a:srgbClr val="24C7F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69EA7FD-446F-471E-8DBA-46D28E43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112" y="2212848"/>
            <a:ext cx="74980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峰值</a:t>
            </a:r>
            <a:endParaRPr sz="12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711D891-C089-4F9C-A9AC-32CC0EF2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1512" y="3090672"/>
            <a:ext cx="120700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实际削峰</a:t>
            </a:r>
            <a:endParaRPr sz="11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42EA64E8-8DDC-46D1-A12C-5E90772C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7576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C1CBD242-999E-47C0-92D1-9AAC414F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432304"/>
            <a:ext cx="40233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3DF9D45D-17BA-4349-A54E-1F7B23C9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9168" y="4608576"/>
            <a:ext cx="0" cy="16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F93283F8-DF2E-4CB6-8092-8B1D3A88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4460128"/>
            <a:ext cx="0" cy="4614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7BE64B93-9C8B-476B-99B0-6C8E5993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408208"/>
            <a:ext cx="0" cy="5653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8D287D7F-0B6B-49DD-BF6C-535491C1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4486577"/>
            <a:ext cx="0" cy="408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365B8B7-EEC2-47F8-B101-52528F1E5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572876"/>
            <a:ext cx="0" cy="235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03090268-9705-42FB-AD38-217F6E6A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438391"/>
            <a:ext cx="0" cy="5049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4A16D02-E3E3-4527-A88B-EA400601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544" y="4414569"/>
            <a:ext cx="0" cy="5526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2F6B6E3B-16D9-4F62-9ACF-F1D4B1E1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516899"/>
            <a:ext cx="0" cy="34794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83E9BF65-2C76-48C5-AEC0-624060796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336" y="4538310"/>
            <a:ext cx="0" cy="3051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C7F379F-090A-46E9-9A52-383C5C3D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422057"/>
            <a:ext cx="0" cy="5376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D41E140-5D88-4D1B-A245-D60DDDC4F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27088"/>
            <a:ext cx="0" cy="5275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9C543DD4-D3F0-4EDA-92F7-CC03310E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9024" y="4550131"/>
            <a:ext cx="0" cy="2814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ED1EBBCE-CDB7-4730-AC21-975A1485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0" y="4505974"/>
            <a:ext cx="0" cy="3697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E686F9B-55A5-4232-BFC8-A8BA57C2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3803904"/>
            <a:ext cx="35844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0F7A890-1BF4-4416-8891-02CAD29EB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24" y="3845052"/>
            <a:ext cx="34381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负荷预测与削峰调度</a:t>
            </a:r>
            <a:endParaRPr sz="110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B1F5F3A2-016F-4B04-9F1D-699B3763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5095875"/>
            <a:ext cx="3703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20">
                <a:solidFill>
                  <a:srgbClr val="9EB3C5"/>
                </a:solidFill>
                <a:latin typeface="Microsoft YaHei"/>
                <a:ea typeface="Microsoft YaHei"/>
                <a:cs typeface="Microsoft YaHei"/>
              </a:rPr>
              <a:t>24 小时超前预测 → 电池调度 → 实际峰值评价</a:t>
            </a:r>
            <a:endParaRPr sz="112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CD6C8E8E-40EA-4C6E-9885-88EC7D5C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5989320"/>
            <a:ext cx="3749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20">
                <a:solidFill>
                  <a:srgbClr val="647B90"/>
                </a:solidFill>
                <a:latin typeface="Microsoft YaHei"/>
                <a:ea typeface="Microsoft YaHei"/>
                <a:cs typeface="Microsoft YaHei"/>
              </a:rPr>
              <a:t>全球校园人工智能算法精英大赛 · AI+能源</a:t>
            </a:r>
            <a:endParaRPr sz="82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69ECE448-F616-43AD-BB4E-850F84E7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团队编号：AIC-2026-27833449</a:t>
            </a:r>
            <a:endParaRPr sz="75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B00BD13-E810-448E-B36D-8355B232E45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427473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75C44E7-9B84-4AB1-BE84-AA737910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76BCF3-3C69-4773-9A8C-DE9E144B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研究问题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DBDA656-B10D-418A-8F2E-10DA79084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预测精度与削峰效果的排序差异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07A2C19-9DCB-4901-B20E-E55324A1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八建筑测试结果中，XGBoost 的 RMSE 略低于 LightGBM，决策后悔值却略高。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D92BCC1-9AF3-45CF-85D1-61412565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490472"/>
            <a:ext cx="8366760" cy="4425696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8439b5b624b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2180" y="1545336"/>
            <a:ext cx="7672832" cy="43159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31A77C4-4BDD-486B-A085-A65B0CB64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90472"/>
            <a:ext cx="2395728" cy="4425696"/>
          </a:xfrm>
          <a:prstGeom xmlns:a="http://schemas.openxmlformats.org/drawingml/2006/main" prst="roundRect">
            <a:avLst>
              <a:gd name="adj" fmla="val 343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972BA7C2-2D2F-4D63-B880-B55E71C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78308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指标排序差异</a:t>
            </a:r>
            <a:endParaRPr sz="11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A679139-477A-434F-A501-411929FB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240280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RMSE</a:t>
            </a:r>
            <a:endParaRPr sz="130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651F638-5C7F-4A70-91EF-55CC1F71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32888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XGBoost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009E73"/>
                </a:solidFill>
                <a:latin typeface="Arial"/>
                <a:ea typeface="Arial"/>
                <a:cs typeface="Arial"/>
              </a:rPr>
              <a:t>0.216751</a:t>
            </a:r>
            <a:endParaRPr sz="1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0D4A3E1-4A7F-47D3-A658-97A4EC59B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346704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30" b="1">
                <a:solidFill>
                  <a:srgbClr val="AFC4D6"/>
                </a:solidFill>
                <a:latin typeface="Arial"/>
                <a:ea typeface="Arial"/>
                <a:cs typeface="Arial"/>
              </a:rPr>
              <a:t>决策后悔值</a:t>
            </a:r>
            <a:endParaRPr sz="11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F0CF291-7FED-4431-BAB2-AF57A87B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57600"/>
            <a:ext cx="173736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LightGBM</a:t>
            </a:r>
            <a:endParaRPr sz="1800"/>
          </a:p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D55E00"/>
                </a:solidFill>
                <a:latin typeface="Arial"/>
                <a:ea typeface="Arial"/>
                <a:cs typeface="Arial"/>
              </a:rPr>
              <a:t>0.116127</a:t>
            </a:r>
            <a:endParaRPr sz="180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2AADB345-6310-4B75-B9C7-E602D3C92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4517136"/>
            <a:ext cx="17830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91E4DD3-74FC-4F1E-A04C-31314E0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736592"/>
            <a:ext cx="1719072" cy="6766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预测指标与调度指标</a:t>
            </a:r>
            <a:endParaRPr sz="1170"/>
          </a:p>
          <a:p xmlns:a="http://schemas.openxmlformats.org/drawingml/2006/main">
            <a:pPr marL="0" indent="0">
              <a:buNone/>
            </a:pPr>
            <a:r>
              <a:rPr sz="117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需要分别评价</a:t>
            </a:r>
            <a:endParaRPr sz="11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1D418-4B85-4373-80D3-0EF4FADF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0032" y="5504688"/>
            <a:ext cx="19933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43F2A13A-F98B-4635-AD97-A51AD6A2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184" y="5545836"/>
            <a:ext cx="18470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3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预测精度仍是必要指标</a:t>
            </a:r>
            <a:endParaRPr sz="73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C81DCD3-0480-4177-B80A-4A406E0D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数据来源：Phase 9 最终基准；中文图基于相同冻结数据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6F30275-FA79-487E-B55A-F53909A0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4BBB0CD-794D-43CF-9688-F4399B0E70A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452107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0C8918-4664-4CF6-9F99-C8967C9E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0A52511-82A9-46B9-83A9-5D1EB4845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技术路线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BD61BB-1F59-494A-A04D-9BD30456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负荷预测驱动储能调度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1FE0914-94A4-43BA-8A10-F55866A2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预测生成充放电计划，再用实际负荷计算调度后的取电峰值。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AD5E7E2C-49DA-4872-8ECE-D407B873C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545336"/>
            <a:ext cx="10808208" cy="3968496"/>
          </a:xfrm>
          <a:prstGeom xmlns:a="http://schemas.openxmlformats.org/drawingml/2006/main" prst="roundRect">
            <a:avLst>
              <a:gd name="adj" fmla="val 2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a4c1ceb3242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669032" y="1600200"/>
            <a:ext cx="6860032" cy="3858768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43901A8A-B0FD-4A53-82A2-D13A5044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691640"/>
            <a:ext cx="6537960" cy="3931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122F301-B061-4A81-89A8-812540F08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4640" y="1773936"/>
            <a:ext cx="653796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从负荷预测到储能决策评价</a:t>
            </a:r>
            <a:endParaRPr sz="1300"/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CAC4024B-5959-40A2-B8DC-EEE3E9CA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96128"/>
            <a:ext cx="22128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B767F1F2-CB54-4ACF-9E94-244698D3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637276"/>
            <a:ext cx="20665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流程示意</a:t>
            </a:r>
            <a:endParaRPr sz="85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6E1AC7E1-B7AB-49FB-A095-25C0931C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5605272"/>
            <a:ext cx="7726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80">
                <a:solidFill>
                  <a:srgbClr val="A9B9C8"/>
                </a:solidFill>
                <a:latin typeface="Microsoft YaHei"/>
                <a:ea typeface="Microsoft YaHei"/>
                <a:cs typeface="Microsoft YaHei"/>
              </a:rPr>
              <a:t>各预测方法共享电池约束和优化器，比较预测输入对调度结果的影响。</a:t>
            </a:r>
            <a:endParaRPr sz="108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A96A42A5-B68C-4FBA-8F04-3A1183CA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概念示意：预测作为调度输入；图中不包含实验数值</a:t>
            </a:r>
            <a:endParaRPr sz="67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53074AB-B7F2-4951-9114-1BCA4F3C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95F55DE-8300-41C2-B2C9-B903EB3C12B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4683333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D4A7A97-389F-4CEC-AC58-C9F378EE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B4A1800-2965-4938-B53D-A0B8876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方法设计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0FC3F87-0E27-4A40-A5DE-E82C94E8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以验证集削峰表现选择融合权重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7612386-32C9-43FA-BC5E-92F3C0AC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预测分量与电池约束保持一致，融合权重依据验证集决策后悔值选择。</a:t>
            </a:r>
            <a:endParaRPr sz="124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503115C-DCD2-4381-813E-2B0CA483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828800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传统预测选择</a:t>
            </a:r>
            <a:endParaRPr sz="11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F7C69C32-2D46-43BC-8A75-55A85501E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6BC564A-744D-4B53-B1F6-281AF206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负荷预测</a:t>
            </a:r>
            <a:endParaRPr sz="11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E3889FC9-3951-423A-8320-149820FB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CD928FC-544F-41A3-9822-3B701221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2664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8066599-AEB2-4C91-B645-39A004E6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MAE / RMSE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DC1AE88-D31A-4C77-B3B4-74AC6632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2011680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27087"/>
            </a:solidFill>
            <a:prstDash val="solid"/>
            <a:headEnd type="none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17940F5-9D27-43C5-B61E-D503D73C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608" y="1682496"/>
            <a:ext cx="2724912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338"/>
          </a:solidFill>
          <a:ln xmlns:a="http://schemas.openxmlformats.org/drawingml/2006/main" w="10160">
            <a:solidFill>
              <a:srgbClr val="52708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21A7B1F-04BC-4A07-A03B-1836A142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74520"/>
            <a:ext cx="257860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B7C5D0"/>
                </a:solidFill>
                <a:latin typeface="Arial"/>
                <a:ea typeface="Arial"/>
                <a:cs typeface="Arial"/>
              </a:rPr>
              <a:t>选择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D7CC8B58-442D-4381-B866-5A6F44F02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05456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527087"/>
                </a:solidFill>
                <a:latin typeface="Microsoft YaHei"/>
                <a:ea typeface="Microsoft YaHei"/>
                <a:cs typeface="Microsoft YaHei"/>
              </a:rPr>
              <a:t>预测误差最小</a:t>
            </a:r>
            <a:endParaRPr sz="9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0AAC8E4-9BBA-4CEA-B4A3-FBB83F956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30752"/>
            <a:ext cx="15087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DOEF 选择</a:t>
            </a:r>
            <a:endParaRPr sz="11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00108B93-C64F-4B53-8853-68862690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BD14E977-8DAB-49DF-B0D3-E7DBC8E8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872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负荷预测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1A08119-5F66-42EF-A124-2CB95F07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7972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822750B3-A552-41DC-B6BE-8E085E5E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7428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47F6723-9DAD-47DF-A8D6-15DF099A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0580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储能调度</a:t>
            </a:r>
            <a:endParaRPr sz="11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0BB0F8C-5132-470C-A892-7C8A7177B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6E30AED-10CF-41EE-8223-675545454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3136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F2839832-73E8-4E63-8C11-E2BF75CE1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6288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F8FBFF"/>
                </a:solidFill>
                <a:latin typeface="Arial"/>
                <a:ea typeface="Arial"/>
                <a:cs typeface="Arial"/>
              </a:rPr>
              <a:t>决策后悔值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B6FAB0F5-548A-4077-8529-677941182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9388" y="3913632"/>
            <a:ext cx="1920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132E7C8-C8DE-4716-BC55-3331791B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844" y="3584448"/>
            <a:ext cx="1979676" cy="658368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A2740"/>
          </a:solidFill>
          <a:ln xmlns:a="http://schemas.openxmlformats.org/drawingml/2006/main" w="10160">
            <a:solidFill>
              <a:srgbClr val="6F4E9C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C1A7564-A6BB-4EFF-8AC2-30B784A3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1996" y="3776472"/>
            <a:ext cx="18333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CCFF"/>
                </a:solidFill>
                <a:latin typeface="Arial"/>
                <a:ea typeface="Arial"/>
                <a:cs typeface="Arial"/>
              </a:rPr>
              <a:t>固定权重 wᵦ</a:t>
            </a:r>
            <a:endParaRPr sz="115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5E9F702-CB32-41E8-AD77-ED453177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4407408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5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决策后悔值最小</a:t>
            </a:r>
            <a:endParaRPr sz="9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35346E6-D749-43C2-A543-E21A8E5B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264408"/>
            <a:ext cx="101498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234057"/>
            </a:solidFill>
            <a:prstDash val="solid"/>
          </a:ln>
        </p:spPr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6168BF94-D69F-4197-8B3B-6FCA19E0E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9352" y="5504688"/>
            <a:ext cx="4297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5F45A8">
                <a:alpha val="0"/>
              </a:srgbClr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E5DBC79-9B06-4528-BF5A-E1D5DA3E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504" y="5545836"/>
            <a:ext cx="4151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权重选择依据：验证集决策后悔值</a:t>
            </a:r>
            <a:endParaRPr sz="102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D518F43-087D-4287-AAB7-33E4534A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5925312"/>
            <a:ext cx="5715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20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预测器与优化器分别运行，权重在验证集确定</a:t>
            </a:r>
            <a:endParaRPr sz="1020"/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C194170-F8C7-4655-AF42-F542ECD5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3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8B16584-ABC9-42B7-8E28-755CA5502E9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38187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6EBA1F3-046E-418F-B146-AD6C76AF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480E08B-59A9-4EF3-8077-19E87E99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DOEF 方法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991A599-128E-4362-B412-A99F758A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DOEF：周期基线与 LightGBM 融合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B2B485CA-9702-4B81-B717-9120C736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逐建筑选择 DayWeek 与 LightGBM 的权重，验证完成后固定权重并评价测试集。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B4DEAB-A1DF-4CB4-94D5-A1563F83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417320"/>
            <a:ext cx="11109960" cy="4690872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ceb13b4de4f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48180" y="1435608"/>
            <a:ext cx="8274304" cy="4654296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9358EB5D-5BD8-4481-A526-722BEA81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方法：wᵦ·LightGBM + (1−wᵦ)·DayWeek；验证后固定权重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188A676-7522-4495-B8C5-35E369DA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698328C-1B79-4DB6-9968-1E4D91C1BE1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02924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C5F7FA-9B6C-4E09-ADB9-4E008E89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0330F48-A48E-4760-B30F-6D6E1579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实验结果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CDEF18F-362C-46ED-8DAA-DAB054BD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预测误差降低 6.36%，决策后悔值降低 3.61%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EA2A9B2-6F37-4C45-8FD2-F87A0C9F7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相对 LightGBM，八建筑等权平均的归一化 MAE 和归一化决策后悔值均下降。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34558546-3F44-4DFC-8B92-72D41C851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444752"/>
            <a:ext cx="8430768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c59ebfdfe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0656" y="1490472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D5E2589-36A4-4910-8EBE-31D0160D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444752"/>
            <a:ext cx="2331720" cy="4434840"/>
          </a:xfrm>
          <a:prstGeom xmlns:a="http://schemas.openxmlformats.org/drawingml/2006/main" prst="roundRect">
            <a:avLst>
              <a:gd name="adj" fmla="val 3529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2625DA8-ADF0-4E73-BC59-9EE215A4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1847088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6.36%</a:t>
            </a:r>
            <a:endParaRPr sz="28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937155E-FC7F-4064-8207-50E41888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2505456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 MAE 相对改善</a:t>
            </a:r>
            <a:endParaRPr sz="115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F38B052D-3423-4D02-9AA5-936E8243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136392"/>
            <a:ext cx="17830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BBA7FF"/>
                </a:solidFill>
                <a:latin typeface="Arial"/>
                <a:ea typeface="Arial"/>
                <a:cs typeface="Arial"/>
              </a:rPr>
              <a:t>3.61%</a:t>
            </a:r>
            <a:endParaRPr sz="28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FB47567-70D3-4ABE-BDEB-1ACF0C9CF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794760"/>
            <a:ext cx="17830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归一化后悔值相对改善</a:t>
            </a:r>
            <a:endParaRPr sz="115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7E063CE-F228-4E71-8A9B-A826211E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471416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6  /  2  /  0</a:t>
            </a:r>
            <a:endParaRPr sz="22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E430246-759A-42A0-BAC9-6D3A5660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4956048"/>
            <a:ext cx="178308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20">
                <a:solidFill>
                  <a:srgbClr val="9FB1C1"/>
                </a:solidFill>
                <a:latin typeface="Arial"/>
                <a:ea typeface="Arial"/>
                <a:cs typeface="Arial"/>
              </a:rPr>
              <a:t>胜 / 平 / 负</a:t>
            </a:r>
            <a:endParaRPr sz="920"/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D343625-ABFB-4D3F-A78C-7F98A501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5358384"/>
            <a:ext cx="19202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0291B"/>
          </a:solidFill>
          <a:ln xmlns:a="http://schemas.openxmlformats.org/drawingml/2006/main"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BA216831-F7A2-4A30-9718-B54309A58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0" y="5399532"/>
            <a:ext cx="17739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8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最小整段削峰率：−1.017%</a:t>
            </a:r>
            <a:endParaRPr sz="78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0F8F150-B213-4838-BA0E-EFD88DAA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数据来源：最终基准；相对理想基准的后悔值不代表经济损失</a:t>
            </a:r>
            <a:endParaRPr sz="67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457A10A-E8A9-4A3A-A6F1-4F8B14EC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7A60D00-B7BB-4B3D-B3EC-28ADECC8544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432740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854AE7-3D36-4F70-B334-96CFDD77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CB0038-0EF5-4B82-8C48-0192C50D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评价指标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BECF1FB6-B198-40D9-83DE-AE1777C5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预测误差与决策后悔值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02FE3D3-92CA-4EDB-B730-80AFF7F2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RMSE 衡量负荷预测偏差；决策后悔值衡量相对 Oracle 的实际峰值差。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DABF5D7-3F5B-4A0A-B9F0-8979A4EE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4EFBCBD-61EA-4B02-91C2-1C488B9A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627632"/>
            <a:ext cx="4983480" cy="4187952"/>
          </a:xfrm>
          <a:prstGeom xmlns:a="http://schemas.openxmlformats.org/drawingml/2006/main" prst="roundRect">
            <a:avLst>
              <a:gd name="adj" fmla="val 1965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D5140D22-BB33-4D39-B8FF-135AAFC7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1938528"/>
            <a:ext cx="15727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A3448"/>
          </a:solidFill>
          <a:ln xmlns:a="http://schemas.openxmlformats.org/drawingml/2006/main" w="12700">
            <a:solidFill>
              <a:srgbClr val="1A3448">
                <a:alpha val="0"/>
              </a:srgbClr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090ADE4-0D9D-4717-81E8-0B41D27D6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1979676"/>
            <a:ext cx="14264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A9D9F2"/>
                </a:solidFill>
                <a:latin typeface="Microsoft YaHei"/>
                <a:ea typeface="Microsoft YaHei"/>
                <a:cs typeface="Microsoft YaHei"/>
              </a:rPr>
              <a:t>预测指标</a:t>
            </a:r>
            <a:endParaRPr sz="86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405B1D2-6FFE-47E9-AB35-6FF36D4D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2441448"/>
            <a:ext cx="201168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RMSE</a:t>
            </a:r>
            <a:endParaRPr sz="3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15452BB-AE10-4394-B02F-46D954E3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008376"/>
            <a:ext cx="35661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预测负荷与实际负荷的偏差</a:t>
            </a:r>
            <a:endParaRPr sz="1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B367C20-AC55-41C0-8BD0-C94B684B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272" y="3566160"/>
            <a:ext cx="388620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对各时刻的预测误差平方取平均，再开方。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用于评价负荷预测质量。</a:t>
            </a:r>
            <a:endParaRPr sz="12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37565DC1-3431-4604-90BF-0F4657B1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1424" y="1938528"/>
            <a:ext cx="17556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B2148"/>
          </a:solidFill>
          <a:ln xmlns:a="http://schemas.openxmlformats.org/drawingml/2006/main" w="12700">
            <a:solidFill>
              <a:srgbClr val="2B2148">
                <a:alpha val="0"/>
              </a:srgbClr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66162C24-C0BC-40CB-9170-02E00248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979676"/>
            <a:ext cx="16093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D8CCFF"/>
                </a:solidFill>
                <a:latin typeface="Microsoft YaHei"/>
                <a:ea typeface="Microsoft YaHei"/>
                <a:cs typeface="Microsoft YaHei"/>
              </a:rPr>
              <a:t>调度指标</a:t>
            </a:r>
            <a:endParaRPr sz="8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58FB993-6F3C-4A89-B89A-D5935575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441448"/>
            <a:ext cx="2194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BCA9FF"/>
                </a:solidFill>
                <a:latin typeface="Arial"/>
                <a:ea typeface="Arial"/>
                <a:cs typeface="Arial"/>
              </a:rPr>
              <a:t>后悔值</a:t>
            </a:r>
            <a:endParaRPr sz="3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77244FCB-FF84-4A84-A8E1-082907832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008376"/>
            <a:ext cx="38404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2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相对 Oracle 的实际峰值差</a:t>
            </a:r>
            <a:endParaRPr sz="152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AE16BC5-AF5A-4863-B7E0-28C8CD798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56616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预测生成电池计划，用实际负荷评价峰值。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A5B7C6"/>
                </a:solidFill>
                <a:latin typeface="Microsoft YaHei"/>
                <a:ea typeface="Microsoft YaHei"/>
                <a:cs typeface="Microsoft YaHei"/>
              </a:rPr>
              <a:t>Oracle 知道未来负荷，仅作事后参照。</a:t>
            </a:r>
            <a:endParaRPr sz="12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E6E06BE-694C-408A-8E76-FDC82BCC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7296" y="4407408"/>
            <a:ext cx="5852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566F85"/>
            </a:solidFill>
            <a:prstDash val="solid"/>
            <a:headEnd type="none"/>
            <a:tailEnd type="triangle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C722CE9-86AD-4D7C-9433-E0B4F58E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008" y="3986784"/>
            <a:ext cx="6217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8298AA"/>
                </a:solidFill>
                <a:latin typeface="Microsoft YaHei"/>
                <a:ea typeface="Microsoft YaHei"/>
                <a:cs typeface="Microsoft YaHei"/>
              </a:rPr>
              <a:t>双层评价</a:t>
            </a:r>
            <a:endParaRPr sz="88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CE51B8E8-BA59-4B37-851A-57A06495A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" y="6007608"/>
            <a:ext cx="461772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2DC3594-AB43-4209-92BD-7F2F9B6C0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8768" y="6048756"/>
            <a:ext cx="4471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1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同时报告预测精度与调度表现</a:t>
            </a:r>
            <a:endParaRPr sz="101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FDB93E1B-D50D-43DA-B2E8-0063CF65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69F3C3D-1AE5-4FAD-922F-FABBAEAF5C1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7648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2198A2A-9BA0-43D3-A1AD-9503BF82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7D0BBC-F747-4093-A63C-3EE30B4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多建筑比较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2F49D0C1-7C75-4C36-9D7F-AF614C8C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八建筑后悔值对比：6 胜、2 平、0 负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7EB722F-E93D-426B-88D2-57B3491E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296 栋办公建筑候选中，82 栋通过质量筛选，再依据训练期负荷形态选出 8 栋。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8D664163-BBA7-4D29-B7B2-20CF11C7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9464040" cy="4507992"/>
          </a:xfrm>
          <a:prstGeom xmlns:a="http://schemas.openxmlformats.org/drawingml/2006/main" prst="roundRect">
            <a:avLst>
              <a:gd name="adj" fmla="val 18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3a4ffe185d43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8580" y="1499616"/>
            <a:ext cx="7884160" cy="4434840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C0F162A-ED3B-4321-9779-C127BAFC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992" y="1463040"/>
            <a:ext cx="1389888" cy="4507992"/>
          </a:xfrm>
          <a:prstGeom xmlns:a="http://schemas.openxmlformats.org/drawingml/2006/main" prst="roundRect">
            <a:avLst>
              <a:gd name="adj" fmla="val 59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CCE8E07-EAD6-4DAB-882E-508A10B2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5872" y="1874520"/>
            <a:ext cx="102412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5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8 / 8</a:t>
            </a:r>
            <a:endParaRPr sz="25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3CB0EF91-9F74-4403-B212-4C09E1B9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8440" y="2395728"/>
            <a:ext cx="107899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B2C1CD"/>
                </a:solidFill>
                <a:latin typeface="Microsoft YaHei"/>
                <a:ea typeface="Microsoft YaHei"/>
                <a:cs typeface="Microsoft YaHei"/>
              </a:rPr>
              <a:t>全部展示</a:t>
            </a:r>
            <a:endParaRPr sz="10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F2BF370-A7D0-43DE-A393-EE5E0768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816352"/>
            <a:ext cx="987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4B61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CB5E1D64-94AE-4682-982B-4ED10D2E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06324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6AD7FF"/>
                </a:solidFill>
                <a:latin typeface="Arial"/>
                <a:ea typeface="Arial"/>
                <a:cs typeface="Arial"/>
              </a:rPr>
              <a:t>6</a:t>
            </a:r>
            <a:endParaRPr sz="24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E9D270C-7F51-4209-B15C-27B3C91A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49300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降低</a:t>
            </a:r>
            <a:endParaRPr sz="88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2889A4D-B1C7-47D1-BCE2-A516CBC0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913632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D7E2EA"/>
                </a:solidFill>
                <a:latin typeface="Arial"/>
                <a:ea typeface="Arial"/>
                <a:cs typeface="Arial"/>
              </a:rPr>
              <a:t>2</a:t>
            </a:r>
            <a:endParaRPr sz="24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068D4138-8D3E-4C23-B8CE-8C93E091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343400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持平</a:t>
            </a:r>
            <a:endParaRPr sz="88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6B9F42E-98B3-404B-87E2-F9C62B4D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754880"/>
            <a:ext cx="91440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8D9AA6"/>
                </a:solidFill>
                <a:latin typeface="Arial"/>
                <a:ea typeface="Arial"/>
                <a:cs typeface="Arial"/>
              </a:rPr>
              <a:t>0</a:t>
            </a:r>
            <a:endParaRPr sz="240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12E371F5-9A0F-44F9-87C2-85D75054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184648"/>
            <a:ext cx="91440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>
                <a:solidFill>
                  <a:srgbClr val="9EB0BE"/>
                </a:solidFill>
                <a:latin typeface="Arial"/>
                <a:ea typeface="Arial"/>
                <a:cs typeface="Arial"/>
              </a:rPr>
              <a:t>升高</a:t>
            </a:r>
            <a:endParaRPr sz="88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4024581-BB27-49BE-BB86-BA435B5D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建筑按预先固定顺序展示，未重新排序或删减</a:t>
            </a:r>
            <a:endParaRPr sz="67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7D2E13B-6673-40C2-9471-785C9DEA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6DDAC5A-B9D3-4484-B4A8-7631AC4296D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336434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E524F8B-9D60-44DE-9EB5-B6D4B4F37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9480448-EF69-4C3A-975C-7DC60317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实验设计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A0C304D-60B3-41E7-AB1F-CA0C9E3F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验证集权重选择与测试集评价</a:t>
            </a:r>
            <a:endParaRPr sz="27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BFBF91C-A351-4BAF-AEE6-D04FC68B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验证集比较 11 个候选权重；测试集只用于评价，不参与模型、权重或平局规则选择。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C7E2A5D-9247-434F-89FF-0E86C9DF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08760"/>
            <a:ext cx="818388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cb54824214d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09424" y="1545336"/>
            <a:ext cx="6898888" cy="4242816"/>
          </a:xfrm>
          <a:prstGeom xmlns:a="http://schemas.openxmlformats.org/drawingml/2006/main" prst="rect">
            <a:avLst/>
          </a:prstGeom>
        </p:spPr>
      </p:pic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F518203-A1F3-4076-970D-8E08F1F2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9408" y="1508760"/>
            <a:ext cx="2578608" cy="4315968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B087F524-72FE-4D65-B094-0DC253A3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728" y="1856232"/>
            <a:ext cx="20116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7285E"/>
          </a:solidFill>
          <a:ln xmlns:a="http://schemas.openxmlformats.org/drawingml/2006/main" w="12700">
            <a:solidFill>
              <a:srgbClr val="37285E">
                <a:alpha val="0"/>
              </a:srgbClr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80387D4-9C5F-47DE-AB2E-3893F8C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0" y="1897380"/>
            <a:ext cx="1865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60" b="1">
                <a:solidFill>
                  <a:srgbClr val="E2D8FF"/>
                </a:solidFill>
                <a:latin typeface="Microsoft YaHei"/>
                <a:ea typeface="Microsoft YaHei"/>
                <a:cs typeface="Microsoft YaHei"/>
              </a:rPr>
              <a:t>验证后固定权重</a:t>
            </a:r>
            <a:endParaRPr sz="860"/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778630D-FB64-4007-99AF-AA7E4AFC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578608"/>
            <a:ext cx="9144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ABDFF"/>
                </a:solidFill>
                <a:latin typeface="Arial"/>
                <a:ea typeface="Arial"/>
                <a:cs typeface="Arial"/>
              </a:rPr>
              <a:t>验证集</a:t>
            </a:r>
            <a:endParaRPr sz="12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C275DB9-2F82-480F-BC54-C30AB8D2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907792"/>
            <a:ext cx="17373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搜索 0.0 → 1.0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步长 0.1</a:t>
            </a:r>
            <a:endParaRPr sz="1200"/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21F6795F-1992-4768-AF8C-94650E036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767328"/>
            <a:ext cx="15270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794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00AA6C0-CD5E-48A1-9A8D-474840D0C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4023360"/>
            <a:ext cx="11704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2B91B2-B261-417D-83C7-EE302381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064508"/>
            <a:ext cx="10241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固定权重 wᵦ</a:t>
            </a:r>
            <a:endParaRPr sz="90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05388A3F-3DD0-432A-8216-13CC2552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4432" y="4434840"/>
            <a:ext cx="0" cy="4846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8291A1"/>
            </a:solidFill>
            <a:prstDash val="solid"/>
            <a:headEnd type="none"/>
            <a:tailEnd type="triangle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3830E27-F5BF-43A9-84DA-45E453F6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5047488"/>
            <a:ext cx="658368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C0CBD5"/>
                </a:solidFill>
                <a:latin typeface="Arial"/>
                <a:ea typeface="Arial"/>
                <a:cs typeface="Arial"/>
              </a:rPr>
              <a:t>测试集</a:t>
            </a:r>
            <a:endParaRPr sz="120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557FE81-84BD-4C72-B9F5-E75B0580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680" y="5074920"/>
            <a:ext cx="11155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8FA1B0"/>
                </a:solidFill>
                <a:latin typeface="Arial"/>
                <a:ea typeface="Arial"/>
                <a:cs typeface="Arial"/>
              </a:rPr>
              <a:t>仅用于评价</a:t>
            </a:r>
            <a:endParaRPr sz="93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9E94DF8F-37F8-4993-8977-48DC4E3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候选网格含 11 组权重；历史上已查看测试期，不主张原始盲测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48DA56A-CD71-40EC-BF8C-C8813FFD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7B92B7-3C3F-46BF-8AC5-6DB42486881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88763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F4F48C5-092C-4F12-993F-79233F6CC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C3A8D53-74A1-4AC3-9D51-F3D590D8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实现流程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8A218BCF-6623-4BBA-9AA1-56ED1CD0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预测与储能调度的仿真流程</a:t>
            </a:r>
            <a:endParaRPr sz="2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3F24EF1-E202-4095-B8B8-66C137BE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离线仿真已实现预测、优化和实际负荷评价；真实楼宇在线部署仍需验证。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6E83CBF8-330A-4CBE-B3BA-FF861856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17318F5-7FF5-4026-B6E5-07362DAA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01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7548406-D4ED-422C-A5FF-32C44C7E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已知历史负荷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012064A-DE2B-4025-A166-BC04B43D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截至预测时刻可用的正滞后与日历状态</a:t>
            </a:r>
            <a:endParaRPr sz="11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E546207D-3DFD-4E51-A3E0-101811D2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98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E418BD3-5996-4421-9A62-74B80D75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1984710-6B52-49AA-880A-0CAF0F616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02</a:t>
            </a:r>
            <a:endParaRPr sz="16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8A900D2-376D-4500-BE5B-EED5379B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生成次日预测</a:t>
            </a:r>
            <a:endParaRPr sz="1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E07C219-BE13-42A3-B53D-773DCAFE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DayWeek + LightGBM，采用验证集确定的 wᵦ</a:t>
            </a:r>
            <a:endParaRPr sz="11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FD543C0-0664-4DDD-B968-845DF301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6DA7CEC-D5C4-4B3F-AE51-E8A7CE47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45D7B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2563491-9BA5-4E03-B119-0399CC93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6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E640E88-D82B-4D9E-8300-9BC445F0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求解 24h 电池计划</a:t>
            </a:r>
            <a:endParaRPr sz="15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4245E311-FDE9-41F2-A509-C77741C5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相同容量 / 功率 / SOC / 效率 / 每日重置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80C27C7-5817-4218-B97F-F76AE068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264" y="3429000"/>
            <a:ext cx="1463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C94F7DE4-A7F9-4905-99A3-E75BDD07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83080"/>
            <a:ext cx="2615184" cy="3172968"/>
          </a:xfrm>
          <a:prstGeom xmlns:a="http://schemas.openxmlformats.org/drawingml/2006/main" prst="roundRect">
            <a:avLst>
              <a:gd name="adj" fmla="val 314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84059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9D557BFA-3057-4354-9855-76F177B7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1993392"/>
            <a:ext cx="5303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6889A2"/>
                </a:solidFill>
                <a:latin typeface="Arial"/>
                <a:ea typeface="Arial"/>
                <a:cs typeface="Arial"/>
              </a:rPr>
              <a:t>04</a:t>
            </a:r>
            <a:endParaRPr sz="16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5C390371-3207-4080-9B00-00E5BA27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487168"/>
            <a:ext cx="228600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真实负荷后评估</a:t>
            </a:r>
            <a:endParaRPr sz="150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8273A1A-CBCA-47B5-81C0-52BC3EF08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3255264"/>
            <a:ext cx="22860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4B5C4"/>
                </a:solidFill>
                <a:latin typeface="Microsoft YaHei"/>
                <a:ea typeface="Microsoft YaHei"/>
                <a:cs typeface="Microsoft YaHei"/>
              </a:rPr>
              <a:t>MAE/RMSE + 峰值 + 理想基准后悔值</a:t>
            </a:r>
            <a:endParaRPr sz="1150"/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36044F6B-330C-4C9D-B6EA-D4AEE486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5413248"/>
            <a:ext cx="12344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C195823-9745-4A04-884A-85199A6A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5454396"/>
            <a:ext cx="10881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可复现</a:t>
            </a:r>
            <a:endParaRPr sz="840"/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1741056B-200D-4E01-9FF3-FE5DD5FA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5413248"/>
            <a:ext cx="100584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51D43"/>
          </a:solidFill>
          <a:ln xmlns:a="http://schemas.openxmlformats.org/drawingml/2006/main" w="12700">
            <a:solidFill>
              <a:srgbClr val="251D43">
                <a:alpha val="0"/>
              </a:srgbClr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B394DB93-4B6B-4053-BE99-A0F5E50E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6312" y="5454396"/>
            <a:ext cx="85953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CFC1FF"/>
                </a:solidFill>
                <a:latin typeface="Microsoft YaHei"/>
                <a:ea typeface="Microsoft YaHei"/>
                <a:cs typeface="Microsoft YaHei"/>
              </a:rPr>
              <a:t>已固定</a:t>
            </a:r>
            <a:endParaRPr sz="84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8BEB635E-F1AD-4690-8E3A-B8395769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13248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A281D"/>
          </a:solidFill>
          <a:ln xmlns:a="http://schemas.openxmlformats.org/drawingml/2006/main" w="12700">
            <a:solidFill>
              <a:srgbClr val="3A281D">
                <a:alpha val="0"/>
              </a:srgbClr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02CD3331-2886-4705-9B83-950D913F9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0752" y="5454396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未部署</a:t>
            </a:r>
            <a:endParaRPr sz="84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7D2784E-BBA4-4276-9B1D-DB29AC1D9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5431536"/>
            <a:ext cx="5413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B5C6D3"/>
                </a:solidFill>
                <a:latin typeface="Microsoft YaHei"/>
                <a:ea typeface="Microsoft YaHei"/>
                <a:cs typeface="Microsoft YaHei"/>
              </a:rPr>
              <a:t>已实现负荷预测、约束调度和实际峰值评价的仿真流程。</a:t>
            </a:r>
            <a:endParaRPr sz="12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533F96AE-929C-41FA-AFE9-2FFAB005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33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C0E4356-4F3A-4853-9433-E3D7411BD7A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3703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A546100-C7AD-4C15-8672-B9E2A467D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0B838DD-F29F-4853-8790-BCC130C5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作品贡献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3C9A105E-A41A-4099-9C7C-B4815E59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决策导向融合与多建筑评测</a:t>
            </a:r>
            <a:endParaRPr sz="2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FA2FD1-2BF7-4B9D-A77A-895EE594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9DB0C2"/>
                </a:solidFill>
                <a:latin typeface="Microsoft YaHei"/>
                <a:ea typeface="Microsoft YaHei"/>
                <a:cs typeface="Microsoft YaHei"/>
              </a:rPr>
              <a:t>通过验证集调度表现选择预测组合，并在相同电池约束下开展多建筑比较。</a:t>
            </a:r>
            <a:endParaRPr sz="124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BC2B0E3-6664-4BB1-B4FE-78700C37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0472"/>
            <a:ext cx="10826496" cy="4297680"/>
          </a:xfrm>
          <a:prstGeom xmlns:a="http://schemas.openxmlformats.org/drawingml/2006/main" prst="roundRect">
            <a:avLst>
              <a:gd name="adj" fmla="val 19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f62882d57b40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60168" y="1536192"/>
            <a:ext cx="7477760" cy="4206240"/>
          </a:xfrm>
          <a:prstGeom xmlns:a="http://schemas.openxmlformats.org/drawingml/2006/main" prst="rect">
            <a:avLst/>
          </a:prstGeom>
        </p:spPr>
      </p:pic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FF0AB07-4EA0-40A3-897D-1D2EBF00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597087"/>
                </a:solidFill>
                <a:latin typeface="Arial"/>
                <a:ea typeface="Arial"/>
                <a:cs typeface="Arial"/>
              </a:rPr>
              <a:t>贡献限定于本项目；不主张世界首次、最先进性能或端到端部署</a:t>
            </a:r>
            <a:endParaRPr sz="67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74BA642-F3F7-4313-ABA7-321D1E35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EE14BE9-28A3-4FFA-8C07-E30EFBA7689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30095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E64017-7851-40F0-8326-4C9DC846D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24C7FF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991A8DC-6FB3-4293-BCDF-99D4112C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890A7"/>
                </a:solidFill>
                <a:latin typeface="Arial"/>
                <a:ea typeface="Arial"/>
                <a:cs typeface="Arial"/>
              </a:rPr>
              <a:t>结论</a:t>
            </a:r>
            <a:endParaRPr sz="83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987EEDE0-3BFA-411F-8A36-5D091C64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115568"/>
            <a:ext cx="5760720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面向储能削峰的</a:t>
            </a:r>
            <a:endParaRPr sz="3400"/>
          </a:p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负荷预测组合选择</a:t>
            </a:r>
            <a:endParaRPr sz="34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81F6632-1A10-4FAB-B9EC-1542F987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724912"/>
            <a:ext cx="3749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 spc="180">
                <a:solidFill>
                  <a:srgbClr val="24C7FF"/>
                </a:solidFill>
                <a:latin typeface="Arial"/>
                <a:ea typeface="Arial"/>
                <a:cs typeface="Arial"/>
              </a:rPr>
              <a:t>用于建筑储能削峰</a:t>
            </a:r>
            <a:endParaRPr sz="10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107AF68-476C-481E-B00A-A692ED40C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1216152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55CB7F8-DA32-40C3-BCB9-5DBD2D29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1435608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01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9FD69AA-FDC7-4DD9-81C3-1BC5C54A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80744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预测误差 ≠ 决策价值</a:t>
            </a:r>
            <a:endParaRPr sz="14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F5CD48D-2FE5-42CA-9339-461C877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810512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RMSE 与后悔值评价不同方面</a:t>
            </a:r>
            <a:endParaRPr sz="10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A237640-D7C1-4B74-B354-7432C78F4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2660904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B21971B-BC8A-4531-B7CF-17CFBADD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2880360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FC0FF"/>
                </a:solidFill>
                <a:latin typeface="Arial"/>
                <a:ea typeface="Arial"/>
                <a:cs typeface="Arial"/>
              </a:rPr>
              <a:t>02</a:t>
            </a:r>
            <a:endParaRPr sz="13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E33454D0-123F-490F-ADF3-C0A28B1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825496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验证集选择权重</a:t>
            </a:r>
            <a:endParaRPr sz="14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CB1DB74-F6F9-4B2C-BFE3-97C9739F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255264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按决策后悔值确定 wᵦ</a:t>
            </a:r>
            <a:endParaRPr sz="10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C32F0FFF-0533-4F11-A1E0-B2DFEBB0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6832" y="4105656"/>
            <a:ext cx="466344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0E1D2C"/>
          </a:solidFill>
          <a:ln xmlns:a="http://schemas.openxmlformats.org/drawingml/2006/main" w="10160">
            <a:solidFill>
              <a:srgbClr val="29465E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F806EA8-0EED-4F88-8B91-57518079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4576" y="4325112"/>
            <a:ext cx="43891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03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7DAA48B-CEB8-41EB-B921-D10F2322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270248"/>
            <a:ext cx="33649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测试集评价效果</a:t>
            </a:r>
            <a:endParaRPr sz="14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A8B69C6-1D26-483C-BF38-116DA2C5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700016"/>
            <a:ext cx="336499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>
                <a:solidFill>
                  <a:srgbClr val="93A7B8"/>
                </a:solidFill>
                <a:latin typeface="Microsoft YaHei"/>
                <a:ea typeface="Microsoft YaHei"/>
                <a:cs typeface="Microsoft YaHei"/>
              </a:rPr>
              <a:t>8 栋建筑分别训练与评价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9B56992-FC7F-478C-A460-21C99051E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77056"/>
            <a:ext cx="525780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 b="1">
                <a:solidFill>
                  <a:srgbClr val="B8C8D5"/>
                </a:solidFill>
                <a:latin typeface="Microsoft YaHei"/>
                <a:ea typeface="Microsoft YaHei"/>
                <a:cs typeface="Microsoft YaHei"/>
              </a:rPr>
              <a:t>用验证集调度表现选择负荷预测组合，在本次八建筑实验中取得改善。</a:t>
            </a:r>
            <a:endParaRPr sz="170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BA26B87-5B29-40BF-BA94-20A85F83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138928"/>
            <a:ext cx="20665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E18BEA2-3D7D-48BA-A9DB-CE5335E45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180076"/>
            <a:ext cx="19202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DOEF v1.0 · 八建筑仿真验证</a:t>
            </a:r>
            <a:endParaRPr sz="88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F150D6C-8438-4693-995B-8084A775A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5650992"/>
            <a:ext cx="5715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70">
                <a:solidFill>
                  <a:srgbClr val="71889A"/>
                </a:solidFill>
                <a:latin typeface="Microsoft YaHei"/>
                <a:ea typeface="Microsoft YaHei"/>
                <a:cs typeface="Microsoft YaHei"/>
              </a:rPr>
              <a:t>8 栋办公建筑 · 单一测试月 · 24 h 超前预测 · 离线仿真</a:t>
            </a:r>
            <a:endParaRPr sz="97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39205A4-7F73-485C-A543-0BB39826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6F8295"/>
                </a:solidFill>
                <a:latin typeface="Microsoft YaHei"/>
                <a:ea typeface="Microsoft YaHei"/>
                <a:cs typeface="Microsoft YaHei"/>
              </a:rPr>
              <a:t>智能云储 · DOEF | 8 栋办公建筑仿真实验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BCE5D3-FB78-4B23-A837-B5E914B863D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6F8295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5115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87028A1-135A-474E-91D1-1E456DBD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595581E-F4B5-4F05-B517-627BC84B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数据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67872A-2891-43D2-A2FB-8FCCDDA5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4443C45-93CE-4797-91BB-70DC82C8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15A1E08-CB2D-4D80-B309-89FB814B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建筑筛选与样本构成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C475BE68-80B7-45F1-8F52-B07741F9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先按数据质量确定候选范围，再用训练期负荷形态选楼；不使用验证或测试成绩。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D995E35-3202-486C-8EAC-656C6A22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AE85950-47BD-45AA-9318-870B625B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1,578</a:t>
            </a:r>
            <a:endParaRPr sz="2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9A25123-9822-4C7D-8236-97BB0F02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建筑序列</a:t>
            </a:r>
            <a:endParaRPr sz="95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E67DD927-BEA0-4DC9-A0B3-E2E2737F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12D3AA8-5B2C-4E66-8F35-95E6D8D6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7A30ECD6-CB33-4DB2-9E8C-C2A169798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296</a:t>
            </a:r>
            <a:endParaRPr sz="25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DFC1980F-CFF8-4F00-84AD-8A0D778BA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188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办公楼候选</a:t>
            </a:r>
            <a:endParaRPr sz="950"/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13121206-190A-40DC-927C-87C2F152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AECC0A36-CD37-4182-A969-CE6F5669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131B2CF-40E0-4A1F-BFF4-56AF6B699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82</a:t>
            </a:r>
            <a:endParaRPr sz="25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A073C43-DF4D-4112-8341-09CE4CF52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质量合格</a:t>
            </a:r>
            <a:endParaRPr sz="9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F6CE807-438E-4C1D-8A5D-24387F67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084832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3B4D0E33-D8B0-4377-911A-5C7BF3748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5128" y="1527048"/>
            <a:ext cx="2468880" cy="1115568"/>
          </a:xfrm>
          <a:prstGeom xmlns:a="http://schemas.openxmlformats.org/drawingml/2006/main" prst="roundRect">
            <a:avLst>
              <a:gd name="adj" fmla="val 73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0160">
            <a:solidFill>
              <a:srgbClr val="A9D7F6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542E514-487C-46E5-B196-D5335C80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1719072"/>
            <a:ext cx="128016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8</a:t>
            </a:r>
            <a:endParaRPr sz="25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561ADD99-97E4-4952-A94A-D0B33F3D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176272"/>
            <a:ext cx="2011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5C6873"/>
                </a:solidFill>
                <a:latin typeface="Arial"/>
                <a:ea typeface="Arial"/>
                <a:cs typeface="Arial"/>
              </a:rPr>
              <a:t>固定办公楼</a:t>
            </a:r>
            <a:endParaRPr sz="9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BFF59E7-25E9-4258-95DE-F707E0F0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53512"/>
            <a:ext cx="4709160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3745C65-22F4-4CD0-B1CC-E6F103800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8688"/>
            <a:ext cx="15544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建筑样本</a:t>
            </a:r>
            <a:endParaRPr sz="12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5071F7B-8AFE-4BFE-B090-DF5E22D4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01  Hog · Rolando</a:t>
            </a:r>
            <a:endParaRPr sz="101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FEA3783-3B5F-404A-B835-61539069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02  Hog · Lavon</a:t>
            </a:r>
            <a:endParaRPr sz="101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D9F3471-0BEF-4877-B312-462E7E8C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03  Hog · Joey</a:t>
            </a:r>
            <a:endParaRPr sz="101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283FD4B-8E13-4154-829C-4CD6A1C7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04  Lamb · Caitlin</a:t>
            </a:r>
            <a:endParaRPr sz="1010"/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5912931-DA1C-4C1F-ADEE-7E1EAEF8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3703320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05  Robin · Addie</a:t>
            </a:r>
            <a:endParaRPr sz="101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42CEFE79-3233-4AC0-BFDC-2A99029B7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178808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06  Lamb · Gerardo</a:t>
            </a:r>
            <a:endParaRPr sz="101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0679BD8-B906-4AB9-9DB2-D9A2A4E7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4654296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07  Hog · Alexis</a:t>
            </a:r>
            <a:endParaRPr sz="101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DD179DA3-A611-470E-A57A-6F1790D6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5129784"/>
            <a:ext cx="190195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10">
                <a:solidFill>
                  <a:srgbClr val="5C6873"/>
                </a:solidFill>
                <a:latin typeface="Arial"/>
                <a:ea typeface="Arial"/>
                <a:cs typeface="Arial"/>
              </a:rPr>
              <a:t>08  Hog · Byron</a:t>
            </a:r>
            <a:endParaRPr sz="101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7351C5D5-D903-46E9-BFF1-52DCADB3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953512"/>
            <a:ext cx="5925312" cy="2916936"/>
          </a:xfrm>
          <a:prstGeom xmlns:a="http://schemas.openxmlformats.org/drawingml/2006/main" prst="roundRect">
            <a:avLst>
              <a:gd name="adj" fmla="val 282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59BAF08-747F-4016-8907-21BBFB23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5312" y="3236976"/>
            <a:ext cx="2560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仅用训练期负荷形态特征</a:t>
            </a:r>
            <a:endParaRPr sz="11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E5673D6-7082-49EB-A22E-EFF7F790B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平均负荷的对数</a:t>
            </a:r>
            <a:endParaRPr sz="93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7E328BDE-D3B1-43A8-A306-19722699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730752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变异系数</a:t>
            </a:r>
            <a:endParaRPr sz="930"/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819B054-0E3A-446A-A58A-2599433C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峰均比</a:t>
            </a:r>
            <a:endParaRPr sz="93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C2015F7D-AC41-4767-BFB6-2F0278BF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123944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峰谷差</a:t>
            </a:r>
            <a:endParaRPr sz="930"/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90F42516-862C-4F88-86C0-8A77525B4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滞后 24 小时自相关</a:t>
            </a:r>
            <a:endParaRPr sz="930"/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EDDC4661-0CDC-4C1B-8FD1-907EAAC7B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17136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滞后 168 小时自相关</a:t>
            </a:r>
            <a:endParaRPr sz="93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9EFD94F3-BC66-4D0C-97A2-487969D9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工作日与周末差异</a:t>
            </a:r>
            <a:endParaRPr sz="930"/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C9EA380A-E0B4-43AF-A9A1-0E07936C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10328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日负荷曲线变异</a:t>
            </a:r>
            <a:endParaRPr sz="930"/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27DD56E1-AC23-4427-B357-B1D3551A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303520"/>
            <a:ext cx="226771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4C3CF"/>
                </a:solidFill>
                <a:latin typeface="Arial"/>
                <a:ea typeface="Arial"/>
                <a:cs typeface="Arial"/>
              </a:rPr>
              <a:t>• 稳健异常值比例</a:t>
            </a:r>
            <a:endParaRPr sz="93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ABAF2816-50E5-44FD-BC1C-5F558ECE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5512" y="5504688"/>
            <a:ext cx="208483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2D2548"/>
          </a:solidFill>
          <a:ln xmlns:a="http://schemas.openxmlformats.org/drawingml/2006/main" w="12700">
            <a:solidFill>
              <a:srgbClr val="2D2548">
                <a:alpha val="0"/>
              </a:srgbClr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137065B4-8335-46F9-8E1E-609A29D5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5545836"/>
            <a:ext cx="193852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D9CCFF"/>
                </a:solidFill>
                <a:latin typeface="Microsoft YaHei"/>
                <a:ea typeface="Microsoft YaHei"/>
                <a:cs typeface="Microsoft YaHei"/>
              </a:rPr>
              <a:t>不使用验证集或测试集性能</a:t>
            </a:r>
            <a:endParaRPr sz="79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0B9EC40-F042-4207-A72C-C4A437EE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数据来源：outputs/phase7/selected_buildings.json</a:t>
            </a:r>
            <a:endParaRPr sz="67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C4E0A5EF-D263-4C5B-8977-5A6EF43E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4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EC470B6-A6B0-4ACD-86B3-AE8DE994320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559787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C29E42C-5C32-4844-8914-42A6619E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2899D24-43F9-40E9-B56F-EF851EBBD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方法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256A934-DDD4-4F7B-9ED6-24821BAA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2BF802C-E544-4767-985C-76E57A37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1CC7B41-E907-4023-AE63-1501F91D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因果特征与时间切分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77FC083-B66A-474B-885B-D59E4F70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24 h 超前预测仅使用当时可获得的负荷和日历信息，按目标可用性处理切分边界。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1002226-5B83-4367-B30A-66BD8C73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444752"/>
            <a:ext cx="8732520" cy="4434840"/>
          </a:xfrm>
          <a:prstGeom xmlns:a="http://schemas.openxmlformats.org/drawingml/2006/main" prst="roundRect">
            <a:avLst>
              <a:gd name="adj" fmla="val 18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b767113bc4e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3028" y="1472184"/>
            <a:ext cx="7786624" cy="4379976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7D55704E-2EF7-4C61-B9D0-7B76ADF8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912" y="1444752"/>
            <a:ext cx="1947672" cy="4434840"/>
          </a:xfrm>
          <a:prstGeom xmlns:a="http://schemas.openxmlformats.org/drawingml/2006/main" prst="roundRect">
            <a:avLst>
              <a:gd name="adj" fmla="val 4225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3501C665-E146-4FFF-BEB8-38ED679A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2224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信息边界</a:t>
            </a:r>
            <a:endParaRPr sz="1100"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609B4-73BF-4F79-AFB8-538A3324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267712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正向滞后特征</a:t>
            </a:r>
            <a:endParaRPr sz="93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698DFEFD-3409-4EDB-A03A-611901CC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97480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移位历史特征</a:t>
            </a:r>
            <a:endParaRPr sz="93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8A1BA2C-0C93-4E4E-BB8B-144377F1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27248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日历信息</a:t>
            </a:r>
            <a:endParaRPr sz="93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34603F98-9DF2-48B8-BD7F-8D044C09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57016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不使用气象数据</a:t>
            </a:r>
            <a:endParaRPr sz="93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804D8A-D9D5-46E8-AD32-983968EB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986784"/>
            <a:ext cx="13258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30">
                <a:solidFill>
                  <a:srgbClr val="B5C4D0"/>
                </a:solidFill>
                <a:latin typeface="Arial"/>
                <a:ea typeface="Arial"/>
                <a:cs typeface="Arial"/>
              </a:rPr>
              <a:t>• 无目标信息泄漏</a:t>
            </a:r>
            <a:endParaRPr sz="930"/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649A122B-B860-46DB-9217-723803A9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4773168"/>
            <a:ext cx="153619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CB4953C3-ECEB-4E41-AFA3-3DEFF974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4814316"/>
            <a:ext cx="138988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1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历史测试期已被查看</a:t>
            </a:r>
            <a:endParaRPr sz="71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A0AF0277-78BA-4F26-AAEA-B8D3B17A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方法图保留历史测试期已被查看的边界说明</a:t>
            </a:r>
            <a:endParaRPr sz="67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094411C4-4B78-4985-955C-37033D91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11F331E-090D-4BFA-8964-B07D903935A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4339205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4A8E42A-41D4-416F-B55C-E6900B96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DDE559F-2B9E-4D39-A8DF-1E5B26FDF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模型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BD09C8C-234F-4B1A-93E5-EE7B2412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8C6CE2E-FE61-4381-B578-BE9B6456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0C6860D-51E7-45E1-9E00-82FDCBED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预测基线与模型组成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2329CFCB-35CF-4F59-96AF-9CA3D5A3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DayWeek 与逐建筑 LightGBM 构成 DOEF，其余模型用于基线比较。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AF67CB58-C237-412D-995F-0F217E8A0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205740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85885E2-D90D-4D7C-BDAA-FA4402D6F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46504"/>
            <a:ext cx="18745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方法</a:t>
            </a:r>
            <a:endParaRPr sz="92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4A20EBC6-A5DB-4EB9-B14D-0E8E44D8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DC1F0531-1C59-4607-BA40-B3E9D7CE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定义 / 输入</a:t>
            </a:r>
            <a:endParaRPr sz="92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5B5EE4FF-1D1C-4A23-8E1A-4A050354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1627632"/>
            <a:ext cx="301752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9248468-D922-4197-B0BF-0EF057D9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1746504"/>
            <a:ext cx="283464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基准比较中的角色</a:t>
            </a:r>
            <a:endParaRPr sz="92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722C2EC-FFBE-485A-9F8E-D1D97496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1627632"/>
            <a:ext cx="1920240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2D83C42-7DDB-4980-8C04-B4410D5A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1746504"/>
            <a:ext cx="17373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2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创新定位</a:t>
            </a:r>
            <a:endParaRPr sz="9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08DFAE96-6AF0-45E9-837B-3C2B3B43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6654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337D4F-6DBE-4416-B710-C1E13D28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17627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前日持久性</a:t>
            </a:r>
            <a:endParaRPr sz="94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9F627433-127F-4391-8860-7F4537F97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A2D84D9-C411-473B-B268-3A6A9D94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t−24 h</a:t>
            </a:r>
            <a:endParaRPr sz="94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98A2E4E-748D-4D64-A9F1-F57A2AED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06654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7F5522E-8569-48D4-8583-E3E88C7EF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7627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基线</a:t>
            </a:r>
            <a:endParaRPr sz="94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A8A7956F-7902-4617-BF45-65E5327EE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06654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D3A7384-15EF-4800-938B-8631487F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7627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EA650DF0-E86E-48EC-B642-C4CB5A09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6032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90BC210-B3CE-426E-A154-AAA4F7AA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267004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周周期</a:t>
            </a:r>
            <a:endParaRPr sz="94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5B1E25-1731-4A3A-8CF1-0E37634FE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6D47934-32FF-41C5-B69A-7247ADC1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t−168 h</a:t>
            </a:r>
            <a:endParaRPr sz="94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36705B9-DC2C-464C-A33C-C4C678B5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256032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7D97EBE-89B0-4BE0-B689-D379C451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67004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基线</a:t>
            </a:r>
            <a:endParaRPr sz="94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0FB3EB3C-796B-4617-A74D-EC4667FB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56032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F6853966-CCD9-4C72-9B8E-FC1B1E5C5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67004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067369FC-A708-4AEE-9303-E24C470B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5409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2241134-4465-4E86-AB0D-D4AFEFB2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16382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4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A9863915-E2EE-45E2-B4CD-E28C0CA2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110A27FB-5945-49CC-A5B6-C0A87F28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0.5·Day + 0.5·Week</a:t>
            </a:r>
            <a:endParaRPr sz="94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A6DFAE6F-685B-46C5-93A1-4509E7F4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05409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A7A04876-FE24-4186-892A-30F41B3D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16382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分量</a:t>
            </a:r>
            <a:endParaRPr sz="94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42C4FAEE-8B18-4099-9D80-459D654D0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05409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EF0721B4-D611-4D4B-B57C-D653460F8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16382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ADFD35AB-1F4E-4D9F-8B9F-C8111381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47872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4837F3FF-FC1D-484B-9A69-FBFC68181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657600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4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351F12E5-5A1F-4CC2-A331-A74DF8B4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2725004F-E817-461D-8142-9B1B37F89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因果特征</a:t>
            </a:r>
            <a:endParaRPr sz="94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914ACA4F-94A4-4348-AA74-7EC86C6D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3547872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EE84753-4902-4E12-9D12-D5AEE175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657600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分量 / 基线</a:t>
            </a:r>
            <a:endParaRPr sz="94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E8304B71-1DC4-4CA9-8C58-FECD8EAB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3547872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5FD444E-F31F-45B4-93A3-AE2DA748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3657600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809C4540-F142-4736-85BB-5AEA1771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41648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4BF5C3E6-05CA-4048-A16E-BA21C37F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151376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4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A767B97D-F68A-48FF-A61C-643B04AF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54F8F803-24C0-468C-BCF3-3E3A21D3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因果特征</a:t>
            </a:r>
            <a:endParaRPr sz="94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67A5DE2D-7BC3-45D3-8E38-E48AE0AC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041648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F711E956-AF13-4623-8D24-DCF8F7BA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151376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对照模型</a:t>
            </a:r>
            <a:endParaRPr sz="94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57406EC1-50C2-43F9-90AC-DD1618A4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041648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37AC5EDA-6E39-468B-9FAF-E62B86AE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151376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5A3D998E-C01E-48D1-B853-99751119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535424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EC15A875-C1CD-4928-A6E5-D2864A3C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4645152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4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B6CD06A2-A5AE-4E2A-AC41-1822CCEA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0DA462B8-950F-4358-BCFD-81FD969E7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因果特征</a:t>
            </a:r>
            <a:endParaRPr sz="94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B759373F-7C80-4EE6-850E-F080F1DF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4535424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F5A44F91-641C-49F4-BC39-A91DDFF2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4645152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对照模型</a:t>
            </a:r>
            <a:endParaRPr sz="94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9359A460-942B-43E9-AE9D-213E9491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4535424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BE15EBBB-D1BA-4774-BF1F-2AC81FB4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4645152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18E52BBB-8969-4766-8ED6-B48F0D91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29200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10742285-7896-482E-8215-774A5B06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138928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4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1FD4C183-4B0E-4EC9-A262-EF0BF07E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EF3069FC-4411-4C28-9BAC-9E9282DC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wᵦ·LGBM+(1−wᵦ)·DayWeek</a:t>
            </a:r>
            <a:endParaRPr sz="94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E01BD471-C102-4E6C-B2A0-5E8D71D6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029200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0FE1CFE4-669F-408B-B937-9E3564A31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138928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最终固定方法</a:t>
            </a:r>
            <a:endParaRPr sz="94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6E88E561-70FD-46EC-9A2F-7A5A967D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029200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0CC97180-CA48-48B3-B32E-04FB76B1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138928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方法框架</a:t>
            </a:r>
            <a:endParaRPr sz="94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C60F20B0-9629-4CE8-BAC9-33EE1A87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522976"/>
            <a:ext cx="205740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7B91AED8-3712-4AF5-8867-0251284B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632704"/>
            <a:ext cx="18745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4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FE16D209-337E-4A2B-87BD-C2CD3631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576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ECD0E25D-90BE-45F3-A17B-D4D2B0BD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720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Arial"/>
                <a:ea typeface="Arial"/>
                <a:cs typeface="Arial"/>
              </a:rPr>
              <a:t>补充实验</a:t>
            </a:r>
            <a:endParaRPr sz="94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9C5BB79B-3F0A-4562-8B60-A7D1237A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3288" y="5522976"/>
            <a:ext cx="301752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E67E5550-381C-410D-B17C-0EE34433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5632704"/>
            <a:ext cx="28346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未采用</a:t>
            </a:r>
            <a:endParaRPr sz="94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0EB3CA2F-CB11-45B0-9071-335C7973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5522976"/>
            <a:ext cx="1920240" cy="4937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89E6F7D6-3655-4357-8EFF-42D490D81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5632704"/>
            <a:ext cx="17373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4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否</a:t>
            </a:r>
            <a:endParaRPr sz="940"/>
          </a:p>
        </p:txBody>
      </p:sp>
      <p:sp>
        <p:nvSpPr>
          <p:cNvPr id="80" name="Text 78">
            <a:extLst xmlns:a="http://schemas.openxmlformats.org/drawingml/2006/main">
              <a:ext uri="{FF2B5EF4-FFF2-40B4-BE49-F238E27FC236}">
                <a16:creationId xmlns:a16="http://schemas.microsoft.com/office/drawing/2014/main" id="{63E99A03-008D-4718-93E2-FD50D0A2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各基准方法定义固定；主讲部分聚焦最终方法</a:t>
            </a:r>
            <a:endParaRPr sz="670"/>
          </a:p>
        </p:txBody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EBCE58CE-AE67-476C-9A4F-091852614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8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7D8F792-C012-4664-80E8-AE7320C39F9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4619362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3E587A8-064B-4963-9187-4F086B5B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BFDBE55-77DB-4FA4-90C3-642DF4B19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约束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55FFD57-A99B-493F-A352-9D2C9498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9BE5ABF-3DF3-479D-97DF-70F09C3D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2890213-B0E7-45B3-B988-03AC6611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电池参数与调度约束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64035330-6019-4BA0-A1E2-4B236CBC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各预测方法共享同一建筑的电池与优化器，电池规模由训练期负荷确定。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028BEEC-2008-4BEB-A1FC-49F3D8D18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7A08305D-A0E5-43EE-AA18-AD6A752E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容量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B770125-BE81-4B43-9080-948F74FE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平均日用电量的 10%</a:t>
            </a:r>
            <a:endParaRPr sz="112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60515B4-1D84-4A26-A578-80E21DC67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kWh</a:t>
            </a:r>
            <a:endParaRPr sz="86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6003415-9C20-4C26-A704-7571D9B1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709928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CBC41DC1-3617-4CB6-BC78-4A7524A3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874520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充电 / 放电功率</a:t>
            </a:r>
            <a:endParaRPr sz="10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EB69C079-529C-427C-B67C-59EDFF25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65376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每小时为容量的 25%</a:t>
            </a:r>
            <a:endParaRPr sz="112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A082938-3D60-449C-AFA1-D47562519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249424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kW</a:t>
            </a:r>
            <a:endParaRPr sz="86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4CEBE0A-6062-47C2-BA18-EF6E6AA2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1FCC51C-8F7D-483F-9D69-5CC209D7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SOC 范围</a:t>
            </a:r>
            <a:endParaRPr sz="1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26536FB-BD41-4189-ADD1-CEEC405F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10% → 90%</a:t>
            </a:r>
            <a:endParaRPr sz="112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9659BD0-46D1-4FB7-A926-57CFC5AE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电量状态（kWh）</a:t>
            </a:r>
            <a:endParaRPr sz="86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715C7C32-8705-4E1C-9DAB-D56F64E2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935224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0EB33C4-6F0A-4FCA-B0C5-FB3B4F85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099816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初始 / 终止 SOC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9684BEE-B1BE-4D30-B187-1530E71B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90672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50% / 50%</a:t>
            </a:r>
            <a:endParaRPr sz="112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9A770632-8647-4ECA-B6AF-93D5312F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474720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每日重置</a:t>
            </a:r>
            <a:endParaRPr sz="86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68D7E68-13BE-456B-95AC-F5E8EE1E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827CEB5D-09A8-45C3-B5E8-89B7DCC8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充电 / 放电效率</a:t>
            </a:r>
            <a:endParaRPr sz="10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7227A0C1-3FCC-41CE-8293-812455EA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0.94868 / 0.94868</a:t>
            </a:r>
            <a:endParaRPr sz="112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90DFFA2-1013-42F3-87C3-0C121C37E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9152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往返效率 0.90</a:t>
            </a:r>
            <a:endParaRPr sz="86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769D09D2-F000-4D43-9E66-9C85CC63F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160520"/>
            <a:ext cx="5184648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1E7ED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1259901A-91E6-4203-8C07-7DD167E6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25112"/>
            <a:ext cx="141732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优化器</a:t>
            </a:r>
            <a:endParaRPr sz="100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D39BBF4-CF41-4754-8BFC-DEFCB050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315968"/>
            <a:ext cx="2514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确定性日削峰优化</a:t>
            </a:r>
            <a:endParaRPr sz="112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BCF0719C-20F2-41C6-A526-CA3139DD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700016"/>
            <a:ext cx="27432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60">
                <a:solidFill>
                  <a:srgbClr val="5C6873"/>
                </a:solidFill>
                <a:latin typeface="Arial"/>
                <a:ea typeface="Arial"/>
                <a:cs typeface="Arial"/>
              </a:rPr>
              <a:t>scipy.optimize.milp</a:t>
            </a:r>
            <a:endParaRPr sz="86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741F171-DD33-4CA2-ADDD-5E7497C5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5669280"/>
            <a:ext cx="779068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12700">
            <a:solidFill>
              <a:srgbClr val="C8E5F8">
                <a:alpha val="0"/>
              </a:srgbClr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73C92E67-ED14-490D-B1CE-CDD296D0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7712" y="5710428"/>
            <a:ext cx="764438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0072B2"/>
                </a:solidFill>
                <a:latin typeface="Microsoft YaHei"/>
                <a:ea typeface="Microsoft YaHei"/>
                <a:cs typeface="Microsoft YaHei"/>
              </a:rPr>
              <a:t>时间步长 1 小时：负荷电量 kWh · 调度功率 kW · 容量/SOC kWh</a:t>
            </a:r>
            <a:endParaRPr sz="880"/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8DB6E177-81FA-44AF-AF53-CEC4422A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参数来源：building_battery_configs.csv；所有预测方法共享电池与优化器</a:t>
            </a:r>
            <a:endParaRPr sz="67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EBC8A97-1F56-4422-8D24-24B1F61F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3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84AE328-AE54-4EB9-982F-C6E19362442E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431559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062F60-246E-4AF1-9E12-EDE83978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CE4B646-629D-452A-B273-CCD7F5CA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预测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04FAAE0-189A-4756-8CA6-EEF42B56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F37FB13-83E1-4FF6-B258-027F3E71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6E4E0B8-CBEF-40FA-B6B3-4C7BCDAE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八建筑预测结果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C9263FC-E88F-4724-A56F-8F3241F2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八建筑测试集等权平均；MAE、RMSE 和后悔值按各建筑训练期平均负荷归一化。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688A487-2686-4F97-9D01-B898464F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09344"/>
            <a:ext cx="257860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AF3882F-2065-4F2C-AFD2-B41CCA8AC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728216"/>
            <a:ext cx="24323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方法</a:t>
            </a:r>
            <a:endParaRPr sz="88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FACE4A-BDC2-417A-BA6F-6B102F61A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7DD565E-DB2E-4713-9519-24BABC0B7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归一化 MAE</a:t>
            </a:r>
            <a:endParaRPr sz="88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9C87DDD3-DB1D-46D6-9E66-7F7DF168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2183329-2D09-4132-8B9F-5EC2DFBE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归一化 RMSE</a:t>
            </a:r>
            <a:endParaRPr sz="88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7F008468-6246-4415-BD94-AC4CD975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1609344"/>
            <a:ext cx="217627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08409C3-A4D1-4EC8-94BD-DF71F1234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1728216"/>
            <a:ext cx="20299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归一化后悔值</a:t>
            </a:r>
            <a:endParaRPr sz="88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23242F93-15FA-496E-AC82-83A7AB2A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1609344"/>
            <a:ext cx="1993392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83FF561-4B01-4F3B-83B7-67CACACC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1728216"/>
            <a:ext cx="184708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平均削峰率</a:t>
            </a:r>
            <a:endParaRPr sz="88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14615860-4CA6-4E22-A830-5ADE1F93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0665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621ACEE-FBA1-4A12-950B-671704D0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1854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前日持久性</a:t>
            </a:r>
            <a:endParaRPr sz="9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B699210-2F2C-44D6-87D6-47038FE3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F6AEC6-8C85-43DC-BB6F-16FFA72F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.225885</a:t>
            </a:r>
            <a:endParaRPr sz="9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344693A5-5D46-4B03-AD7E-F8DED92A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767F7F1-7928-4D5D-A7CE-71210965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.430193</a:t>
            </a:r>
            <a:endParaRPr sz="9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A3E9932-CB94-45B1-8BB6-D512BAEDD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0665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5D80DBAE-89DE-4D43-B6FA-6DA6B138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1854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.162986</a:t>
            </a:r>
            <a:endParaRPr sz="9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7D7B22C-29A2-4D89-84C8-DF320103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0665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7389B1E1-66B0-4E93-9027-031FAE7E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1854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−1.878%</a:t>
            </a:r>
            <a:endParaRPr sz="9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B5BF4D-E1DC-429D-A789-F4034201B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5694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EE8EBB6-C638-46DC-964E-3D38DAC1C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6883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周周期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7255C22-54AE-4F3D-AB81-C8473FA3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689B47A-FAF7-4040-AAB3-D54EFB2C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.201578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9F94A51B-FFB5-4190-97CB-23216C9B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44D496A-E2C2-4F74-8DF4-78A3D96A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.328414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31C12490-AF82-4AD7-9120-2DD49FB3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5694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69FAF17-F05F-4C97-B456-5FC9DD242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26883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.144323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B76F98BC-26CD-4F12-879A-CB38A937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25694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09EB2E77-E815-4CBA-9965-56ADEC75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26883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3.085%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E23720D1-881B-4F37-8102-FA7FAFFE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0723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64A7E34-0C1D-44B4-B039-E19D133A1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1912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DayWeek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ECA68D8A-98B7-4B0D-9789-6A0676E60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8E7A5482-1C90-4ED5-92B3-52C92027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.183478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3477D3FE-EAA5-4467-BC0F-EE2298AC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AB7552E-9D28-4460-9A7D-78810CE0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.296621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6870CB39-9F48-4D85-A08B-E932CBCE6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0723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9AC120C-C3BF-4A89-8BB1-1A7C4099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1912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.143019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F4D8B156-0677-4A6E-9FE9-5D527257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0723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7CC2EA3-797B-4E07-87DE-A6E53CB2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1912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4.907%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7BE4C352-9BB8-4107-B5CE-FE0A53C3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57530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D38DEEEC-7A47-4335-A792-63BB9F30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69417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1CE3A416-FEB1-4C72-B274-36BBFF20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1458266D-15A4-4EDD-9101-5295CBB6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.147338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AECE029E-F7F7-4806-87CB-299F4834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1AA3E01D-6215-4222-A80B-88C19A22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.216942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3331C21E-C4D2-4077-A88B-F2D89BDC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357530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744C2C9C-512D-4415-B797-EB5B4549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369417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C624B7FA-2319-4AB1-AB4D-9EC0F7D0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357530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2544D596-668F-4B39-A91C-74201950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369417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C9BC76E0-DD00-4A7B-BE5D-75AF3219E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07822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FFCF4D62-62E9-462D-B8EC-93D3F0F7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19709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0816887F-2F9A-4A30-9F6D-AC080EA5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8E19EBC5-A529-438E-A425-38FC7316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.149781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464A3F1A-9923-40AD-B4ED-9B7349A0F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57A8766C-886E-44E0-8543-EF9A56D2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.216751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A3D0F21D-2A41-4C5C-9B5E-C1DF81DC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07822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DA31648A-594D-41B2-9513-6F9E60EA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19709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0D3EF4EC-6127-4757-8B04-DE715734A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07822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C4CC218F-D180-4AA0-BCD2-2DB33BF0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19709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68" name="Shape 66">
            <a:extLst xmlns:a="http://schemas.openxmlformats.org/drawingml/2006/main">
              <a:ext uri="{FF2B5EF4-FFF2-40B4-BE49-F238E27FC236}">
                <a16:creationId xmlns:a16="http://schemas.microsoft.com/office/drawing/2014/main" id="{A50C91C9-DC27-470C-9473-BBF555D6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58114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C369E6D1-34D8-478D-95C3-FFA271C1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70001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70" name="Shape 68">
            <a:extLst xmlns:a="http://schemas.openxmlformats.org/drawingml/2006/main">
              <a:ext uri="{FF2B5EF4-FFF2-40B4-BE49-F238E27FC236}">
                <a16:creationId xmlns:a16="http://schemas.microsoft.com/office/drawing/2014/main" id="{E4888266-A223-414E-AEDC-94DA29F5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1" name="Text 69">
            <a:extLst xmlns:a="http://schemas.openxmlformats.org/drawingml/2006/main">
              <a:ext uri="{FF2B5EF4-FFF2-40B4-BE49-F238E27FC236}">
                <a16:creationId xmlns:a16="http://schemas.microsoft.com/office/drawing/2014/main" id="{9D167D2C-80C5-417E-B5A4-F64A799E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.173604</a:t>
            </a:r>
            <a:endParaRPr sz="950"/>
          </a:p>
        </p:txBody>
      </p:sp>
      <p:sp>
        <p:nvSpPr>
          <p:cNvPr id="72" name="Shape 70">
            <a:extLst xmlns:a="http://schemas.openxmlformats.org/drawingml/2006/main">
              <a:ext uri="{FF2B5EF4-FFF2-40B4-BE49-F238E27FC236}">
                <a16:creationId xmlns:a16="http://schemas.microsoft.com/office/drawing/2014/main" id="{91F47739-E138-45AC-802E-6352ED954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3" name="Text 71">
            <a:extLst xmlns:a="http://schemas.openxmlformats.org/drawingml/2006/main">
              <a:ext uri="{FF2B5EF4-FFF2-40B4-BE49-F238E27FC236}">
                <a16:creationId xmlns:a16="http://schemas.microsoft.com/office/drawing/2014/main" id="{1C53580D-7F00-4596-B23D-9EAA5A631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.239211</a:t>
            </a:r>
            <a:endParaRPr sz="950"/>
          </a:p>
        </p:txBody>
      </p:sp>
      <p:sp>
        <p:nvSpPr>
          <p:cNvPr id="74" name="Shape 72">
            <a:extLst xmlns:a="http://schemas.openxmlformats.org/drawingml/2006/main">
              <a:ext uri="{FF2B5EF4-FFF2-40B4-BE49-F238E27FC236}">
                <a16:creationId xmlns:a16="http://schemas.microsoft.com/office/drawing/2014/main" id="{72069F00-E8C2-4553-B1B1-C61837D4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458114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5" name="Text 73">
            <a:extLst xmlns:a="http://schemas.openxmlformats.org/drawingml/2006/main">
              <a:ext uri="{FF2B5EF4-FFF2-40B4-BE49-F238E27FC236}">
                <a16:creationId xmlns:a16="http://schemas.microsoft.com/office/drawing/2014/main" id="{AB6CBB2F-4A08-46FD-9E4F-989CADAE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470001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76" name="Shape 74">
            <a:extLst xmlns:a="http://schemas.openxmlformats.org/drawingml/2006/main">
              <a:ext uri="{FF2B5EF4-FFF2-40B4-BE49-F238E27FC236}">
                <a16:creationId xmlns:a16="http://schemas.microsoft.com/office/drawing/2014/main" id="{EFAF5302-2C03-4789-A571-117326A4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458114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7" name="Text 75">
            <a:extLst xmlns:a="http://schemas.openxmlformats.org/drawingml/2006/main">
              <a:ext uri="{FF2B5EF4-FFF2-40B4-BE49-F238E27FC236}">
                <a16:creationId xmlns:a16="http://schemas.microsoft.com/office/drawing/2014/main" id="{661EA17B-D1BC-401C-A651-E8761CCD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470001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78" name="Shape 76">
            <a:extLst xmlns:a="http://schemas.openxmlformats.org/drawingml/2006/main">
              <a:ext uri="{FF2B5EF4-FFF2-40B4-BE49-F238E27FC236}">
                <a16:creationId xmlns:a16="http://schemas.microsoft.com/office/drawing/2014/main" id="{DE23D8E4-2ADD-41A9-AE66-F257C941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08406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79" name="Text 77">
            <a:extLst xmlns:a="http://schemas.openxmlformats.org/drawingml/2006/main">
              <a:ext uri="{FF2B5EF4-FFF2-40B4-BE49-F238E27FC236}">
                <a16:creationId xmlns:a16="http://schemas.microsoft.com/office/drawing/2014/main" id="{ED17A4AF-31DE-4D6F-BEB5-6E0B0246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20293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80" name="Shape 78">
            <a:extLst xmlns:a="http://schemas.openxmlformats.org/drawingml/2006/main">
              <a:ext uri="{FF2B5EF4-FFF2-40B4-BE49-F238E27FC236}">
                <a16:creationId xmlns:a16="http://schemas.microsoft.com/office/drawing/2014/main" id="{228B8182-CA9A-4FEA-A926-FE99723D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1" name="Text 79">
            <a:extLst xmlns:a="http://schemas.openxmlformats.org/drawingml/2006/main">
              <a:ext uri="{FF2B5EF4-FFF2-40B4-BE49-F238E27FC236}">
                <a16:creationId xmlns:a16="http://schemas.microsoft.com/office/drawing/2014/main" id="{B98D3745-2BA4-4842-BE66-3F84F3280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.137970</a:t>
            </a:r>
            <a:endParaRPr sz="950"/>
          </a:p>
        </p:txBody>
      </p:sp>
      <p:sp>
        <p:nvSpPr>
          <p:cNvPr id="82" name="Shape 80">
            <a:extLst xmlns:a="http://schemas.openxmlformats.org/drawingml/2006/main">
              <a:ext uri="{FF2B5EF4-FFF2-40B4-BE49-F238E27FC236}">
                <a16:creationId xmlns:a16="http://schemas.microsoft.com/office/drawing/2014/main" id="{A6A6F846-0A9F-4E61-9265-01CDA8DD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3" name="Text 81">
            <a:extLst xmlns:a="http://schemas.openxmlformats.org/drawingml/2006/main">
              <a:ext uri="{FF2B5EF4-FFF2-40B4-BE49-F238E27FC236}">
                <a16:creationId xmlns:a16="http://schemas.microsoft.com/office/drawing/2014/main" id="{87868DE1-6EAC-48E2-9D04-6E03AB5C8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.207822</a:t>
            </a:r>
            <a:endParaRPr sz="950"/>
          </a:p>
        </p:txBody>
      </p:sp>
      <p:sp>
        <p:nvSpPr>
          <p:cNvPr id="84" name="Shape 82">
            <a:extLst xmlns:a="http://schemas.openxmlformats.org/drawingml/2006/main">
              <a:ext uri="{FF2B5EF4-FFF2-40B4-BE49-F238E27FC236}">
                <a16:creationId xmlns:a16="http://schemas.microsoft.com/office/drawing/2014/main" id="{34E62C53-EEF3-4241-95FF-9E9E4CF4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08406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5" name="Text 83">
            <a:extLst xmlns:a="http://schemas.openxmlformats.org/drawingml/2006/main">
              <a:ext uri="{FF2B5EF4-FFF2-40B4-BE49-F238E27FC236}">
                <a16:creationId xmlns:a16="http://schemas.microsoft.com/office/drawing/2014/main" id="{BFC61AB7-0DC5-4C75-8909-D079F48C8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20293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86" name="Shape 84">
            <a:extLst xmlns:a="http://schemas.openxmlformats.org/drawingml/2006/main">
              <a:ext uri="{FF2B5EF4-FFF2-40B4-BE49-F238E27FC236}">
                <a16:creationId xmlns:a16="http://schemas.microsoft.com/office/drawing/2014/main" id="{818C769F-DFC1-4154-9648-11967EA69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08406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7" name="Text 85">
            <a:extLst xmlns:a="http://schemas.openxmlformats.org/drawingml/2006/main">
              <a:ext uri="{FF2B5EF4-FFF2-40B4-BE49-F238E27FC236}">
                <a16:creationId xmlns:a16="http://schemas.microsoft.com/office/drawing/2014/main" id="{3116782F-EBF5-4006-9896-22F8207F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20293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88" name="Shape 86">
            <a:extLst xmlns:a="http://schemas.openxmlformats.org/drawingml/2006/main">
              <a:ext uri="{FF2B5EF4-FFF2-40B4-BE49-F238E27FC236}">
                <a16:creationId xmlns:a16="http://schemas.microsoft.com/office/drawing/2014/main" id="{893F9760-D67D-4E9D-8B7C-60DE7287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586984"/>
            <a:ext cx="257860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89" name="Text 87">
            <a:extLst xmlns:a="http://schemas.openxmlformats.org/drawingml/2006/main">
              <a:ext uri="{FF2B5EF4-FFF2-40B4-BE49-F238E27FC236}">
                <a16:creationId xmlns:a16="http://schemas.microsoft.com/office/drawing/2014/main" id="{F9064052-2F76-46D4-9959-F3F3530BF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705856"/>
            <a:ext cx="243230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Peak-aware LGBM</a:t>
            </a:r>
            <a:endParaRPr sz="950"/>
          </a:p>
        </p:txBody>
      </p:sp>
      <p:sp>
        <p:nvSpPr>
          <p:cNvPr id="90" name="Shape 88">
            <a:extLst xmlns:a="http://schemas.openxmlformats.org/drawingml/2006/main">
              <a:ext uri="{FF2B5EF4-FFF2-40B4-BE49-F238E27FC236}">
                <a16:creationId xmlns:a16="http://schemas.microsoft.com/office/drawing/2014/main" id="{28476242-8826-4A2C-A399-592FCF753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1" name="Text 89">
            <a:extLst xmlns:a="http://schemas.openxmlformats.org/drawingml/2006/main">
              <a:ext uri="{FF2B5EF4-FFF2-40B4-BE49-F238E27FC236}">
                <a16:creationId xmlns:a16="http://schemas.microsoft.com/office/drawing/2014/main" id="{3D6B4025-C789-45DD-9D8B-5E7E575D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.147587</a:t>
            </a:r>
            <a:endParaRPr sz="950"/>
          </a:p>
        </p:txBody>
      </p:sp>
      <p:sp>
        <p:nvSpPr>
          <p:cNvPr id="92" name="Shape 90">
            <a:extLst xmlns:a="http://schemas.openxmlformats.org/drawingml/2006/main">
              <a:ext uri="{FF2B5EF4-FFF2-40B4-BE49-F238E27FC236}">
                <a16:creationId xmlns:a16="http://schemas.microsoft.com/office/drawing/2014/main" id="{FCC2FC84-3482-4C77-B20C-FE89C75B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360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3" name="Text 91">
            <a:extLst xmlns:a="http://schemas.openxmlformats.org/drawingml/2006/main">
              <a:ext uri="{FF2B5EF4-FFF2-40B4-BE49-F238E27FC236}">
                <a16:creationId xmlns:a16="http://schemas.microsoft.com/office/drawing/2014/main" id="{33B79FF1-723B-494C-B7E0-D8F54F2A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2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.217284</a:t>
            </a:r>
            <a:endParaRPr sz="950"/>
          </a:p>
        </p:txBody>
      </p:sp>
      <p:sp>
        <p:nvSpPr>
          <p:cNvPr id="94" name="Shape 92">
            <a:extLst xmlns:a="http://schemas.openxmlformats.org/drawingml/2006/main">
              <a:ext uri="{FF2B5EF4-FFF2-40B4-BE49-F238E27FC236}">
                <a16:creationId xmlns:a16="http://schemas.microsoft.com/office/drawing/2014/main" id="{F20AA9E7-E634-4909-9290-DDF6621F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5586984"/>
            <a:ext cx="217627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5" name="Text 93">
            <a:extLst xmlns:a="http://schemas.openxmlformats.org/drawingml/2006/main">
              <a:ext uri="{FF2B5EF4-FFF2-40B4-BE49-F238E27FC236}">
                <a16:creationId xmlns:a16="http://schemas.microsoft.com/office/drawing/2014/main" id="{86E341E9-B4EA-4632-962F-2B59B923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2904" y="5705856"/>
            <a:ext cx="202996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.116202</a:t>
            </a:r>
            <a:endParaRPr sz="950"/>
          </a:p>
        </p:txBody>
      </p:sp>
      <p:sp>
        <p:nvSpPr>
          <p:cNvPr id="96" name="Shape 94">
            <a:extLst xmlns:a="http://schemas.openxmlformats.org/drawingml/2006/main">
              <a:ext uri="{FF2B5EF4-FFF2-40B4-BE49-F238E27FC236}">
                <a16:creationId xmlns:a16="http://schemas.microsoft.com/office/drawing/2014/main" id="{2BBACED7-E107-4775-AC99-2D46E7888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6024" y="5586984"/>
            <a:ext cx="1993392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97" name="Text 95">
            <a:extLst xmlns:a="http://schemas.openxmlformats.org/drawingml/2006/main">
              <a:ext uri="{FF2B5EF4-FFF2-40B4-BE49-F238E27FC236}">
                <a16:creationId xmlns:a16="http://schemas.microsoft.com/office/drawing/2014/main" id="{24D8F60C-BDC5-4B2A-BB25-8A87EE88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9176" y="5705856"/>
            <a:ext cx="184708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1.129%</a:t>
            </a:r>
            <a:endParaRPr sz="950"/>
          </a:p>
        </p:txBody>
      </p:sp>
      <p:sp>
        <p:nvSpPr>
          <p:cNvPr id="98" name="Text 96">
            <a:extLst xmlns:a="http://schemas.openxmlformats.org/drawingml/2006/main">
              <a:ext uri="{FF2B5EF4-FFF2-40B4-BE49-F238E27FC236}">
                <a16:creationId xmlns:a16="http://schemas.microsoft.com/office/drawing/2014/main" id="{F9EFBBC2-706A-43F3-ADBA-8AA0EDA9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数据来源：outputs/phase9/final_benchmark.csv；归一化误差与后悔值越低越好</a:t>
            </a:r>
            <a:endParaRPr sz="670"/>
          </a:p>
        </p:txBody>
      </p:sp>
      <p:sp>
        <p:nvSpPr>
          <p:cNvPr id="99" name="Text 97">
            <a:extLst xmlns:a="http://schemas.openxmlformats.org/drawingml/2006/main">
              <a:ext uri="{FF2B5EF4-FFF2-40B4-BE49-F238E27FC236}">
                <a16:creationId xmlns:a16="http://schemas.microsoft.com/office/drawing/2014/main" id="{8F83CD73-FB08-4D0C-84A6-1DDE2FA7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10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CEE5F39-C137-4067-9EB0-D631787FDD44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2998746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7AF6F75-D4E4-4993-94AB-A02A36E87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0A0013D-8CD3-414C-8754-59CCC0CE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决策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96E04E9-08FA-4B61-BE66-6047EFA7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73CA3F-C411-4CB0-B481-D73E0518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5DFA6B2-AEB7-4E12-BD54-56C3E18C8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削峰率分布与失效案例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3FFC8B42-9F6D-4B97-9BF6-50A541551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均值、中位数和最小值共同描述调度表现，负削峰率表示取电峰值反而升高。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76D88A-0EE5-4A42-A174-F568D843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3712464" cy="4517136"/>
          </a:xfrm>
          <a:prstGeom xmlns:a="http://schemas.openxmlformats.org/drawingml/2006/main" prst="roundRect">
            <a:avLst>
              <a:gd name="adj" fmla="val 221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D9251A3-0FCE-4694-9953-BBBADBE7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56232"/>
            <a:ext cx="299923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均值与中位数的差异</a:t>
            </a:r>
            <a:endParaRPr sz="145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6EDEC24-A97A-4DDD-B0B0-2D5A9653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42032"/>
            <a:ext cx="237744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CatBoost 削峰率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03A0EB7-32BF-4311-8F3B-FD42865CD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−24.48%</a:t>
            </a:r>
            <a:endParaRPr sz="2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47854B3-1BE1-46C3-8C21-F40200A5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均值</a:t>
            </a:r>
            <a:endParaRPr sz="115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DA969E89-B156-46FD-A767-A305E512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889504"/>
            <a:ext cx="1417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+4.82%</a:t>
            </a:r>
            <a:endParaRPr sz="2800"/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FF6CFB9A-36F0-4475-9F27-367440E0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3547872"/>
            <a:ext cx="14173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中位数</a:t>
            </a:r>
            <a:endParaRPr sz="115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EB26B13-71FF-4845-A62E-9DC91D93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2852928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20">
                <a:solidFill>
                  <a:srgbClr val="A8B8C5"/>
                </a:solidFill>
                <a:latin typeface="Microsoft YaHei"/>
                <a:ea typeface="Microsoft YaHei"/>
                <a:cs typeface="Microsoft YaHei"/>
              </a:rPr>
              <a:t>极端负值拉低平均削峰率，需结合中位数和最小值判断调度表现。</a:t>
            </a:r>
            <a:endParaRPr sz="112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E6B540D0-3FEF-4D00-AC03-94E8A6E9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321808"/>
            <a:ext cx="15544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BC6376-42B2-47F1-817B-3A0745A2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362956"/>
            <a:ext cx="14081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1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最小值 = −245.94%</a:t>
            </a:r>
            <a:endParaRPr sz="81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D7D53D93-FF09-4C11-98F3-1A090044A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1847088"/>
            <a:ext cx="1591056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6E5851D-6A28-4DCD-8AAA-B59DA46F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965960"/>
            <a:ext cx="144475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方法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05E306D6-BF0C-41E2-937E-8DC8687FD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847088"/>
            <a:ext cx="124358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771292BD-15AA-4F39-8269-3C3415C3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1965960"/>
            <a:ext cx="10972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归一化后悔值</a:t>
            </a:r>
            <a:endParaRPr sz="8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4D6855EF-ACB0-4EFF-B310-8D7E8511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F969D55-912D-4EDD-A330-921E49E3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削峰率均值</a:t>
            </a:r>
            <a:endParaRPr sz="85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756191E5-C451-451F-8392-66204616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AC706B0-BFF2-40EE-859E-0C7E4B09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削峰率中位数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E225B42-B715-4E6C-8749-EF4E70F6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1847088"/>
            <a:ext cx="1335024" cy="4389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B307EABF-625E-47ED-9F1A-AA0DEF6C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1965960"/>
            <a:ext cx="11887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削峰率最小值</a:t>
            </a:r>
            <a:endParaRPr sz="85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6D31271-2A51-4A32-8756-966BAAEA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286000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F446B06-CAB6-4C63-B6FB-170BAE8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2468880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LightGBM</a:t>
            </a:r>
            <a:endParaRPr sz="950"/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07D40193-CC6B-4438-9464-A7769CBE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286000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8E3437C5-96F6-49B3-A8FB-DB6BC481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2468880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.116127</a:t>
            </a:r>
            <a:endParaRPr sz="9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51B4587F-013A-4340-8251-D2AB4FCB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D209E5E-7983-4383-BC45-FC8E77EE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1.008%</a:t>
            </a:r>
            <a:endParaRPr sz="950"/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11D59DA4-9F0C-4875-BF58-2C88EFA6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AC6C0D79-9C81-4E29-85C5-C7FA2CDD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5.057%</a:t>
            </a:r>
            <a:endParaRPr sz="95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266F7771-1345-47CC-A4F8-885723FD7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286000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2AA6D50-CF02-461A-BDA2-C7347D6DA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2468880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−41.192%</a:t>
            </a:r>
            <a:endParaRPr sz="950"/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D52CAA3A-8B5C-4B31-AD33-53A57A50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2953512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859E51DA-A080-4562-814A-6EADA433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136392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XGBoost</a:t>
            </a:r>
            <a:endParaRPr sz="950"/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9A2C2186-0539-4554-AD83-13F1D62B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953512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47FAAFB-708E-4B10-9A9A-26E4C258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136392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.117534</a:t>
            </a:r>
            <a:endParaRPr sz="95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D9316F61-5972-49E5-BE7A-B4B971C9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50177CFB-F5D8-4F2D-B074-B9A218BD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0.453%</a:t>
            </a:r>
            <a:endParaRPr sz="950"/>
          </a:p>
        </p:txBody>
      </p:sp>
      <p:sp>
        <p:nvSpPr>
          <p:cNvPr id="44" name="Shape 42">
            <a:extLst xmlns:a="http://schemas.openxmlformats.org/drawingml/2006/main">
              <a:ext uri="{FF2B5EF4-FFF2-40B4-BE49-F238E27FC236}">
                <a16:creationId xmlns:a16="http://schemas.microsoft.com/office/drawing/2014/main" id="{437D5B72-9716-4A82-A6CA-555E5944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998E8AFC-1CC6-404C-92A3-4B39A3D1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4.588%</a:t>
            </a:r>
            <a:endParaRPr sz="950"/>
          </a:p>
        </p:txBody>
      </p:sp>
      <p:sp>
        <p:nvSpPr>
          <p:cNvPr id="46" name="Shape 44">
            <a:extLst xmlns:a="http://schemas.openxmlformats.org/drawingml/2006/main">
              <a:ext uri="{FF2B5EF4-FFF2-40B4-BE49-F238E27FC236}">
                <a16:creationId xmlns:a16="http://schemas.microsoft.com/office/drawing/2014/main" id="{88D5A68B-E376-4EA1-8AC1-303C07CD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2953512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6F03C8F-4479-4029-ABB4-C9BB682FD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136392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>
                <a:solidFill>
                  <a:srgbClr val="18212B"/>
                </a:solidFill>
                <a:latin typeface="Arial"/>
                <a:ea typeface="Arial"/>
                <a:cs typeface="Arial"/>
              </a:rPr>
              <a:t>−44.357%</a:t>
            </a:r>
            <a:endParaRPr sz="950"/>
          </a:p>
        </p:txBody>
      </p:sp>
      <p:sp>
        <p:nvSpPr>
          <p:cNvPr id="48" name="Shape 46">
            <a:extLst xmlns:a="http://schemas.openxmlformats.org/drawingml/2006/main">
              <a:ext uri="{FF2B5EF4-FFF2-40B4-BE49-F238E27FC236}">
                <a16:creationId xmlns:a16="http://schemas.microsoft.com/office/drawing/2014/main" id="{A298C16B-9973-44C8-9EFE-693F70780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3621024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EAF86221-49F3-4423-B5D0-B77A2F1B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3803904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CatBoost</a:t>
            </a:r>
            <a:endParaRPr sz="950"/>
          </a:p>
        </p:txBody>
      </p:sp>
      <p:sp>
        <p:nvSpPr>
          <p:cNvPr id="50" name="Shape 48">
            <a:extLst xmlns:a="http://schemas.openxmlformats.org/drawingml/2006/main">
              <a:ext uri="{FF2B5EF4-FFF2-40B4-BE49-F238E27FC236}">
                <a16:creationId xmlns:a16="http://schemas.microsoft.com/office/drawing/2014/main" id="{85B9ED44-36D5-45BC-92ED-0EC1308F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3621024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1" name="Text 49">
            <a:extLst xmlns:a="http://schemas.openxmlformats.org/drawingml/2006/main">
              <a:ext uri="{FF2B5EF4-FFF2-40B4-BE49-F238E27FC236}">
                <a16:creationId xmlns:a16="http://schemas.microsoft.com/office/drawing/2014/main" id="{7B770D59-D75F-4CE5-86F7-2C32298D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3803904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.118740</a:t>
            </a:r>
            <a:endParaRPr sz="950"/>
          </a:p>
        </p:txBody>
      </p:sp>
      <p:sp>
        <p:nvSpPr>
          <p:cNvPr id="52" name="Shape 50">
            <a:extLst xmlns:a="http://schemas.openxmlformats.org/drawingml/2006/main">
              <a:ext uri="{FF2B5EF4-FFF2-40B4-BE49-F238E27FC236}">
                <a16:creationId xmlns:a16="http://schemas.microsoft.com/office/drawing/2014/main" id="{96D527AE-1C6E-4375-9FF3-42DC1751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3" name="Text 51">
            <a:extLst xmlns:a="http://schemas.openxmlformats.org/drawingml/2006/main">
              <a:ext uri="{FF2B5EF4-FFF2-40B4-BE49-F238E27FC236}">
                <a16:creationId xmlns:a16="http://schemas.microsoft.com/office/drawing/2014/main" id="{A3B618F9-6162-42A0-B8AC-D211F522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−24.482%</a:t>
            </a:r>
            <a:endParaRPr sz="950"/>
          </a:p>
        </p:txBody>
      </p:sp>
      <p:sp>
        <p:nvSpPr>
          <p:cNvPr id="54" name="Shape 52">
            <a:extLst xmlns:a="http://schemas.openxmlformats.org/drawingml/2006/main">
              <a:ext uri="{FF2B5EF4-FFF2-40B4-BE49-F238E27FC236}">
                <a16:creationId xmlns:a16="http://schemas.microsoft.com/office/drawing/2014/main" id="{71060E00-6BA1-4170-804C-60CA0265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5" name="Text 53">
            <a:extLst xmlns:a="http://schemas.openxmlformats.org/drawingml/2006/main">
              <a:ext uri="{FF2B5EF4-FFF2-40B4-BE49-F238E27FC236}">
                <a16:creationId xmlns:a16="http://schemas.microsoft.com/office/drawing/2014/main" id="{B6172837-52F1-43AF-AD4F-A23795B5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4.821%</a:t>
            </a:r>
            <a:endParaRPr sz="950"/>
          </a:p>
        </p:txBody>
      </p:sp>
      <p:sp>
        <p:nvSpPr>
          <p:cNvPr id="56" name="Shape 54">
            <a:extLst xmlns:a="http://schemas.openxmlformats.org/drawingml/2006/main">
              <a:ext uri="{FF2B5EF4-FFF2-40B4-BE49-F238E27FC236}">
                <a16:creationId xmlns:a16="http://schemas.microsoft.com/office/drawing/2014/main" id="{21A20241-75C8-4B8C-9337-76C031A3C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3621024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7" name="Text 55">
            <a:extLst xmlns:a="http://schemas.openxmlformats.org/drawingml/2006/main">
              <a:ext uri="{FF2B5EF4-FFF2-40B4-BE49-F238E27FC236}">
                <a16:creationId xmlns:a16="http://schemas.microsoft.com/office/drawing/2014/main" id="{625FC292-0514-49E5-954F-4CE0FA83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3803904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B35C00"/>
                </a:solidFill>
                <a:latin typeface="Arial"/>
                <a:ea typeface="Arial"/>
                <a:cs typeface="Arial"/>
              </a:rPr>
              <a:t>−245.943%</a:t>
            </a:r>
            <a:endParaRPr sz="950"/>
          </a:p>
        </p:txBody>
      </p:sp>
      <p:sp>
        <p:nvSpPr>
          <p:cNvPr id="58" name="Shape 56">
            <a:extLst xmlns:a="http://schemas.openxmlformats.org/drawingml/2006/main">
              <a:ext uri="{FF2B5EF4-FFF2-40B4-BE49-F238E27FC236}">
                <a16:creationId xmlns:a16="http://schemas.microsoft.com/office/drawing/2014/main" id="{A2717F6E-64FB-4FF6-867F-66B8B55E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0288" y="4288536"/>
            <a:ext cx="1591056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59" name="Text 57">
            <a:extLst xmlns:a="http://schemas.openxmlformats.org/drawingml/2006/main">
              <a:ext uri="{FF2B5EF4-FFF2-40B4-BE49-F238E27FC236}">
                <a16:creationId xmlns:a16="http://schemas.microsoft.com/office/drawing/2014/main" id="{BF4387C2-874B-4C9D-99D5-A21AA32F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4471416"/>
            <a:ext cx="144475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DOEF</a:t>
            </a:r>
            <a:endParaRPr sz="950"/>
          </a:p>
        </p:txBody>
      </p:sp>
      <p:sp>
        <p:nvSpPr>
          <p:cNvPr id="60" name="Shape 58">
            <a:extLst xmlns:a="http://schemas.openxmlformats.org/drawingml/2006/main">
              <a:ext uri="{FF2B5EF4-FFF2-40B4-BE49-F238E27FC236}">
                <a16:creationId xmlns:a16="http://schemas.microsoft.com/office/drawing/2014/main" id="{2C1F54B2-E3DB-47C2-A0CD-EB7EA4DF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4288536"/>
            <a:ext cx="124358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1" name="Text 59">
            <a:extLst xmlns:a="http://schemas.openxmlformats.org/drawingml/2006/main">
              <a:ext uri="{FF2B5EF4-FFF2-40B4-BE49-F238E27FC236}">
                <a16:creationId xmlns:a16="http://schemas.microsoft.com/office/drawing/2014/main" id="{224EA375-5C7B-404E-8690-E45A029B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4496" y="4471416"/>
            <a:ext cx="1097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.111929</a:t>
            </a:r>
            <a:endParaRPr sz="950"/>
          </a:p>
        </p:txBody>
      </p:sp>
      <p:sp>
        <p:nvSpPr>
          <p:cNvPr id="62" name="Shape 60">
            <a:extLst xmlns:a="http://schemas.openxmlformats.org/drawingml/2006/main">
              <a:ext uri="{FF2B5EF4-FFF2-40B4-BE49-F238E27FC236}">
                <a16:creationId xmlns:a16="http://schemas.microsoft.com/office/drawing/2014/main" id="{C42DD851-49C7-4667-9634-D7619015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3" name="Text 61">
            <a:extLst xmlns:a="http://schemas.openxmlformats.org/drawingml/2006/main">
              <a:ext uri="{FF2B5EF4-FFF2-40B4-BE49-F238E27FC236}">
                <a16:creationId xmlns:a16="http://schemas.microsoft.com/office/drawing/2014/main" id="{6ACBD10A-4B25-4B1D-B153-95B5AB71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6.442%</a:t>
            </a:r>
            <a:endParaRPr sz="950"/>
          </a:p>
        </p:txBody>
      </p:sp>
      <p:sp>
        <p:nvSpPr>
          <p:cNvPr id="64" name="Shape 62">
            <a:extLst xmlns:a="http://schemas.openxmlformats.org/drawingml/2006/main">
              <a:ext uri="{FF2B5EF4-FFF2-40B4-BE49-F238E27FC236}">
                <a16:creationId xmlns:a16="http://schemas.microsoft.com/office/drawing/2014/main" id="{3BBFC307-41CD-49DA-914D-3F445AEF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5" name="Text 63">
            <a:extLst xmlns:a="http://schemas.openxmlformats.org/drawingml/2006/main">
              <a:ext uri="{FF2B5EF4-FFF2-40B4-BE49-F238E27FC236}">
                <a16:creationId xmlns:a16="http://schemas.microsoft.com/office/drawing/2014/main" id="{A797E190-827A-4727-84A9-36801F944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104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5.629%</a:t>
            </a:r>
            <a:endParaRPr sz="950"/>
          </a:p>
        </p:txBody>
      </p:sp>
      <p:sp>
        <p:nvSpPr>
          <p:cNvPr id="66" name="Shape 64">
            <a:extLst xmlns:a="http://schemas.openxmlformats.org/drawingml/2006/main">
              <a:ext uri="{FF2B5EF4-FFF2-40B4-BE49-F238E27FC236}">
                <a16:creationId xmlns:a16="http://schemas.microsoft.com/office/drawing/2014/main" id="{40D0E06D-AEBC-4F36-A3B6-75D78B7A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4976" y="4288536"/>
            <a:ext cx="1335024" cy="667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6350">
            <a:solidFill>
              <a:srgbClr val="E0E7EF"/>
            </a:solidFill>
            <a:prstDash val="solid"/>
          </a:ln>
        </p:spPr>
      </p:sp>
      <p:sp>
        <p:nvSpPr>
          <p:cNvPr id="67" name="Text 65">
            <a:extLst xmlns:a="http://schemas.openxmlformats.org/drawingml/2006/main">
              <a:ext uri="{FF2B5EF4-FFF2-40B4-BE49-F238E27FC236}">
                <a16:creationId xmlns:a16="http://schemas.microsoft.com/office/drawing/2014/main" id="{DFFD302D-1923-4496-8F46-C40CD616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8128" y="4471416"/>
            <a:ext cx="11887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−1.017%</a:t>
            </a:r>
            <a:endParaRPr sz="950"/>
          </a:p>
        </p:txBody>
      </p:sp>
      <p:sp>
        <p:nvSpPr>
          <p:cNvPr id="68" name="Text 66">
            <a:extLst xmlns:a="http://schemas.openxmlformats.org/drawingml/2006/main">
              <a:ext uri="{FF2B5EF4-FFF2-40B4-BE49-F238E27FC236}">
                <a16:creationId xmlns:a16="http://schemas.microsoft.com/office/drawing/2014/main" id="{F3CCE907-1B0F-476F-A606-AC018217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数据来源：最终基准与决策指标；削峰率需同时考察均值及分布</a:t>
            </a:r>
            <a:endParaRPr sz="670"/>
          </a:p>
        </p:txBody>
      </p:sp>
      <p:sp>
        <p:nvSpPr>
          <p:cNvPr id="69" name="Text 67">
            <a:extLst xmlns:a="http://schemas.openxmlformats.org/drawingml/2006/main">
              <a:ext uri="{FF2B5EF4-FFF2-40B4-BE49-F238E27FC236}">
                <a16:creationId xmlns:a16="http://schemas.microsoft.com/office/drawing/2014/main" id="{B57F784E-C59D-4E44-B9EB-5770CADF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7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051F648-BA0B-4A17-8005-2C1934E6363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942289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CB5D570-AC10-44D3-8AD3-8B843863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ACB429-A785-4D72-A308-F2ED35AD6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案例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4B5F7D4-0CDC-4826-991F-BB98F246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5D26EFC-CAC8-4D30-B8B8-CE9D77855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B45C5A2-B762-4CA9-A5EF-B19960C8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预测误差对充放电计划的影响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89BF46E-CF52-4799-8262-5863A117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预先选定的测试案例用于解释预测如何改变调度结果，不能代表全部建筑表现。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3ED78EE-4580-4C38-BEE6-B5A448251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827264" cy="4370832"/>
          </a:xfrm>
          <a:prstGeom xmlns:a="http://schemas.openxmlformats.org/drawingml/2006/main" prst="roundRect">
            <a:avLst>
              <a:gd name="adj" fmla="val 18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3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72a95e5d94a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" y="1714500"/>
            <a:ext cx="6858000" cy="3429000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537A889-94A9-4ACA-8577-71B4AEE5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5193792"/>
            <a:ext cx="7735824" cy="6217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0F38DF33-593E-46D2-BC50-603453F6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431536"/>
            <a:ext cx="6903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680">
                <a:solidFill>
                  <a:srgbClr val="5C6873"/>
                </a:solidFill>
                <a:latin typeface="Arial"/>
                <a:ea typeface="Arial"/>
                <a:cs typeface="Arial"/>
              </a:rPr>
              <a:t>案例用于解释调度机制，不代表普遍性能；沿用固定案例与原始数值。</a:t>
            </a:r>
            <a:endParaRPr sz="68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526A3D7-77C2-4606-ADF7-42DF120E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572768"/>
            <a:ext cx="2788920" cy="4370832"/>
          </a:xfrm>
          <a:prstGeom xmlns:a="http://schemas.openxmlformats.org/drawingml/2006/main" prst="roundRect">
            <a:avLst>
              <a:gd name="adj" fmla="val 2951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9D9FE26-BECB-447C-B121-9B0E66FC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1704" y="1901952"/>
            <a:ext cx="14447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3B2B20"/>
          </a:solidFill>
          <a:ln xmlns:a="http://schemas.openxmlformats.org/drawingml/2006/main"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220F05F2-F865-4052-84A7-2566D6F7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856" y="1943100"/>
            <a:ext cx="12984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C494"/>
                </a:solidFill>
                <a:latin typeface="Microsoft YaHei"/>
                <a:ea typeface="Microsoft YaHei"/>
                <a:cs typeface="Microsoft YaHei"/>
              </a:rPr>
              <a:t>案例说明</a:t>
            </a:r>
            <a:endParaRPr sz="800"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64253DE-7843-4FDF-B282-EF4DA575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578608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预先确定的测试案例</a:t>
            </a:r>
            <a:endParaRPr sz="1020"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A9A9E57-1726-49EB-AFDA-BB1A09D7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054096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用于说明调度机制</a:t>
            </a:r>
            <a:endParaRPr sz="1020"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60302AB-8688-43E9-843C-A8AE6DE2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3529584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展示预测与实际负荷</a:t>
            </a:r>
            <a:endParaRPr sz="1020"/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3661A016-5EE4-44E2-A5FF-F32F4F9C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005072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关注高负荷时段的偏差</a:t>
            </a:r>
            <a:endParaRPr sz="1020"/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F0616DBD-8935-4143-915E-35800541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4480560"/>
            <a:ext cx="182880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20">
                <a:solidFill>
                  <a:srgbClr val="B6C4CF"/>
                </a:solidFill>
                <a:latin typeface="Microsoft YaHei"/>
                <a:ea typeface="Microsoft YaHei"/>
                <a:cs typeface="Microsoft YaHei"/>
              </a:rPr>
              <a:t>• 总体表现见全样本结果</a:t>
            </a:r>
            <a:endParaRPr sz="1020"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F86864A2-0F0A-45E3-86D3-0967D0A8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来源：Phase 8 预先固定调度案例；曲线图像未重绘，未重新选择案例</a:t>
            </a:r>
            <a:endParaRPr sz="670"/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D350002-F308-40BB-A7C9-CF9E7650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87419E5-F766-4F2B-A1BE-F005D1FA9BA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19</a:t>
            </a:fld>
            <a:endParaRPr/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D44B14-FD43-4E6B-B786-4D645FB1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714500"/>
            <a:ext cx="6858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代表性测试调度：Hog_office_Joey，2017-12-14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684C44-FFDF-4E09-88C9-B5294A36A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19300"/>
            <a:ext cx="990600" cy="99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实际负荷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226BC1-4C6D-43BE-B8A8-27E83795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18360"/>
            <a:ext cx="990600" cy="99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决策选权重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7694B9-BDC7-400E-83A1-7FF7ADECD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217420"/>
            <a:ext cx="990600" cy="990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8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预测选权重</a:t>
            </a:r>
          </a:p>
        </p:txBody>
      </p:sp>
    </p:spTree>
    <p:extLst>
      <p:ext uri="{BB962C8B-B14F-4D97-AF65-F5344CB8AC3E}">
        <p14:creationId xmlns:p14="http://schemas.microsoft.com/office/powerpoint/2010/main" val="144659868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BCDF7F6-FD01-4C46-A08C-8A56BFA0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4E82DFA-B2C1-453F-B725-221A91C80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权重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CC43CF5-1885-4612-8C87-2544B9385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BD52552-9039-4D34-9B45-8DEEBB0C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E565009-0BA7-4BA4-8CEE-1E32C678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逐建筑融合权重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89DAB231-2BBB-4A93-88FE-6BA8126C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候选权重为 0.0、0.1、…、1.0，按验证集目标和平局规则选择，测试期保持不变。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9738CE3-5C75-4F46-BF92-CC483AE0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572768"/>
            <a:ext cx="6766560" cy="4306824"/>
          </a:xfrm>
          <a:prstGeom xmlns:a="http://schemas.openxmlformats.org/drawingml/2006/main" prst="roundRect">
            <a:avLst>
              <a:gd name="adj" fmla="val 19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2E8F0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pic>
        <p:nvPicPr>
          <p:cNvPr id="7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389d1992e146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4062" y="1843659"/>
            <a:ext cx="6122020" cy="3765042"/>
          </a:xfrm>
          <a:prstGeom xmlns:a="http://schemas.openxmlformats.org/drawingml/2006/main" prst="rect">
            <a:avLst/>
          </a:prstGeom>
        </p:spPr>
      </p:pic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202DE25F-24AE-401E-8104-DC714190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1792224"/>
            <a:ext cx="1627632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E11F5CB2-E0AB-406B-9B16-230D93B74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1892808"/>
            <a:ext cx="151790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建筑</a:t>
            </a:r>
            <a:endParaRPr sz="770"/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E1F0B9E-5E5C-4908-8AC0-D1A48B1A1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6913BC8-53FA-40B6-9245-7E929326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预测选权重</a:t>
            </a:r>
            <a:endParaRPr sz="770"/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AFC7F1E3-D7A1-49A7-91E3-318277E9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1792224"/>
            <a:ext cx="1152144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B3F"/>
          </a:solidFill>
          <a:ln xmlns:a="http://schemas.openxmlformats.org/drawingml/2006/main" w="12700">
            <a:solidFill>
              <a:srgbClr val="182B3F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E495A0-C168-4838-B72E-353963BC2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1892808"/>
            <a:ext cx="104241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7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决策选权重</a:t>
            </a:r>
            <a:endParaRPr sz="770"/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31B0BEE-9285-4C0F-B4C9-C996FB2B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17627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715D560-2181-425D-A234-980CBE7B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28600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Rolando</a:t>
            </a:r>
            <a:endParaRPr sz="880"/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54A9C46-2461-437B-B428-FF969CA0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85261E68-F8A7-45AD-9014-FC3F5A5A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F95D05F-1C18-421B-BD35-D8931AC7D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17627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084C8D4-5BAB-4855-A939-1CCA36169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28600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C55FFC3-E46B-4D5E-80F3-04E2C1E1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60604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BA346C11-467F-4D7E-BAAC-2351A09B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271576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Lavon</a:t>
            </a:r>
            <a:endParaRPr sz="880"/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4DE36093-29DD-4EB6-9DC8-2F09DBBA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C79D357-81C7-48C6-A666-0183B1DD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7E7DAE-1622-4CF8-B9D4-2B4ABBCB3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260604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4D2CE1F-61AB-4537-81A0-54428F5F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71576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F8BCD72-2DEA-4AAC-B734-B7864F82B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03580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DB30CF8-521E-44C0-8C19-5BDBE8C1F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14553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Joey</a:t>
            </a:r>
            <a:endParaRPr sz="880"/>
          </a:p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7240EA9F-C2FA-4085-B3BE-0BF24EB1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8631EBC9-A46F-4134-8FD6-8E87D845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6D03376D-F059-48B5-8777-71EDE8C3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03580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BFA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FB5685-CDA1-48C0-9A11-00911C4FD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14553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.3</a:t>
            </a:r>
            <a:endParaRPr sz="880"/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4DB44715-96A8-401E-93A5-98B3FF5C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465576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F6474A71-41E0-4E93-B177-AED05CDE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3575304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Caitlin</a:t>
            </a:r>
            <a:endParaRPr sz="880"/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9C067AB7-2E84-473F-AB5E-98B6B539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4635FDBC-F184-4452-814F-51C51A4F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.4</a:t>
            </a:r>
            <a:endParaRPr sz="880"/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1D41194E-A7D5-4940-81FA-49947A1DB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465576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956DF5A5-9BA9-4F62-9668-391F1CAA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3575304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71841BCA-F60E-49D3-971B-EF97F46F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3895344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309A771E-02FE-4801-92CF-F7182324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005072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Addie</a:t>
            </a:r>
            <a:endParaRPr sz="880"/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486DB832-DC98-41B8-9AA1-7BB301A1A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3" name="Text 40">
            <a:extLst xmlns:a="http://schemas.openxmlformats.org/drawingml/2006/main">
              <a:ext uri="{FF2B5EF4-FFF2-40B4-BE49-F238E27FC236}">
                <a16:creationId xmlns:a16="http://schemas.microsoft.com/office/drawing/2014/main" id="{1286CEB2-0D54-4807-8611-B52CC3A62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13AA0000-7B19-4547-9D83-2CE0A9F9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3895344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5" name="Text 42">
            <a:extLst xmlns:a="http://schemas.openxmlformats.org/drawingml/2006/main">
              <a:ext uri="{FF2B5EF4-FFF2-40B4-BE49-F238E27FC236}">
                <a16:creationId xmlns:a16="http://schemas.microsoft.com/office/drawing/2014/main" id="{EE94A2AF-1DA4-45CE-A745-DA907F5A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005072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D5CC2FC-746F-45F7-A152-21730351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325112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EC411D38-725C-4B1C-87BF-348D4563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434840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Gerardo</a:t>
            </a:r>
            <a:endParaRPr sz="880"/>
          </a:p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56CB36C-A192-40F5-9061-71A5A6C3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D5E1DF2E-A7CF-4FC4-BF4F-3D7957DB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0</a:t>
            </a:r>
            <a:endParaRPr sz="880"/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B6F1E0E1-574E-4B8C-A64A-F2D1FA17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325112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A790378-1A45-422D-9E2A-A149BD5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434840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1</a:t>
            </a:r>
            <a:endParaRPr sz="880"/>
          </a:p>
        </p:txBody>
      </p:sp>
      <p:sp>
        <p:nvSpPr>
          <p:cNvPr id="52" name="Shape 49">
            <a:extLst xmlns:a="http://schemas.openxmlformats.org/drawingml/2006/main">
              <a:ext uri="{FF2B5EF4-FFF2-40B4-BE49-F238E27FC236}">
                <a16:creationId xmlns:a16="http://schemas.microsoft.com/office/drawing/2014/main" id="{14EEDD05-D65A-4A58-B1F7-AA11A3AE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4754880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3" name="Text 50">
            <a:extLst xmlns:a="http://schemas.openxmlformats.org/drawingml/2006/main">
              <a:ext uri="{FF2B5EF4-FFF2-40B4-BE49-F238E27FC236}">
                <a16:creationId xmlns:a16="http://schemas.microsoft.com/office/drawing/2014/main" id="{11A3469D-19D6-4DF5-AB5B-660E266C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4864608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Alexis</a:t>
            </a:r>
            <a:endParaRPr sz="880"/>
          </a:p>
        </p:txBody>
      </p:sp>
      <p:sp>
        <p:nvSpPr>
          <p:cNvPr id="54" name="Shape 51">
            <a:extLst xmlns:a="http://schemas.openxmlformats.org/drawingml/2006/main">
              <a:ext uri="{FF2B5EF4-FFF2-40B4-BE49-F238E27FC236}">
                <a16:creationId xmlns:a16="http://schemas.microsoft.com/office/drawing/2014/main" id="{CEA7A899-3AC5-49D7-AF50-7F105282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5" name="Text 52">
            <a:extLst xmlns:a="http://schemas.openxmlformats.org/drawingml/2006/main">
              <a:ext uri="{FF2B5EF4-FFF2-40B4-BE49-F238E27FC236}">
                <a16:creationId xmlns:a16="http://schemas.microsoft.com/office/drawing/2014/main" id="{DB48FCE5-E37A-4E80-8D1C-1B833E63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.6</a:t>
            </a:r>
            <a:endParaRPr sz="880"/>
          </a:p>
        </p:txBody>
      </p:sp>
      <p:sp>
        <p:nvSpPr>
          <p:cNvPr id="56" name="Shape 53">
            <a:extLst xmlns:a="http://schemas.openxmlformats.org/drawingml/2006/main">
              <a:ext uri="{FF2B5EF4-FFF2-40B4-BE49-F238E27FC236}">
                <a16:creationId xmlns:a16="http://schemas.microsoft.com/office/drawing/2014/main" id="{B80451E5-9FB7-4336-876E-29958F54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4754880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7" name="Text 54">
            <a:extLst xmlns:a="http://schemas.openxmlformats.org/drawingml/2006/main">
              <a:ext uri="{FF2B5EF4-FFF2-40B4-BE49-F238E27FC236}">
                <a16:creationId xmlns:a16="http://schemas.microsoft.com/office/drawing/2014/main" id="{773A6D5D-B275-4018-B546-38720FB7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4864608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.7</a:t>
            </a:r>
            <a:endParaRPr sz="880"/>
          </a:p>
        </p:txBody>
      </p:sp>
      <p:sp>
        <p:nvSpPr>
          <p:cNvPr id="58" name="Shape 55">
            <a:extLst xmlns:a="http://schemas.openxmlformats.org/drawingml/2006/main">
              <a:ext uri="{FF2B5EF4-FFF2-40B4-BE49-F238E27FC236}">
                <a16:creationId xmlns:a16="http://schemas.microsoft.com/office/drawing/2014/main" id="{76BE58DF-CF59-412A-891C-A61EB46D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5184648"/>
            <a:ext cx="1627632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59" name="Text 56">
            <a:extLst xmlns:a="http://schemas.openxmlformats.org/drawingml/2006/main">
              <a:ext uri="{FF2B5EF4-FFF2-40B4-BE49-F238E27FC236}">
                <a16:creationId xmlns:a16="http://schemas.microsoft.com/office/drawing/2014/main" id="{E532A26D-BA33-49E6-960D-0945615F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2672" y="5294376"/>
            <a:ext cx="151790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Byron</a:t>
            </a:r>
            <a:endParaRPr sz="880"/>
          </a:p>
        </p:txBody>
      </p:sp>
      <p:sp>
        <p:nvSpPr>
          <p:cNvPr id="60" name="Shape 57">
            <a:extLst xmlns:a="http://schemas.openxmlformats.org/drawingml/2006/main">
              <a:ext uri="{FF2B5EF4-FFF2-40B4-BE49-F238E27FC236}">
                <a16:creationId xmlns:a16="http://schemas.microsoft.com/office/drawing/2014/main" id="{C68075DF-EDFE-4A5B-8CF3-9F9888E4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1" name="Text 58">
            <a:extLst xmlns:a="http://schemas.openxmlformats.org/drawingml/2006/main">
              <a:ext uri="{FF2B5EF4-FFF2-40B4-BE49-F238E27FC236}">
                <a16:creationId xmlns:a16="http://schemas.microsoft.com/office/drawing/2014/main" id="{242A5757-0BFB-4F34-824E-50ECFDF9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.9</a:t>
            </a:r>
            <a:endParaRPr sz="880"/>
          </a:p>
        </p:txBody>
      </p:sp>
      <p:sp>
        <p:nvSpPr>
          <p:cNvPr id="62" name="Shape 59">
            <a:extLst xmlns:a="http://schemas.openxmlformats.org/drawingml/2006/main">
              <a:ext uri="{FF2B5EF4-FFF2-40B4-BE49-F238E27FC236}">
                <a16:creationId xmlns:a16="http://schemas.microsoft.com/office/drawing/2014/main" id="{6EB2693A-0DBF-4189-BE6C-F1754553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7584" y="5184648"/>
            <a:ext cx="1152144" cy="429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CFD"/>
          </a:solidFill>
          <a:ln xmlns:a="http://schemas.openxmlformats.org/drawingml/2006/main" w="5715">
            <a:solidFill>
              <a:srgbClr val="E0E7EF"/>
            </a:solidFill>
            <a:prstDash val="solid"/>
          </a:ln>
        </p:spPr>
      </p:sp>
      <p:sp>
        <p:nvSpPr>
          <p:cNvPr id="63" name="Text 60">
            <a:extLst xmlns:a="http://schemas.openxmlformats.org/drawingml/2006/main">
              <a:ext uri="{FF2B5EF4-FFF2-40B4-BE49-F238E27FC236}">
                <a16:creationId xmlns:a16="http://schemas.microsoft.com/office/drawing/2014/main" id="{F6C893B0-EBCF-4BBB-B44F-1554FD44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5294376"/>
            <a:ext cx="10424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">
                <a:solidFill>
                  <a:srgbClr val="18212B"/>
                </a:solidFill>
                <a:latin typeface="Arial"/>
                <a:ea typeface="Arial"/>
                <a:cs typeface="Arial"/>
              </a:rPr>
              <a:t>.8</a:t>
            </a:r>
            <a:endParaRPr sz="880"/>
          </a:p>
        </p:txBody>
      </p:sp>
      <p:sp>
        <p:nvSpPr>
          <p:cNvPr id="64" name="Shape 61">
            <a:extLst xmlns:a="http://schemas.openxmlformats.org/drawingml/2006/main">
              <a:ext uri="{FF2B5EF4-FFF2-40B4-BE49-F238E27FC236}">
                <a16:creationId xmlns:a16="http://schemas.microsoft.com/office/drawing/2014/main" id="{FDC762F3-5698-4CD5-951C-BDE8F3C7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362456"/>
            <a:ext cx="198424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9CCEF">
                <a:alpha val="0"/>
              </a:srgbClr>
            </a:solidFill>
            <a:prstDash val="solid"/>
          </a:ln>
        </p:spPr>
      </p:sp>
      <p:sp>
        <p:nvSpPr>
          <p:cNvPr id="65" name="Text 62">
            <a:extLst xmlns:a="http://schemas.openxmlformats.org/drawingml/2006/main">
              <a:ext uri="{FF2B5EF4-FFF2-40B4-BE49-F238E27FC236}">
                <a16:creationId xmlns:a16="http://schemas.microsoft.com/office/drawing/2014/main" id="{9CDB981A-92F4-40D4-9C1C-820945D9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403604"/>
            <a:ext cx="1837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8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Joey: 0.6 → 0.3</a:t>
            </a:r>
            <a:endParaRPr sz="880"/>
          </a:p>
        </p:txBody>
      </p:sp>
      <p:sp>
        <p:nvSpPr>
          <p:cNvPr id="66" name="Text 63">
            <a:extLst xmlns:a="http://schemas.openxmlformats.org/drawingml/2006/main">
              <a:ext uri="{FF2B5EF4-FFF2-40B4-BE49-F238E27FC236}">
                <a16:creationId xmlns:a16="http://schemas.microsoft.com/office/drawing/2014/main" id="{EC24AC08-FC3A-45B0-8B98-0DE88633A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数据来源：selected_weights.csv；未在网格点之间插值</a:t>
            </a:r>
            <a:endParaRPr sz="670"/>
          </a:p>
        </p:txBody>
      </p:sp>
      <p:sp>
        <p:nvSpPr>
          <p:cNvPr id="67" name="Text 64">
            <a:extLst xmlns:a="http://schemas.openxmlformats.org/drawingml/2006/main">
              <a:ext uri="{FF2B5EF4-FFF2-40B4-BE49-F238E27FC236}">
                <a16:creationId xmlns:a16="http://schemas.microsoft.com/office/drawing/2014/main" id="{B09A63D4-4F99-4C4B-8BC4-00B08F00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69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AD6E9C7-A6BA-4A9B-9E05-C901700AB64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085498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CC9A912-801C-4491-A747-9CE5DAC2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5A7FD2B-47F8-4EC2-9A5B-9613FFD9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统计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BB58B40-2ACB-4B83-99BF-0173A41A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2C1E1D2-F733-44FD-831F-BBB1136E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8707B27-41AA-4646-A9C8-20118D3A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建筑级自助法不确定性分析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ACA7C25-ABC0-4006-AC0E-3E3D21E09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以建筑为单位进行配对重采样，区间描述本次 8 栋建筑样本内的不确定性。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D42D65-807B-4186-B799-A24D8412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673352"/>
            <a:ext cx="7882128" cy="3273552"/>
          </a:xfrm>
          <a:prstGeom xmlns:a="http://schemas.openxmlformats.org/drawingml/2006/main" prst="roundRect">
            <a:avLst>
              <a:gd name="adj" fmla="val 25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DB4C97F-4506-43C7-A8A7-8B213F21C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319272"/>
            <a:ext cx="66568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B9C6D2"/>
            </a:solidFill>
            <a:prstDash val="solid"/>
          </a:ln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B8456E2-12A5-4C40-B9B3-3008C2553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1624" y="2267712"/>
            <a:ext cx="0" cy="20848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B35C00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B55B6FD-8FFA-4D31-B913-6EAC56B6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0184" y="3657600"/>
            <a:ext cx="18288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>
                <a:solidFill>
                  <a:srgbClr val="B35C00"/>
                </a:solidFill>
                <a:latin typeface="Arial"/>
                <a:ea typeface="Arial"/>
                <a:cs typeface="Arial"/>
              </a:rPr>
              <a:t>0</a:t>
            </a:r>
            <a:endParaRPr sz="8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1F84F5F2-0D7D-41A6-9F27-048ED026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035" y="3319272"/>
            <a:ext cx="379513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6F4E9C"/>
            </a:solidFill>
            <a:prstDash val="solid"/>
            <a:headEnd type="none"/>
            <a:tailEnd type="non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EE6B32F-72F6-4FCF-A0E0-0568AF7F7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4286" y="3236976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2"/>
          </a:solidFill>
          <a:ln xmlns:a="http://schemas.openxmlformats.org/drawingml/2006/main" w="15240">
            <a:solidFill>
              <a:srgbClr val="FFFFFF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EB56784-2AB0-4E85-8F1D-7D3EC0677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148840"/>
            <a:ext cx="2148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95% 自助法区间</a:t>
            </a:r>
            <a:endParaRPr sz="1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8C60398-3373-489E-B6E2-C5337DB9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6230" y="2596896"/>
            <a:ext cx="1060704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3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点估计</a:t>
            </a:r>
            <a:endParaRPr sz="83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14ABF80-717C-48EB-90EA-77D9A964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148840"/>
            <a:ext cx="2240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区间上界低于 0</a:t>
            </a:r>
            <a:endParaRPr sz="100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755B063-52F9-4DE0-8B7D-362570D8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73352"/>
            <a:ext cx="2670048" cy="3273552"/>
          </a:xfrm>
          <a:prstGeom xmlns:a="http://schemas.openxmlformats.org/drawingml/2006/main" prst="roundRect">
            <a:avLst>
              <a:gd name="adj" fmla="val 3082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D5011C7-76AF-4AD0-A997-47203129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048256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10,000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37E5DAD-57A5-4D2A-B519-F375BD3E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次重采样 · 种子 42</a:t>
            </a:r>
            <a:endParaRPr sz="11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4A36588-0DAF-43F7-8013-8BF80C334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273552"/>
            <a:ext cx="20574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C7B8FF"/>
                </a:solidFill>
                <a:latin typeface="Arial"/>
                <a:ea typeface="Arial"/>
                <a:cs typeface="Arial"/>
              </a:rPr>
              <a:t>−0.004198</a:t>
            </a:r>
            <a:endParaRPr sz="2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3F089C0-B262-496D-BF03-30919F5D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931920"/>
            <a:ext cx="2057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点估计</a:t>
            </a:r>
            <a:endParaRPr sz="11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6A5AC47-6B00-4591-9F20-A94D942A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266944"/>
            <a:ext cx="1298448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50" b="1">
                <a:solidFill>
                  <a:srgbClr val="5C6873"/>
                </a:solidFill>
                <a:latin typeface="Arial"/>
                <a:ea typeface="Arial"/>
                <a:cs typeface="Arial"/>
              </a:rPr>
              <a:t>95% 区间</a:t>
            </a:r>
            <a:endParaRPr sz="95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529EC7-4ED7-4146-B1FF-17E9E333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5184648"/>
            <a:ext cx="30632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[ −0.006850 ,  −0.001719 ]</a:t>
            </a:r>
            <a:endParaRPr sz="1600"/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3AD1F3EA-0B60-4031-A232-8C6DA02EC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12080"/>
            <a:ext cx="213055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1E8"/>
          </a:solidFill>
          <a:ln xmlns:a="http://schemas.openxmlformats.org/drawingml/2006/main" w="12700">
            <a:solidFill>
              <a:srgbClr val="F0D6C4">
                <a:alpha val="0"/>
              </a:srgbClr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B3176129-7BCB-4196-969A-43C863E7B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5253228"/>
            <a:ext cx="198424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B35C00"/>
                </a:solidFill>
                <a:latin typeface="Microsoft YaHei"/>
                <a:ea typeface="Microsoft YaHei"/>
                <a:cs typeface="Microsoft YaHei"/>
              </a:rPr>
              <a:t>仅适用于固定 8 栋建筑</a:t>
            </a:r>
            <a:endParaRPr sz="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C3781A7-34B6-45DC-A641-F42FD607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数据来源：Phase 9.1 最终统计；未重新采样</a:t>
            </a:r>
            <a:endParaRPr sz="67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23743E0-876C-43CE-AC37-36C692B4A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36CB5CD-5423-4299-8C1E-929636635CB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048485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98F3F46-4EE8-485F-B109-CF7B8DB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C17DCB-2F01-4DF9-8234-752AA0480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复现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1173191-E41C-433B-812B-18A2F394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DD19DD7-6BD7-4F2E-BE1F-C7BC109A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8AC4997-C5F9-4481-8493-2C92CA00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5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DOEF 公式与预测输出的一致性</a:t>
            </a:r>
            <a:endParaRPr sz="25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C8141D-5882-4DBB-A5F2-224991E2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按公式复算 5,760 个测试预测，与保存的输出逐点比对；该检查不涉及重新训练。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246362AC-6465-48B4-B980-7660CA26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627632"/>
            <a:ext cx="5074920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94EE043-1D49-4CD1-8420-0EBC040C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176272"/>
            <a:ext cx="43891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100" b="1">
                <a:solidFill>
                  <a:srgbClr val="F8FBFF"/>
                </a:solidFill>
                <a:latin typeface="Arial"/>
                <a:ea typeface="Arial"/>
                <a:cs typeface="Arial"/>
              </a:rPr>
              <a:t>wᵦ × LightGBM + (1 − wᵦ) × DayWeek</a:t>
            </a:r>
            <a:endParaRPr sz="21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CCFF2844-7253-4458-B279-4060C42F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8064" y="2999232"/>
            <a:ext cx="868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=</a:t>
            </a:r>
            <a:endParaRPr sz="2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C485731-89BC-4EB4-9AF6-9C031FB7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584448"/>
            <a:ext cx="32461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保存的融合预测</a:t>
            </a:r>
            <a:endParaRPr sz="1500"/>
          </a:p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B4C5D2"/>
                </a:solidFill>
                <a:latin typeface="Arial"/>
                <a:ea typeface="Arial"/>
                <a:cs typeface="Arial"/>
              </a:rPr>
              <a:t>ensemble_prediction</a:t>
            </a:r>
            <a:endParaRPr sz="15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E7F1C1F3-92DB-4AB6-90F5-62396AAE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74336"/>
            <a:ext cx="2487168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173A54"/>
          </a:solidFill>
          <a:ln xmlns:a="http://schemas.openxmlformats.org/drawingml/2006/main"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AD2FB62-C3C4-40AE-8F3C-79453157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76" y="5015484"/>
            <a:ext cx="234086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24C7FF"/>
                </a:solidFill>
                <a:latin typeface="Microsoft YaHei"/>
                <a:ea typeface="Microsoft YaHei"/>
                <a:cs typeface="Microsoft YaHei"/>
              </a:rPr>
              <a:t>逐点一致性检查</a:t>
            </a:r>
            <a:endParaRPr sz="9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F82ADFB-93C3-4913-880E-23031310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9904" y="1627632"/>
            <a:ext cx="5413248" cy="4279392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888A1E3A-D1A0-4292-8558-A6CF038AD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0072B2"/>
                </a:solidFill>
                <a:latin typeface="Arial"/>
                <a:ea typeface="Arial"/>
                <a:cs typeface="Arial"/>
              </a:rPr>
              <a:t>5,760</a:t>
            </a:r>
            <a:endParaRPr sz="2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2FF9637-E449-4DBC-B974-4664DBBD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个预测值参与比对</a:t>
            </a:r>
            <a:endParaRPr sz="11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5F6AE28-18D6-49BD-93D6-43A485AA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157984"/>
            <a:ext cx="2029968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18A76C"/>
                </a:solidFill>
                <a:latin typeface="Arial"/>
                <a:ea typeface="Arial"/>
                <a:cs typeface="Arial"/>
              </a:rPr>
              <a:t>0.0 kW</a:t>
            </a:r>
            <a:endParaRPr sz="28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3E613D6-3F9D-4B1D-B093-6124E69D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8" y="2816352"/>
            <a:ext cx="202996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最大绝对差</a:t>
            </a:r>
            <a:endParaRPr sz="11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FCC9EBD-AFC3-4631-BA5D-F0700488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520440"/>
            <a:ext cx="4187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5DEE6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AF076A8D-9ACD-48B4-822E-AC608213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840480"/>
            <a:ext cx="39319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8 栋建筑 × 720 测试小时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C28462-8D53-4858-ADDC-A561EFC2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70832"/>
            <a:ext cx="393192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公式复算与保存的预测一致</a:t>
            </a:r>
            <a:endParaRPr sz="1100"/>
          </a:p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5C6873"/>
                </a:solidFill>
                <a:latin typeface="Arial"/>
                <a:ea typeface="Arial"/>
                <a:cs typeface="Arial"/>
              </a:rPr>
              <a:t>容差 1e−12</a:t>
            </a:r>
            <a:endParaRPr sz="11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4D59EF24-F541-4EC6-94CE-5E8145E3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数据来源：Phase 9.1 最终统计；仅验证公式与预测输出一致性</a:t>
            </a:r>
            <a:endParaRPr sz="67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D99D34B-1B95-4C20-B439-29B6D829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3FD03E3-89B7-4DCD-BFE4-08E7C1B7F7C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2845845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7AE87FF-6A2D-404E-A9F5-9683E0CF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92024"/>
            <a:ext cx="6583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 spc="130">
                <a:solidFill>
                  <a:srgbClr val="6F4E9C"/>
                </a:solidFill>
                <a:latin typeface="Arial"/>
                <a:ea typeface="Arial"/>
                <a:cs typeface="Arial"/>
              </a:rPr>
              <a:t>DOEF</a:t>
            </a:r>
            <a:endParaRPr sz="85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AEEF979-6315-4485-A371-03A5DC8A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2024"/>
            <a:ext cx="29260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30" b="1" spc="100">
                <a:solidFill>
                  <a:srgbClr val="7A8897"/>
                </a:solidFill>
                <a:latin typeface="Arial"/>
                <a:ea typeface="Arial"/>
                <a:cs typeface="Arial"/>
              </a:rPr>
              <a:t>附录 · 对比</a:t>
            </a:r>
            <a:endParaRPr sz="83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56B21F2-6681-4AE7-8299-25AB0FB1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1320" y="173736"/>
            <a:ext cx="896112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6F4E9C"/>
          </a:solidFill>
          <a:ln xmlns:a="http://schemas.openxmlformats.org/drawingml/2006/main"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F51DB7FB-E36F-4E5D-839A-40EED66E7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4472" y="214884"/>
            <a:ext cx="7498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答疑</a:t>
            </a:r>
            <a:endParaRPr sz="82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A03E7A-887D-4A4C-9596-1BFA50A5E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75488"/>
            <a:ext cx="110642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Microsoft YaHei"/>
                <a:ea typeface="Microsoft YaHei"/>
                <a:cs typeface="Microsoft YaHei"/>
              </a:rPr>
              <a:t>稳健调度的对比实验</a:t>
            </a:r>
            <a:endParaRPr sz="24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F72437A-ED76-4EEE-AB94-8CB2B6714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1078992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4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验证集选出的稳健调度方案在测试期后悔值更高；保留该结果，未反调参数。</a:t>
            </a:r>
            <a:endParaRPr sz="124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E3C32FE-5A39-4855-B6AE-C9F93FEF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572768"/>
            <a:ext cx="5001768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160">
            <a:solidFill>
              <a:srgbClr val="E0E7EF"/>
            </a:solidFill>
            <a:prstDash val="solid"/>
          </a:ln>
          <a:effectLst xmlns:a="http://schemas.openxmlformats.org/drawingml/2006/main">
            <a:outerShdw blurRad="19050" dist="50800" dir="2700000" sx="100000" sy="100000" kx="0" ky="0" algn="bl" rotWithShape="0">
              <a:srgbClr val="000000">
                <a:alpha val="16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80084689-3180-4BC1-8108-37492AA8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901952"/>
            <a:ext cx="1600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6F4E9C"/>
                </a:solidFill>
                <a:latin typeface="Arial"/>
                <a:ea typeface="Arial"/>
                <a:cs typeface="Arial"/>
              </a:rPr>
              <a:t>验证集选择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53A94DB-25D5-4B83-90D3-A4CEA246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331720"/>
            <a:ext cx="3017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18212B"/>
                </a:solidFill>
                <a:latin typeface="Arial"/>
                <a:ea typeface="Arial"/>
                <a:cs typeface="Arial"/>
              </a:rPr>
              <a:t>稳健方案 λ = 0.5</a:t>
            </a:r>
            <a:endParaRPr sz="24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5A364206-1DE0-4931-B63D-DBB1D41A6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017520"/>
            <a:ext cx="395935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5C6873"/>
                </a:solidFill>
                <a:latin typeface="Microsoft YaHei"/>
                <a:ea typeface="Microsoft YaHei"/>
                <a:cs typeface="Microsoft YaHei"/>
              </a:rPr>
              <a:t>λ 由验证集选择；测试期保持不变。</a:t>
            </a:r>
            <a:endParaRPr sz="11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1605CCE-218D-4E9A-A510-EC2116CE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029200"/>
            <a:ext cx="1609344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12700">
            <a:solidFill>
              <a:srgbClr val="DBD0F0">
                <a:alpha val="0"/>
              </a:srgbClr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C541C8A-8E34-4675-AA9C-0C2C16E9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70348"/>
            <a:ext cx="14630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6F4E9C"/>
                </a:solidFill>
                <a:latin typeface="Microsoft YaHei"/>
                <a:ea typeface="Microsoft YaHei"/>
                <a:cs typeface="Microsoft YaHei"/>
              </a:rPr>
              <a:t>选择过程完整性</a:t>
            </a:r>
            <a:endParaRPr sz="84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5D8E4C-AE14-4079-80D4-C76996E0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1032" y="1572768"/>
            <a:ext cx="5532120" cy="4315968"/>
          </a:xfrm>
          <a:prstGeom xmlns:a="http://schemas.openxmlformats.org/drawingml/2006/main" prst="roundRect">
            <a:avLst>
              <a:gd name="adj" fmla="val 1907"/>
            </a:avLst>
          </a:prstGeom>
          <a:solidFill xmlns:a="http://schemas.openxmlformats.org/drawingml/2006/main">
            <a:srgbClr val="0B192B"/>
          </a:solidFill>
          <a:ln xmlns:a="http://schemas.openxmlformats.org/drawingml/2006/main" w="10160">
            <a:solidFill>
              <a:srgbClr val="0B192B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1FD0235A-1165-45EE-981A-E3075236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1901952"/>
            <a:ext cx="14173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AFC1D0"/>
                </a:solidFill>
                <a:latin typeface="Arial"/>
                <a:ea typeface="Arial"/>
                <a:cs typeface="Arial"/>
              </a:rPr>
              <a:t>测试平均后悔值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9D3F3D6-8CA4-4C4C-AC29-560F34495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FF9C7A"/>
                </a:solidFill>
                <a:latin typeface="Arial"/>
                <a:ea typeface="Arial"/>
                <a:cs typeface="Arial"/>
              </a:rPr>
              <a:t>20.4635 kW</a:t>
            </a:r>
            <a:endParaRPr sz="28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2A1C6E7-FCD9-4424-A517-A0DA8069D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稳健方案</a:t>
            </a:r>
            <a:endParaRPr sz="11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D8C3CEE-6AD7-4923-A687-2CE16108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0116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 b="1">
                <a:solidFill>
                  <a:srgbClr val="24C7FF"/>
                </a:solidFill>
                <a:latin typeface="Arial"/>
                <a:ea typeface="Arial"/>
                <a:cs typeface="Arial"/>
              </a:rPr>
              <a:t>11.1274 kW</a:t>
            </a:r>
            <a:endParaRPr sz="2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108E1882-2BBF-444C-AFCB-BDED6407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90088"/>
            <a:ext cx="20116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rgbClr val="A9B8C6"/>
                </a:solidFill>
                <a:latin typeface="Microsoft YaHei"/>
                <a:ea typeface="Microsoft YaHei"/>
                <a:cs typeface="Microsoft YaHei"/>
              </a:rPr>
              <a:t>确定性对照</a:t>
            </a:r>
            <a:endParaRPr sz="11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32515AF-BB06-4BD4-B00E-135BBB62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721608"/>
            <a:ext cx="44988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31506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E0F7A86-3137-425B-AA7C-11A899E0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4096512"/>
            <a:ext cx="44805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该稳健方案的测试后悔值高于确定性对照，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8FBFF"/>
                </a:solidFill>
                <a:latin typeface="Microsoft YaHei"/>
                <a:ea typeface="Microsoft YaHei"/>
                <a:cs typeface="Microsoft YaHei"/>
              </a:rPr>
              <a:t>最终 DOEF 未采用这一方案。</a:t>
            </a:r>
            <a:endParaRPr sz="120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8691730-276B-4979-B338-CB6B5630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166360"/>
            <a:ext cx="2240280" cy="292608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452A23"/>
          </a:solidFill>
          <a:ln xmlns:a="http://schemas.openxmlformats.org/drawingml/2006/main"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099D63FB-8EA0-4C2C-8377-633DFF53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5207508"/>
            <a:ext cx="20939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90" b="1">
                <a:solidFill>
                  <a:srgbClr val="FFC0A5"/>
                </a:solidFill>
                <a:latin typeface="Microsoft YaHei"/>
                <a:ea typeface="Microsoft YaHei"/>
                <a:cs typeface="Microsoft YaHei"/>
              </a:rPr>
              <a:t>稳健调度失效案例</a:t>
            </a:r>
            <a:endParaRPr sz="79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5AEBCD7-1D99-48F1-91C1-376352FFF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153912"/>
            <a:ext cx="10744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70">
                <a:solidFill>
                  <a:srgbClr val="97A2AD"/>
                </a:solidFill>
                <a:latin typeface="Arial"/>
                <a:ea typeface="Arial"/>
                <a:cs typeface="Arial"/>
              </a:rPr>
              <a:t>Phase 5.7 已有负向结果；稳健方案 λ=0.5，未重新运行</a:t>
            </a:r>
            <a:endParaRPr sz="67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DDD6A901-6C6F-4618-A6E1-921776C9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437376"/>
            <a:ext cx="1033272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>
                <a:solidFill>
                  <a:srgbClr val="8996A4"/>
                </a:solidFill>
                <a:latin typeface="Microsoft YaHei"/>
                <a:ea typeface="Microsoft YaHei"/>
                <a:cs typeface="Microsoft YaHei"/>
              </a:rPr>
              <a:t>智能云储 · DOEF | 补充实验与方法说明</a:t>
            </a:r>
            <a:endParaRPr sz="75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6E7D6D4-05DB-4F7E-9D4B-4FC75BA493F2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475720" y="6446520"/>
            <a:ext cx="411480" cy="1645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800">
                <a:solidFill>
                  <a:srgbClr val="8A98A8"/>
                </a:solidFill>
                <a:latin typeface="Arial"/>
                <a:ea typeface="Arial"/>
                <a:cs typeface="Arial"/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6123853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2026-09-09T09:10:45.0670000Z</dcterms:created>
  <dcterms:modified xsi:type="dcterms:W3CDTF">2026-09-09T09:10:45.0670000Z</dcterms:modified>
</coreProperties>
</file>