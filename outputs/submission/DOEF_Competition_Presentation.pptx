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316bc41f4442ae" /><Relationship Type="http://schemas.openxmlformats.org/officeDocument/2006/relationships/extended-properties" Target="/docProps/app.xml" Id="R387ae20f3b234ca0" /><Relationship Type="http://schemas.openxmlformats.org/officeDocument/2006/relationships/officeDocument" Target="/ppt/presentation.xml" Id="Rf6c1c785e7024f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f07399c4404b89"/>
  </p:sldMasterIdLst>
  <p:notesMasterIdLst>
    <p:notesMasterId xmlns:r="http://schemas.openxmlformats.org/officeDocument/2006/relationships" r:id="Rdd63cefaed1e4d8b"/>
  </p:notesMasterIdLst>
  <p:sldIdLst>
    <p:sldId xmlns:r="http://schemas.openxmlformats.org/officeDocument/2006/relationships" id="256" r:id="R2dae92a152ef4a91"/>
    <p:sldId xmlns:r="http://schemas.openxmlformats.org/officeDocument/2006/relationships" id="257" r:id="Rfba85255a8384a5e"/>
    <p:sldId xmlns:r="http://schemas.openxmlformats.org/officeDocument/2006/relationships" id="258" r:id="Re7744601416d44fe"/>
    <p:sldId xmlns:r="http://schemas.openxmlformats.org/officeDocument/2006/relationships" id="259" r:id="R7c46ce9066db4722"/>
    <p:sldId xmlns:r="http://schemas.openxmlformats.org/officeDocument/2006/relationships" id="260" r:id="R09965e193beb4a31"/>
    <p:sldId xmlns:r="http://schemas.openxmlformats.org/officeDocument/2006/relationships" id="261" r:id="R97c0eb568bb74f49"/>
    <p:sldId xmlns:r="http://schemas.openxmlformats.org/officeDocument/2006/relationships" id="262" r:id="R418c50eb2c734c1f"/>
    <p:sldId xmlns:r="http://schemas.openxmlformats.org/officeDocument/2006/relationships" id="263" r:id="R22424f9c0cf0454b"/>
    <p:sldId xmlns:r="http://schemas.openxmlformats.org/officeDocument/2006/relationships" id="264" r:id="R77d9651e27864585"/>
    <p:sldId xmlns:r="http://schemas.openxmlformats.org/officeDocument/2006/relationships" id="265" r:id="Ra969b93117cf4955"/>
    <p:sldId xmlns:r="http://schemas.openxmlformats.org/officeDocument/2006/relationships" id="266" r:id="R0b06430c85054b4c"/>
    <p:sldId xmlns:r="http://schemas.openxmlformats.org/officeDocument/2006/relationships" id="267" r:id="Raa314482aebe4aef"/>
    <p:sldId xmlns:r="http://schemas.openxmlformats.org/officeDocument/2006/relationships" id="268" r:id="R503be3a13049463b"/>
    <p:sldId xmlns:r="http://schemas.openxmlformats.org/officeDocument/2006/relationships" id="269" r:id="R6fdc3841a4ba42e3"/>
    <p:sldId xmlns:r="http://schemas.openxmlformats.org/officeDocument/2006/relationships" id="270" r:id="R4bf385b8d5b444a9"/>
    <p:sldId xmlns:r="http://schemas.openxmlformats.org/officeDocument/2006/relationships" id="271" r:id="R1e66d75cb3c443ce"/>
    <p:sldId xmlns:r="http://schemas.openxmlformats.org/officeDocument/2006/relationships" id="272" r:id="Rf9386db3ed3d40d7"/>
    <p:sldId xmlns:r="http://schemas.openxmlformats.org/officeDocument/2006/relationships" id="273" r:id="R70178ffde87d4e59"/>
    <p:sldId xmlns:r="http://schemas.openxmlformats.org/officeDocument/2006/relationships" id="274" r:id="R5fb7b8d4b7104e39"/>
    <p:sldId xmlns:r="http://schemas.openxmlformats.org/officeDocument/2006/relationships" id="275" r:id="R7da65447288a46ea"/>
    <p:sldId xmlns:r="http://schemas.openxmlformats.org/officeDocument/2006/relationships" id="276" r:id="Rb8354670c10f4ad0"/>
    <p:sldId xmlns:r="http://schemas.openxmlformats.org/officeDocument/2006/relationships" id="277" r:id="Rbd75e6eb4cac4ad4"/>
    <p:sldId xmlns:r="http://schemas.openxmlformats.org/officeDocument/2006/relationships" id="278" r:id="R400621a38f9942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5dcb0f05484996" /><Relationship Type="http://schemas.openxmlformats.org/officeDocument/2006/relationships/slideMaster" Target="/ppt/slideMasters/slideMaster1.xml" Id="R05f07399c4404b89" /><Relationship Type="http://schemas.openxmlformats.org/officeDocument/2006/relationships/notesMaster" Target="/ppt/notesMasters/notesMaster1.xml" Id="Rdd63cefaed1e4d8b" /><Relationship Type="http://schemas.openxmlformats.org/officeDocument/2006/relationships/presProps" Target="/ppt/presProps.xml" Id="R7ceab255863147f6" /><Relationship Type="http://schemas.openxmlformats.org/officeDocument/2006/relationships/viewProps" Target="/ppt/viewProps.xml" Id="R9f62efc57711461f" /><Relationship Type="http://schemas.openxmlformats.org/officeDocument/2006/relationships/tableStyles" Target="/ppt/tableStyles.xml" Id="R8514940b599b4899" /><Relationship Type="http://schemas.openxmlformats.org/officeDocument/2006/relationships/slide" Target="/ppt/slides/slide1.xml" Id="R2dae92a152ef4a91" /><Relationship Type="http://schemas.openxmlformats.org/officeDocument/2006/relationships/slide" Target="/ppt/slides/slide2.xml" Id="Rfba85255a8384a5e" /><Relationship Type="http://schemas.openxmlformats.org/officeDocument/2006/relationships/slide" Target="/ppt/slides/slide3.xml" Id="Re7744601416d44fe" /><Relationship Type="http://schemas.openxmlformats.org/officeDocument/2006/relationships/slide" Target="/ppt/slides/slide4.xml" Id="R7c46ce9066db4722" /><Relationship Type="http://schemas.openxmlformats.org/officeDocument/2006/relationships/slide" Target="/ppt/slides/slide5.xml" Id="R09965e193beb4a31" /><Relationship Type="http://schemas.openxmlformats.org/officeDocument/2006/relationships/slide" Target="/ppt/slides/slide6.xml" Id="R97c0eb568bb74f49" /><Relationship Type="http://schemas.openxmlformats.org/officeDocument/2006/relationships/slide" Target="/ppt/slides/slide7.xml" Id="R418c50eb2c734c1f" /><Relationship Type="http://schemas.openxmlformats.org/officeDocument/2006/relationships/slide" Target="/ppt/slides/slide8.xml" Id="R22424f9c0cf0454b" /><Relationship Type="http://schemas.openxmlformats.org/officeDocument/2006/relationships/slide" Target="/ppt/slides/slide9.xml" Id="R77d9651e27864585" /><Relationship Type="http://schemas.openxmlformats.org/officeDocument/2006/relationships/slide" Target="/ppt/slides/slide10.xml" Id="Ra969b93117cf4955" /><Relationship Type="http://schemas.openxmlformats.org/officeDocument/2006/relationships/slide" Target="/ppt/slides/slide11.xml" Id="R0b06430c85054b4c" /><Relationship Type="http://schemas.openxmlformats.org/officeDocument/2006/relationships/slide" Target="/ppt/slides/slide12.xml" Id="Raa314482aebe4aef" /><Relationship Type="http://schemas.openxmlformats.org/officeDocument/2006/relationships/slide" Target="/ppt/slides/slide13.xml" Id="R503be3a13049463b" /><Relationship Type="http://schemas.openxmlformats.org/officeDocument/2006/relationships/slide" Target="/ppt/slides/slide14.xml" Id="R6fdc3841a4ba42e3" /><Relationship Type="http://schemas.openxmlformats.org/officeDocument/2006/relationships/slide" Target="/ppt/slides/slide15.xml" Id="R4bf385b8d5b444a9" /><Relationship Type="http://schemas.openxmlformats.org/officeDocument/2006/relationships/slide" Target="/ppt/slides/slide16.xml" Id="R1e66d75cb3c443ce" /><Relationship Type="http://schemas.openxmlformats.org/officeDocument/2006/relationships/slide" Target="/ppt/slides/slide17.xml" Id="Rf9386db3ed3d40d7" /><Relationship Type="http://schemas.openxmlformats.org/officeDocument/2006/relationships/slide" Target="/ppt/slides/slide18.xml" Id="R70178ffde87d4e59" /><Relationship Type="http://schemas.openxmlformats.org/officeDocument/2006/relationships/slide" Target="/ppt/slides/slide19.xml" Id="R5fb7b8d4b7104e39" /><Relationship Type="http://schemas.openxmlformats.org/officeDocument/2006/relationships/slide" Target="/ppt/slides/slide20.xml" Id="R7da65447288a46ea" /><Relationship Type="http://schemas.openxmlformats.org/officeDocument/2006/relationships/slide" Target="/ppt/slides/slide21.xml" Id="Rb8354670c10f4ad0" /><Relationship Type="http://schemas.openxmlformats.org/officeDocument/2006/relationships/slide" Target="/ppt/slides/slide22.xml" Id="Rbd75e6eb4cac4ad4" /><Relationship Type="http://schemas.openxmlformats.org/officeDocument/2006/relationships/slide" Target="/ppt/slides/slide23.xml" Id="R400621a38f9942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a97b6f976b43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9b2a5bcd864ab2" /><Relationship Type="http://schemas.openxmlformats.org/officeDocument/2006/relationships/notesMaster" Target="/ppt/notesMasters/notesMaster1.xml" Id="Rc1f3b3291b704a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65e9c013124b5a" /><Relationship Type="http://schemas.openxmlformats.org/officeDocument/2006/relationships/notesMaster" Target="/ppt/notesMasters/notesMaster1.xml" Id="R824660124ba843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f5a0c256bb4b33" /><Relationship Type="http://schemas.openxmlformats.org/officeDocument/2006/relationships/notesMaster" Target="/ppt/notesMasters/notesMaster1.xml" Id="Rff7ac8ce6b1345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1b9fa97a2d40d1" /><Relationship Type="http://schemas.openxmlformats.org/officeDocument/2006/relationships/notesMaster" Target="/ppt/notesMasters/notesMaster1.xml" Id="R3d76e4fdc65643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27c24eaadb4902" /><Relationship Type="http://schemas.openxmlformats.org/officeDocument/2006/relationships/notesMaster" Target="/ppt/notesMasters/notesMaster1.xml" Id="Ra0f3bcfcce4842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0d4948feb84974" /><Relationship Type="http://schemas.openxmlformats.org/officeDocument/2006/relationships/notesMaster" Target="/ppt/notesMasters/notesMaster1.xml" Id="R49957e605fa24a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d0e4aee75e429a" /><Relationship Type="http://schemas.openxmlformats.org/officeDocument/2006/relationships/notesMaster" Target="/ppt/notesMasters/notesMaster1.xml" Id="R4ebbbd79decd4b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74485b95324acd" /><Relationship Type="http://schemas.openxmlformats.org/officeDocument/2006/relationships/notesMaster" Target="/ppt/notesMasters/notesMaster1.xml" Id="Rdef0cad722b34d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36d246b3b74b5e" /><Relationship Type="http://schemas.openxmlformats.org/officeDocument/2006/relationships/notesMaster" Target="/ppt/notesMasters/notesMaster1.xml" Id="R75cabf03be064d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bad6c8eb654195" /><Relationship Type="http://schemas.openxmlformats.org/officeDocument/2006/relationships/notesMaster" Target="/ppt/notesMasters/notesMaster1.xml" Id="R1f67d229874b4e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609b9f45d2e4cae" /><Relationship Type="http://schemas.openxmlformats.org/officeDocument/2006/relationships/notesMaster" Target="/ppt/notesMasters/notesMaster1.xml" Id="R0527c240f08b4a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cc28f584c348b2" /><Relationship Type="http://schemas.openxmlformats.org/officeDocument/2006/relationships/notesMaster" Target="/ppt/notesMasters/notesMaster1.xml" Id="R42fb528e0c174b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643d5d3c6c440fb" /><Relationship Type="http://schemas.openxmlformats.org/officeDocument/2006/relationships/notesMaster" Target="/ppt/notesMasters/notesMaster1.xml" Id="R060435d0a71646a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7a3de87722b4a3c" /><Relationship Type="http://schemas.openxmlformats.org/officeDocument/2006/relationships/notesMaster" Target="/ppt/notesMasters/notesMaster1.xml" Id="R16ba56eea18946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e86cdd14eb4e70" /><Relationship Type="http://schemas.openxmlformats.org/officeDocument/2006/relationships/notesMaster" Target="/ppt/notesMasters/notesMaster1.xml" Id="R488d21b8f7a8406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ccdf0fef7564da0" /><Relationship Type="http://schemas.openxmlformats.org/officeDocument/2006/relationships/notesMaster" Target="/ppt/notesMasters/notesMaster1.xml" Id="Rc36b4d6b367d4d9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8f9f7dd7fbe45d4" /><Relationship Type="http://schemas.openxmlformats.org/officeDocument/2006/relationships/notesMaster" Target="/ppt/notesMasters/notesMaster1.xml" Id="R859d26ca3123453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90361e5e302491b" /><Relationship Type="http://schemas.openxmlformats.org/officeDocument/2006/relationships/notesMaster" Target="/ppt/notesMasters/notesMaster1.xml" Id="R74e08f436fb942e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f11174e0e04d3c" /><Relationship Type="http://schemas.openxmlformats.org/officeDocument/2006/relationships/notesMaster" Target="/ppt/notesMasters/notesMaster1.xml" Id="R4e412fdc143f415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f5835adde274a8e" /><Relationship Type="http://schemas.openxmlformats.org/officeDocument/2006/relationships/notesMaster" Target="/ppt/notesMasters/notesMaster1.xml" Id="R39551b14898d49b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c6c05f4bd884a7a" /><Relationship Type="http://schemas.openxmlformats.org/officeDocument/2006/relationships/notesMaster" Target="/ppt/notesMasters/notesMaster1.xml" Id="R48242a13737c4f3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72c0e3296734fd7" /><Relationship Type="http://schemas.openxmlformats.org/officeDocument/2006/relationships/notesMaster" Target="/ppt/notesMasters/notesMaster1.xml" Id="R34a6ed5a95674ec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3ca9ee210e64b88" /><Relationship Type="http://schemas.openxmlformats.org/officeDocument/2006/relationships/notesMaster" Target="/ppt/notesMasters/notesMaster1.xml" Id="Ra365773b11d34c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开场定位：这是 AI + 储能决策问题。不要把 LightGBM 说成创新。过渡：既然预测服务于决策，传统预测指标是否真的能选出更好的储能方案？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用这一页制造核心张力。只说“在冻结项目范围内出现排序反转”，不说预测精度无关，也不把很小的差异升级为普遍因果机制。下一页解释预测如何进入调度链。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 AI 与电气评委建立共同心智模型：历史负荷→次日预测→受约束电池调度→真实削峰结果。概念图不是实验结果。过渡：既然下游目标不同，模型选择标准也要重新对齐。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这一页只讲一个改变：selection criterion。组件预测不变，电池约束不变。DOEF 不是联合训练、双层优化或新的 LightGBM。下一页给完整冻结信息流。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算法只解释一次。强调三段：Train 拟合组件；Validation 把候选权重送入同一电池优化，以 mean daily regret 选择并冻结；Test 只报告。Oracle 只作不可部署 hindsight 上界。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这是最强结果页。先落 6.36% 与 3.61%，再落 6/2/0。主动指出最差建筑 peak reduction 为 -1.017%，负结果没有被删。不要说 SOTA、普适最优、经济收益。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用“回答不同问题”化解 M02 的反转，避免讲成“峰时误差一定导致 regret”这种未经证明的普遍机制。核心句：预测指标仍然必要，但下游工程评价不能缺席。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用完整 8 栋反驳单楼/挑楼质疑。强调选楼不看 Validation/Test 性能，只基于质量和 Train 期形态。证据只支持固定范围的 multi-building robustness，不支持 unseen-building transfer。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这页专门防“你们是不是看 Test 调出来的？”权重只在 Validation 选，并在 Test 前冻结。也不要说 Test 从未被历史阶段看过，只能说 Phase 8/DOEF 选择不使用 Test。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把方法翻译成工程工作流：第二天怎么从历史数据走到调度。明确“repeatable workflow ≠ field deployment”，不声称工业实时验证。下一页提炼创新。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创新表述必须守边界：基础预测器不是创新，普通线性加权也不是创新。创新是 Validation 下游 regret 选权重 + 冻结信息边界 + 全八栋证据 + 同一储能评价链。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只收束，不引入新结果。最后一句：对储能削峰这样的下游任务，评价预测模型时应同时看预测误差和它支持的工程决策。停在这里，进入评委提问。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Q&amp;A：解释 296→82→8。强调模型成绩没有参与选楼。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5be9d6d87c447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83aeba788b44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6ad8d557b24d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84bc64ca5740d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IN_DARK">
    <p:bg>
      <p:bgPr>
        <a:solidFill xmlns:a="http://schemas.openxmlformats.org/drawingml/2006/main">
          <a:srgbClr val="0711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510DCA7-9BB3-4329-82E2-C21B0F3B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C7FF"/>
          </a:solidFill>
          <a:ln xmlns:a="http://schemas.openxmlformats.org/drawingml/2006/main" w="12700">
            <a:solidFill>
              <a:srgbClr val="24C7FF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E4CC765-7594-4EEA-AC9C-D0BE0D6421A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MAIN_LIGHT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D7DE7AA-0FE5-48B6-81F2-00E080C6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12700">
            <a:solidFill>
              <a:srgbClr val="1677FF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9DEF395-1290-4684-8CD0-696FA11EFBB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1003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APPENDIX"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6883F7-3232-4FD8-9F48-F0FC3B90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49DD5B3-E52E-4873-A230-4185B2EE3E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1004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07804dc3ea4c68" /><Relationship Type="http://schemas.openxmlformats.org/officeDocument/2006/relationships/slideLayout" Target="/ppt/slideLayouts/slideLayout1.xml" Id="Rc34772d622da4681" /><Relationship Type="http://schemas.openxmlformats.org/officeDocument/2006/relationships/slideLayout" Target="/ppt/slideLayouts/slideLayout2.xml" Id="Rb45dffc3da514b9e" /><Relationship Type="http://schemas.openxmlformats.org/officeDocument/2006/relationships/slideLayout" Target="/ppt/slideLayouts/slideLayout3.xml" Id="R3068a0caf50b4fb6" /><Relationship Type="http://schemas.openxmlformats.org/officeDocument/2006/relationships/slideLayout" Target="/ppt/slideLayouts/slideLayout4.xml" Id="Rf962ad5d3c754f4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51D5C60-2ABB-4618-99FE-2E96EDBDAF9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4772d622da4681"/>
    <p:sldLayoutId xmlns:r="http://schemas.openxmlformats.org/officeDocument/2006/relationships" id="2147483650" r:id="Rb45dffc3da514b9e"/>
    <p:sldLayoutId xmlns:r="http://schemas.openxmlformats.org/officeDocument/2006/relationships" id="2147483651" r:id="R3068a0caf50b4fb6"/>
    <p:sldLayoutId xmlns:r="http://schemas.openxmlformats.org/officeDocument/2006/relationships" id="2147483652" r:id="Rf962ad5d3c754f4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ee7689787d4805" /><Relationship Type="http://schemas.openxmlformats.org/officeDocument/2006/relationships/notesSlide" Target="/ppt/notesSlides/notesSlide1.xml" Id="Rc6235a652e5a41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b33202728a643e8" /><Relationship Type="http://schemas.openxmlformats.org/officeDocument/2006/relationships/image" Target="/ppt/media/image.png" Id="R016514d0f8d5402f" /><Relationship Type="http://schemas.openxmlformats.org/officeDocument/2006/relationships/notesSlide" Target="/ppt/notesSlides/notesSlide2.xml" Id="Rb1e295d9be734d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14263291cc4ca4" /><Relationship Type="http://schemas.openxmlformats.org/officeDocument/2006/relationships/image" Target="/ppt/media/image2.png" Id="R595227ae42a247b9" /><Relationship Type="http://schemas.openxmlformats.org/officeDocument/2006/relationships/notesSlide" Target="/ppt/notesSlides/notesSlide3.xml" Id="R7583d7613a4c48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aa2156862c4f77" /><Relationship Type="http://schemas.openxmlformats.org/officeDocument/2006/relationships/notesSlide" Target="/ppt/notesSlides/notesSlide4.xml" Id="Rbed7b6c82bfb4d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03e231becf44a9" /><Relationship Type="http://schemas.openxmlformats.org/officeDocument/2006/relationships/image" Target="/ppt/media/image3.png" Id="R2e8b8b5dc4624385" /><Relationship Type="http://schemas.openxmlformats.org/officeDocument/2006/relationships/notesSlide" Target="/ppt/notesSlides/notesSlide5.xml" Id="Re393960767804c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1751042e1541cd" /><Relationship Type="http://schemas.openxmlformats.org/officeDocument/2006/relationships/image" Target="/ppt/media/image4.png" Id="R87e5e3c92cce4b1c" /><Relationship Type="http://schemas.openxmlformats.org/officeDocument/2006/relationships/notesSlide" Target="/ppt/notesSlides/notesSlide6.xml" Id="Rf5d42bf7e31744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d6927b653e464f" /><Relationship Type="http://schemas.openxmlformats.org/officeDocument/2006/relationships/notesSlide" Target="/ppt/notesSlides/notesSlide7.xml" Id="Rc44ee15ffbe340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66c0f89cae44bf" /><Relationship Type="http://schemas.openxmlformats.org/officeDocument/2006/relationships/image" Target="/ppt/media/image5.png" Id="R72039c52dc3b4b01" /><Relationship Type="http://schemas.openxmlformats.org/officeDocument/2006/relationships/notesSlide" Target="/ppt/notesSlides/notesSlide8.xml" Id="R6904ce49a32f42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01960146f247d2" /><Relationship Type="http://schemas.openxmlformats.org/officeDocument/2006/relationships/image" Target="/ppt/media/image6.png" Id="Rc431c7f3c9a5426b" /><Relationship Type="http://schemas.openxmlformats.org/officeDocument/2006/relationships/notesSlide" Target="/ppt/notesSlides/notesSlide9.xml" Id="R16b65c03aa7048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f46c7fa9df4fe9" /><Relationship Type="http://schemas.openxmlformats.org/officeDocument/2006/relationships/notesSlide" Target="/ppt/notesSlides/notesSlide10.xml" Id="Rf3b6f57ea6e04e1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6dd1faaefa4105" /><Relationship Type="http://schemas.openxmlformats.org/officeDocument/2006/relationships/image" Target="/ppt/media/image7.png" Id="R93f3eead64da4ec1" /><Relationship Type="http://schemas.openxmlformats.org/officeDocument/2006/relationships/notesSlide" Target="/ppt/notesSlides/notesSlide11.xml" Id="R7f55802d91c74c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362b1baef44f97" /><Relationship Type="http://schemas.openxmlformats.org/officeDocument/2006/relationships/notesSlide" Target="/ppt/notesSlides/notesSlide12.xml" Id="Rff423ea86e814a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4513ede01114066" /><Relationship Type="http://schemas.openxmlformats.org/officeDocument/2006/relationships/notesSlide" Target="/ppt/notesSlides/notesSlide13.xml" Id="Rb53b501eb28340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48ec5197a8a45f1" /><Relationship Type="http://schemas.openxmlformats.org/officeDocument/2006/relationships/image" Target="/ppt/media/image8.png" Id="R821dafd5de5d40eb" /><Relationship Type="http://schemas.openxmlformats.org/officeDocument/2006/relationships/notesSlide" Target="/ppt/notesSlides/notesSlide14.xml" Id="R9a01bd3b99324da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5bd065dbbd9469c" /><Relationship Type="http://schemas.openxmlformats.org/officeDocument/2006/relationships/notesSlide" Target="/ppt/notesSlides/notesSlide15.xml" Id="R877ec1c4d1cf4be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df5f30b7db04b50" /><Relationship Type="http://schemas.openxmlformats.org/officeDocument/2006/relationships/notesSlide" Target="/ppt/notesSlides/notesSlide16.xml" Id="Ra883dab3b3d64a3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1c75d2e0d4d4dd7" /><Relationship Type="http://schemas.openxmlformats.org/officeDocument/2006/relationships/notesSlide" Target="/ppt/notesSlides/notesSlide17.xml" Id="R2b03645fb29d467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1746f1c6a8845b1" /><Relationship Type="http://schemas.openxmlformats.org/officeDocument/2006/relationships/notesSlide" Target="/ppt/notesSlides/notesSlide18.xml" Id="R64409a440b9c463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44382fcff884be1" /><Relationship Type="http://schemas.openxmlformats.org/officeDocument/2006/relationships/image" Target="/ppt/media/image9.png" Id="R7c29cee20ec44629" /><Relationship Type="http://schemas.openxmlformats.org/officeDocument/2006/relationships/notesSlide" Target="/ppt/notesSlides/notesSlide19.xml" Id="R7c1f3db09c4144f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cca4af0458a47dc" /><Relationship Type="http://schemas.openxmlformats.org/officeDocument/2006/relationships/image" Target="/ppt/media/image10.png" Id="R39dacc34f0bc448e" /><Relationship Type="http://schemas.openxmlformats.org/officeDocument/2006/relationships/notesSlide" Target="/ppt/notesSlides/notesSlide20.xml" Id="Rcb926890c3a6413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2758d8ab3774046" /><Relationship Type="http://schemas.openxmlformats.org/officeDocument/2006/relationships/notesSlide" Target="/ppt/notesSlides/notesSlide21.xml" Id="R411d3bf5866a44b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be4756263da4571" /><Relationship Type="http://schemas.openxmlformats.org/officeDocument/2006/relationships/notesSlide" Target="/ppt/notesSlides/notesSlide22.xml" Id="R3ee2de1b250d4e7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6b2d4ac6def4f6f" /><Relationship Type="http://schemas.openxmlformats.org/officeDocument/2006/relationships/notesSlide" Target="/ppt/notesSlides/notesSlide23.xml" Id="R31f2b040e477430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E04AB53-9167-4575-925D-7A6D2658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ED7A911-33A2-486C-9B59-0B1AD813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作品介绍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C57779F-65D8-43C3-83B0-7A354903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143000"/>
            <a:ext cx="310896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900" b="1" spc="100">
                <a:solidFill>
                  <a:srgbClr val="24C7FF"/>
                </a:solidFill>
                <a:latin typeface="Arial"/>
                <a:ea typeface="Arial"/>
                <a:cs typeface="Arial"/>
              </a:rPr>
              <a:t>智能云储</a:t>
            </a:r>
            <a:endParaRPr sz="49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071D547-DFF0-4DC7-A192-53607F4B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93392"/>
            <a:ext cx="585216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基于决策导向预测融合的</a:t>
            </a:r>
            <a:endParaRPr sz="3400"/>
          </a:p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建筑储能削峰优化系统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17DC02C-E93C-4195-88BA-BEBAE24B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3657600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6C5D2"/>
                </a:solidFill>
                <a:latin typeface="Microsoft YaHei"/>
                <a:ea typeface="Microsoft YaHei"/>
                <a:cs typeface="Microsoft YaHei"/>
              </a:rPr>
              <a:t>面向储能决策的集成负荷预测方法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8015E4C-CBD0-476D-B8EA-73D9AF15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170432"/>
            <a:ext cx="4709160" cy="429768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0D1F33">
              <a:alpha val="98000"/>
            </a:srgbClr>
          </a:solidFill>
          <a:ln xmlns:a="http://schemas.openxmlformats.org/drawingml/2006/main" w="12700">
            <a:solidFill>
              <a:srgbClr val="1D3A57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8115F3C-D115-42EE-9395-183E5869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>
              <a:alpha val="18000"/>
            </a:srgbClr>
          </a:solidFill>
          <a:ln xmlns:a="http://schemas.openxmlformats.org/drawingml/2006/main" w="25400">
            <a:solidFill>
              <a:srgbClr val="D55E00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8536A3E-669B-4810-B661-74C1C0FE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24h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E308CC9-7C3A-4EDB-AD6B-3E39F0C9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AE9E6F1-39FA-40C6-9B84-4D3C9EFF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4E9C">
              <a:alpha val="18000"/>
            </a:srgbClr>
          </a:solidFill>
          <a:ln xmlns:a="http://schemas.openxmlformats.org/drawingml/2006/main" w="25400">
            <a:solidFill>
              <a:srgbClr val="6F4E9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7C7E9CF-BF90-46F1-B8A9-5C18DE48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BESS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D34332A-4F55-45B1-A790-AAF15190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约束调度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E9D8401-48F3-428D-ADB6-126E8A62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C7FF">
              <a:alpha val="18000"/>
            </a:srgbClr>
          </a:solidFill>
          <a:ln xmlns:a="http://schemas.openxmlformats.org/drawingml/2006/main" w="25400">
            <a:solidFill>
              <a:srgbClr val="24C7F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CA62C9A-57E0-4CDA-8FC7-4899DF09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112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PEAK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080034A-E610-45A9-A9C0-4E7F0EC4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实际削峰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F2052B6-0324-4969-87BD-0675ED9C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576" y="2432304"/>
            <a:ext cx="402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9B1024F-B742-4C0E-991F-4F8E4D24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32304"/>
            <a:ext cx="402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568EC2E-FAEF-4D6F-9378-61D08AA8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4608576"/>
            <a:ext cx="0" cy="16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62F8EB7-8EE9-4932-9B4C-3EFE74D8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4460128"/>
            <a:ext cx="0" cy="461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144E96A3-5ECB-4475-A948-931B67AA5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408208"/>
            <a:ext cx="0" cy="5653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BA0B999-C035-401D-83C5-3AF6F1E2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4486577"/>
            <a:ext cx="0" cy="4085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AAEA82E-2C3D-4BB3-A705-77548194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572876"/>
            <a:ext cx="0" cy="2359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0FD53E5-D205-467C-A408-8FF2B3B0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438391"/>
            <a:ext cx="0" cy="5049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26AC98B-4EA2-4DE4-AA41-A51248EE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544" y="4414569"/>
            <a:ext cx="0" cy="5526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8B933F3-31B0-4277-8798-26CB658B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516899"/>
            <a:ext cx="0" cy="34794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C7B3E7F4-FF17-4D21-8EC6-94C0F754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336" y="4538310"/>
            <a:ext cx="0" cy="3051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9680CEA9-B673-4DC2-B63F-EB92726B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4422057"/>
            <a:ext cx="0" cy="5376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778560A-6DBE-4091-B2C5-6170EF44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27088"/>
            <a:ext cx="0" cy="5275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BD95876-63A9-4483-AE4B-D4D9241E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4550131"/>
            <a:ext cx="0" cy="28148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A26FA02-0CE6-4C74-822A-D645D867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4505974"/>
            <a:ext cx="0" cy="3697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7BD51C6C-36CE-448D-BD5F-CFFD33CA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3803904"/>
            <a:ext cx="35844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BFDC313-871E-4C05-A62E-E26F8098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24" y="3845052"/>
            <a:ext cx="34381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负荷预测与削峰调度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46D1409-69D7-4829-AA2C-A78985E2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095875"/>
            <a:ext cx="3703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>
                <a:solidFill>
                  <a:srgbClr val="9EB3C5"/>
                </a:solidFill>
                <a:latin typeface="Microsoft YaHei"/>
                <a:ea typeface="Microsoft YaHei"/>
                <a:cs typeface="Microsoft YaHei"/>
              </a:rPr>
              <a:t>24 小时超前预测 → 电池调度 → 实际峰值评价</a:t>
            </a:r>
            <a:endParaRPr sz="112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01C639C-3755-4EB8-9DF7-79B65FE7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5989320"/>
            <a:ext cx="3749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B90"/>
                </a:solidFill>
                <a:latin typeface="Microsoft YaHei"/>
                <a:ea typeface="Microsoft YaHei"/>
                <a:cs typeface="Microsoft YaHei"/>
              </a:rPr>
              <a:t>全球校园人工智能算法精英大赛 · AI+能源</a:t>
            </a:r>
            <a:endParaRPr sz="82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E21477B-36C7-45AA-A8FD-17F89BE0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3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6F83E1D-4F17-4C17-8E69-B6737347060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830475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7F43A19-C3BB-4631-A0F1-2E940F74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6F7A518-C33C-4084-87E9-8622F886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研究问题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36431A9-E2A7-42A4-8743-02686294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预测精度与削峰效果的排序差异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9847255-66E3-4861-80D0-A6208E41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八建筑测试结果中，XGBoost 的 RMSE 略低于 LightGBM，决策后悔值却略高。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C17CB29-0D1A-4286-B87F-9A21E4A8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90472"/>
            <a:ext cx="8366760" cy="4425696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514d0f8d540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180" y="1545336"/>
            <a:ext cx="7672832" cy="4315968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F8E5EECE-4924-404C-ADF3-32F92EBD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490472"/>
            <a:ext cx="2395728" cy="4425696"/>
          </a:xfrm>
          <a:prstGeom xmlns:a="http://schemas.openxmlformats.org/drawingml/2006/main" prst="roundRect">
            <a:avLst>
              <a:gd name="adj" fmla="val 3435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24A4940-5089-4CA3-BB03-A37EEC2F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783080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指标排序差异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A9CB911-0827-4FEC-9886-506B3C4E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240280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AFC4D6"/>
                </a:solidFill>
                <a:latin typeface="Arial"/>
                <a:ea typeface="Arial"/>
                <a:cs typeface="Arial"/>
              </a:rPr>
              <a:t>RMSE</a:t>
            </a:r>
            <a:endParaRPr sz="13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E29E2DA-3AEE-4E06-8989-A9F6F4C8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32888"/>
            <a:ext cx="173736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9E73"/>
                </a:solidFill>
                <a:latin typeface="Arial"/>
                <a:ea typeface="Arial"/>
                <a:cs typeface="Arial"/>
              </a:rPr>
              <a:t>XGBoost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9E73"/>
                </a:solidFill>
                <a:latin typeface="Arial"/>
                <a:ea typeface="Arial"/>
                <a:cs typeface="Arial"/>
              </a:rPr>
              <a:t>0.216751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B172939-E2E1-4F0F-9284-47259BAF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3467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30" b="1">
                <a:solidFill>
                  <a:srgbClr val="AFC4D6"/>
                </a:solidFill>
                <a:latin typeface="Arial"/>
                <a:ea typeface="Arial"/>
                <a:cs typeface="Arial"/>
              </a:rPr>
              <a:t>Decision regret</a:t>
            </a:r>
            <a:endParaRPr sz="113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6617D79-BBC7-4C3B-A450-A768F4CA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657600"/>
            <a:ext cx="173736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LightGBM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0.116127</a:t>
            </a:r>
            <a:endParaRPr sz="18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B41614C-E8DC-49C4-8182-908971AA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517136"/>
            <a:ext cx="1783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506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BED58EF-E484-4F24-8203-D1FE0F5F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736592"/>
            <a:ext cx="1719072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7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预测指标与调度指标</a:t>
            </a:r>
            <a:endParaRPr sz="1170"/>
          </a:p>
          <a:p xmlns:a="http://schemas.openxmlformats.org/drawingml/2006/main">
            <a:pPr marL="0" indent="0">
              <a:buNone/>
            </a:pPr>
            <a:r>
              <a:rPr sz="117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需要分别评价</a:t>
            </a:r>
            <a:endParaRPr sz="117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202E54E-6A1C-47DF-8F6D-30D4F053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0032" y="5504688"/>
            <a:ext cx="199339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0291B"/>
          </a:solidFill>
          <a:ln xmlns:a="http://schemas.openxmlformats.org/drawingml/2006/main"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1EAB108-C959-4C25-8F77-2F857AE2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184" y="5545836"/>
            <a:ext cx="18470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预测精度仍是必要指标</a:t>
            </a:r>
            <a:endParaRPr sz="73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0D94169-DD77-4B43-800C-90B85E9C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outputs/phase13_1/figures/sci_01_forecast_decision_mismatch.png · Phase 9 final benchmark</a:t>
            </a:r>
            <a:endParaRPr sz="67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3763273-9715-4BDE-9F61-4F7F582D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BADA919-DC95-4E0B-8209-018019FC950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0998690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74E5695-3F9C-4BC0-A4CF-07603E26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53604B7-CEEE-4F17-A5BB-394AE004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技术路线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A1FC20D-BC57-4CB8-823C-074FE533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负荷预测驱动储能调度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0F1A7C7-9A36-468A-AC67-303D1DBA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预测生成充放电计划，再用实际负荷计算调度后的取电峰值。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6D22BC3-06E3-4FC7-A2BE-10AD2384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545336"/>
            <a:ext cx="10808208" cy="3968496"/>
          </a:xfrm>
          <a:prstGeom xmlns:a="http://schemas.openxmlformats.org/drawingml/2006/main" prst="roundRect">
            <a:avLst>
              <a:gd name="adj" fmla="val 2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227ae42a247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9032" y="1600200"/>
            <a:ext cx="6860032" cy="3858768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604997DF-21F2-4809-BC60-90CBE891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691640"/>
            <a:ext cx="65379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A7582CD-7BF8-4328-8079-ED9F8CD4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73936"/>
            <a:ext cx="65379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Prediction is an input to the decision — not the endpoint</a:t>
            </a:r>
            <a:endParaRPr sz="1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DF3F0938-1C20-4C50-85E8-A56B0084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96128"/>
            <a:ext cx="22128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128087C-29B0-4573-9AC4-BBAC5975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637276"/>
            <a:ext cx="20665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流程示意</a:t>
            </a:r>
            <a:endParaRPr sz="85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48636-23B1-4344-AEC3-85765F80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5605272"/>
            <a:ext cx="7726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80">
                <a:solidFill>
                  <a:srgbClr val="A9B9C8"/>
                </a:solidFill>
                <a:latin typeface="Microsoft YaHei"/>
                <a:ea typeface="Microsoft YaHei"/>
                <a:cs typeface="Microsoft YaHei"/>
              </a:rPr>
              <a:t>各预测方法共享电池约束和优化器，比较预测输入对调度结果的影响。</a:t>
            </a:r>
            <a:endParaRPr sz="108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AC0D965-1F39-4F9B-8466-AA45D7DE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597087"/>
                </a:solidFill>
                <a:latin typeface="Arial"/>
                <a:ea typeface="Arial"/>
                <a:cs typeface="Arial"/>
              </a:rPr>
              <a:t>Conceptual asset: outputs/phase13_1/presentation_assets/con_01_prediction_decision_bridge.png</a:t>
            </a:r>
            <a:endParaRPr sz="67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E149FAE-010C-4659-82D4-43B1D20C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F12A20E-57DF-4552-92BC-CF3FDE8DE9E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728631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651A8A-F35B-41D9-9A11-2A70C5A4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E40E2ED-3231-4C81-8A74-59618B48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方法设计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A07D731-7E6F-43DE-BAF1-74C52EA3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以验证集削峰表现选择融合权重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768FB4A-7ED1-4EC1-AAD4-923521B6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预测分量与电池约束保持一致，融合权重依据验证集决策后悔值选择。</a:t>
            </a:r>
            <a:endParaRPr sz="124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7B81958-21A2-4FFF-B0BE-B3341CE7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1508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527087"/>
                </a:solidFill>
                <a:latin typeface="Microsoft YaHei"/>
                <a:ea typeface="Microsoft YaHei"/>
                <a:cs typeface="Microsoft YaHei"/>
              </a:rPr>
              <a:t>传统预测选择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A641ED1-DA2C-4980-BDA1-FD00E0C1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B2E7E2D-141B-4011-893D-B77C1C1D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Forecast</a:t>
            </a:r>
            <a:endParaRPr sz="11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E7B4D00-FD42-46B5-8031-DC4EF030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8" y="2011680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E96810D-DB51-4445-A0F8-8A777E65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664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CDDAF5-5224-4B5F-8A6C-7A6E3BD6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MAE / RMSE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1946A6E-E5C6-466F-8E1C-BF4EE914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2011680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27087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52CE62A-D3D6-4270-8C85-A1E4EC11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338"/>
          </a:solidFill>
          <a:ln xmlns:a="http://schemas.openxmlformats.org/drawingml/2006/main" w="10160">
            <a:solidFill>
              <a:srgbClr val="52708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3D75CAE-C700-4971-A545-12DCFA46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B7C5D0"/>
                </a:solidFill>
                <a:latin typeface="Arial"/>
                <a:ea typeface="Arial"/>
                <a:cs typeface="Arial"/>
              </a:rPr>
              <a:t>Select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1337DF1-6418-445D-BCD7-0DE11C3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05456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527087"/>
                </a:solidFill>
                <a:latin typeface="Microsoft YaHei"/>
                <a:ea typeface="Microsoft YaHei"/>
                <a:cs typeface="Microsoft YaHei"/>
              </a:rPr>
              <a:t>预测误差最小</a:t>
            </a:r>
            <a:endParaRPr sz="9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8A85F40-2845-4C60-9BC3-3B03E072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30752"/>
            <a:ext cx="1508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DOEF 选择</a:t>
            </a:r>
            <a:endParaRPr sz="11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DB11113-D507-4AD9-B4C7-6DD90D98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5D41DFD-50EB-4159-9A27-274434B5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Forecast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5E8EFCD-4AB3-435F-81DC-F99DFC18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972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BDC1ED2-DD61-4C7D-BDE0-5C806762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7428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A3A3ED4-ED1E-40C0-A634-977A87AB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80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Battery dispatch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7B2A85F-B67F-44F1-8A55-8D89D180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41928C5-D4E5-484E-A5AE-BF0FFC49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30210DB-A9DC-42E4-AC57-6F58C980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Decision regret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A0283E2-C38B-43C7-B0FA-92D68B65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9388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3BFD03A-08C9-405D-8B20-99196AC5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844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A2740"/>
          </a:solidFill>
          <a:ln xmlns:a="http://schemas.openxmlformats.org/drawingml/2006/main" w="10160">
            <a:solidFill>
              <a:srgbClr val="6F4E9C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9D5D2C6-625F-4119-A43F-B473C5BD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1996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CCFF"/>
                </a:solidFill>
                <a:latin typeface="Arial"/>
                <a:ea typeface="Arial"/>
                <a:cs typeface="Arial"/>
              </a:rPr>
              <a:t>FREEZE  wᵦ</a:t>
            </a:r>
            <a:endParaRPr sz="11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83FDB7A-2CA9-4FF4-A9FB-C6549FB4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决策 regret 最小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F54506FF-AABB-4EF7-94B5-10DAF2C8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264408"/>
            <a:ext cx="10149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34057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9B8034E-19B9-491B-BA8D-4A4CFB68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52" y="5504688"/>
            <a:ext cx="42976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51D43"/>
          </a:solidFill>
          <a:ln xmlns:a="http://schemas.openxmlformats.org/drawingml/2006/main" w="12700">
            <a:solidFill>
              <a:srgbClr val="5F45A8">
                <a:alpha val="0"/>
              </a:srgbClr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A81FDC2-A252-4E58-B5A0-CAB12EEF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2504" y="5545836"/>
            <a:ext cx="4151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 b="1">
                <a:solidFill>
                  <a:srgbClr val="D9CCFF"/>
                </a:solidFill>
                <a:latin typeface="Microsoft YaHei"/>
                <a:ea typeface="Microsoft YaHei"/>
                <a:cs typeface="Microsoft YaHei"/>
              </a:rPr>
              <a:t>权重选择依据：验证集决策后悔值</a:t>
            </a:r>
            <a:endParaRPr sz="102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ECBC646-7502-4AAB-BBAD-40B5C71F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925312"/>
            <a:ext cx="5715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>
                <a:solidFill>
                  <a:srgbClr val="8298AA"/>
                </a:solidFill>
                <a:latin typeface="Microsoft YaHei"/>
                <a:ea typeface="Microsoft YaHei"/>
                <a:cs typeface="Microsoft YaHei"/>
              </a:rPr>
              <a:t>预测器与优化器分别运行，权重在验证集确定</a:t>
            </a:r>
            <a:endParaRPr sz="102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6ACB309-54B5-40CB-9010-29EEEF90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1E7D7C8-F5FD-401F-B04A-0D8DEB8BF18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0689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A337AB8-FBD1-4DFD-BC62-5C83EDC8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452DD67-91E7-4645-8F46-B59C5C42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DOEF 方法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BE2916E-7541-4789-83DE-895CA832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DOEF：周期基线与 LightGBM 融合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D089A25-A62E-4EBF-B68C-FEF837D2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逐建筑选择 DayWeek 与 LightGBM 的权重，验证完成后固定权重并评价测试集。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98E14C0-39DF-40A9-B1B4-A29228AD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17320"/>
            <a:ext cx="11109960" cy="4690872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b8b5dc4624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8180" y="1435608"/>
            <a:ext cx="8274304" cy="4654296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9E3BBCA-39BE-4DE0-9134-FA326DF3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method visual: outputs/phase13_1/architecture/doef_architecture_master.png · formula: wᵦ·LightGBM + (1−wᵦ)·DayWeek</a:t>
            </a:r>
            <a:endParaRPr sz="67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4E8D0E4-C0A0-4691-A578-EC2DCDD0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DCC4C41-55DE-468E-8DC4-52FE3F812D0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0229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1EDCDC5-6560-451A-A99B-CED46085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5C19951-8601-49A6-A762-86FB5266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实验结果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8D45680-CF8E-4539-BA5C-332E7335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预测误差降低 6.36%，决策后悔值降低 3.61%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A6C33DD-EE3C-4323-BD29-5F9AAAF97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相对 LightGBM，八建筑等权平均的归一化 MAE 和归一化决策后悔值均下降。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CE452E2-07C4-40D4-9B03-A1E27FC4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444752"/>
            <a:ext cx="8430768" cy="4434840"/>
          </a:xfrm>
          <a:prstGeom xmlns:a="http://schemas.openxmlformats.org/drawingml/2006/main" prst="roundRect">
            <a:avLst>
              <a:gd name="adj" fmla="val 18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5e3c92cce4b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0656" y="1490472"/>
            <a:ext cx="7721600" cy="4343400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66A80EC-A3A3-4647-BA3D-C178DA66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444752"/>
            <a:ext cx="2331720" cy="443484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9683FB4-B8BD-43EB-8D7A-EABE1D23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847088"/>
            <a:ext cx="1783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6.36%</a:t>
            </a:r>
            <a:endParaRPr sz="2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31B7BB8-7A53-41CD-BE98-3EE35EA4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05456"/>
            <a:ext cx="1783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归一化 MAE 相对改善</a:t>
            </a:r>
            <a:endParaRPr sz="11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6B5FCBE3-9396-48BA-8BB3-249A3DA5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136392"/>
            <a:ext cx="1783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BBA7FF"/>
                </a:solidFill>
                <a:latin typeface="Arial"/>
                <a:ea typeface="Arial"/>
                <a:cs typeface="Arial"/>
              </a:rPr>
              <a:t>3.61%</a:t>
            </a:r>
            <a:endParaRPr sz="2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9068A5C-7A75-416B-B373-603C5D55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794760"/>
            <a:ext cx="1783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归一化后悔值相对改善</a:t>
            </a:r>
            <a:endParaRPr sz="11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70F22E4-1C96-45E2-A0C3-64DD4934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471416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6  /  2  /  0</a:t>
            </a:r>
            <a:endParaRPr sz="22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F8F1AC9-0467-423E-BC45-4BFF4783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956048"/>
            <a:ext cx="1783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9FB1C1"/>
                </a:solidFill>
                <a:latin typeface="Arial"/>
                <a:ea typeface="Arial"/>
                <a:cs typeface="Arial"/>
              </a:rPr>
              <a:t>win / tie / loss</a:t>
            </a:r>
            <a:endParaRPr sz="92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460E006-1A76-4D93-9B57-E111ACEA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5358384"/>
            <a:ext cx="19202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0291B"/>
          </a:solidFill>
          <a:ln xmlns:a="http://schemas.openxmlformats.org/drawingml/2006/main"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15BE83F8-BAE1-4965-B2D5-C7CE9607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5399532"/>
            <a:ext cx="17739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最小整段削峰率：−1.017%</a:t>
            </a:r>
            <a:endParaRPr sz="78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9482877-C425-479F-B3FB-C3D9F6DF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outputs/phase13_1/figures/sci_02_doef_main_results.png · Oracle-relative regret ≠ monetary regret</a:t>
            </a:r>
            <a:endParaRPr sz="67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9A365B2-1B2E-414C-B904-4334E773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D966A1-BC93-417C-8D98-7FABBD6FAA7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348297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DC89830-8B34-4BA4-BC60-2D6CF905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1EA3197-4905-4C3B-B892-4715E377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评价指标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45ACE8C-2FB5-4676-B549-0E8E1ED8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预测误差与决策后悔值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34B1D20-CF7D-4F6B-85CD-777A5EC0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RMSE 衡量负荷预测偏差；决策后悔值衡量相对 Oracle 的实际峰值差。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BA2C008-889F-41AE-A7E9-A61695BF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4983480" cy="4187952"/>
          </a:xfrm>
          <a:prstGeom xmlns:a="http://schemas.openxmlformats.org/drawingml/2006/main" prst="roundRect">
            <a:avLst>
              <a:gd name="adj" fmla="val 1965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FD05877-80EF-4859-9E65-49959B71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27632"/>
            <a:ext cx="4983480" cy="4187952"/>
          </a:xfrm>
          <a:prstGeom xmlns:a="http://schemas.openxmlformats.org/drawingml/2006/main" prst="roundRect">
            <a:avLst>
              <a:gd name="adj" fmla="val 1965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D691505-6718-476A-B559-E8C773EC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1938528"/>
            <a:ext cx="157276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A3448"/>
          </a:solidFill>
          <a:ln xmlns:a="http://schemas.openxmlformats.org/drawingml/2006/main" w="12700">
            <a:solidFill>
              <a:srgbClr val="1A3448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C346224-D113-4624-81AA-A98E96D6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1979676"/>
            <a:ext cx="14264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A9D9F2"/>
                </a:solidFill>
                <a:latin typeface="Microsoft YaHei"/>
                <a:ea typeface="Microsoft YaHei"/>
                <a:cs typeface="Microsoft YaHei"/>
              </a:rPr>
              <a:t>预测指标</a:t>
            </a:r>
            <a:endParaRPr sz="86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3072FFC-87B9-49A5-9688-D0514F28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441448"/>
            <a:ext cx="20116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RMSE</a:t>
            </a:r>
            <a:endParaRPr sz="3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83E1564-740E-4355-8609-F2149553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008376"/>
            <a:ext cx="3566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预测负荷与实际负荷的偏差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1D7E58A-424A-402A-BB46-6CDF1D9A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566160"/>
            <a:ext cx="38862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对各时刻的预测误差平方取平均，再开方。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用于评价负荷预测质量。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DA4702E-3373-47D0-9B81-42FDDDEE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4" y="1938528"/>
            <a:ext cx="17556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B2148"/>
          </a:solidFill>
          <a:ln xmlns:a="http://schemas.openxmlformats.org/drawingml/2006/main" w="12700">
            <a:solidFill>
              <a:srgbClr val="2B2148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939606D-E2D7-4037-BCF4-840F791E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1979676"/>
            <a:ext cx="16093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D8CCFF"/>
                </a:solidFill>
                <a:latin typeface="Microsoft YaHei"/>
                <a:ea typeface="Microsoft YaHei"/>
                <a:cs typeface="Microsoft YaHei"/>
              </a:rPr>
              <a:t>调度指标</a:t>
            </a:r>
            <a:endParaRPr sz="8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E0CC65E-07F6-4A8B-9590-580D33ED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2194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BCA9FF"/>
                </a:solidFill>
                <a:latin typeface="Arial"/>
                <a:ea typeface="Arial"/>
                <a:cs typeface="Arial"/>
              </a:rPr>
              <a:t>regret</a:t>
            </a:r>
            <a:endParaRPr sz="3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8496A70-A33F-4F62-91A0-E854715C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008376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2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相对 Oracle 的实际峰值差</a:t>
            </a:r>
            <a:endParaRPr sz="152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4DC24A8-DA1C-4FC9-8EFF-2D8F693F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566160"/>
            <a:ext cx="3840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预测生成电池计划，用实际负荷评价峰值。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Oracle 知道未来负荷，仅作事后参照。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98CAD7E-59B9-4DB6-B2B7-A695BF61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4407408"/>
            <a:ext cx="5852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66F85"/>
            </a:solidFill>
            <a:prstDash val="solid"/>
            <a:headEnd type="none"/>
            <a:tailEnd type="triangle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496C097-5698-4095-97C1-68BDE4E6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008" y="3986784"/>
            <a:ext cx="621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8298AA"/>
                </a:solidFill>
                <a:latin typeface="Microsoft YaHei"/>
                <a:ea typeface="Microsoft YaHei"/>
                <a:cs typeface="Microsoft YaHei"/>
              </a:rPr>
              <a:t>双层评价</a:t>
            </a:r>
            <a:endParaRPr sz="88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4B2D06C-6122-47FE-86AB-01388074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616" y="6007608"/>
            <a:ext cx="461772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B5B3992-2D13-4181-8550-3711B258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6048756"/>
            <a:ext cx="4471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1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同时报告预测精度与调度表现</a:t>
            </a:r>
            <a:endParaRPr sz="101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70E6F03-0692-4F2A-9672-E428A474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9D019B4-8AEB-4AB2-A554-DBD38683235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068010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4ECEE8-122D-4584-B882-20C53EE7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DCAB0F3-4FF0-4141-BA43-078229EF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多建筑比较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F562F2-CE88-44CA-9900-75C5961D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八建筑后悔值对比：6 胜、2 平、0 负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2CFDF1C-970D-4936-BF54-9EF40E72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296 栋办公建筑候选中，82 栋通过质量筛选，再依据训练期负荷形态选出 8 栋。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09FB4D1-7CCE-41DE-8A5A-3682BC76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9464040" cy="4507992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039c52dc3b4b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8580" y="1499616"/>
            <a:ext cx="7884160" cy="4434840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643BB6D-2C0E-4249-B917-3A8E6D8C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992" y="1463040"/>
            <a:ext cx="1389888" cy="4507992"/>
          </a:xfrm>
          <a:prstGeom xmlns:a="http://schemas.openxmlformats.org/drawingml/2006/main" prst="roundRect">
            <a:avLst>
              <a:gd name="adj" fmla="val 592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4C6D28C-C384-4795-A5C9-6ADF2275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1874520"/>
            <a:ext cx="10241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5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8 / 8</a:t>
            </a:r>
            <a:endParaRPr sz="2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FF73317-8EF7-4992-9F4D-DBF03E29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395728"/>
            <a:ext cx="10789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B2C1CD"/>
                </a:solidFill>
                <a:latin typeface="Microsoft YaHei"/>
                <a:ea typeface="Microsoft YaHei"/>
                <a:cs typeface="Microsoft YaHei"/>
              </a:rPr>
              <a:t>全部展示</a:t>
            </a:r>
            <a:endParaRPr sz="105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DEA0836-EF30-4B18-A7E5-FDC8C5A8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816352"/>
            <a:ext cx="987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4B61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5CE41A4-0B16-4020-8848-DAC82BC0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063240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6AD7FF"/>
                </a:solidFill>
                <a:latin typeface="Arial"/>
                <a:ea typeface="Arial"/>
                <a:cs typeface="Arial"/>
              </a:rPr>
              <a:t>6</a:t>
            </a:r>
            <a:endParaRPr sz="2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B698A12-B78B-484B-824D-6B27A3EE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493008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lower</a:t>
            </a:r>
            <a:endParaRPr sz="88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5A66FDB-CE5B-4DCC-B1F7-45FD5D926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913632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D7E2EA"/>
                </a:solidFill>
                <a:latin typeface="Arial"/>
                <a:ea typeface="Arial"/>
                <a:cs typeface="Arial"/>
              </a:rPr>
              <a:t>2</a:t>
            </a:r>
            <a:endParaRPr sz="2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437A588-EAD6-4001-AD75-107A3C07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343400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ties</a:t>
            </a:r>
            <a:endParaRPr sz="88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719EDA6-02B5-4A82-B940-E7461381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754880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D9AA6"/>
                </a:solidFill>
                <a:latin typeface="Arial"/>
                <a:ea typeface="Arial"/>
                <a:cs typeface="Arial"/>
              </a:rPr>
              <a:t>0</a:t>
            </a:r>
            <a:endParaRPr sz="24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150AD3C-4D27-430D-8653-36518762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5184648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higher</a:t>
            </a:r>
            <a:endParaRPr sz="88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BE1E745-513B-40F8-B686-CFB7179D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SCI-03 · buildings preserved in preselected frozen order; no sorting/deletion</a:t>
            </a:r>
            <a:endParaRPr sz="67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B3C31A4-0514-4483-902D-578FAE27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0F27D36-A038-498C-8166-5A488E8FB84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354232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3CD17EE-50DE-4B42-85B3-23E34CD4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D72949-694D-4F87-B7CC-2B63FB24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实验设计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B7CFB35-7FB7-4D61-A856-C5E36991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验证集权重选择与测试集评价</a:t>
            </a:r>
            <a:endParaRPr sz="27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18C45ED-B2D9-483F-BB45-97302618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验证集比较 11 个候选权重；测试集只用于评价，不参与模型、权重或平局规则选择。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D593097-76CA-42F0-A86D-006401CD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08760"/>
            <a:ext cx="8183880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31c7f3c9a542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476" y="1545336"/>
            <a:ext cx="7542784" cy="4242816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EFD5942-70C4-493C-871F-0EFF9CC9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1508760"/>
            <a:ext cx="2578608" cy="4315968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0F682191-3FB6-4487-834C-F5E101B6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856232"/>
            <a:ext cx="20116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7285E"/>
          </a:solidFill>
          <a:ln xmlns:a="http://schemas.openxmlformats.org/drawingml/2006/main" w="12700">
            <a:solidFill>
              <a:srgbClr val="37285E">
                <a:alpha val="0"/>
              </a:srgbClr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C775DA6-A910-437D-B672-C8BAFAF7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897380"/>
            <a:ext cx="1865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E2D8FF"/>
                </a:solidFill>
                <a:latin typeface="Microsoft YaHei"/>
                <a:ea typeface="Microsoft YaHei"/>
                <a:cs typeface="Microsoft YaHei"/>
              </a:rPr>
              <a:t>验证后固定权重</a:t>
            </a:r>
            <a:endParaRPr sz="86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8431001-1067-40C5-B0CF-34AF8C7B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57860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ABDFF"/>
                </a:solidFill>
                <a:latin typeface="Arial"/>
                <a:ea typeface="Arial"/>
                <a:cs typeface="Arial"/>
              </a:rPr>
              <a:t>Validation</a:t>
            </a:r>
            <a:endParaRPr sz="1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98E310D-7444-431D-A60B-3D6A1874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907792"/>
            <a:ext cx="1737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搜索 0.0 → 1.0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步长 0.1</a:t>
            </a:r>
            <a:endParaRPr sz="12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66184D-424D-4918-90FA-3E5396E5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3767328"/>
            <a:ext cx="15270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9EC6DC1-D67D-4EC9-973D-A40445D9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4023360"/>
            <a:ext cx="117043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D160A13-2F92-44DC-BB8E-E1BE6FC3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064508"/>
            <a:ext cx="10241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FREEZE  wᵦ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3789611-0DBB-4129-8C39-EE3BDDB4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432" y="4434840"/>
            <a:ext cx="0" cy="4846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8291A1"/>
            </a:solidFill>
            <a:prstDash val="solid"/>
            <a:headEnd type="none"/>
            <a:tailEnd type="triangle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853372E-3E10-438A-9E08-19D38F37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47488"/>
            <a:ext cx="658368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0CBD5"/>
                </a:solidFill>
                <a:latin typeface="Arial"/>
                <a:ea typeface="Arial"/>
                <a:cs typeface="Arial"/>
              </a:rPr>
              <a:t>Test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C1E1825-33D1-447C-B3E9-E3F39F3E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5074920"/>
            <a:ext cx="11155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8FA1B0"/>
                </a:solidFill>
                <a:latin typeface="Arial"/>
                <a:ea typeface="Arial"/>
                <a:cs typeface="Arial"/>
              </a:rPr>
              <a:t>evaluation only</a:t>
            </a:r>
            <a:endParaRPr sz="93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7AE89A49-684F-4F6D-9303-55D02B0F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SCI-04 · candidate grid = 11 weights · prior historical Test visibility means “pristine blind test” is not claimed</a:t>
            </a:r>
            <a:endParaRPr sz="67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F7CA3-BE6E-4ED7-8881-62C07BAB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612BCA4-434E-4421-985C-A3E8510E156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286981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308E1E-B351-442D-9435-415D1193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797701-8B3B-4118-9D76-D2794EEC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实现流程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2B9195F-E746-4849-8E57-5B317872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预测与储能调度的仿真流程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D2B62FD-3AA1-4037-936D-2216277A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离线仿真已实现预测、优化和实际负荷评价；真实楼宇在线部署仍需验证。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0FC227E-6E3F-41E7-9F67-201C7682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FD36E94-88BC-4CFF-888E-F27F6639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01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A98E165-1C80-48E7-A1C8-8DA1B55C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已知历史负荷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9C6A26-7395-41C7-8C78-8236A3C6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截至预测时刻可用的正滞后与日历状态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CAE759B-D2EB-4575-A51E-3D67E397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98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BE182D3-AE21-41EA-97BF-0918E60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45D7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0885FED-022E-46ED-833B-19B9E966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02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3B04CD0-CB62-4DEB-B231-9B079E58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生成次日预测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DEC9454-CB11-4E1A-AE63-E86E067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DayWeek + LightGBM，采用验证集确定的 wᵦ</a:t>
            </a:r>
            <a:endParaRPr sz="11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A49480A-354D-46D2-9275-B2ED18E0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1C2D596-5CEC-4B18-B7FD-0B5133D3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45D7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42AD2F2-4609-4D6F-9B7C-65B7D34D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03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60E58F-5AA5-431F-8E65-708686F2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求解 24h 电池计划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374C7E6-C642-46D0-98EE-C67DB2C2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同一容量 / 功率 / SOC / 效率 / daily reset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072EDE3-83A4-4D5F-8C9F-10C0E808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A506A78-2309-48E6-B97B-BE7F72F9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4A192AB-DD4E-43F5-B876-8573D2E7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04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827673B-8928-4B12-966F-60B21048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真实负荷后评估</a:t>
            </a:r>
            <a:endParaRPr sz="15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C72A7E9-7F2D-45E9-85B9-75F9506D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MAE/RMSE + peak + Oracle-relative regret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37908A0-8719-4964-B35F-14D4EE09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5413248"/>
            <a:ext cx="12344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2BBB17B-F8D5-4FD5-96B5-96FF144F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5454396"/>
            <a:ext cx="10881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REPEATABLE</a:t>
            </a:r>
            <a:endParaRPr sz="84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EE36D5F-D1B1-4BE2-B42B-8FEA4F8A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413248"/>
            <a:ext cx="10058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51D43"/>
          </a:solidFill>
          <a:ln xmlns:a="http://schemas.openxmlformats.org/drawingml/2006/main" w="12700">
            <a:solidFill>
              <a:srgbClr val="251D43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4D8DFFD-ABE7-4360-BEA4-2AEFE01A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5454396"/>
            <a:ext cx="8595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CFC1FF"/>
                </a:solidFill>
                <a:latin typeface="Microsoft YaHei"/>
                <a:ea typeface="Microsoft YaHei"/>
                <a:cs typeface="Microsoft YaHei"/>
              </a:rPr>
              <a:t>FROZEN</a:t>
            </a:r>
            <a:endParaRPr sz="84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1E33B9CE-6479-40F3-9F6E-296B23C1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413248"/>
            <a:ext cx="14447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A281D"/>
          </a:solidFill>
          <a:ln xmlns:a="http://schemas.openxmlformats.org/drawingml/2006/main" w="12700">
            <a:solidFill>
              <a:srgbClr val="3A281D">
                <a:alpha val="0"/>
              </a:srgbClr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D8EB60D6-261F-45A5-843A-B0474897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5454396"/>
            <a:ext cx="12984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NOT DEPLOYED</a:t>
            </a:r>
            <a:endParaRPr sz="84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7E7D752-82E4-4D96-BF6E-3271251F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5431536"/>
            <a:ext cx="5413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B5C6D3"/>
                </a:solidFill>
                <a:latin typeface="Microsoft YaHei"/>
                <a:ea typeface="Microsoft YaHei"/>
                <a:cs typeface="Microsoft YaHei"/>
              </a:rPr>
              <a:t>已实现负荷预测、约束调度和实际峰值评价的仿真流程。</a:t>
            </a:r>
            <a:endParaRPr sz="12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C3138F7-967C-47CA-96BE-F954604D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33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16B6E5C-12D9-4AC4-84B9-D332F21060A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0453101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3C42295-04CF-42D0-B880-5C71BC73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13F3294-4B60-4A45-B126-23CA6D9C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作品贡献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F609AD3-5517-4E34-B0CF-FFB8A8AD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决策导向融合与多建筑评测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B54A444-12DF-44DF-AD8A-6E48F65E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通过验证集调度表现选择预测组合，并在相同电池约束下开展多建筑比较。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F2591D-D637-44C9-BC05-62B7F623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0472"/>
            <a:ext cx="10826496" cy="4297680"/>
          </a:xfrm>
          <a:prstGeom xmlns:a="http://schemas.openxmlformats.org/drawingml/2006/main" prst="roundRect">
            <a:avLst>
              <a:gd name="adj" fmla="val 19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3eead64da4e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60168" y="1536192"/>
            <a:ext cx="7477760" cy="4206240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D37E6D8-4C16-44D5-AD11-BE0B76C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597087"/>
                </a:solidFill>
                <a:latin typeface="Arial"/>
                <a:ea typeface="Arial"/>
                <a:cs typeface="Arial"/>
              </a:rPr>
              <a:t>Conceptual asset: CON-02 · no first/world-first/SOTA/end-to-end deployment claim</a:t>
            </a:r>
            <a:endParaRPr sz="67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C03CCA4-C853-422E-A116-259BA104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25D63E8-E508-47EF-A8C7-40E3971ADC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464305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F963CC-81AD-4873-8EE8-E323EB8D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45172B-81C5-435E-B2A4-76E4EABD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结论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F032156-F1FE-4DAF-BD53-0B2B24C5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115568"/>
            <a:ext cx="576072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面向储能削峰的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负荷预测组合选择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96A14C9-F230-4A60-8B94-6C6B738D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24912"/>
            <a:ext cx="3749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80">
                <a:solidFill>
                  <a:srgbClr val="24C7FF"/>
                </a:solidFill>
                <a:latin typeface="Arial"/>
                <a:ea typeface="Arial"/>
                <a:cs typeface="Arial"/>
              </a:rPr>
              <a:t>FOR BATTERY PEAK SHAVING</a:t>
            </a:r>
            <a:endParaRPr sz="1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8C3E83E-552A-4A17-9EC4-615EAE8E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216152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27ABBB-4C29-4904-AD41-5469BD22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143560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057B576-79AA-40F6-855D-CECFF693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380744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预测误差 ≠ 决策价值</a:t>
            </a:r>
            <a:endParaRPr sz="14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846B3CE-C316-4A37-8F7F-2D3FEAC4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810512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RMSE 与 regret 回答不同问题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F7DE137-37D2-430A-B4DE-60BC5773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660904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E3B6430-AAD2-426C-88B4-896032C8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2880360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CFC0FF"/>
                </a:solidFill>
                <a:latin typeface="Arial"/>
                <a:ea typeface="Arial"/>
                <a:cs typeface="Arial"/>
              </a:rPr>
              <a:t>02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1D7A9DE-83C3-413B-A2A2-F766ED1E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825496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验证集选择权重</a:t>
            </a:r>
            <a:endParaRPr sz="14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7C9D765-AEDC-4230-AA6F-7D4348D9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255264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按决策后悔值确定 wᵦ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866015D-5B79-4DFD-BB01-43169829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4105656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3179DA6-7CA1-4A74-9174-0C9AFD3C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4325112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03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B0B9618-F71F-4C6F-9AD1-684AA0DC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270248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测试集评价效果</a:t>
            </a:r>
            <a:endParaRPr sz="14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1E63E17-2DAB-4568-8D82-F1DB3B5B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700016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8 栋建筑分别训练与评价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BFB6C83-484C-45FD-B5A7-A8986BEE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77056"/>
            <a:ext cx="5257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B8C8D5"/>
                </a:solidFill>
                <a:latin typeface="Microsoft YaHei"/>
                <a:ea typeface="Microsoft YaHei"/>
                <a:cs typeface="Microsoft YaHei"/>
              </a:rPr>
              <a:t>用验证集调度表现选择负荷预测组合，在本次八建筑实验中取得改善。</a:t>
            </a:r>
            <a:endParaRPr sz="17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3BD20CE-C340-4356-A362-74218743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138928"/>
            <a:ext cx="2066544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1A6A78F-3C5F-444D-AD8B-1F1DC721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80076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DOEF v1.0 · 八建筑仿真验证</a:t>
            </a:r>
            <a:endParaRPr sz="88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49D3635-51A0-4C54-AE79-1C8E86F3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50992"/>
            <a:ext cx="5715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0">
                <a:solidFill>
                  <a:srgbClr val="71889A"/>
                </a:solidFill>
                <a:latin typeface="Microsoft YaHei"/>
                <a:ea typeface="Microsoft YaHei"/>
                <a:cs typeface="Microsoft YaHei"/>
              </a:rPr>
              <a:t>8 栋办公建筑 · 单一测试月 · 24 h 超前预测 · 离线仿真</a:t>
            </a:r>
            <a:endParaRPr sz="97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7E31CDE-0488-4403-8C9C-75F2C400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3ECC298-AA53-49E9-ADAE-71B3AB7706F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547771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FDADB30-1EB1-4ECF-A36D-F93BF057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191AFDB-3961-4A0D-B67C-BF9ABC16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数据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F9170E-0639-41F6-B785-1524518E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1C9C104-A54A-4F39-B2BF-E2A151A1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C268C85-C484-497D-A976-498778E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建筑筛选与样本构成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D0ABAC0-26F3-4ACC-9D42-B41D4E7D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先按数据质量确定候选范围，再用训练期负荷形态选楼；不使用验证或测试成绩。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84691DF-56BA-499C-B6B1-C0110757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448831B-B3B4-40C5-AE86-2D8F4739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1,578</a:t>
            </a:r>
            <a:endParaRPr sz="2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9B8C0A0-0CA6-4B9D-BCEE-C61DD98B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building series</a:t>
            </a:r>
            <a:endParaRPr sz="9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2C9C997-2DBD-459B-8CD9-09D9DA08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8725423-1D30-4297-8549-0B69A97E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CEDB639-060B-42D3-92E3-B46684A1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296</a:t>
            </a:r>
            <a:endParaRPr sz="2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3FA2252-88F1-4CAF-A927-CA72C550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office candidates</a:t>
            </a:r>
            <a:endParaRPr sz="9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0D8CB71-3A63-47AE-9F96-6B2947BF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15B1D39-E8FA-47C0-A969-66C1E960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31D8014-73EC-4A9C-98F5-0E597F34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82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D711A50-569E-422A-AC68-12BC3D13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quality pass</a:t>
            </a:r>
            <a:endParaRPr sz="9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DBA0575-DAA3-4732-A66B-E29A0E63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C610F19-C562-427B-85B1-F00F7017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0160">
            <a:solidFill>
              <a:srgbClr val="A9D7F6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AC4705E-4F44-4E99-862E-EE4E0A7C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8</a:t>
            </a:r>
            <a:endParaRPr sz="25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DE1A05B-6111-48D6-99C4-46DFCD17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fixed offices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2B5DE02-E81A-4208-B315-E1DA60F5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53512"/>
            <a:ext cx="4709160" cy="2916936"/>
          </a:xfrm>
          <a:prstGeom xmlns:a="http://schemas.openxmlformats.org/drawingml/2006/main" prst="roundRect">
            <a:avLst>
              <a:gd name="adj" fmla="val 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83085E7-2521-4D13-93A2-58057609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8688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建筑样本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9CDBA87-F89B-4724-89BD-B3AF3572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03320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01  Hog · Rolando</a:t>
            </a:r>
            <a:endParaRPr sz="101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1F01210-0268-4432-8C96-9B858A09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8808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02  Hog · Lavon</a:t>
            </a:r>
            <a:endParaRPr sz="101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2888CBC-2B6E-4475-9893-B9AA1899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54296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03  Hog · Joey</a:t>
            </a:r>
            <a:endParaRPr sz="101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1133E9F-4D58-49E7-9C8B-1B38FF43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29784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04  Lamb · Caitlin</a:t>
            </a:r>
            <a:endParaRPr sz="101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113A9C7-2AE9-41C3-9CCC-D24D3F11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3703320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05  Robin · Addie</a:t>
            </a:r>
            <a:endParaRPr sz="101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4D5B-D354-4372-B37C-653458CE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4178808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06  Lamb · Gerardo</a:t>
            </a:r>
            <a:endParaRPr sz="101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42FB9F5-80E2-45BB-81B6-AA70C1F1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4654296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07  Hog · Alexis</a:t>
            </a:r>
            <a:endParaRPr sz="101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5B732B8-3BE9-4948-AEC1-418AB98B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5129784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08  Hog · Byron</a:t>
            </a:r>
            <a:endParaRPr sz="101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64C8E59-81CB-4642-8AC7-72E9F58B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953512"/>
            <a:ext cx="5925312" cy="2916936"/>
          </a:xfrm>
          <a:prstGeom xmlns:a="http://schemas.openxmlformats.org/drawingml/2006/main" prst="roundRect">
            <a:avLst>
              <a:gd name="adj" fmla="val 282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7058681-7CEE-4675-BFD4-676F1819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2" y="3236976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Train-only morphology features</a:t>
            </a:r>
            <a:endParaRPr sz="11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6CB3E3D-63C4-47CD-B50F-6F899A63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30752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log mean load</a:t>
            </a:r>
            <a:endParaRPr sz="93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AFDCB2DC-22D3-4F1C-ABF4-5946DB7E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30752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coefficient of variation</a:t>
            </a:r>
            <a:endParaRPr sz="93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7FFCD9FC-28F5-4274-A998-A0D48EAD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23944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peak-to-average ratio</a:t>
            </a:r>
            <a:endParaRPr sz="93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19F013D-5F6A-4E60-ACAD-501D47F0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23944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peak–valley range</a:t>
            </a:r>
            <a:endParaRPr sz="93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9C769397-5EA5-40DE-A40F-990FD9A6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7136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lag-24 autocorrelation</a:t>
            </a:r>
            <a:endParaRPr sz="93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B6006AFD-7A66-4115-83D2-AAB7A4F5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17136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lag-168 autocorrelation</a:t>
            </a:r>
            <a:endParaRPr sz="93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28AA9C7-EE83-4E2C-B5E2-FFFED533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10328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weekday–weekend difference</a:t>
            </a:r>
            <a:endParaRPr sz="93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B92851F-65DA-473C-B89B-78712B11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10328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daily-profile variability</a:t>
            </a:r>
            <a:endParaRPr sz="93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1B544AC1-D4D9-4531-B493-161634A8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303520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robust outlier fraction</a:t>
            </a:r>
            <a:endParaRPr sz="93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CBE327D8-23AD-461A-83C6-AE844EDD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504688"/>
            <a:ext cx="208483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D2548"/>
          </a:solidFill>
          <a:ln xmlns:a="http://schemas.openxmlformats.org/drawingml/2006/main" w="12700">
            <a:solidFill>
              <a:srgbClr val="2D2548">
                <a:alpha val="0"/>
              </a:srgbClr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5DCADFD5-4B7E-42A2-8C32-7159DAA9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5545836"/>
            <a:ext cx="19385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D9CCFF"/>
                </a:solidFill>
                <a:latin typeface="Microsoft YaHei"/>
                <a:ea typeface="Microsoft YaHei"/>
                <a:cs typeface="Microsoft YaHei"/>
              </a:rPr>
              <a:t>NO Validation/Test performance used</a:t>
            </a:r>
            <a:endParaRPr sz="79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41BB5A6E-F89A-45CA-B55C-029BDA64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outputs/phase7/selected_buildings.json</a:t>
            </a:r>
            <a:endParaRPr sz="67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79CDDCD-2144-4427-A65F-5F5170BA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4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628DAA5-DBFB-4A92-9ABA-A7FE8233FB6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0288321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62D7193-1C45-45D7-A265-0F946CFC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1A0545E-A276-4323-997F-809C95F6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方法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22BCC63-D7ED-4659-8F42-7683977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B4FFBE2-38D1-4B57-A38B-947D0804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635E56E-1C01-480A-B0F1-28A493FF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因果特征与时间切分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A930D93-EB0C-4C6D-82A4-18C8B217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24 h 超前预测仅使用当时可获得的负荷和日历信息，按目标可用性处理切分边界。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69DC4A-8DB7-4FEE-851E-D48C324E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44752"/>
            <a:ext cx="8732520" cy="4434840"/>
          </a:xfrm>
          <a:prstGeom xmlns:a="http://schemas.openxmlformats.org/drawingml/2006/main" prst="roundRect">
            <a:avLst>
              <a:gd name="adj" fmla="val 18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dafd5de5d40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3028" y="1472184"/>
            <a:ext cx="7786624" cy="4379976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8DF1A6C5-4EA7-4F17-B5AB-BAFC5F18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1444752"/>
            <a:ext cx="1947672" cy="443484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97A221C-6760-4934-81AD-515DCF29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2224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信息边界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7F7121A-CDF0-4CC0-B5C7-622E4B0A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267712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positive lags</a:t>
            </a:r>
            <a:endParaRPr sz="93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1A276BE-450C-44D2-8A93-AD2C190A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97480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shifted history</a:t>
            </a:r>
            <a:endParaRPr sz="93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405C950-61D6-453C-BF6D-0748D0DC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272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calendar state</a:t>
            </a:r>
            <a:endParaRPr sz="93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F2C6B0F-E1F0-49EF-8F00-6517886C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57016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no weather</a:t>
            </a:r>
            <a:endParaRPr sz="93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126F32A-9D52-49B7-A551-08A54D69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8678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no target leakage</a:t>
            </a:r>
            <a:endParaRPr sz="93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ADFCE290-010F-4FD8-A30E-6DA98847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773168"/>
            <a:ext cx="153619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B2B20"/>
          </a:solidFill>
          <a:ln xmlns:a="http://schemas.openxmlformats.org/drawingml/2006/main"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AA5573F-1DC0-4F27-B078-46E52B26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4814316"/>
            <a:ext cx="13898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1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历史测试期已被查看</a:t>
            </a:r>
            <a:endParaRPr sz="71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C3308A6-1049-42A4-9FDC-1B5703E8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ARCH-01 · prior Test visibility caveat retained</a:t>
            </a:r>
            <a:endParaRPr sz="67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4A1A273-A793-4980-ADE7-7073C22F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C47E16-0CA3-4CFF-ABD7-76EC2A927A8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0379315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940836B-0DD5-4C5C-A89D-E6442FBC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A9B409-180E-4D45-8098-33A97DD2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模型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9116AE-561C-44C2-9296-E22D80C8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5E0962F-0EF6-4A0A-B6D1-9D983E9D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F5667EB-E888-469B-8B42-AA4B36E63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预测基线与模型组成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FD5A6D9-5301-418D-BA96-5FB65C64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DayWeek 与逐建筑 LightGBM 构成 DOEF，其余模型用于基线比较。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29B6D87-CA13-42B6-BD68-BC80CE36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205740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D67B40A-DC08-49E6-B5E6-4766813F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46504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92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5FC88CC-AD0A-43CB-93B4-86896AA1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1627632"/>
            <a:ext cx="30175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E58B86-4C87-43AC-A02F-233526AB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1746504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Definition / input</a:t>
            </a:r>
            <a:endParaRPr sz="9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28B0057-0DE2-4FB2-B5FB-D684226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1627632"/>
            <a:ext cx="30175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FFFB82E-458B-4471-8D18-01E86869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1746504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Role in benchmark</a:t>
            </a:r>
            <a:endParaRPr sz="92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4295D26-A5C0-496B-A2ED-3DA06A2E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1627632"/>
            <a:ext cx="192024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65AB13D-CA5F-4006-99F2-0E9BBA22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1746504"/>
            <a:ext cx="1737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Novelty claim?</a:t>
            </a:r>
            <a:endParaRPr sz="9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22A3683-4C92-4197-B61C-4E8ADD65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66544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64A0FBE-3507-4362-97B2-0AC7B70F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7627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 Persistence</a:t>
            </a:r>
            <a:endParaRPr sz="94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7BE965D-3709-4CDE-B131-51275E49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206654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F6CC548-909C-483F-8E52-25933732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17627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t−24 h</a:t>
            </a:r>
            <a:endParaRPr sz="94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5BEAD90-A0E1-4023-9308-2C86F917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206654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E305E08-F6C2-46BA-8B32-DB20413D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7627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Baseline</a:t>
            </a:r>
            <a:endParaRPr sz="94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08458BC-0980-4E72-AEDC-2312CCF5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066544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FD7C8A0-7671-4E58-96CC-902BE8CA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176272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DD92D8A-897F-4FD6-A135-A891A403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60320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12768BD-7122-4414-B49A-8CA7492D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670048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Week</a:t>
            </a:r>
            <a:endParaRPr sz="94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B3B2D6B-85CA-42F7-88C3-F1F08731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256032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AF716EE-DC5B-4BCF-A201-FE072583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67004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t−168 h</a:t>
            </a:r>
            <a:endParaRPr sz="94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62A0010-BF4F-4D14-9183-68E50F11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256032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35FCE00-2ABB-49EF-B663-AABB7DB7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67004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Baseline</a:t>
            </a:r>
            <a:endParaRPr sz="94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C205D20-C6EB-4BC2-93B2-17F788E2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560320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917FCEC-1E91-4114-9578-2C599C4E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6700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A276B90D-DEB4-4C76-8DD7-3AA58458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54096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937A726-E7D2-4F50-AB2F-EA747B7E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163824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DayWeek</a:t>
            </a:r>
            <a:endParaRPr sz="94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B31E292A-0190-4586-877C-CE1CF787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305409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178F2CE-C203-45D9-8925-5C2968AE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16382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0.5·Day + 0.5·Week</a:t>
            </a:r>
            <a:endParaRPr sz="94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36475BC0-BF4A-49F6-AB07-471D80B3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305409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6A5B470B-CDC5-4C0A-A172-AF9E7333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16382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component</a:t>
            </a:r>
            <a:endParaRPr sz="94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19A895B5-52BE-42C4-8173-E3EFFDD1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054096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E2AB5A5-3138-4399-8323-BC7B18C9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1638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7660F86-DE55-4B73-8B98-8079D759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47872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3BFF4B1-A3CD-4E4A-915E-5A68C291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57600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4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B842C1D-3EF6-4AB6-B566-37782167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3547872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A4279CC-F0D1-4469-AA17-87D48696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657600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D58E1431-1F61-4610-9DB7-819CB6D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3547872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C29A576F-A1B2-41FB-8CE3-C1992572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657600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component / baseline</a:t>
            </a:r>
            <a:endParaRPr sz="94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4D514589-C96B-4F36-A99C-9DB2090C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547872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63136171-9068-4097-A1BF-034A4738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657600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B34D98D1-FC75-460A-8EB8-6C81ED19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41648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CB5AA714-9632-4DD5-AAA1-B4CCDA3E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51376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4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A38F462B-0190-478B-AC38-6F007858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4041648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55BCFC7C-8FF2-4ADE-8F1A-BCFA22A7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4151376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3F6EB0AE-1B60-4138-8C81-BA546B68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4041648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5757D292-1F2B-4DB2-9046-85AA1070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4151376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Comparator</a:t>
            </a:r>
            <a:endParaRPr sz="94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A98011AD-1C75-499F-ACB9-66268997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041648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C3CAC5C3-61F9-4C14-96A4-002E8B67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151376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C2477144-9C87-4D06-A933-74E8B141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35424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B2874543-7599-401B-9F2B-806DA793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45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CatBoost</a:t>
            </a:r>
            <a:endParaRPr sz="94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5B61387D-7FF1-4BFC-A12D-84A01E12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453542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431D8904-45D9-4094-B693-7D620577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464515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causal features</a:t>
            </a:r>
            <a:endParaRPr sz="94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975CF371-A9FA-49A8-9820-F12EAF6C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453542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0945A3D5-36ED-4147-A7DD-B7EA36A6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464515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Comparator</a:t>
            </a:r>
            <a:endParaRPr sz="94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5F76185A-3CEB-47A5-98C8-075746B6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535424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DBAC2B83-74E2-4EE0-8C4C-250406B9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645152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68FB4C42-F9BC-4CFA-AB85-EDAA3828D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29200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9FE7A92A-83AA-4875-BF63-5D9AAD6C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138928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4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AE2967AB-5830-4868-B116-5C0E1356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02920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D77986A4-68E8-410C-A5B3-0273F5E5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513892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wᵦ·LGBM+(1−wᵦ)·DayWeek</a:t>
            </a:r>
            <a:endParaRPr sz="94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480B8528-3849-4FC2-96E2-7394DC88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502920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1B327020-9EC0-460F-84B9-D4B1A5A4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513892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Final frozen method</a:t>
            </a:r>
            <a:endParaRPr sz="94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2C722BF9-FBA4-4D1A-961D-767D4C11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029200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15164D5F-07C9-4BA1-AA7C-92C4D81A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513892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Framework</a:t>
            </a:r>
            <a:endParaRPr sz="94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401BE586-AA81-4D8A-B5E2-E478B947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22976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F5BADB21-3129-4087-8324-A4460C8E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632704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Peak-aware LGBM</a:t>
            </a:r>
            <a:endParaRPr sz="94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05119C7C-E85D-45B0-BC24-6D40EC41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52297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4A30EEE7-B557-4850-A50A-C85427DB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563270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supporting experiment</a:t>
            </a:r>
            <a:endParaRPr sz="94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984C1C68-7969-402A-9BD9-8B490338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552297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3BAEC248-4EC8-4F14-962A-28481EFB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563270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Rejected support</a:t>
            </a:r>
            <a:endParaRPr sz="94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5938265B-8CB9-42E4-BB0F-ECAE0867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522976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838FA4E5-7497-4730-95D3-C7B64671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563270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No</a:t>
            </a:r>
            <a:endParaRPr sz="940"/>
          </a:p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1EC1B9FE-7C1D-4914-92CC-751D80F5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benchmark definitions · no model-family catalogue in main deck</a:t>
            </a:r>
            <a:endParaRPr sz="670"/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AC6A8264-01D1-412A-9146-654859BF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8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13FC828-33D2-48A3-88E3-9F0905C8AE5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689182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6CD12B-9CFB-4D92-90DC-48F07060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F533034-5F46-4D5A-BBF6-DA92CE26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约束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5B23F93-ED80-477C-869A-2FC5E9EF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E95589D-6545-4EB5-BA4B-A7178AED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4784841-3A12-4E19-B52A-3C27257C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电池参数与调度约束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6458965-9A00-47FE-A881-43DDD0FA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各预测方法共享同一建筑的电池与优化器，电池规模由训练期负荷确定。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BC67A0D-6EF2-4A26-A2EC-3719FC75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09928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7B94443-DD45-4469-A50F-C257E49A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74520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Capacity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B509D2F-83C9-447F-A331-29980165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65376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10% of mean daily energy</a:t>
            </a:r>
            <a:endParaRPr sz="11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41E340B-F840-438F-AE8C-82B15F58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249424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kWh</a:t>
            </a:r>
            <a:endParaRPr sz="86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6121237-8F08-40C3-AAF5-3E32D7FF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09928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85217C4-2CA9-4ECE-A8EA-6A90E82F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74520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Pcharge / Pdischarge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2B7C109-9028-4FB2-B689-69C9534A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865376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25% of capacity per hour</a:t>
            </a:r>
            <a:endParaRPr sz="11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ED302D-660A-4034-ADEB-2F1FEC3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49424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</a:t>
            </a:r>
            <a:endParaRPr sz="86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544CAB3-D67B-499C-8FE7-49DA8248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35224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89DCC4A-D412-4F40-938A-E29CF74E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099816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SOC range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BDEEC7F-4FB8-47EC-8532-F21034B7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09067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10% → 90%</a:t>
            </a:r>
            <a:endParaRPr sz="11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D8236D2-E82F-427F-9BBC-E2862D99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474720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kWh state</a:t>
            </a:r>
            <a:endParaRPr sz="86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093B2FB-A381-4380-AADA-744EDDE6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35224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E03AF85-609D-45EF-8C80-6615F6B2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099816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Initial / terminal SOC</a:t>
            </a:r>
            <a:endParaRPr sz="1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E9D2CE9-197F-4A6C-9D3E-A619E1A4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09067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50% / 50%</a:t>
            </a:r>
            <a:endParaRPr sz="112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A87D335-EEDE-4073-9E15-21BCBE79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74720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daily reset</a:t>
            </a:r>
            <a:endParaRPr sz="86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869F9AA-E3C4-45A5-9BD7-BF6A1985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60520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93F380B-AAF7-4177-A8CA-453D9434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25112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ηcharge / ηdischarge</a:t>
            </a:r>
            <a:endParaRPr sz="10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414F21B-574D-43C3-AE89-B2F0BAD7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315968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0.94868 / 0.94868</a:t>
            </a:r>
            <a:endParaRPr sz="112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2448039-9AE7-42C2-A3F6-E6B27BA8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700016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round-trip 0.90</a:t>
            </a:r>
            <a:endParaRPr sz="86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DC610DB-CB54-44B1-87E8-6E67252F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160520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84B984A-5EF9-4E6A-A2FD-8AF1275B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25112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Optimizer</a:t>
            </a:r>
            <a:endParaRPr sz="10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1B32E6D-E04F-487E-8506-1DE66FC2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315968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deterministic daily peak shaving</a:t>
            </a:r>
            <a:endParaRPr sz="112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5E2E6EE-F5B7-4DAC-8F50-660BAB40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700016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scipy.optimize.milp</a:t>
            </a:r>
            <a:endParaRPr sz="86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472EB203-8491-476D-91D7-8E6DF32C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669280"/>
            <a:ext cx="779068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2700">
            <a:solidFill>
              <a:srgbClr val="C8E5F8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524FA982-00FD-4A3E-A1A3-F2EB92F6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5710428"/>
            <a:ext cx="76443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1-hour interval: load energy kWh · dispatch power kW · capacity/SOC kWh</a:t>
            </a:r>
            <a:endParaRPr sz="88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5EB8A97-8F40-42EB-9247-76A7C667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outputs/phase7/building_battery_configs.csv · same battery/optimizer for all forecast methods</a:t>
            </a:r>
            <a:endParaRPr sz="67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51056D4-ADE5-4B53-A4DE-54F74779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3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8163663-6609-40F7-A69C-A83887E3C6E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773138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8AFA268-0892-4515-A48A-39FC6D64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3BDDEF-E4AE-4D7D-8DDB-4BB92CFE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预测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97E203E-0978-46B2-ACF4-9255B1E6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15BC4F1-15A9-43C4-920F-2C4C814B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0522424-939B-4B58-81F8-FE29AFAC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八建筑预测结果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B00248E-C22D-4811-9F19-16CAFD43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八建筑测试集等权平均；MAE、RMSE 和后悔值按各建筑训练期平均负荷归一化。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F3860E-1AC4-45C0-859E-A9D8D37A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09344"/>
            <a:ext cx="257860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1781DD-452F-45F2-AD81-1D83C7B7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728216"/>
            <a:ext cx="24323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88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85D0DD-E4CD-43B9-9364-4A27CE25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774642F-7DD1-41F9-BBAE-85A828DE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MAE</a:t>
            </a:r>
            <a:endParaRPr sz="88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07B6B38-1914-46A2-BCFE-886BA57A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5D5FC5E-0BFB-4DA7-8CE5-2B76D06C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RMSE</a:t>
            </a:r>
            <a:endParaRPr sz="88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25671E2-610E-46A9-A346-89C293CB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1609344"/>
            <a:ext cx="21762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F998EBD-11E4-481C-96B8-CE5F9F80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1728216"/>
            <a:ext cx="20299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normalized regret</a:t>
            </a:r>
            <a:endParaRPr sz="88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65F7C58-3012-4259-A8D1-FABBC23F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6BCEF48-C0D6-4FBA-82A0-DB9FA5E0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reduction mean</a:t>
            </a:r>
            <a:endParaRPr sz="88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560B1BE-B732-4DF7-85C0-873A3229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6654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3DAA358-5908-4BA2-B070-1D9BA021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18541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 Persistence</a:t>
            </a:r>
            <a:endParaRPr sz="9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E44BFF4-17F4-488B-A321-CEAF81F7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0923986-BD93-42EF-9AD9-8F08C147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.225885</a:t>
            </a:r>
            <a:endParaRPr sz="9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7678379-11F4-4123-BC87-48EE4562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0A178D9-0C5E-4557-B865-ECD400FB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.430193</a:t>
            </a:r>
            <a:endParaRPr sz="9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7FB0D80-2A39-4EDA-8885-AA02B30B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06654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43F56F6-8E07-418C-9203-17C5D5EF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18541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.162986</a:t>
            </a:r>
            <a:endParaRPr sz="9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75375DF-98F8-4377-AF78-FFD3F755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1630DCD-36CB-460C-86AA-D94AC514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−1.878%</a:t>
            </a:r>
            <a:endParaRPr sz="9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515682A-02F0-4D41-83BA-055EE354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6946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9117D2B-E05C-406B-AAE4-12EB2D0C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68833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Week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BAB5007D-AF0E-49EB-A627-AD7BFD63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3BD7632-3629-40DE-83A6-8FA60B7A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.201578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5A81F6A0-E846-48AD-A875-56185F19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B3EF9FE-4BB2-41A1-9BDE-3D6011F3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.328414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F60D9FEF-8AC4-42B5-A92D-4B663734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56946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9D48713-F3B7-4581-A099-64C17CC8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68833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.144323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4314606-E63C-4241-963F-CF48DC06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A30118A-98D0-46A8-A01F-DCDEF4E0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3.085%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46C5D2FA-5DCD-486F-914B-4AAE5B8F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7238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1FE6AC4D-EF22-4A32-BDEF-0E860628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19125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DayWeek</a:t>
            </a:r>
            <a:endParaRPr sz="9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4422EE69-C81F-4333-891D-2CE77C20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E4CB96AF-EDB1-4F69-B5B3-35BD802C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.183478</a:t>
            </a:r>
            <a:endParaRPr sz="9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9986CA0D-AB4D-4657-AEB0-5EE583AE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1618D66C-E4E8-4ADE-8D20-30B571F6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.296621</a:t>
            </a:r>
            <a:endParaRPr sz="9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0BEE35FA-A525-4D1A-BCCE-EBA287BA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307238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043650DD-3F82-409A-A845-BE454AAA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319125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.143019</a:t>
            </a:r>
            <a:endParaRPr sz="9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D86A2B74-4425-4AD2-8522-864DF0EB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3157BA17-F928-4856-863B-FA427ABE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4.907%</a:t>
            </a:r>
            <a:endParaRPr sz="9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3681940C-7BEA-490E-BB3E-53C42C1D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57530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A9ED7A3A-5C81-4174-9C03-26F16552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69417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44EBF479-01D7-4A60-8417-3344660F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831590E0-7D66-4270-AF62-CCFB9108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.147338</a:t>
            </a:r>
            <a:endParaRPr sz="9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30C24042-F6A9-4F69-97D5-1B4EFF71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E6B2781F-ECA0-4C53-B066-1094CE19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.216942</a:t>
            </a:r>
            <a:endParaRPr sz="9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39F6B54D-F7C0-4FB7-B8BC-9F97B148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357530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8D124580-CDA7-432F-BC46-41D421A4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369417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.116127</a:t>
            </a:r>
            <a:endParaRPr sz="9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A9D83BB5-E292-4D91-8F08-895FC420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67E453E9-2647-47BE-9E82-A6C3D645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1.008%</a:t>
            </a:r>
            <a:endParaRPr sz="9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853D48B5-3073-4CA5-A8DC-606F554A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7822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A321677D-15A2-4323-854C-4090A887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19709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47A52207-94E2-498C-886D-C1CEFEBC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8D2BEC62-D4EC-4A67-808F-ACCC6BA4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.149781</a:t>
            </a:r>
            <a:endParaRPr sz="9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EF71A5B7-32A8-4B76-A9E3-008876F0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D3F8D38D-26F2-457E-A8BD-B6B34393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.216751</a:t>
            </a:r>
            <a:endParaRPr sz="9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E7C68CA3-8EFA-4040-BEE7-5C0C40BB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407822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7327B188-521D-4325-9A90-9CC32B2A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19709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.117534</a:t>
            </a:r>
            <a:endParaRPr sz="9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AAC6CCB0-F1F7-47D6-9E87-7A86156C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1E82DE7D-F875-40D0-86E0-46646059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0.453%</a:t>
            </a:r>
            <a:endParaRPr sz="95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A0F942B2-B224-44BA-8DEA-A884A262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58114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4BA8504E-DEA8-495E-8080-EF4846B0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70001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CatBoost</a:t>
            </a:r>
            <a:endParaRPr sz="95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7704871F-D083-4A02-A237-9DC3979A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EA22C2BA-6DBC-44C1-8877-2857C718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.173604</a:t>
            </a:r>
            <a:endParaRPr sz="95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62D79230-F987-4F36-959B-F5A6A900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F75B00B2-9355-4708-83D0-4192DE58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.239211</a:t>
            </a:r>
            <a:endParaRPr sz="95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6814B7FC-1EAC-496C-A571-F3138EED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458114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C1E6286D-2FD2-423E-8711-71DFB132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70001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.118740</a:t>
            </a:r>
            <a:endParaRPr sz="95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A479BFEC-E364-4E98-8211-7FADE3C9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FB402D7A-CDC6-4951-A27D-5ECC5EA2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−24.482%</a:t>
            </a:r>
            <a:endParaRPr sz="95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48BA0AE5-3B8D-4FF0-8DAB-5A338862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08406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4F4510BB-A7EC-4354-A403-CBC239DE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20293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50"/>
          </a:p>
        </p:txBody>
      </p:sp>
      <p:sp>
        <p:nvSpPr>
          <p:cNvPr id="80" name="Shape 78">
            <a:extLst xmlns:a="http://schemas.openxmlformats.org/drawingml/2006/main">
              <a:ext uri="{FF2B5EF4-FFF2-40B4-BE49-F238E27FC236}">
                <a16:creationId xmlns:a16="http://schemas.microsoft.com/office/drawing/2014/main" id="{6DAD8625-B720-41B1-B320-F9F5448D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1F3EE5D6-D143-4145-83F0-67A2AD19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.137970</a:t>
            </a:r>
            <a:endParaRPr sz="950"/>
          </a:p>
        </p:txBody>
      </p:sp>
      <p:sp>
        <p:nvSpPr>
          <p:cNvPr id="82" name="Shape 80">
            <a:extLst xmlns:a="http://schemas.openxmlformats.org/drawingml/2006/main">
              <a:ext uri="{FF2B5EF4-FFF2-40B4-BE49-F238E27FC236}">
                <a16:creationId xmlns:a16="http://schemas.microsoft.com/office/drawing/2014/main" id="{FF453418-3195-45D2-9FDD-3AAC444C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6BEA4392-2C96-45ED-B4EB-22B6849A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.207822</a:t>
            </a:r>
            <a:endParaRPr sz="950"/>
          </a:p>
        </p:txBody>
      </p:sp>
      <p:sp>
        <p:nvSpPr>
          <p:cNvPr id="84" name="Shape 82">
            <a:extLst xmlns:a="http://schemas.openxmlformats.org/drawingml/2006/main">
              <a:ext uri="{FF2B5EF4-FFF2-40B4-BE49-F238E27FC236}">
                <a16:creationId xmlns:a16="http://schemas.microsoft.com/office/drawing/2014/main" id="{87C892BA-0B37-4972-BE14-B1542A81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508406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5" name="Text 83">
            <a:extLst xmlns:a="http://schemas.openxmlformats.org/drawingml/2006/main">
              <a:ext uri="{FF2B5EF4-FFF2-40B4-BE49-F238E27FC236}">
                <a16:creationId xmlns:a16="http://schemas.microsoft.com/office/drawing/2014/main" id="{BC90250F-8241-41D3-97E5-C6C72494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520293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.111929</a:t>
            </a:r>
            <a:endParaRPr sz="950"/>
          </a:p>
        </p:txBody>
      </p:sp>
      <p:sp>
        <p:nvSpPr>
          <p:cNvPr id="86" name="Shape 84">
            <a:extLst xmlns:a="http://schemas.openxmlformats.org/drawingml/2006/main">
              <a:ext uri="{FF2B5EF4-FFF2-40B4-BE49-F238E27FC236}">
                <a16:creationId xmlns:a16="http://schemas.microsoft.com/office/drawing/2014/main" id="{8F5D7B25-6C9F-41B8-84BC-766BCC71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1370DC31-6689-4390-8F87-93C5F6DB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6.442%</a:t>
            </a:r>
            <a:endParaRPr sz="950"/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A9BCDE01-F4AA-4675-9B06-C914830F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58698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1A4DEE89-45F9-4327-B893-B73ABF5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70585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Peak-aware LGBM</a:t>
            </a:r>
            <a:endParaRPr sz="950"/>
          </a:p>
        </p:txBody>
      </p:sp>
      <p:sp>
        <p:nvSpPr>
          <p:cNvPr id="90" name="Shape 88">
            <a:extLst xmlns:a="http://schemas.openxmlformats.org/drawingml/2006/main">
              <a:ext uri="{FF2B5EF4-FFF2-40B4-BE49-F238E27FC236}">
                <a16:creationId xmlns:a16="http://schemas.microsoft.com/office/drawing/2014/main" id="{6F7FED58-488B-462E-8213-77C200B7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1" name="Text 89">
            <a:extLst xmlns:a="http://schemas.openxmlformats.org/drawingml/2006/main">
              <a:ext uri="{FF2B5EF4-FFF2-40B4-BE49-F238E27FC236}">
                <a16:creationId xmlns:a16="http://schemas.microsoft.com/office/drawing/2014/main" id="{AD647447-6898-44E6-9909-FA34C2CC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.147587</a:t>
            </a:r>
            <a:endParaRPr sz="950"/>
          </a:p>
        </p:txBody>
      </p:sp>
      <p:sp>
        <p:nvSpPr>
          <p:cNvPr id="92" name="Shape 90">
            <a:extLst xmlns:a="http://schemas.openxmlformats.org/drawingml/2006/main">
              <a:ext uri="{FF2B5EF4-FFF2-40B4-BE49-F238E27FC236}">
                <a16:creationId xmlns:a16="http://schemas.microsoft.com/office/drawing/2014/main" id="{51453FEC-6FF1-4BAF-AF73-F1FB3338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76AD9F22-9AF3-4B36-B655-3929CB7C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.217284</a:t>
            </a:r>
            <a:endParaRPr sz="950"/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B70ED6A1-6611-4F08-9689-4D76D159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558698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06417864-36BA-416A-9DEB-36CE74D1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570585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.116202</a:t>
            </a:r>
            <a:endParaRPr sz="950"/>
          </a:p>
        </p:txBody>
      </p:sp>
      <p:sp>
        <p:nvSpPr>
          <p:cNvPr id="96" name="Shape 94">
            <a:extLst xmlns:a="http://schemas.openxmlformats.org/drawingml/2006/main">
              <a:ext uri="{FF2B5EF4-FFF2-40B4-BE49-F238E27FC236}">
                <a16:creationId xmlns:a16="http://schemas.microsoft.com/office/drawing/2014/main" id="{A3F0304C-4E80-4E55-99CF-0949F17A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7" name="Text 95">
            <a:extLst xmlns:a="http://schemas.openxmlformats.org/drawingml/2006/main">
              <a:ext uri="{FF2B5EF4-FFF2-40B4-BE49-F238E27FC236}">
                <a16:creationId xmlns:a16="http://schemas.microsoft.com/office/drawing/2014/main" id="{7F0787E0-4406-4FC8-AA7C-5B4049B7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1.129%</a:t>
            </a:r>
            <a:endParaRPr sz="950"/>
          </a:p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B6D9C42D-A5DF-4A06-8F3D-FD5B2D0E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Canonical source: outputs/phase9/final_benchmark.csv · lower is better for normalized MAE/RMSE/regret</a:t>
            </a:r>
            <a:endParaRPr sz="670"/>
          </a:p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36038AD7-283F-4F63-9BC5-5D2ACDC0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10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D89521-F9C7-4874-9BD4-41679E525C9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568281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D38A67E-3B9D-4D9B-B157-EE132FA6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7B723C-0BF6-4514-94F8-F933D6B3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决策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95800DF-72C3-40A8-BE71-2DFF3A11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DBBA47-8505-4670-9733-EDF1C948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413CF3D-6FFE-4403-A0A6-191249A0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削峰率分布与失效案例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D8A1A6F-764A-4C8A-9ADC-A1776EF2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均值、中位数和最小值共同描述调度表现，负削峰率表示取电峰值反而升高。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7A9E8CE-77CF-4A2A-83A9-D21A84B4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3712464" cy="4517136"/>
          </a:xfrm>
          <a:prstGeom xmlns:a="http://schemas.openxmlformats.org/drawingml/2006/main" prst="roundRect">
            <a:avLst>
              <a:gd name="adj" fmla="val 2217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38041A5-1898-45BE-887D-5CDE2A31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56232"/>
            <a:ext cx="299923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均值与中位数的差异</a:t>
            </a:r>
            <a:endParaRPr sz="14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A4FDEC3-A8C8-4190-B700-012C2643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4203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FC1D0"/>
                </a:solidFill>
                <a:latin typeface="Arial"/>
                <a:ea typeface="Arial"/>
                <a:cs typeface="Arial"/>
              </a:rPr>
              <a:t>CatBoost peak reduction</a:t>
            </a:r>
            <a:endParaRPr sz="1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DB972AC-D431-42F7-AAD0-EC89E40F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89504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9C7A"/>
                </a:solidFill>
                <a:latin typeface="Arial"/>
                <a:ea typeface="Arial"/>
                <a:cs typeface="Arial"/>
              </a:rPr>
              <a:t>−24.48%</a:t>
            </a:r>
            <a:endParaRPr sz="2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A33CED4-7908-42FB-88B1-3D3A5D20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47872"/>
            <a:ext cx="1417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mean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9A11109-9E95-4C18-8C29-5D226F18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889504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+4.82%</a:t>
            </a:r>
            <a:endParaRPr sz="2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4CA9467-A662-4CAF-9FF6-09FDF24D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3547872"/>
            <a:ext cx="1417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median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B412C45-6340-41B5-817E-169DBD67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285292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A8B8C5"/>
                </a:solidFill>
                <a:latin typeface="Microsoft YaHei"/>
                <a:ea typeface="Microsoft YaHei"/>
                <a:cs typeface="Microsoft YaHei"/>
              </a:rPr>
              <a:t>极端负值拉低平均削峰率，需结合中位数和最小值判断调度表现。</a:t>
            </a:r>
            <a:endParaRPr sz="11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4445197-04C6-4ABC-A849-87556C18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321808"/>
            <a:ext cx="15544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52A23"/>
          </a:solidFill>
          <a:ln xmlns:a="http://schemas.openxmlformats.org/drawingml/2006/main"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B457BD-7E97-494B-B1BE-81C078F2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362956"/>
            <a:ext cx="14081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0" b="1">
                <a:solidFill>
                  <a:srgbClr val="FFC0A5"/>
                </a:solidFill>
                <a:latin typeface="Microsoft YaHei"/>
                <a:ea typeface="Microsoft YaHei"/>
                <a:cs typeface="Microsoft YaHei"/>
              </a:rPr>
              <a:t>min = −245.94%</a:t>
            </a:r>
            <a:endParaRPr sz="81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7504C36-6DA8-47B6-B0E3-5D817C4F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847088"/>
            <a:ext cx="1591056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BDD3C75-0ED8-488A-BAB1-0B1CAF28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65960"/>
            <a:ext cx="14447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Method</a:t>
            </a:r>
            <a:endParaRPr sz="8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4B0E6C4-1EBC-4D64-A2CD-9BD75E9A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847088"/>
            <a:ext cx="124358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435259E-1149-4AB4-ABF7-3293852C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965960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 regret</a:t>
            </a:r>
            <a:endParaRPr sz="8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5298A59-2F32-4801-8571-535657D9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118FBD4-B488-4BAA-974C-E80E6763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mean</a:t>
            </a:r>
            <a:endParaRPr sz="8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724D0E1-8A58-41FE-9264-3D50792F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491764C-4618-49DA-9B4A-C8514A97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median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4574EA5-BAB4-4735-85ED-58A8B5A5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2B2E339-DC18-4976-8C92-4A3777AA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peak min</a:t>
            </a:r>
            <a:endParaRPr sz="8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EFDD211-D861-49CC-AD66-68FECC00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286000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CE4E5B6-4748-4D9B-A722-DE1F4382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468880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45ED55A-9E7B-44F4-8735-6C0D7FE2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286000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35FD47A-3180-4823-ABB1-39C0F3AF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46888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.116127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7FA13F2-D3DA-4C45-8DB4-52D1772A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338788E-BAF3-4F37-B66B-1991944F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1.008%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D713E594-107E-491A-A7BB-A5046B2C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253FA12-DF0C-4065-B886-EEEE1031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5.057%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38A5498-C978-4924-8840-1B201C54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245CE3A6-9063-4292-92E3-D651B4D5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−41.192%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EEA0853F-21B0-4222-9182-A5491531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953512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5BB56B7E-FDA0-40E7-9DAA-2A064596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136392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6CEA8422-3633-4E21-8665-5DE39549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953512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ADDB944-A374-4232-A58A-F496ABD0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136392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.117534</a:t>
            </a:r>
            <a:endParaRPr sz="9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0F5F8D5-999A-4F4C-BEC7-982F63CD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F568ACB-ED25-4790-B480-DA5E35CF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0.453%</a:t>
            </a:r>
            <a:endParaRPr sz="9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84CF6361-ABB1-4304-BD01-75DF0238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C2480100-0059-4011-918E-1D65E552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4.588%</a:t>
            </a:r>
            <a:endParaRPr sz="9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B6F7E74-B6DA-435F-98CE-41AA2B0F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E6D64E2E-66A3-4DB8-939A-9AB4077E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−44.357%</a:t>
            </a:r>
            <a:endParaRPr sz="9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E6593B33-6D0D-467F-8749-D41AFB69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621024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84BD168A-22C0-49DD-B73F-86558397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803904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CatBoost</a:t>
            </a:r>
            <a:endParaRPr sz="9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40F91A3B-89AA-44AD-AD11-F37ABB57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621024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6AD34167-EE59-49C1-BAA5-8594404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803904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.118740</a:t>
            </a:r>
            <a:endParaRPr sz="9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DE867B22-B682-4AE7-B11E-B3161CFB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5514C7BE-3451-4B5D-BD07-AFD28660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−24.482%</a:t>
            </a:r>
            <a:endParaRPr sz="9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7E4BD2B2-3CFC-4D0E-BC39-D6B29A47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47731E0A-42EC-4029-A299-F10128EE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4.821%</a:t>
            </a:r>
            <a:endParaRPr sz="9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C5B4B51D-97BC-4C04-9ABA-FB672C02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9FE1F730-8602-432E-AE24-EF816288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−245.943%</a:t>
            </a:r>
            <a:endParaRPr sz="9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55E4EAA5-9BBA-48CA-B27B-1CF99B96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288536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3A8EE37E-11A6-4ADF-96F0-3BBC0CEF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471416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BB0AFBB9-8972-4C4B-92FF-BC253CD4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4288536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F4B5004B-D697-4CE7-817F-4E7FA67F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4471416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.111929</a:t>
            </a:r>
            <a:endParaRPr sz="9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B9ADA8A7-FB7E-4D2C-93B1-828B29B8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6548ECD7-67DC-44F1-B396-43F19372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6.442%</a:t>
            </a:r>
            <a:endParaRPr sz="9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5C51EF4B-C369-4201-9196-8E1D10F8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9773E12F-261D-431D-9F44-47B3E111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5.629%</a:t>
            </a:r>
            <a:endParaRPr sz="9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587C92EF-8A13-41A1-BA19-36C103AE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872E7288-0422-4DF4-9C3F-A0342754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−1.017%</a:t>
            </a:r>
            <a:endParaRPr sz="950"/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E98A552E-AE36-4C81-A62E-13A801E2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outputs/phase9/final_benchmark.csv + decision metrics · peak reduction is not a universal scalar</a:t>
            </a:r>
            <a:endParaRPr sz="670"/>
          </a:p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0555ECAD-DC9A-48A2-AB04-DEB7D362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7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8BCDC4B-608C-4017-9CA5-D5D9F96330D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727101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39B359-1F55-4202-8CEC-25F445A8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9388A91-22D5-4A37-AA1A-39921899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案例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378337E-6BDC-479A-93E2-F81445D7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B063F5F-371E-48BB-AAF4-452ADAC7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A90EFEE-404B-4350-B699-C9CF21F3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预测误差对充放电计划的影响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39BB723-5875-4C2D-9C2D-BCF08DE1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预先选定的测试案例用于解释预测如何改变调度结果，不能代表全部建筑表现。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1C867E7-94D3-4EC3-831D-454365E6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7827264" cy="4370832"/>
          </a:xfrm>
          <a:prstGeom xmlns:a="http://schemas.openxmlformats.org/drawingml/2006/main" prst="roundRect">
            <a:avLst>
              <a:gd name="adj" fmla="val 18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29cee20ec446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1840" y="1609344"/>
            <a:ext cx="7640320" cy="4297680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95278E4-BD35-44EF-80B6-597EE8A5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5193792"/>
            <a:ext cx="7735824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DF7A9EA-5D39-4D97-A319-EE7EEDFB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431536"/>
            <a:ext cx="6903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>
                <a:solidFill>
                  <a:srgbClr val="5C6873"/>
                </a:solidFill>
                <a:latin typeface="Arial"/>
                <a:ea typeface="Arial"/>
                <a:cs typeface="Arial"/>
              </a:rPr>
              <a:t>Read as a mechanism trace, not a universal performance claim; the case and values remain frozen.</a:t>
            </a:r>
            <a:endParaRPr sz="68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3DE82B-3D80-4047-8A2F-34D34939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572768"/>
            <a:ext cx="2788920" cy="4370832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18CBEA46-5D76-4169-873E-634ACF7A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1901952"/>
            <a:ext cx="14447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B2B20"/>
          </a:solidFill>
          <a:ln xmlns:a="http://schemas.openxmlformats.org/drawingml/2006/main"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80B1138-587B-4500-9266-EFAE711F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1943100"/>
            <a:ext cx="12984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案例说明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117330C-A978-4F02-A651-E33868EF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78608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预先确定的测试案例</a:t>
            </a:r>
            <a:endParaRPr sz="102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8A9B4398-6C63-4B55-A7AD-27624B0B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054096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用于说明调度机制</a:t>
            </a:r>
            <a:endParaRPr sz="102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9BE67B2-9B56-4652-B5FA-4FCDD7C0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529584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展示预测与实际负荷</a:t>
            </a:r>
            <a:endParaRPr sz="102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084A3EB-A45D-4610-806E-AF7E135D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05072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关注高负荷时段的偏差</a:t>
            </a:r>
            <a:endParaRPr sz="102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64FFAC3-6B91-4FE6-8CAE-340AC652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480560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总体表现见全样本结果</a:t>
            </a:r>
            <a:endParaRPr sz="102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95F1483-2045-4C2C-BC80-DAF276ED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Exact frozen source: outputs/phase13_1/figures/sci_05_storage_dispatch_frozen.png · no value extraction or case reselection</a:t>
            </a:r>
            <a:endParaRPr sz="67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3D65808-BA89-4361-89A3-000CDA5E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E1EF24E-E00C-4B93-9E2C-1284C446ECA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2919271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B898A6-FF92-4B33-B929-A305E8AD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0BED9D5-826D-4EB9-9975-98F424EB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权重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4DE4724-34F1-4EB2-ACA5-949ABD99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91998A2-8564-43B3-A132-286022AE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CB4377-0ABB-4F09-A7D8-854230C8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逐建筑融合权重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4088D0F-CDD7-452D-8C4B-FFF59E20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候选权重为 0.0、0.1、…、1.0，按验证集目标和平局规则选择，测试期保持不变。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58F6A63-A79B-4D9D-A225-99CA3CAC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572768"/>
            <a:ext cx="6766560" cy="4306824"/>
          </a:xfrm>
          <a:prstGeom xmlns:a="http://schemas.openxmlformats.org/drawingml/2006/main" prst="roundRect">
            <a:avLst>
              <a:gd name="adj" fmla="val 19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7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dacc34f0bc44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1843659"/>
            <a:ext cx="6693408" cy="3765042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1BBC8202-9FB7-4840-B5A9-FFD699EA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1792224"/>
            <a:ext cx="1627632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62316B6C-63C2-4C92-9AD1-5F5CF7B2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1892808"/>
            <a:ext cx="15179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Building</a:t>
            </a:r>
            <a:endParaRPr sz="77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617DF9D-D9D0-427D-B651-A2A301D5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792224"/>
            <a:ext cx="1152144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82FDAB0-D51B-4DCE-8F2A-792FAFA5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1892808"/>
            <a:ext cx="10424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 forecast</a:t>
            </a:r>
            <a:endParaRPr sz="77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1DD7D008-0403-4643-9D33-B9D039C9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1792224"/>
            <a:ext cx="1152144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859733-8932-47EA-BD9D-F2B10279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1892808"/>
            <a:ext cx="10424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 decision</a:t>
            </a:r>
            <a:endParaRPr sz="77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DAC5A6-3215-498C-891D-3EC988E5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176272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AEBA3E0-742B-44B5-80E4-9EFD6525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286000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Rolando</a:t>
            </a:r>
            <a:endParaRPr sz="88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2D55E240-4C62-4E5A-8D59-67059EE4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17627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3FE24138-1285-488E-88B1-2A26B960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28600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.9</a:t>
            </a:r>
            <a:endParaRPr sz="88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9EE9FCA7-9016-48DB-91D4-7CC186C7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17627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56E4A7C-3AA6-4D06-AC6D-E3461860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28600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.7</a:t>
            </a:r>
            <a:endParaRPr sz="88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93573DF4-94C4-49C9-8672-ECC22876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606040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9007E2-E545-40B3-96AC-8A775B58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715768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Lavon</a:t>
            </a:r>
            <a:endParaRPr sz="88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C9D70AAD-468D-4C99-853E-B3AF7CF4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60604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DB94E1B-D737-4034-9F9A-C6F3040E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1576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92A65E7B-B1D5-4507-A591-D5A3E4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60604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F8B469DC-4448-4E8D-9964-D0F6AC58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71576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09639812-60C0-414C-B491-3835321C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035808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FC30D1C-F07D-4C20-8AAA-3C52656A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145536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Joey</a:t>
            </a:r>
            <a:endParaRPr sz="88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A017313C-B75E-4878-88E2-A65DC426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03580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308AF313-D062-4AD8-B4EF-360AFCCD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314553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.6</a:t>
            </a:r>
            <a:endParaRPr sz="88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4E040FB9-4FF6-45D1-BB4A-2EC121A6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03580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9477CBCE-7ADE-4E63-A2F4-E8662B3E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14553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.3</a:t>
            </a:r>
            <a:endParaRPr sz="88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E5BDE3CB-AC3C-4652-A6D8-0819AE7A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465576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854C4949-A549-41D7-8008-BC34DA57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575304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Caitlin</a:t>
            </a:r>
            <a:endParaRPr sz="880"/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5B21DA3-8032-465E-8FCE-33EAC419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465576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2338C7D1-63D0-4C61-B5C4-08C06B04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3575304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.4</a:t>
            </a:r>
            <a:endParaRPr sz="880"/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037A12EF-62B2-40E4-A66B-E2ACFE0D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465576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982800F7-6D34-45FA-811D-7471D4E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575304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.8</a:t>
            </a:r>
            <a:endParaRPr sz="88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B1D48ABA-F4CE-48BC-8F64-7BDE6818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895344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59FA7FC2-EC2C-4B4D-B310-3C330ADC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005072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Addie</a:t>
            </a:r>
            <a:endParaRPr sz="880"/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9A55F48D-B280-4EC2-BA71-B2C0554E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895344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3" name="Text 40">
            <a:extLst xmlns:a="http://schemas.openxmlformats.org/drawingml/2006/main">
              <a:ext uri="{FF2B5EF4-FFF2-40B4-BE49-F238E27FC236}">
                <a16:creationId xmlns:a16="http://schemas.microsoft.com/office/drawing/2014/main" id="{50EE472F-7B7F-41C0-85DE-A1EE77BB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005072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09EE80E0-BF68-4FC1-9F4C-5B0ADE65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895344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314D8679-DCDB-44C4-BD1E-63E38DC1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005072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8BE8EF6A-BDBD-42DB-9311-B623F8CB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325112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3DB34743-DDE8-4D56-B3B9-7ED6C824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434840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Gerardo</a:t>
            </a:r>
            <a:endParaRPr sz="880"/>
          </a:p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252A56C6-6408-499D-BA3C-BD803D5A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2511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3F84B2F7-3D48-4F05-B261-27C15583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43484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215D90A0-BF47-469A-93D1-63679503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432511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FF3C46E0-762B-4ECE-8341-3AE0F58A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43484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7E854B26-50C6-4B1E-AC1D-FDF6DB59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754880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2281C33B-12AE-4896-A7C3-DD02B667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864608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Alexis</a:t>
            </a:r>
            <a:endParaRPr sz="880"/>
          </a:p>
        </p:txBody>
      </p:sp>
      <p:sp>
        <p:nvSpPr>
          <p:cNvPr id="54" name="Shape 51">
            <a:extLst xmlns:a="http://schemas.openxmlformats.org/drawingml/2006/main">
              <a:ext uri="{FF2B5EF4-FFF2-40B4-BE49-F238E27FC236}">
                <a16:creationId xmlns:a16="http://schemas.microsoft.com/office/drawing/2014/main" id="{B312EA61-2255-4AEF-95C0-475C15A5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75488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5" name="Text 52">
            <a:extLst xmlns:a="http://schemas.openxmlformats.org/drawingml/2006/main">
              <a:ext uri="{FF2B5EF4-FFF2-40B4-BE49-F238E27FC236}">
                <a16:creationId xmlns:a16="http://schemas.microsoft.com/office/drawing/2014/main" id="{5BF5EA8B-5F34-4457-89B5-4D907C7F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86460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.6</a:t>
            </a:r>
            <a:endParaRPr sz="880"/>
          </a:p>
        </p:txBody>
      </p:sp>
      <p:sp>
        <p:nvSpPr>
          <p:cNvPr id="56" name="Shape 53">
            <a:extLst xmlns:a="http://schemas.openxmlformats.org/drawingml/2006/main">
              <a:ext uri="{FF2B5EF4-FFF2-40B4-BE49-F238E27FC236}">
                <a16:creationId xmlns:a16="http://schemas.microsoft.com/office/drawing/2014/main" id="{1A78AB0D-90DF-43E9-BA70-3695EA3A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475488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7" name="Text 54">
            <a:extLst xmlns:a="http://schemas.openxmlformats.org/drawingml/2006/main">
              <a:ext uri="{FF2B5EF4-FFF2-40B4-BE49-F238E27FC236}">
                <a16:creationId xmlns:a16="http://schemas.microsoft.com/office/drawing/2014/main" id="{0D1B7604-26EC-40B9-AA24-9653620E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86460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.7</a:t>
            </a:r>
            <a:endParaRPr sz="880"/>
          </a:p>
        </p:txBody>
      </p:sp>
      <p:sp>
        <p:nvSpPr>
          <p:cNvPr id="58" name="Shape 55">
            <a:extLst xmlns:a="http://schemas.openxmlformats.org/drawingml/2006/main">
              <a:ext uri="{FF2B5EF4-FFF2-40B4-BE49-F238E27FC236}">
                <a16:creationId xmlns:a16="http://schemas.microsoft.com/office/drawing/2014/main" id="{C21A0580-D771-4CA3-9E70-B9A1362A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5184648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9" name="Text 56">
            <a:extLst xmlns:a="http://schemas.openxmlformats.org/drawingml/2006/main">
              <a:ext uri="{FF2B5EF4-FFF2-40B4-BE49-F238E27FC236}">
                <a16:creationId xmlns:a16="http://schemas.microsoft.com/office/drawing/2014/main" id="{7BC3E5EE-2243-4766-BACE-F5B94A70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5294376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Byron</a:t>
            </a:r>
            <a:endParaRPr sz="880"/>
          </a:p>
        </p:txBody>
      </p:sp>
      <p:sp>
        <p:nvSpPr>
          <p:cNvPr id="60" name="Shape 57">
            <a:extLst xmlns:a="http://schemas.openxmlformats.org/drawingml/2006/main">
              <a:ext uri="{FF2B5EF4-FFF2-40B4-BE49-F238E27FC236}">
                <a16:creationId xmlns:a16="http://schemas.microsoft.com/office/drawing/2014/main" id="{BE33718D-E1C0-4BD1-8D07-2FC20AC6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518464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61" name="Text 58">
            <a:extLst xmlns:a="http://schemas.openxmlformats.org/drawingml/2006/main">
              <a:ext uri="{FF2B5EF4-FFF2-40B4-BE49-F238E27FC236}">
                <a16:creationId xmlns:a16="http://schemas.microsoft.com/office/drawing/2014/main" id="{C5FA0E6D-F97C-4C03-A09F-70824D24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529437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.9</a:t>
            </a:r>
            <a:endParaRPr sz="880"/>
          </a:p>
        </p:txBody>
      </p:sp>
      <p:sp>
        <p:nvSpPr>
          <p:cNvPr id="62" name="Shape 59">
            <a:extLst xmlns:a="http://schemas.openxmlformats.org/drawingml/2006/main">
              <a:ext uri="{FF2B5EF4-FFF2-40B4-BE49-F238E27FC236}">
                <a16:creationId xmlns:a16="http://schemas.microsoft.com/office/drawing/2014/main" id="{5AF7333D-F0D1-471B-B5F6-747A1D70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518464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63" name="Text 60">
            <a:extLst xmlns:a="http://schemas.openxmlformats.org/drawingml/2006/main">
              <a:ext uri="{FF2B5EF4-FFF2-40B4-BE49-F238E27FC236}">
                <a16:creationId xmlns:a16="http://schemas.microsoft.com/office/drawing/2014/main" id="{11DE4005-083F-4552-BD85-5DADF407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529437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.8</a:t>
            </a:r>
            <a:endParaRPr sz="880"/>
          </a:p>
        </p:txBody>
      </p:sp>
      <p:sp>
        <p:nvSpPr>
          <p:cNvPr id="64" name="Shape 61">
            <a:extLst xmlns:a="http://schemas.openxmlformats.org/drawingml/2006/main">
              <a:ext uri="{FF2B5EF4-FFF2-40B4-BE49-F238E27FC236}">
                <a16:creationId xmlns:a16="http://schemas.microsoft.com/office/drawing/2014/main" id="{BEBB2ED9-6137-4516-94F9-FA350D1C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362456"/>
            <a:ext cx="19842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12700">
            <a:solidFill>
              <a:srgbClr val="D9CCEF">
                <a:alpha val="0"/>
              </a:srgbClr>
            </a:solidFill>
            <a:prstDash val="solid"/>
          </a:ln>
        </p:spPr>
      </p:sp>
      <p:sp>
        <p:nvSpPr>
          <p:cNvPr id="65" name="Text 62">
            <a:extLst xmlns:a="http://schemas.openxmlformats.org/drawingml/2006/main">
              <a:ext uri="{FF2B5EF4-FFF2-40B4-BE49-F238E27FC236}">
                <a16:creationId xmlns:a16="http://schemas.microsoft.com/office/drawing/2014/main" id="{8230873C-EB2A-494F-B52D-10114F7D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403604"/>
            <a:ext cx="1837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Joey: 0.6 → 0.3</a:t>
            </a:r>
            <a:endParaRPr sz="880"/>
          </a:p>
        </p:txBody>
      </p:sp>
      <p:sp>
        <p:nvSpPr>
          <p:cNvPr id="66" name="Text 63">
            <a:extLst xmlns:a="http://schemas.openxmlformats.org/drawingml/2006/main">
              <a:ext uri="{FF2B5EF4-FFF2-40B4-BE49-F238E27FC236}">
                <a16:creationId xmlns:a16="http://schemas.microsoft.com/office/drawing/2014/main" id="{8D1FE715-CCA7-4FB9-ADB5-4C58EBE8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selected_weights.csv + SCI-04 · no interpolation between grid points</a:t>
            </a:r>
            <a:endParaRPr sz="670"/>
          </a:p>
        </p:txBody>
      </p:sp>
      <p:sp>
        <p:nvSpPr>
          <p:cNvPr id="67" name="Text 64">
            <a:extLst xmlns:a="http://schemas.openxmlformats.org/drawingml/2006/main">
              <a:ext uri="{FF2B5EF4-FFF2-40B4-BE49-F238E27FC236}">
                <a16:creationId xmlns:a16="http://schemas.microsoft.com/office/drawing/2014/main" id="{08B69663-4E42-4A18-8AC0-6E9AC8DC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6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79DBD83-C34A-4A3B-82A9-3D41479167A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9537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03FEF0-E393-4C5D-ABB1-E55A7DA0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5DD521D-1C0D-486B-B5FC-E6EB9790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统计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8B6608-8622-4CCE-BE7C-41FF5F23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3EB2A80-8ABA-4DD0-BFEE-52764F70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6384FC8-86B1-4FB2-A775-A4236C67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建筑级 bootstrap 不确定性分析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C89CDF1-23AE-463F-BB92-BA1F6B28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以建筑为单位进行配对重采样，区间描述本次 8 栋建筑样本内的不确定性。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7D26F1C-A678-46F4-A644-A07A1571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673352"/>
            <a:ext cx="7882128" cy="3273552"/>
          </a:xfrm>
          <a:prstGeom xmlns:a="http://schemas.openxmlformats.org/drawingml/2006/main" prst="roundRect">
            <a:avLst>
              <a:gd name="adj" fmla="val 25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B8D5699-096A-49C6-B539-D18DF2BC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319272"/>
            <a:ext cx="66568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B9C6D2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4194BAB-7A8A-4FFA-BAFD-AEDFA2E4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1624" y="2267712"/>
            <a:ext cx="0" cy="20848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35C00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C6B5B68-50E5-4AEC-ABF2-441CA22C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0184" y="3657600"/>
            <a:ext cx="1828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>
                <a:solidFill>
                  <a:srgbClr val="B35C00"/>
                </a:solidFill>
                <a:latin typeface="Arial"/>
                <a:ea typeface="Arial"/>
                <a:cs typeface="Arial"/>
              </a:rPr>
              <a:t>0</a:t>
            </a:r>
            <a:endParaRPr sz="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A1C3EE7A-CB6D-4AB1-8C74-5A7F5344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035" y="3319272"/>
            <a:ext cx="379513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6F4E9C"/>
            </a:solidFill>
            <a:prstDash val="solid"/>
            <a:headEnd type="none"/>
            <a:tailEnd type="non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BEE71BB-44BC-4852-8A94-B8B3D1E5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286" y="3236976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15240">
            <a:solidFill>
              <a:srgbClr val="FFFFF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42A918-1CDC-4E75-A37C-FBAA9610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95% bootstrap interval</a:t>
            </a:r>
            <a:endParaRPr sz="1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866AAB1-6901-44DC-90C2-5DE3985B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6230" y="2596896"/>
            <a:ext cx="10607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point estimate</a:t>
            </a:r>
            <a:endParaRPr sz="83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A007EC9-3DAD-4EB1-B187-45E80F68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148840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>
                <a:solidFill>
                  <a:srgbClr val="18A76C"/>
                </a:solidFill>
                <a:latin typeface="Arial"/>
                <a:ea typeface="Arial"/>
                <a:cs typeface="Arial"/>
              </a:rPr>
              <a:t>interval remains below 0</a:t>
            </a:r>
            <a:endParaRPr sz="10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2FCE693-E027-430A-BE46-D2846A32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1673352"/>
            <a:ext cx="2670048" cy="3273552"/>
          </a:xfrm>
          <a:prstGeom xmlns:a="http://schemas.openxmlformats.org/drawingml/2006/main" prst="roundRect">
            <a:avLst>
              <a:gd name="adj" fmla="val 3082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3E607AE-B17E-49F9-AB19-2AB00D56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048256"/>
            <a:ext cx="2057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10,000</a:t>
            </a:r>
            <a:endParaRPr sz="2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930A4FA-57EE-4EEF-9851-D3F99314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057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resamples · seed 42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9C5D78E-4136-4BB5-BA0A-4489E3E1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273552"/>
            <a:ext cx="2057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C7B8FF"/>
                </a:solidFill>
                <a:latin typeface="Arial"/>
                <a:ea typeface="Arial"/>
                <a:cs typeface="Arial"/>
              </a:rPr>
              <a:t>−0.004198</a:t>
            </a:r>
            <a:endParaRPr sz="2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17FBC29-EE38-43E7-A368-9B1AE708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931920"/>
            <a:ext cx="2057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point estimate</a:t>
            </a:r>
            <a:endParaRPr sz="11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B6E6860-940F-4D39-989B-C53E0BA4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266944"/>
            <a:ext cx="129844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C6873"/>
                </a:solidFill>
                <a:latin typeface="Arial"/>
                <a:ea typeface="Arial"/>
                <a:cs typeface="Arial"/>
              </a:rPr>
              <a:t>95% interval</a:t>
            </a:r>
            <a:endParaRPr sz="9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722D84A-DF19-4A51-9009-E99F58F0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184648"/>
            <a:ext cx="3063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[ −0.006850 ,  −0.001719 ]</a:t>
            </a:r>
            <a:endParaRPr sz="16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98BE338-C6BD-4ECC-895A-D81578BB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212080"/>
            <a:ext cx="21305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2700">
            <a:solidFill>
              <a:srgbClr val="F0D6C4">
                <a:alpha val="0"/>
              </a:srgbClr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279C7CC-3F5F-4A6A-B257-09BCCBE2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5253228"/>
            <a:ext cx="19842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35C00"/>
                </a:solidFill>
                <a:latin typeface="Microsoft YaHei"/>
                <a:ea typeface="Microsoft YaHei"/>
                <a:cs typeface="Microsoft YaHei"/>
              </a:rPr>
              <a:t>fixed 8-building scope only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CB64ED2-2B97-488D-9EE6-5FB4AF45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outputs/phase9_1/final_reporting_summary.json · no new resampling</a:t>
            </a:r>
            <a:endParaRPr sz="67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4A5CE01-1AB8-4AB5-87DD-92BCA095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B3EA14B-6C4E-46B9-9034-31B562867A8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7099267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D852248-2A28-4991-90DD-375470C2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7470B94-A2B3-42D8-AFFE-F04902BB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复现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6E5FA5C-5EFD-4D7C-81C5-3555B9DC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C042C8D-BA53-4143-959E-E074F255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E80D72-9969-48F8-B2B5-95DEFAA0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公式与预测输出的一致性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4642703-FC79-4447-ADAC-8662999E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按公式复算 5,760 个测试预测，与保存的输出逐点比对；该检查不涉及重新训练。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A63F6D3-6805-4CE0-B823-75F409E2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5074920" cy="4279392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D47A0D0-ED94-4158-9F4A-FBF9B2A7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176272"/>
            <a:ext cx="43891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wᵦ × LightGBM + (1 − wᵦ) × DayWeek</a:t>
            </a:r>
            <a:endParaRPr sz="2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896B4DF-EBD6-48DB-B5D2-3C605A64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064" y="299923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=</a:t>
            </a:r>
            <a:endParaRPr sz="2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C20600B-EA17-4723-8739-2E0F9504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4448"/>
            <a:ext cx="32461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B4C5D2"/>
                </a:solidFill>
                <a:latin typeface="Arial"/>
                <a:ea typeface="Arial"/>
                <a:cs typeface="Arial"/>
              </a:rPr>
              <a:t>保存的融合预测</a:t>
            </a:r>
            <a:endParaRPr sz="1500"/>
          </a:p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B4C5D2"/>
                </a:solidFill>
                <a:latin typeface="Arial"/>
                <a:ea typeface="Arial"/>
                <a:cs typeface="Arial"/>
              </a:rPr>
              <a:t>ensemble_prediction</a:t>
            </a:r>
            <a:endParaRPr sz="15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DABC237-34D0-45BF-8C6E-580F809B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74336"/>
            <a:ext cx="248716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2D6F35F-DBC9-4446-8586-FC309FBD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76" y="5015484"/>
            <a:ext cx="23408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逐点一致性检查</a:t>
            </a:r>
            <a:endParaRPr sz="9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FEBF8A1-23E5-443B-9342-C977E0BA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904" y="1627632"/>
            <a:ext cx="5413248" cy="4279392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64CB227-06B3-48DB-9566-4E3274C4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57984"/>
            <a:ext cx="20299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5,760</a:t>
            </a:r>
            <a:endParaRPr sz="2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52ABBA4-4398-4BDF-AD02-5CDEB1F0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816352"/>
            <a:ext cx="20299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个预测值参与比对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07E03D5-3977-41EF-9B2F-678EF67D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157984"/>
            <a:ext cx="20299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8A76C"/>
                </a:solidFill>
                <a:latin typeface="Arial"/>
                <a:ea typeface="Arial"/>
                <a:cs typeface="Arial"/>
              </a:rPr>
              <a:t>0.0 kW</a:t>
            </a:r>
            <a:endParaRPr sz="2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B693A37-1426-4DFB-AE5F-DCEEE571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816352"/>
            <a:ext cx="20299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max absolute difference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0204E6DC-1624-4872-B80A-452A33EA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520440"/>
            <a:ext cx="4187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5DEE6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4955161-43DD-44E4-9549-632B8592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840480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8 buildings × 720 Test hours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C873AEF-BFE8-47A4-B590-6C2312A6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70832"/>
            <a:ext cx="393192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C6873"/>
                </a:solidFill>
                <a:latin typeface="Arial"/>
                <a:ea typeface="Arial"/>
                <a:cs typeface="Arial"/>
              </a:rPr>
              <a:t>公式复算与保存的预测一致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C6873"/>
                </a:solidFill>
                <a:latin typeface="Arial"/>
                <a:ea typeface="Arial"/>
                <a:cs typeface="Arial"/>
              </a:rPr>
              <a:t>容差 1e−12</a:t>
            </a:r>
            <a:endParaRPr sz="11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72A3193-A1B1-4814-A9D2-ACDF8D1F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source: Phase 9.1 reporting summary · identity check only</a:t>
            </a:r>
            <a:endParaRPr sz="67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DCE472F-E8B0-4F7D-9731-6EBE423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D02B546-7F24-4F68-8720-3E9ADB4533C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340514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5C4BE3D-94D8-4E61-9189-4C3D1846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4B66B48-B26B-4B17-99CD-C5DE61D9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对比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B0E5672-56F0-46AB-8969-8E4F90E8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A859564-643E-448F-9641-6B76B405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EEBF713-3D8D-4961-904C-81F408CD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稳健调度的对比实验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B0182FD-4779-4E42-8065-7028B3A6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验证集选出的稳健调度方案在测试期后悔值更高；保留该结果，未反调参数。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11E8C4C-BED9-4244-93A0-FC9450FB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5001768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F1C6CEB-3BAE-43CA-8E94-346DAE50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01952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Validation selection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2AE5BE8-1080-4E6F-800C-EA3DC089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31720"/>
            <a:ext cx="30175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robust λ = 0.5</a:t>
            </a:r>
            <a:endParaRPr sz="2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6EE334F-7621-492E-8DDD-0C57D044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017520"/>
            <a:ext cx="395935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λ 由验证集选择；测试期保持不变。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74E082B-F4EA-42E6-922A-CE895716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029200"/>
            <a:ext cx="1609344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12700">
            <a:solidFill>
              <a:srgbClr val="DBD0F0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330FAB5-A092-432B-BBEC-86BD2F65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70348"/>
            <a:ext cx="1463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selection integrity</a:t>
            </a:r>
            <a:endParaRPr sz="84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5F4CD47-F470-4CF0-A69E-3C85A8EE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1572768"/>
            <a:ext cx="5532120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323775E-D352-4839-9B2A-BD16DD71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01952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FC1D0"/>
                </a:solidFill>
                <a:latin typeface="Arial"/>
                <a:ea typeface="Arial"/>
                <a:cs typeface="Arial"/>
              </a:rPr>
              <a:t>Test mean regret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AB95A00-5475-4E33-AD6D-852BD5E0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31720"/>
            <a:ext cx="20116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9C7A"/>
                </a:solidFill>
                <a:latin typeface="Arial"/>
                <a:ea typeface="Arial"/>
                <a:cs typeface="Arial"/>
              </a:rPr>
              <a:t>20.4635 kW</a:t>
            </a:r>
            <a:endParaRPr sz="2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EC2FAE2-D4E3-43AD-A12B-B5415976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99008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robust variant</a:t>
            </a:r>
            <a:endParaRPr sz="11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0BEA740-8421-4760-B64B-663B4379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31720"/>
            <a:ext cx="20116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11.1274 kW</a:t>
            </a:r>
            <a:endParaRPr sz="2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CC27782-7C1D-4681-8705-857B5B64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9008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deterministic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CC62745-8B4B-47A5-A6A5-2CCF8F96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721608"/>
            <a:ext cx="44988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506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3AB48F2-86D2-4248-9713-E6D7264E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4096512"/>
            <a:ext cx="44805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该稳健方案的测试后悔值高于确定性对照，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最终 DOEF 未采用这一方案。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89D7306-04DD-4A41-ACCC-5A979238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166360"/>
            <a:ext cx="22402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52A23"/>
          </a:solidFill>
          <a:ln xmlns:a="http://schemas.openxmlformats.org/drawingml/2006/main"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9069EE1-8A1E-43A6-95EF-087DDFF9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5207508"/>
            <a:ext cx="2093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FFC0A5"/>
                </a:solidFill>
                <a:latin typeface="Microsoft YaHei"/>
                <a:ea typeface="Microsoft YaHei"/>
                <a:cs typeface="Microsoft YaHei"/>
              </a:rPr>
              <a:t>稳健调度失效案例</a:t>
            </a:r>
            <a:endParaRPr sz="79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BDE763-8BDD-4E99-831E-3DA6A68F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Frozen Phase 5.7 negative result · robust λ=0.5 · no rerun</a:t>
            </a:r>
            <a:endParaRPr sz="67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203DFF-EA72-4119-B1DC-DFAF18A2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1A91E38-BF95-4051-9328-EDFA37617ED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19927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智能云储——基于决策导向预测融合的建筑储能削峰优化系统</dc:title>
  <dcterms:created xsi:type="dcterms:W3CDTF">2026-09-06T14:22:38.3490000Z</dcterms:created>
  <dcterms:modified xsi:type="dcterms:W3CDTF">2026-09-06T14:22:38.3490000Z</dcterms:modified>
</coreProperties>
</file>