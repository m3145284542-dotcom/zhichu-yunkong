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50506d70d24a44" /><Relationship Type="http://schemas.openxmlformats.org/officeDocument/2006/relationships/extended-properties" Target="/docProps/app.xml" Id="R9031792822d945a0" /><Relationship Type="http://schemas.openxmlformats.org/officeDocument/2006/relationships/officeDocument" Target="/ppt/presentation.xml" Id="Rc0d4c47037fe48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0f4be65ec340d1"/>
  </p:sldMasterIdLst>
  <p:notesMasterIdLst>
    <p:notesMasterId xmlns:r="http://schemas.openxmlformats.org/officeDocument/2006/relationships" r:id="R54fc53e2b69143a2"/>
  </p:notesMasterIdLst>
  <p:sldIdLst>
    <p:sldId xmlns:r="http://schemas.openxmlformats.org/officeDocument/2006/relationships" id="256" r:id="Re223eee878884307"/>
    <p:sldId xmlns:r="http://schemas.openxmlformats.org/officeDocument/2006/relationships" id="257" r:id="R5291f252279846fd"/>
    <p:sldId xmlns:r="http://schemas.openxmlformats.org/officeDocument/2006/relationships" id="258" r:id="R204f9ec9cfc043f6"/>
    <p:sldId xmlns:r="http://schemas.openxmlformats.org/officeDocument/2006/relationships" id="259" r:id="R58c98fbea43a441d"/>
    <p:sldId xmlns:r="http://schemas.openxmlformats.org/officeDocument/2006/relationships" id="260" r:id="R344b7e6552b541f7"/>
    <p:sldId xmlns:r="http://schemas.openxmlformats.org/officeDocument/2006/relationships" id="261" r:id="Ra36b963b6b6a46c8"/>
    <p:sldId xmlns:r="http://schemas.openxmlformats.org/officeDocument/2006/relationships" id="262" r:id="Rbf4828c98cb74e39"/>
    <p:sldId xmlns:r="http://schemas.openxmlformats.org/officeDocument/2006/relationships" id="263" r:id="R72f7e769e2234a84"/>
    <p:sldId xmlns:r="http://schemas.openxmlformats.org/officeDocument/2006/relationships" id="264" r:id="R061f9a429d784a45"/>
    <p:sldId xmlns:r="http://schemas.openxmlformats.org/officeDocument/2006/relationships" id="265" r:id="Rc8481765c3f04c15"/>
    <p:sldId xmlns:r="http://schemas.openxmlformats.org/officeDocument/2006/relationships" id="266" r:id="R9da8c36f55754a2c"/>
    <p:sldId xmlns:r="http://schemas.openxmlformats.org/officeDocument/2006/relationships" id="267" r:id="R5e610f8fb6e24e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7e2015e5814bdc" /><Relationship Type="http://schemas.openxmlformats.org/officeDocument/2006/relationships/slideMaster" Target="/ppt/slideMasters/slideMaster1.xml" Id="R5c0f4be65ec340d1" /><Relationship Type="http://schemas.openxmlformats.org/officeDocument/2006/relationships/notesMaster" Target="/ppt/notesMasters/notesMaster1.xml" Id="R54fc53e2b69143a2" /><Relationship Type="http://schemas.openxmlformats.org/officeDocument/2006/relationships/presProps" Target="/ppt/presProps.xml" Id="Rf457154a66f9413e" /><Relationship Type="http://schemas.openxmlformats.org/officeDocument/2006/relationships/viewProps" Target="/ppt/viewProps.xml" Id="R3c083f4e814d4640" /><Relationship Type="http://schemas.openxmlformats.org/officeDocument/2006/relationships/tableStyles" Target="/ppt/tableStyles.xml" Id="R5b1feb5990164c83" /><Relationship Type="http://schemas.openxmlformats.org/officeDocument/2006/relationships/slide" Target="/ppt/slides/slide1.xml" Id="Re223eee878884307" /><Relationship Type="http://schemas.openxmlformats.org/officeDocument/2006/relationships/slide" Target="/ppt/slides/slide2.xml" Id="R5291f252279846fd" /><Relationship Type="http://schemas.openxmlformats.org/officeDocument/2006/relationships/slide" Target="/ppt/slides/slide3.xml" Id="R204f9ec9cfc043f6" /><Relationship Type="http://schemas.openxmlformats.org/officeDocument/2006/relationships/slide" Target="/ppt/slides/slide4.xml" Id="R58c98fbea43a441d" /><Relationship Type="http://schemas.openxmlformats.org/officeDocument/2006/relationships/slide" Target="/ppt/slides/slide5.xml" Id="R344b7e6552b541f7" /><Relationship Type="http://schemas.openxmlformats.org/officeDocument/2006/relationships/slide" Target="/ppt/slides/slide6.xml" Id="Ra36b963b6b6a46c8" /><Relationship Type="http://schemas.openxmlformats.org/officeDocument/2006/relationships/slide" Target="/ppt/slides/slide7.xml" Id="Rbf4828c98cb74e39" /><Relationship Type="http://schemas.openxmlformats.org/officeDocument/2006/relationships/slide" Target="/ppt/slides/slide8.xml" Id="R72f7e769e2234a84" /><Relationship Type="http://schemas.openxmlformats.org/officeDocument/2006/relationships/slide" Target="/ppt/slides/slide9.xml" Id="R061f9a429d784a45" /><Relationship Type="http://schemas.openxmlformats.org/officeDocument/2006/relationships/slide" Target="/ppt/slides/slide10.xml" Id="Rc8481765c3f04c15" /><Relationship Type="http://schemas.openxmlformats.org/officeDocument/2006/relationships/slide" Target="/ppt/slides/slide11.xml" Id="R9da8c36f55754a2c" /><Relationship Type="http://schemas.openxmlformats.org/officeDocument/2006/relationships/slide" Target="/ppt/slides/slide12.xml" Id="R5e610f8fb6e24e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c9f6e6f34345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959cdf93fe4d29" /><Relationship Type="http://schemas.openxmlformats.org/officeDocument/2006/relationships/notesMaster" Target="/ppt/notesMasters/notesMaster1.xml" Id="Rf79d6e1d078f4b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cbf6046e194103" /><Relationship Type="http://schemas.openxmlformats.org/officeDocument/2006/relationships/notesMaster" Target="/ppt/notesMasters/notesMaster1.xml" Id="R065aa9b15e554c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68316a500b4411" /><Relationship Type="http://schemas.openxmlformats.org/officeDocument/2006/relationships/notesMaster" Target="/ppt/notesMasters/notesMaster1.xml" Id="R6b4ff78ec88147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df8ae99f464b2a" /><Relationship Type="http://schemas.openxmlformats.org/officeDocument/2006/relationships/notesMaster" Target="/ppt/notesMasters/notesMaster1.xml" Id="R4128bca6e50547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4dacbd498c42ca" /><Relationship Type="http://schemas.openxmlformats.org/officeDocument/2006/relationships/notesMaster" Target="/ppt/notesMasters/notesMaster1.xml" Id="R9b0fcc7781bb4c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1e97b301834e3e" /><Relationship Type="http://schemas.openxmlformats.org/officeDocument/2006/relationships/notesMaster" Target="/ppt/notesMasters/notesMaster1.xml" Id="R337b48bcdf1c4c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b8b2777e2d45eb" /><Relationship Type="http://schemas.openxmlformats.org/officeDocument/2006/relationships/notesMaster" Target="/ppt/notesMasters/notesMaster1.xml" Id="Recb91bd012e745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4b8a8757ff464d" /><Relationship Type="http://schemas.openxmlformats.org/officeDocument/2006/relationships/notesMaster" Target="/ppt/notesMasters/notesMaster1.xml" Id="R6e1eb8ee4da74c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5f6d4291ae4063" /><Relationship Type="http://schemas.openxmlformats.org/officeDocument/2006/relationships/notesMaster" Target="/ppt/notesMasters/notesMaster1.xml" Id="R5bd55887c37f43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53c30da41a41d6" /><Relationship Type="http://schemas.openxmlformats.org/officeDocument/2006/relationships/notesMaster" Target="/ppt/notesMasters/notesMaster1.xml" Id="R5428333682fa4c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ab7ca216b040d1" /><Relationship Type="http://schemas.openxmlformats.org/officeDocument/2006/relationships/notesMaster" Target="/ppt/notesMasters/notesMaster1.xml" Id="Rfdccdc55300f4e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afe6c1b7f548c1" /><Relationship Type="http://schemas.openxmlformats.org/officeDocument/2006/relationships/notesMaster" Target="/ppt/notesMasters/notesMaster1.xml" Id="Rf673c7b354a44e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outputs/phase9_1/final_reporting_summary.json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reports/provincial_20261012/technical_report.md §1</a:t>
            </a:r>
          </a:p>
          <a:p xmlns:a="http://schemas.openxmlformats.org/drawingml/2006/main">
            <a:r>
              <a:t>src/battery/optimizer.py</a:t>
            </a:r>
          </a:p>
          <a:p xmlns:a="http://schemas.openxmlformats.org/drawingml/2006/main">
            <a:r>
              <a:t>docs/ENGINEERING_INTEGRATION.md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outputs/phase8/selected_weights.csv</a:t>
            </a:r>
          </a:p>
          <a:p xmlns:a="http://schemas.openxmlformats.org/drawingml/2006/main">
            <a:r>
              <a:t>outputs/phase9/final_benchmark.csv</a:t>
            </a:r>
          </a:p>
          <a:p xmlns:a="http://schemas.openxmlformats.org/drawingml/2006/main">
            <a:r>
              <a:t>outputs/phase9_1/metric_semantics.json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src/phase8.py select_forecast_weight / select_decision_weight</a:t>
            </a:r>
          </a:p>
          <a:p xmlns:a="http://schemas.openxmlformats.org/drawingml/2006/main">
            <a:r>
              <a:t>reports/provincial_20261012/technical_report.md §4.1</a:t>
            </a:r>
          </a:p>
          <a:p xmlns:a="http://schemas.openxmlformats.org/drawingml/2006/main">
            <a:r>
              <a:t>Stratigakos et al. (2025), Decision-focused linear pooling for probabilistic forecast combination. DOI: 10.1016/j.ijforecast.2024.11.006</a:t>
            </a:r>
          </a:p>
          <a:p xmlns:a="http://schemas.openxmlformats.org/drawingml/2006/main">
            <a:r>
              <a:t>https://portaldelainvestigacion.uma.es/documentos/675f922a60134444f312094d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outputs/phase8/run_config.json</a:t>
            </a:r>
          </a:p>
          <a:p xmlns:a="http://schemas.openxmlformats.org/drawingml/2006/main">
            <a:r>
              <a:t>outputs/phase8/selected_weights.csv</a:t>
            </a:r>
          </a:p>
          <a:p xmlns:a="http://schemas.openxmlformats.org/drawingml/2006/main">
            <a:r>
              <a:t>src/phase8.py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src/features/load_features.py</a:t>
            </a:r>
          </a:p>
          <a:p xmlns:a="http://schemas.openxmlformats.org/drawingml/2006/main">
            <a:r>
              <a:t>src/models/train_lgbm.py</a:t>
            </a:r>
          </a:p>
          <a:p xmlns:a="http://schemas.openxmlformats.org/drawingml/2006/main">
            <a:r>
              <a:t>outputs/phase7/selected_buildings.json</a:t>
            </a:r>
          </a:p>
          <a:p xmlns:a="http://schemas.openxmlformats.org/drawingml/2006/main">
            <a:r>
              <a:t>outputs/phase7/building_battery_configs.csv</a:t>
            </a:r>
          </a:p>
          <a:p xmlns:a="http://schemas.openxmlformats.org/drawingml/2006/main">
            <a:r>
              <a:t>outputs/phase9_1/final_reporting_summary.json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outputs/phase9_1/final_reporting_summary.json</a:t>
            </a:r>
          </a:p>
          <a:p xmlns:a="http://schemas.openxmlformats.org/drawingml/2006/main">
            <a:r>
              <a:t>outputs/phase9_1/building_level_bootstrap.csv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outputs/phase8/global_test_summary.csv</a:t>
            </a:r>
          </a:p>
          <a:p xmlns:a="http://schemas.openxmlformats.org/drawingml/2006/main">
            <a:r>
              <a:t>outputs/phase8/global_selected_weights.json</a:t>
            </a:r>
          </a:p>
          <a:p xmlns:a="http://schemas.openxmlformats.org/drawingml/2006/main">
            <a:r>
              <a:t>outputs/phase8/test_decision_metrics.csv</a:t>
            </a:r>
          </a:p>
          <a:p xmlns:a="http://schemas.openxmlformats.org/drawingml/2006/main">
            <a:r>
              <a:t>outputs/phase7/building_battery_configs.csv</a:t>
            </a:r>
          </a:p>
          <a:p xmlns:a="http://schemas.openxmlformats.org/drawingml/2006/main">
            <a:r>
              <a:t>reports/provincial_20261012/evidence.json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src/phase8.py _plots</a:t>
            </a:r>
          </a:p>
          <a:p xmlns:a="http://schemas.openxmlformats.org/drawingml/2006/main">
            <a:r>
              <a:t>outputs/phase8/test_daily_decision_metrics.csv</a:t>
            </a:r>
          </a:p>
          <a:p xmlns:a="http://schemas.openxmlformats.org/drawingml/2006/main">
            <a:r>
              <a:t>outputs/phase8/test_decision_metrics.csv</a:t>
            </a:r>
          </a:p>
          <a:p xmlns:a="http://schemas.openxmlformats.org/drawingml/2006/main">
            <a:r>
              <a:t>outputs/phase9/final_benchmark.csv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reports/provincial_20261012/assets/system_demo.png</a:t>
            </a:r>
          </a:p>
          <a:p xmlns:a="http://schemas.openxmlformats.org/drawingml/2006/main">
            <a:r>
              <a:t>gui/README.md</a:t>
            </a:r>
          </a:p>
          <a:p xmlns:a="http://schemas.openxmlformats.org/drawingml/2006/main">
            <a:r>
              <a:t>gui/server.py</a:t>
            </a:r>
          </a:p>
          <a:p xmlns:a="http://schemas.openxmlformats.org/drawingml/2006/main">
            <a:r>
              <a:t>docs/ENGINEERING_INTEGRATION.md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docs/ENGINEERING_INTEGRATION.md</a:t>
            </a:r>
          </a:p>
          <a:p xmlns:a="http://schemas.openxmlformats.org/drawingml/2006/main">
            <a:r>
              <a:t>reports/provincial_20261012/technical_report.md §4–5</a:t>
            </a:r>
          </a:p>
          <a:p xmlns:a="http://schemas.openxmlformats.org/drawingml/2006/main">
            <a:r>
              <a:t>outputs/phase8/test_decision_metrics.csv</a:t>
            </a:r>
          </a:p>
          <a:p xmlns:a="http://schemas.openxmlformats.org/drawingml/2006/main">
            <a:r>
              <a:t>gui/README.md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outputs/phase9_1/final_reporting_summary.json</a:t>
            </a:r>
          </a:p>
          <a:p xmlns:a="http://schemas.openxmlformats.org/drawingml/2006/main">
            <a:r>
              <a:t>docs/ENGINEERING_INTEGRATION.md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7b21d24bfd4b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8994275e65477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527433901a4a0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009f927fa348a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IN_DARK">
    <p:bg>
      <p:bgPr>
        <a:solidFill xmlns:a="http://schemas.openxmlformats.org/drawingml/2006/main">
          <a:srgbClr val="07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A540B39-5907-481D-98B2-D1AC53FE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C7FF"/>
          </a:solidFill>
          <a:ln xmlns:a="http://schemas.openxmlformats.org/drawingml/2006/main" w="12700">
            <a:solidFill>
              <a:srgbClr val="24C7FF"/>
            </a:solidFill>
            <a:prstDash val="solid"/>
          </a:ln>
        </p:spPr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0EF1822-077D-46D6-9D5F-7569A4CACFF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46520"/>
            <a:ext cx="411480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F829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MAIN_LIGHT"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948727A-F3AC-4057-95C6-92848AE6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12700">
            <a:solidFill>
              <a:srgbClr val="1677FF"/>
            </a:solidFill>
            <a:prstDash val="solid"/>
          </a:ln>
        </p:spPr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866D630-2BC0-4A1C-ACB6-CA34947EE34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46520"/>
            <a:ext cx="411480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1003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APPENDIX"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87AD01A-BB50-4E16-81A8-A4C2A4DE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E9C"/>
          </a:solidFill>
          <a:ln xmlns:a="http://schemas.openxmlformats.org/drawingml/2006/main" w="12700">
            <a:solidFill>
              <a:srgbClr val="6F4E9C"/>
            </a:solidFill>
            <a:prstDash val="solid"/>
          </a:ln>
        </p:spPr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A045B2B-FA82-40D7-B298-8B58DE5E222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46520"/>
            <a:ext cx="411480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1004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285228cda04369" /><Relationship Type="http://schemas.openxmlformats.org/officeDocument/2006/relationships/slideLayout" Target="/ppt/slideLayouts/slideLayout1.xml" Id="R63f5ed93cfdc40b5" /><Relationship Type="http://schemas.openxmlformats.org/officeDocument/2006/relationships/slideLayout" Target="/ppt/slideLayouts/slideLayout2.xml" Id="Rf1524db4d87748c6" /><Relationship Type="http://schemas.openxmlformats.org/officeDocument/2006/relationships/slideLayout" Target="/ppt/slideLayouts/slideLayout3.xml" Id="R15310f9251b440d1" /><Relationship Type="http://schemas.openxmlformats.org/officeDocument/2006/relationships/slideLayout" Target="/ppt/slideLayouts/slideLayout4.xml" Id="R4b7c4449be8f469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BA15602-B7E9-43F8-A61A-5B2C8DD5B60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75720" y="6446520"/>
            <a:ext cx="411480" cy="164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F829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f5ed93cfdc40b5"/>
    <p:sldLayoutId xmlns:r="http://schemas.openxmlformats.org/officeDocument/2006/relationships" id="2147483650" r:id="Rf1524db4d87748c6"/>
    <p:sldLayoutId xmlns:r="http://schemas.openxmlformats.org/officeDocument/2006/relationships" id="2147483651" r:id="R15310f9251b440d1"/>
    <p:sldLayoutId xmlns:r="http://schemas.openxmlformats.org/officeDocument/2006/relationships" id="2147483652" r:id="R4b7c4449be8f469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4a04557b14011" /><Relationship Type="http://schemas.openxmlformats.org/officeDocument/2006/relationships/notesSlide" Target="/ppt/notesSlides/notesSlide1.xml" Id="R36943f99f53b49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a90e3a0a04804" /><Relationship Type="http://schemas.openxmlformats.org/officeDocument/2006/relationships/notesSlide" Target="/ppt/notesSlides/notesSlide2.xml" Id="R2baec988364b42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0261267294f87" /><Relationship Type="http://schemas.openxmlformats.org/officeDocument/2006/relationships/notesSlide" Target="/ppt/notesSlides/notesSlide3.xml" Id="R504247ce0e0241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73034b6a74b6e" /><Relationship Type="http://schemas.openxmlformats.org/officeDocument/2006/relationships/notesSlide" Target="/ppt/notesSlides/notesSlide4.xml" Id="R5a1d7d4d87584e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7362208c34836" /><Relationship Type="http://schemas.openxmlformats.org/officeDocument/2006/relationships/notesSlide" Target="/ppt/notesSlides/notesSlide5.xml" Id="Raa68638e32c84a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5ea3aa50b4dfa" /><Relationship Type="http://schemas.openxmlformats.org/officeDocument/2006/relationships/notesSlide" Target="/ppt/notesSlides/notesSlide6.xml" Id="R731544e6b9db47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c6a3e8864470e" /><Relationship Type="http://schemas.openxmlformats.org/officeDocument/2006/relationships/chart" Target="/ppt/slides/charts/chart1.xml" Id="R1aaacaea58f34b49" /><Relationship Type="http://schemas.openxmlformats.org/officeDocument/2006/relationships/notesSlide" Target="/ppt/notesSlides/notesSlide7.xml" Id="Recc79859c09949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e9c82a353490b" /><Relationship Type="http://schemas.openxmlformats.org/officeDocument/2006/relationships/notesSlide" Target="/ppt/notesSlides/notesSlide8.xml" Id="R13f36b97b57343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3525a73294699" /><Relationship Type="http://schemas.openxmlformats.org/officeDocument/2006/relationships/notesSlide" Target="/ppt/notesSlides/notesSlide9.xml" Id="R03738007a8b049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d57c5f96a4978" /><Relationship Type="http://schemas.openxmlformats.org/officeDocument/2006/relationships/image" Target="/ppt/media/image.png" Id="R59a68e5101f54466" /><Relationship Type="http://schemas.openxmlformats.org/officeDocument/2006/relationships/notesSlide" Target="/ppt/notesSlides/notesSlide10.xml" Id="Rda1ade6ba1df4b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4ae99c2814538" /><Relationship Type="http://schemas.openxmlformats.org/officeDocument/2006/relationships/notesSlide" Target="/ppt/notesSlides/notesSlide11.xml" Id="R105cd002d19a4c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51c5384384892" /><Relationship Type="http://schemas.openxmlformats.org/officeDocument/2006/relationships/notesSlide" Target="/ppt/notesSlides/notesSlide12.xml" Id="R3b6a9bb9b3c84a1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LightGBM</c:v>
          </c:tx>
          <c:spPr>
            <a:solidFill xmlns:a="http://schemas.openxmlformats.org/drawingml/2006/main">
              <a:srgbClr val="BD6517"/>
            </a:solidFill>
          </c:spPr>
          <c:invertIfNegative val="0"/>
          <c:cat>
            <c:strRef>
              <c:f>'Chart Data'!$A$2:$A$9</c:f>
              <c:strCache>
                <c:ptCount val="8"/>
                <c:pt idx="0">
                  <c:v>Rolando</c:v>
                </c:pt>
                <c:pt idx="1">
                  <c:v>Lavon</c:v>
                </c:pt>
                <c:pt idx="2">
                  <c:v>Joey</c:v>
                </c:pt>
                <c:pt idx="3">
                  <c:v>Caitlin</c:v>
                </c:pt>
                <c:pt idx="4">
                  <c:v>Addie</c:v>
                </c:pt>
                <c:pt idx="5">
                  <c:v>Gerardo</c:v>
                </c:pt>
                <c:pt idx="6">
                  <c:v>Alexis</c:v>
                </c:pt>
                <c:pt idx="7">
                  <c:v>Byron</c:v>
                </c:pt>
              </c:strCache>
            </c:strRef>
          </c:cat>
          <c:val>
            <c:numRef>
              <c:f>'Chart Data'!$B$2:$B$9</c:f>
              <c:numCache>
                <c:formatCode>0.00</c:formatCode>
                <c:ptCount val="8"/>
                <c:pt idx="0">
                  <c:v>0.036444477</c:v>
                </c:pt>
                <c:pt idx="1">
                  <c:v>0.018704486</c:v>
                </c:pt>
                <c:pt idx="2">
                  <c:v>0.071808134</c:v>
                </c:pt>
                <c:pt idx="3">
                  <c:v>0.254938595</c:v>
                </c:pt>
                <c:pt idx="4">
                  <c:v>0.120956661</c:v>
                </c:pt>
                <c:pt idx="5">
                  <c:v>0.261123034</c:v>
                </c:pt>
                <c:pt idx="6">
                  <c:v>0.127793695</c:v>
                </c:pt>
                <c:pt idx="7">
                  <c:v>0.03724519</c:v>
                </c:pt>
              </c:numCache>
            </c:numRef>
          </c:val>
        </c:ser>
        <c:ser>
          <c:idx val="1"/>
          <c:order val="1"/>
          <c:tx>
            <c:v>DOEF</c:v>
          </c:tx>
          <c:spPr>
            <a:solidFill xmlns:a="http://schemas.openxmlformats.org/drawingml/2006/main">
              <a:srgbClr val="007FAB"/>
            </a:solidFill>
          </c:spPr>
          <c:invertIfNegative val="0"/>
          <c:cat>
            <c:strRef>
              <c:f>'Chart Data'!$C$2:$C$9</c:f>
              <c:strCache>
                <c:ptCount val="8"/>
                <c:pt idx="0">
                  <c:v>Rolando</c:v>
                </c:pt>
                <c:pt idx="1">
                  <c:v>Lavon</c:v>
                </c:pt>
                <c:pt idx="2">
                  <c:v>Joey</c:v>
                </c:pt>
                <c:pt idx="3">
                  <c:v>Caitlin</c:v>
                </c:pt>
                <c:pt idx="4">
                  <c:v>Addie</c:v>
                </c:pt>
                <c:pt idx="5">
                  <c:v>Gerardo</c:v>
                </c:pt>
                <c:pt idx="6">
                  <c:v>Alexis</c:v>
                </c:pt>
                <c:pt idx="7">
                  <c:v>Byron</c:v>
                </c:pt>
              </c:strCache>
            </c:strRef>
          </c:cat>
          <c:val>
            <c:numRef>
              <c:f>'Chart Data'!$D$2:$D$9</c:f>
              <c:numCache>
                <c:formatCode>0.00</c:formatCode>
                <c:ptCount val="8"/>
                <c:pt idx="0">
                  <c:v>0.034063089</c:v>
                </c:pt>
                <c:pt idx="1">
                  <c:v>0.012078429</c:v>
                </c:pt>
                <c:pt idx="2">
                  <c:v>0.067551327</c:v>
                </c:pt>
                <c:pt idx="3">
                  <c:v>0.243611629</c:v>
                </c:pt>
                <c:pt idx="4">
                  <c:v>0.120956661</c:v>
                </c:pt>
                <c:pt idx="5">
                  <c:v>0.261123034</c:v>
                </c:pt>
                <c:pt idx="6">
                  <c:v>0.120681241</c:v>
                </c:pt>
                <c:pt idx="7">
                  <c:v>0.035368062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3ED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5F8FC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5F8FC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智储云控">
            <a:extLst xmlns:a="http://schemas.openxmlformats.org/drawingml/2006/main">
              <a:ext uri="{FF2B5EF4-FFF2-40B4-BE49-F238E27FC236}">
                <a16:creationId xmlns:a16="http://schemas.microsoft.com/office/drawing/2014/main" id="{AA903628-87F3-42B4-AAC3-69867F7C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334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智储云控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B2A71-BC8D-48E6-8CE8-F3A5D64A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54"/>
            </a:solidFill>
          </a:ln>
        </p:spPr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664A49E4-71C8-49CB-9650-1F95E081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05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9AAF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9AAF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AAFC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基于决策导向预测融合的&#10;建筑储能削峰优化系统">
            <a:extLst xmlns:a="http://schemas.openxmlformats.org/drawingml/2006/main">
              <a:ext uri="{FF2B5EF4-FFF2-40B4-BE49-F238E27FC236}">
                <a16:creationId xmlns:a16="http://schemas.microsoft.com/office/drawing/2014/main" id="{04F16F39-DDD1-403D-BE95-5A5D4B8C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1095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基于决策导向预测融合的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建筑储能削峰优化系统</a:t>
            </a:r>
          </a:p>
        </p:txBody>
      </p:sp>
      <p:sp>
        <p:nvSpPr>
          <p:cNvPr id="5" name="用调度后的削峰表现，选择负荷预测组合">
            <a:extLst xmlns:a="http://schemas.openxmlformats.org/drawingml/2006/main">
              <a:ext uri="{FF2B5EF4-FFF2-40B4-BE49-F238E27FC236}">
                <a16:creationId xmlns:a16="http://schemas.microsoft.com/office/drawing/2014/main" id="{A0F3FAD5-3CFF-410A-ABE5-CFF49358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76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8BDE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8BD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BDEA"/>
                </a:solidFill>
                <a:latin typeface="Microsoft YaHei"/>
                <a:ea typeface="Microsoft YaHei"/>
                <a:cs typeface="Microsoft YaHei"/>
              </a:rPr>
              <a:t>用调度后的削峰表现，选择负荷预测组合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8FE0C-ADDA-4EE7-9025-F1A6D03A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14875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54"/>
            </a:solidFill>
          </a:ln>
        </p:spPr>
      </p:sp>
      <p:sp>
        <p:nvSpPr>
          <p:cNvPr id="7" name="算法方法  DOEF">
            <a:extLst xmlns:a="http://schemas.openxmlformats.org/drawingml/2006/main">
              <a:ext uri="{FF2B5EF4-FFF2-40B4-BE49-F238E27FC236}">
                <a16:creationId xmlns:a16="http://schemas.microsoft.com/office/drawing/2014/main" id="{DA5A356B-B138-484D-B3AF-44299CBD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01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算法方法  DOEF</a:t>
            </a:r>
          </a:p>
        </p:txBody>
      </p:sp>
      <p:sp>
        <p:nvSpPr>
          <p:cNvPr id="8" name="验证范围  8 栋办公楼的离线仿真">
            <a:extLst xmlns:a="http://schemas.openxmlformats.org/drawingml/2006/main">
              <a:ext uri="{FF2B5EF4-FFF2-40B4-BE49-F238E27FC236}">
                <a16:creationId xmlns:a16="http://schemas.microsoft.com/office/drawing/2014/main" id="{BF5082CE-8585-4167-BF19-ADF56A45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101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验证范围  8 栋办公楼的离线仿真</a:t>
            </a:r>
          </a:p>
        </p:txBody>
      </p:sp>
      <p:sp>
        <p:nvSpPr>
          <p:cNvPr id="9" name="第八届全球校园人工智能算法精英大赛 · AI+能源科技创新组">
            <a:extLst xmlns:a="http://schemas.openxmlformats.org/drawingml/2006/main">
              <a:ext uri="{FF2B5EF4-FFF2-40B4-BE49-F238E27FC236}">
                <a16:creationId xmlns:a16="http://schemas.microsoft.com/office/drawing/2014/main" id="{B18D5316-5B3F-4AAC-B33B-59A393F7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ACBD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CBD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CBDCC"/>
                </a:solidFill>
                <a:latin typeface="Microsoft YaHei"/>
                <a:ea typeface="Microsoft YaHei"/>
                <a:cs typeface="Microsoft YaHei"/>
              </a:rPr>
              <a:t>第八届全球校园人工智能算法精英大赛 · AI+能源科技创新组</a:t>
            </a:r>
          </a:p>
        </p:txBody>
      </p:sp>
      <p:sp>
        <p:nvSpPr>
          <p:cNvPr id="10" name="团队：电协    团队编号：AIC-2026-27833449">
            <a:extLst xmlns:a="http://schemas.openxmlformats.org/drawingml/2006/main">
              <a:ext uri="{FF2B5EF4-FFF2-40B4-BE49-F238E27FC236}">
                <a16:creationId xmlns:a16="http://schemas.microsoft.com/office/drawing/2014/main" id="{0E08C105-282A-4FEE-AC1A-441BB14A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912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ACBDC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CBD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CBDCC"/>
                </a:solidFill>
                <a:latin typeface="Microsoft YaHei"/>
                <a:ea typeface="Microsoft YaHei"/>
                <a:cs typeface="Microsoft YaHei"/>
              </a:rPr>
              <a:t>团队：电协    团队编号：AIC-2026-27833449</a:t>
            </a:r>
          </a:p>
        </p:txBody>
      </p:sp>
    </p:spTree>
    <p:extLst>
      <p:ext uri="{BB962C8B-B14F-4D97-AF65-F5344CB8AC3E}">
        <p14:creationId xmlns:p14="http://schemas.microsoft.com/office/powerpoint/2010/main" val="11204384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1 项目背景与行业痛点">
            <a:extLst xmlns:a="http://schemas.openxmlformats.org/drawingml/2006/main">
              <a:ext uri="{FF2B5EF4-FFF2-40B4-BE49-F238E27FC236}">
                <a16:creationId xmlns:a16="http://schemas.microsoft.com/office/drawing/2014/main" id="{F4850EA3-A259-4B17-8D19-978AD039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334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rPr>
              <a:t>01 项目背景与行业痛点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A324B-B4F6-4F4F-817C-F8F1B2AE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3ED"/>
            </a:solidFill>
          </a:ln>
        </p:spPr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3A4E0EAB-8701-449D-8332-CF4E94E3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05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项目背景">
            <a:extLst xmlns:a="http://schemas.openxmlformats.org/drawingml/2006/main">
              <a:ext uri="{FF2B5EF4-FFF2-40B4-BE49-F238E27FC236}">
                <a16:creationId xmlns:a16="http://schemas.microsoft.com/office/drawing/2014/main" id="{0119E7AD-DBA9-486F-AD0D-E3571842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811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5" name="面向办公楼能源管理，通过储能充放电降低取电高峰">
            <a:extLst xmlns:a="http://schemas.openxmlformats.org/drawingml/2006/main">
              <a:ext uri="{FF2B5EF4-FFF2-40B4-BE49-F238E27FC236}">
                <a16:creationId xmlns:a16="http://schemas.microsoft.com/office/drawing/2014/main" id="{2939C86E-07C0-4E41-A875-48EC9016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1100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rPr>
              <a:t>面向办公楼能源管理，通过储能充放电降低取电高峰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D98E8-0A08-480F-85ED-080D4BE9E74B}"/>
              </a:ext>
            </a:extLst>
          </p:cNvPr>
          <p:cNvGraphicFramePr/>
          <p:nvPr/>
        </p:nvGraphicFramePr>
        <p:xfrm>
          <a:off xmlns:a="http://schemas.openxmlformats.org/drawingml/2006/main" x="552450" y="2952750"/>
          <a:ext xmlns:a="http://schemas.openxmlformats.org/drawingml/2006/main" cx="11087100" cy="2286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524250"/>
                <a:gridCol w="756285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行业痛点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T w="5715">
                      <a:solidFill>
                        <a:srgbClr val="D8E3ED"/>
                      </a:solidFill>
                      <a:prstDash val="solid"/>
                    </a:lnT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14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对储能削峰的影响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T w="5715">
                      <a:solidFill>
                        <a:srgbClr val="D8E3ED"/>
                      </a:solidFill>
                      <a:prstDash val="solid"/>
                    </a:lnT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142B4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储能资源有限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电池容量与功率受限，需要把电量留给高峰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负荷高峰难预测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提前放电或误充电，可能错过高峰甚至形成新峰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预测评价与应用目标不一致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平均误差更低，不代表调度后的实际峰值更低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项目目标：选择更适合储能调度的预测组合，降低实际取电峰值">
            <a:extLst xmlns:a="http://schemas.openxmlformats.org/drawingml/2006/main">
              <a:ext uri="{FF2B5EF4-FFF2-40B4-BE49-F238E27FC236}">
                <a16:creationId xmlns:a16="http://schemas.microsoft.com/office/drawing/2014/main" id="{FA226A2B-5A51-4D3B-B540-A4B4508A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53075"/>
            <a:ext cx="1104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rPr>
              <a:t>项目目标：选择更适合储能调度的预测组合，降低实际取电峰值</a:t>
            </a:r>
          </a:p>
        </p:txBody>
      </p:sp>
    </p:spTree>
    <p:extLst>
      <p:ext uri="{BB962C8B-B14F-4D97-AF65-F5344CB8AC3E}">
        <p14:creationId xmlns:p14="http://schemas.microsoft.com/office/powerpoint/2010/main" val="5990509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02 核心问题：预测误差最优 ≠ 削峰决策最优">
            <a:extLst xmlns:a="http://schemas.openxmlformats.org/drawingml/2006/main">
              <a:ext uri="{FF2B5EF4-FFF2-40B4-BE49-F238E27FC236}">
                <a16:creationId xmlns:a16="http://schemas.microsoft.com/office/drawing/2014/main" id="{E7004EBE-55F2-435D-8C31-7B45DC51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334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rPr>
              <a:t>02 核心问题：预测误差最优 ≠ 削峰决策最优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37DC5-7B35-4BF9-A721-A4A88630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3ED"/>
            </a:solidFill>
          </a:ln>
        </p:spPr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010637E4-8BDE-4FF2-B220-929D7134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05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MAE / RMSE 汇总全天误差，不区分误差发生时的调度价值。">
            <a:extLst xmlns:a="http://schemas.openxmlformats.org/drawingml/2006/main">
              <a:ext uri="{FF2B5EF4-FFF2-40B4-BE49-F238E27FC236}">
                <a16:creationId xmlns:a16="http://schemas.microsoft.com/office/drawing/2014/main" id="{0096B820-7BC3-4517-8578-EAA21BE1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rPr>
              <a:t>MAE / RMSE 汇总全天误差，不区分误差发生时的调度价值。</a:t>
            </a:r>
          </a:p>
        </p:txBody>
      </p:sp>
      <p:sp>
        <p:nvSpPr>
          <p:cNvPr id="5" name="削峰取决于高峰时刻、可用电量和充放电安排；&#10;低谷误差也可能通过充电与 ">
            <a:extLst xmlns:a="http://schemas.openxmlformats.org/drawingml/2006/main">
              <a:ext uri="{FF2B5EF4-FFF2-40B4-BE49-F238E27FC236}">
                <a16:creationId xmlns:a16="http://schemas.microsoft.com/office/drawing/2014/main" id="{F7099BCF-698E-443A-9D0B-561FF27E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1087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rPr>
              <a:t>削峰取决于高峰时刻、可用电量和充放电安排；</a:t>
            </a:r>
          </a:p>
          <a:p xmlns:a="http://schemas.openxmlformats.org/drawingml/2006/main">
            <a:pPr algn="l">
              <a:defRPr sz="1950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rPr>
              <a:t>低谷误差也可能通过充电与 SOC 影响后续高峰。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B87B79-7A81-4267-BDAF-FBB3FFD11F92}"/>
              </a:ext>
            </a:extLst>
          </p:cNvPr>
          <p:cNvGraphicFramePr/>
          <p:nvPr/>
        </p:nvGraphicFramePr>
        <p:xfrm>
          <a:off xmlns:a="http://schemas.openxmlformats.org/drawingml/2006/main" x="552450" y="3276600"/>
          <a:ext xmlns:a="http://schemas.openxmlformats.org/drawingml/2006/main" cx="11087100" cy="1657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3305175"/>
                <a:gridCol w="3305175"/>
              </a:tblGrid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测试集对照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T w="5715">
                      <a:solidFill>
                        <a:srgbClr val="D8E3ED"/>
                      </a:solidFill>
                      <a:prstDash val="solid"/>
                    </a:lnT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14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归一化 RMSE ↓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T w="5715">
                      <a:solidFill>
                        <a:srgbClr val="D8E3ED"/>
                      </a:solidFill>
                      <a:prstDash val="solid"/>
                    </a:lnT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14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归一化后悔值 ↓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T w="5715">
                      <a:solidFill>
                        <a:srgbClr val="D8E3ED"/>
                      </a:solidFill>
                      <a:prstDash val="solid"/>
                    </a:lnT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142B40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LightGBM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0.2169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0.1161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XGBoost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0.2168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0.1175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7" name="验证集同样观察到：预测最优与决策最优权重并不总相同">
            <a:extLst xmlns:a="http://schemas.openxmlformats.org/drawingml/2006/main">
              <a:ext uri="{FF2B5EF4-FFF2-40B4-BE49-F238E27FC236}">
                <a16:creationId xmlns:a16="http://schemas.microsoft.com/office/drawing/2014/main" id="{4E031EA4-4CA2-4576-A24C-A91C33BA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rPr>
              <a:t>验证集同样观察到：预测最优与决策最优权重并不总相同</a:t>
            </a:r>
          </a:p>
        </p:txBody>
      </p:sp>
      <p:sp>
        <p:nvSpPr>
          <p:cNvPr id="8" name="日后悔值 = 实际日峰值 − 同约束下 Oracle 理想日峰值（kW">
            <a:extLst xmlns:a="http://schemas.openxmlformats.org/drawingml/2006/main">
              <a:ext uri="{FF2B5EF4-FFF2-40B4-BE49-F238E27FC236}">
                <a16:creationId xmlns:a16="http://schemas.microsoft.com/office/drawing/2014/main" id="{314C73E4-6813-43D6-B200-5A46AF02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29275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rPr>
              <a:t>日后悔值 = 实际日峰值 − 同约束下 Oracle 理想日峰值（kW）</a:t>
            </a:r>
          </a:p>
          <a:p xmlns:a="http://schemas.openxmlformats.org/drawingml/2006/main">
            <a:pPr algn="l">
              <a:defRPr sz="1800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rPr>
              <a:t>Oracle 已知全日实际负荷，仅作事后理想参照</a:t>
            </a:r>
          </a:p>
        </p:txBody>
      </p:sp>
    </p:spTree>
    <p:extLst>
      <p:ext uri="{BB962C8B-B14F-4D97-AF65-F5344CB8AC3E}">
        <p14:creationId xmlns:p14="http://schemas.microsoft.com/office/powerpoint/2010/main" val="12890079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3 项目创新点：方法改进与工程贡献">
            <a:extLst xmlns:a="http://schemas.openxmlformats.org/drawingml/2006/main">
              <a:ext uri="{FF2B5EF4-FFF2-40B4-BE49-F238E27FC236}">
                <a16:creationId xmlns:a16="http://schemas.microsoft.com/office/drawing/2014/main" id="{4321E09E-AFFC-424C-9D9A-4E0C1731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334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rPr>
              <a:t>03 项目创新点：方法改进与工程贡献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F35A6-0A67-44E7-8510-697ADEA1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3ED"/>
            </a:solidFill>
          </a:ln>
        </p:spPr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FC1F98DC-6F4E-4D1A-874E-0D990398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05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方法创新｜改变融合权重的选择目标">
            <a:extLst xmlns:a="http://schemas.openxmlformats.org/drawingml/2006/main">
              <a:ext uri="{FF2B5EF4-FFF2-40B4-BE49-F238E27FC236}">
                <a16:creationId xmlns:a16="http://schemas.microsoft.com/office/drawing/2014/main" id="{96DF0087-A18E-4D8D-8158-4EB9C4E3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rPr>
              <a:t>方法创新｜改变融合权重的选择目标</a:t>
            </a:r>
          </a:p>
        </p:txBody>
      </p:sp>
      <p:sp>
        <p:nvSpPr>
          <p:cNvPr id="5" name="用验证集储能调度后悔值代替预测误差，&#10;选择 DayWeek 与 Lig">
            <a:extLst xmlns:a="http://schemas.openxmlformats.org/drawingml/2006/main">
              <a:ext uri="{FF2B5EF4-FFF2-40B4-BE49-F238E27FC236}">
                <a16:creationId xmlns:a16="http://schemas.microsoft.com/office/drawing/2014/main" id="{91D31D31-21A4-41FB-A7BE-44C6A985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3625"/>
            <a:ext cx="110871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rPr>
              <a:t>用验证集储能调度后悔值代替预测误差，</a:t>
            </a:r>
          </a:p>
          <a:p xmlns:a="http://schemas.openxmlformats.org/drawingml/2006/main">
            <a:pPr algn="l">
              <a:defRPr sz="240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rPr>
              <a:t>选择 DayWeek 与 LightGBM 的融合权重。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4893D3-6723-4F96-AF49-F55D1AE2F7CC}"/>
              </a:ext>
            </a:extLst>
          </p:cNvPr>
          <p:cNvGraphicFramePr/>
          <p:nvPr/>
        </p:nvGraphicFramePr>
        <p:xfrm>
          <a:off xmlns:a="http://schemas.openxmlformats.org/drawingml/2006/main" x="552450" y="3543300"/>
          <a:ext xmlns:a="http://schemas.openxmlformats.org/drawingml/2006/main" cx="11087100" cy="2152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52750"/>
                <a:gridCol w="8134350"/>
              </a:tblGrid>
              <a:tr h="538163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工程贡献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T w="5715">
                      <a:solidFill>
                        <a:srgbClr val="D8E3ED"/>
                      </a:solidFill>
                      <a:prstDash val="solid"/>
                    </a:lnT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14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已完成的工作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T w="5715">
                      <a:solidFill>
                        <a:srgbClr val="D8E3ED"/>
                      </a:solidFill>
                      <a:prstDash val="solid"/>
                    </a:lnT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142B40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逐建筑适配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每栋楼独立验证选权，测试期保持固定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公平仿真评测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各方法使用相同的电池约束与优化器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离线系统原型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回放多建筑调度结果，核对配置与方法差异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创新定位：决策导向思想在建筑储能削峰中的应用方法改进">
            <a:extLst xmlns:a="http://schemas.openxmlformats.org/drawingml/2006/main">
              <a:ext uri="{FF2B5EF4-FFF2-40B4-BE49-F238E27FC236}">
                <a16:creationId xmlns:a16="http://schemas.microsoft.com/office/drawing/2014/main" id="{75499B0C-25E8-49A4-8561-362E64CD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81675"/>
            <a:ext cx="11087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rPr>
              <a:t>创新定位：决策导向思想在建筑储能削峰中的应用方法改进</a:t>
            </a:r>
          </a:p>
        </p:txBody>
      </p:sp>
    </p:spTree>
    <p:extLst>
      <p:ext uri="{BB962C8B-B14F-4D97-AF65-F5344CB8AC3E}">
        <p14:creationId xmlns:p14="http://schemas.microsoft.com/office/powerpoint/2010/main" val="16077228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4 技术方案：DOEF 决策导向预测融合">
            <a:extLst xmlns:a="http://schemas.openxmlformats.org/drawingml/2006/main">
              <a:ext uri="{FF2B5EF4-FFF2-40B4-BE49-F238E27FC236}">
                <a16:creationId xmlns:a16="http://schemas.microsoft.com/office/drawing/2014/main" id="{5F4DCDE7-735B-4697-964D-7C63B89F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334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rPr>
              <a:t>04 技术方案：DOEF 决策导向预测融合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AC1EB-8774-4E10-95C6-5645381F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3ED"/>
            </a:solidFill>
          </a:ln>
        </p:spPr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5EEF5AC9-3D0E-4DC4-9F01-453EE9C1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05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DOEF = w × LightGBM + (1 − w) × Day">
            <a:extLst xmlns:a="http://schemas.openxmlformats.org/drawingml/2006/main">
              <a:ext uri="{FF2B5EF4-FFF2-40B4-BE49-F238E27FC236}">
                <a16:creationId xmlns:a16="http://schemas.microsoft.com/office/drawing/2014/main" id="{686EF970-0964-4D29-AC65-420B2E09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11087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775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775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rPr>
              <a:t>DOEF = w × LightGBM + (1 − w) × DayWeek</a:t>
            </a:r>
          </a:p>
        </p:txBody>
      </p:sp>
      <p:sp>
        <p:nvSpPr>
          <p:cNvPr id="5" name="LightGBM：拟合非线性变化      DayWeek：前日与前周">
            <a:extLst xmlns:a="http://schemas.openxmlformats.org/drawingml/2006/main">
              <a:ext uri="{FF2B5EF4-FFF2-40B4-BE49-F238E27FC236}">
                <a16:creationId xmlns:a16="http://schemas.microsoft.com/office/drawing/2014/main" id="{D3633AF1-37F8-4B9A-998B-17EFFEB6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rPr>
              <a:t>LightGBM：拟合非线性变化      DayWeek：前日与前周同小时负荷的均值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835C1-1417-44D9-AE2F-813E4495EF40}"/>
              </a:ext>
            </a:extLst>
          </p:cNvPr>
          <p:cNvGraphicFramePr/>
          <p:nvPr/>
        </p:nvGraphicFramePr>
        <p:xfrm>
          <a:off xmlns:a="http://schemas.openxmlformats.org/drawingml/2006/main" x="552450" y="3609975"/>
          <a:ext xmlns:a="http://schemas.openxmlformats.org/drawingml/2006/main" cx="11087100" cy="21812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85900"/>
                <a:gridCol w="6515100"/>
                <a:gridCol w="3086100"/>
              </a:tblGrid>
              <a:tr h="545306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T w="5715">
                      <a:solidFill>
                        <a:srgbClr val="D8E3ED"/>
                      </a:solidFill>
                      <a:prstDash val="solid"/>
                    </a:lnT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14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T w="5715">
                      <a:solidFill>
                        <a:srgbClr val="D8E3ED"/>
                      </a:solidFill>
                      <a:prstDash val="solid"/>
                    </a:lnT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14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T w="5715">
                      <a:solidFill>
                        <a:srgbClr val="D8E3ED"/>
                      </a:solidFill>
                      <a:prstDash val="solid"/>
                    </a:lnT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142B40"/>
                    </a:solidFill>
                  </a:tcPr>
                </a:tc>
              </a:tr>
              <a:tr h="545306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历史负荷与日历特征拟合预测器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固定预测分量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5306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7FA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7FA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组权重进入相同电池优化器，比较后悔值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7FA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每栋楼一个权重 w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E8F4FA"/>
                    </a:solidFill>
                  </a:tcPr>
                </a:tc>
              </a:tr>
              <a:tr h="545306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权重固定后，用实际负荷评价调度计划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预测误差、后悔值、削峰率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0868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05 实验设计：8 栋办公楼，30 个测试日">
            <a:extLst xmlns:a="http://schemas.openxmlformats.org/drawingml/2006/main">
              <a:ext uri="{FF2B5EF4-FFF2-40B4-BE49-F238E27FC236}">
                <a16:creationId xmlns:a16="http://schemas.microsoft.com/office/drawing/2014/main" id="{3C967FC8-258E-40B9-930F-1E5A639C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334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rPr>
              <a:t>05 实验设计：8 栋办公楼，30 个测试日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1491F-C29F-44B1-B8C7-54A5B6BB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3ED"/>
            </a:solidFill>
          </a:ln>
        </p:spPr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BE213C95-06A1-408C-B565-D06E786C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05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BDG2 公开数据">
            <a:extLst xmlns:a="http://schemas.openxmlformats.org/drawingml/2006/main">
              <a:ext uri="{FF2B5EF4-FFF2-40B4-BE49-F238E27FC236}">
                <a16:creationId xmlns:a16="http://schemas.microsoft.com/office/drawing/2014/main" id="{B1EC6374-FB72-4E64-BBE1-153285E9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457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rPr>
              <a:t>BDG2 公开数据</a:t>
            </a:r>
          </a:p>
        </p:txBody>
      </p:sp>
      <p:sp>
        <p:nvSpPr>
          <p:cNvPr id="5" name="296 栋办公楼候选 · 82 栋质量合格 · 8 栋固定样本">
            <a:extLst xmlns:a="http://schemas.openxmlformats.org/drawingml/2006/main">
              <a:ext uri="{FF2B5EF4-FFF2-40B4-BE49-F238E27FC236}">
                <a16:creationId xmlns:a16="http://schemas.microsoft.com/office/drawing/2014/main" id="{CE9D646A-BF0E-4B58-8096-2D0B0DB1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rPr>
              <a:t>296 栋办公楼候选 · 82 栋质量合格 · 8 栋固定样本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7CAA5-D718-4F89-B3F6-DA9465BD56D2}"/>
              </a:ext>
            </a:extLst>
          </p:cNvPr>
          <p:cNvGraphicFramePr/>
          <p:nvPr/>
        </p:nvGraphicFramePr>
        <p:xfrm>
          <a:off xmlns:a="http://schemas.openxmlformats.org/drawingml/2006/main" x="552450" y="2876550"/>
          <a:ext xmlns:a="http://schemas.openxmlformats.org/drawingml/2006/main" cx="11087100" cy="2133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3905250"/>
                <a:gridCol w="432435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阶段（特征时刻）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T w="5715">
                      <a:solidFill>
                        <a:srgbClr val="D8E3ED"/>
                      </a:solidFill>
                      <a:prstDash val="solid"/>
                    </a:lnT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14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时间窗口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T w="5715">
                      <a:solidFill>
                        <a:srgbClr val="D8E3ED"/>
                      </a:solidFill>
                      <a:prstDash val="solid"/>
                    </a:lnT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14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使用方式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T w="5715">
                      <a:solidFill>
                        <a:srgbClr val="D8E3ED"/>
                      </a:solidFill>
                      <a:prstDash val="solid"/>
                    </a:lnT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142B4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2016-01 至 2017-10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拟合与训练期负荷尺度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2017-11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选模、选权重，清除跨界标签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2017-12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个完整目标日，共 5,760 小时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统一电池条件：容量为训练期平均日用电量的 10%，往返效率 90%">
            <a:extLst xmlns:a="http://schemas.openxmlformats.org/drawingml/2006/main">
              <a:ext uri="{FF2B5EF4-FFF2-40B4-BE49-F238E27FC236}">
                <a16:creationId xmlns:a16="http://schemas.microsoft.com/office/drawing/2014/main" id="{1A5EFBBD-C554-4F59-A490-FA6FA478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11087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rPr>
              <a:t>统一电池条件：容量为训练期平均日用电量的 10%，往返效率 90%</a:t>
            </a:r>
          </a:p>
        </p:txBody>
      </p:sp>
      <p:sp>
        <p:nvSpPr>
          <p:cNvPr id="8" name="归一化指标：各楼指标 ÷ 训练期平均负荷，再按建筑等权平均">
            <a:extLst xmlns:a="http://schemas.openxmlformats.org/drawingml/2006/main">
              <a:ext uri="{FF2B5EF4-FFF2-40B4-BE49-F238E27FC236}">
                <a16:creationId xmlns:a16="http://schemas.microsoft.com/office/drawing/2014/main" id="{73BDE6EE-5B4E-4642-BCE3-BB50EB24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95950"/>
            <a:ext cx="1108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rPr>
              <a:t>归一化指标：各楼指标 ÷ 训练期平均负荷，再按建筑等权平均</a:t>
            </a:r>
          </a:p>
        </p:txBody>
      </p:sp>
    </p:spTree>
    <p:extLst>
      <p:ext uri="{BB962C8B-B14F-4D97-AF65-F5344CB8AC3E}">
        <p14:creationId xmlns:p14="http://schemas.microsoft.com/office/powerpoint/2010/main" val="4194328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06 实验结果：相对 LightGBM，平均误差与后悔值均降低">
            <a:extLst xmlns:a="http://schemas.openxmlformats.org/drawingml/2006/main">
              <a:ext uri="{FF2B5EF4-FFF2-40B4-BE49-F238E27FC236}">
                <a16:creationId xmlns:a16="http://schemas.microsoft.com/office/drawing/2014/main" id="{03ADFF6D-F4CE-4C98-B99F-90D5BA27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334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rPr>
              <a:t>06 实验结果：相对 LightGBM，平均误差与后悔值均降低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40D85B-8BFE-43A5-B9DB-5663D8BF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3ED"/>
            </a:solidFill>
          </a:ln>
        </p:spPr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F504E660-53F3-4669-A7C2-44EFFB2E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05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83E7A-D8DC-4FED-9BD6-F2F14025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3524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A"/>
          </a:solidFill>
          <a:ln xmlns:a="http://schemas.openxmlformats.org/drawingml/2006/main" w="0">
            <a:noFill/>
          </a:ln>
        </p:spPr>
      </p:sp>
      <p:sp>
        <p:nvSpPr>
          <p:cNvPr id="5" name="归一化 MAE">
            <a:extLst xmlns:a="http://schemas.openxmlformats.org/drawingml/2006/main">
              <a:ext uri="{FF2B5EF4-FFF2-40B4-BE49-F238E27FC236}">
                <a16:creationId xmlns:a16="http://schemas.microsoft.com/office/drawing/2014/main" id="{5A96DCB6-91B8-4122-A755-610618EF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rPr>
              <a:t>归一化 MAE</a:t>
            </a:r>
          </a:p>
        </p:txBody>
      </p:sp>
      <p:sp>
        <p:nvSpPr>
          <p:cNvPr id="6" name="降低 6.36%">
            <a:extLst xmlns:a="http://schemas.openxmlformats.org/drawingml/2006/main">
              <a:ext uri="{FF2B5EF4-FFF2-40B4-BE49-F238E27FC236}">
                <a16:creationId xmlns:a16="http://schemas.microsoft.com/office/drawing/2014/main" id="{D1A78662-D3CE-403E-B40C-E9139E57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3181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rPr>
              <a:t>降低 6.36%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FCB8A-E577-459F-B906-41AFED7E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62125"/>
            <a:ext cx="3524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7"/>
          </a:solidFill>
          <a:ln xmlns:a="http://schemas.openxmlformats.org/drawingml/2006/main" w="0">
            <a:noFill/>
          </a:ln>
        </p:spPr>
      </p:sp>
      <p:sp>
        <p:nvSpPr>
          <p:cNvPr id="8" name="归一化后悔值">
            <a:extLst xmlns:a="http://schemas.openxmlformats.org/drawingml/2006/main">
              <a:ext uri="{FF2B5EF4-FFF2-40B4-BE49-F238E27FC236}">
                <a16:creationId xmlns:a16="http://schemas.microsoft.com/office/drawing/2014/main" id="{A3260C5B-3709-4E58-9754-FE7ACB99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84785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854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85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854B5"/>
                </a:solidFill>
                <a:latin typeface="Microsoft YaHei"/>
                <a:ea typeface="Microsoft YaHei"/>
                <a:cs typeface="Microsoft YaHei"/>
              </a:rPr>
              <a:t>归一化后悔值</a:t>
            </a:r>
          </a:p>
        </p:txBody>
      </p:sp>
      <p:sp>
        <p:nvSpPr>
          <p:cNvPr id="9" name="降低 3.61%">
            <a:extLst xmlns:a="http://schemas.openxmlformats.org/drawingml/2006/main">
              <a:ext uri="{FF2B5EF4-FFF2-40B4-BE49-F238E27FC236}">
                <a16:creationId xmlns:a16="http://schemas.microsoft.com/office/drawing/2014/main" id="{0CA34815-B2BA-4640-9B3B-344022AE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71700"/>
            <a:ext cx="3181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7854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785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854B5"/>
                </a:solidFill>
                <a:latin typeface="Microsoft YaHei"/>
                <a:ea typeface="Microsoft YaHei"/>
                <a:cs typeface="Microsoft YaHei"/>
              </a:rPr>
              <a:t>降低 3.61%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E35274-DCCB-4728-8469-F85D005D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3524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0">
            <a:noFill/>
          </a:ln>
        </p:spPr>
      </p:sp>
      <p:sp>
        <p:nvSpPr>
          <p:cNvPr id="11" name="逐建筑后悔值比较">
            <a:extLst xmlns:a="http://schemas.openxmlformats.org/drawingml/2006/main">
              <a:ext uri="{FF2B5EF4-FFF2-40B4-BE49-F238E27FC236}">
                <a16:creationId xmlns:a16="http://schemas.microsoft.com/office/drawing/2014/main" id="{46215030-EC65-439A-9CBA-B4C63AB4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rPr>
              <a:t>逐建筑后悔值比较</a:t>
            </a:r>
          </a:p>
        </p:txBody>
      </p:sp>
      <p:sp>
        <p:nvSpPr>
          <p:cNvPr id="12" name="6 胜 · 2 平 · 0 负">
            <a:extLst xmlns:a="http://schemas.openxmlformats.org/drawingml/2006/main">
              <a:ext uri="{FF2B5EF4-FFF2-40B4-BE49-F238E27FC236}">
                <a16:creationId xmlns:a16="http://schemas.microsoft.com/office/drawing/2014/main" id="{5055A68B-3B0C-4CCD-99F1-C505337E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71700"/>
            <a:ext cx="3181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rPr>
              <a:t>6 胜 · 2 平 · 0 负</a:t>
            </a:r>
          </a:p>
        </p:txBody>
      </p:sp>
      <p:graphicFrame>
        <p:nvGraphicFramePr>
          <p:cNvPr id="13" name="Chart">
            <a:extLst xmlns:a="http://schemas.openxmlformats.org/drawingml/2006/main">
              <a:ext uri="{FF2B5EF4-FFF2-40B4-BE49-F238E27FC236}">
                <a16:creationId xmlns:a16="http://schemas.microsoft.com/office/drawing/2014/main" id="{13829027-B3CA-4541-AA7E-6FA822C2E7E9}"/>
              </a:ext>
            </a:extLst>
          </p:cNvPr>
          <p:cNvGraphicFramePr/>
          <p:nvPr/>
        </p:nvGraphicFramePr>
        <p:xfrm>
          <a:off xmlns:a="http://schemas.openxmlformats.org/drawingml/2006/main" x="552450" y="2905125"/>
          <a:ext xmlns:a="http://schemas.openxmlformats.org/drawingml/2006/main" cx="11087100" cy="2476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aacaea58f34b49"/>
          </a:graphicData>
        </a:graphic>
      </p:graphicFrame>
      <p:sp>
        <p:nvSpPr>
          <p:cNvPr id="14" name="柱高：归一化日均后悔值 ↓；差值 95% 自助法区间［−0.00685">
            <a:extLst xmlns:a="http://schemas.openxmlformats.org/drawingml/2006/main">
              <a:ext uri="{FF2B5EF4-FFF2-40B4-BE49-F238E27FC236}">
                <a16:creationId xmlns:a16="http://schemas.microsoft.com/office/drawing/2014/main" id="{CB9F62EB-0F1B-4C7C-82BE-40447FA0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1497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rPr>
              <a:t>柱高：归一化日均后悔值 ↓；差值 95% 自助法区间［−0.006850，−0.001719］</a:t>
            </a:r>
          </a:p>
        </p:txBody>
      </p:sp>
      <p:sp>
        <p:nvSpPr>
          <p:cNvPr id="15" name="区间不跨 0，支持本样本中后悔值降低；跨月份稳定性仍需检验">
            <a:extLst xmlns:a="http://schemas.openxmlformats.org/drawingml/2006/main">
              <a:ext uri="{FF2B5EF4-FFF2-40B4-BE49-F238E27FC236}">
                <a16:creationId xmlns:a16="http://schemas.microsoft.com/office/drawing/2014/main" id="{4024D92F-FA67-41D3-938B-7C5BE489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9597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rPr>
              <a:t>区间不跨 0，支持本样本中后悔值降低；跨月份稳定性仍需检验</a:t>
            </a:r>
          </a:p>
        </p:txBody>
      </p:sp>
    </p:spTree>
    <p:extLst>
      <p:ext uri="{BB962C8B-B14F-4D97-AF65-F5344CB8AC3E}">
        <p14:creationId xmlns:p14="http://schemas.microsoft.com/office/powerpoint/2010/main" val="17001909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7 消融实验：选权目标与逐楼适配均有增益">
            <a:extLst xmlns:a="http://schemas.openxmlformats.org/drawingml/2006/main">
              <a:ext uri="{FF2B5EF4-FFF2-40B4-BE49-F238E27FC236}">
                <a16:creationId xmlns:a16="http://schemas.microsoft.com/office/drawing/2014/main" id="{67C9449A-18D1-47A0-80B5-AC61BF75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334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rPr>
              <a:t>07 消融实验：选权目标与逐楼适配均有增益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115D5-D713-4D77-ABE0-74B3C471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3ED"/>
            </a:solidFill>
          </a:ln>
        </p:spPr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DF78E781-B8D3-4642-8BD1-9F4B2292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05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9A189-FFF4-416C-8D3B-8F4119EB8CA8}"/>
              </a:ext>
            </a:extLst>
          </p:cNvPr>
          <p:cNvGraphicFramePr/>
          <p:nvPr/>
        </p:nvGraphicFramePr>
        <p:xfrm>
          <a:off xmlns:a="http://schemas.openxmlformats.org/drawingml/2006/main" x="552450" y="1762125"/>
          <a:ext xmlns:a="http://schemas.openxmlformats.org/drawingml/2006/main" cx="11087100" cy="30003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886450"/>
                <a:gridCol w="2600325"/>
                <a:gridCol w="2600325"/>
              </a:tblGrid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T w="5715">
                      <a:solidFill>
                        <a:srgbClr val="D8E3ED"/>
                      </a:solidFill>
                      <a:prstDash val="solid"/>
                    </a:lnT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14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归一化 MAE ↓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T w="5715">
                      <a:solidFill>
                        <a:srgbClr val="D8E3ED"/>
                      </a:solidFill>
                      <a:prstDash val="solid"/>
                    </a:lnT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14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归一化后悔值 ↓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T w="5715">
                      <a:solidFill>
                        <a:srgbClr val="D8E3ED"/>
                      </a:solidFill>
                      <a:prstDash val="solid"/>
                    </a:lnT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142B4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 DayWeek（w=0）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0.1835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0.1430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 LightGBM（w=1）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0.1473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0.1161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等权融合（w=0.5）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0.1518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0.1252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逐楼按 MAE 选权重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0.1683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0.1279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全楼共用决策权重（w=0.8）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0.1435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0.1156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07FA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DOEF：逐楼按后悔值选权重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007FA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0.1380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007FA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0.1119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E8F4FA"/>
                    </a:solidFill>
                  </a:tcPr>
                </a:tc>
              </a:tr>
            </a:tbl>
          </a:graphicData>
        </a:graphic>
      </p:graphicFrame>
      <p:sp>
        <p:nvSpPr>
          <p:cNvPr id="5" name="对比逐楼 MAE 选权：后悔值降低 12.48%（5 胜 / 2 平 ">
            <a:extLst xmlns:a="http://schemas.openxmlformats.org/drawingml/2006/main">
              <a:ext uri="{FF2B5EF4-FFF2-40B4-BE49-F238E27FC236}">
                <a16:creationId xmlns:a16="http://schemas.microsoft.com/office/drawing/2014/main" id="{FB82FA64-067F-4720-9B49-138CA9EA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1108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rPr>
              <a:t>对比逐楼 MAE 选权：后悔值降低 12.48%（5 胜 / 2 平 / 1 负）</a:t>
            </a:r>
          </a:p>
        </p:txBody>
      </p:sp>
      <p:sp>
        <p:nvSpPr>
          <p:cNvPr id="6" name="对比全楼共用决策权重：逐楼选权进一步降低后悔值 3.17%">
            <a:extLst xmlns:a="http://schemas.openxmlformats.org/drawingml/2006/main">
              <a:ext uri="{FF2B5EF4-FFF2-40B4-BE49-F238E27FC236}">
                <a16:creationId xmlns:a16="http://schemas.microsoft.com/office/drawing/2014/main" id="{3205F808-6097-40B6-A289-8FC0B6F9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1108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rPr>
              <a:t>对比全楼共用决策权重：逐楼选权进一步降低后悔值 3.17%</a:t>
            </a:r>
          </a:p>
        </p:txBody>
      </p:sp>
      <p:sp>
        <p:nvSpPr>
          <p:cNvPr id="7" name="去掉 Gerardo 后仍降低 3.41%；逐一移除各楼的范围为 3.">
            <a:extLst xmlns:a="http://schemas.openxmlformats.org/drawingml/2006/main">
              <a:ext uri="{FF2B5EF4-FFF2-40B4-BE49-F238E27FC236}">
                <a16:creationId xmlns:a16="http://schemas.microsoft.com/office/drawing/2014/main" id="{4FEAF325-E822-4B2B-8653-7AEDDF8B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81675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rPr>
              <a:t>去掉 Gerardo 后仍降低 3.41%；逐一移除各楼的范围为 3.41%～14.22%</a:t>
            </a:r>
          </a:p>
          <a:p xmlns:a="http://schemas.openxmlformats.org/drawingml/2006/main">
            <a:pPr algn="l">
              <a:defRPr sz="157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rPr>
              <a:t>固定模型与权重的留一建筑汇总；收益幅度具有样本依赖性</a:t>
            </a:r>
          </a:p>
        </p:txBody>
      </p:sp>
    </p:spTree>
    <p:extLst>
      <p:ext uri="{BB962C8B-B14F-4D97-AF65-F5344CB8AC3E}">
        <p14:creationId xmlns:p14="http://schemas.microsoft.com/office/powerpoint/2010/main" val="21308439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08 局限性分析：平均改善仍有失效边界">
            <a:extLst xmlns:a="http://schemas.openxmlformats.org/drawingml/2006/main">
              <a:ext uri="{FF2B5EF4-FFF2-40B4-BE49-F238E27FC236}">
                <a16:creationId xmlns:a16="http://schemas.microsoft.com/office/drawing/2014/main" id="{4A96E752-8F61-4C0C-A5D5-EF257336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334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rPr>
              <a:t>08 局限性分析：平均改善仍有失效边界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4C5D6-4E19-480D-9B16-2843DC29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3ED"/>
            </a:solidFill>
          </a:ln>
        </p:spPr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E3032D1A-B047-4034-93A6-1122A084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05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整段削峰率：平均 6.44% · 最小 −1.02%">
            <a:extLst xmlns:a="http://schemas.openxmlformats.org/drawingml/2006/main">
              <a:ext uri="{FF2B5EF4-FFF2-40B4-BE49-F238E27FC236}">
                <a16:creationId xmlns:a16="http://schemas.microsoft.com/office/drawing/2014/main" id="{68A6FF6F-C200-4EE0-8B05-E8F9ED87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rPr>
              <a:t>整段削峰率：平均 6.44% · 最小 −1.02%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6B6B0-99F3-437A-8B08-3703357D3515}"/>
              </a:ext>
            </a:extLst>
          </p:cNvPr>
          <p:cNvGraphicFramePr/>
          <p:nvPr/>
        </p:nvGraphicFramePr>
        <p:xfrm>
          <a:off xmlns:a="http://schemas.openxmlformats.org/drawingml/2006/main" x="552450" y="2438400"/>
          <a:ext xmlns:a="http://schemas.openxmlformats.org/drawingml/2006/main" cx="7334250" cy="22383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2857500"/>
              </a:tblGrid>
              <a:tr h="4476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同一天的调度方式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T w="5715">
                      <a:solidFill>
                        <a:srgbClr val="D8E3ED"/>
                      </a:solidFill>
                      <a:prstDash val="solid"/>
                    </a:lnT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14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实际日峰值（kW）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T w="5715">
                      <a:solidFill>
                        <a:srgbClr val="D8E3ED"/>
                      </a:solidFill>
                      <a:prstDash val="solid"/>
                    </a:lnT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142B40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无储能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1446.77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MAE 选权重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1332.58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7FA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DOEF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7FA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1380.13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E8F4FA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Oracle（事后理想参照）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1309.84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6" name="这一天">
            <a:extLst xmlns:a="http://schemas.openxmlformats.org/drawingml/2006/main">
              <a:ext uri="{FF2B5EF4-FFF2-40B4-BE49-F238E27FC236}">
                <a16:creationId xmlns:a16="http://schemas.microsoft.com/office/drawing/2014/main" id="{A424D779-972E-416A-AFB8-B11DCBC5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4860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BD65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BD65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BD6517"/>
                </a:solidFill>
                <a:latin typeface="Microsoft YaHei"/>
                <a:ea typeface="Microsoft YaHei"/>
                <a:cs typeface="Microsoft YaHei"/>
              </a:rPr>
              <a:t>这一天</a:t>
            </a:r>
          </a:p>
        </p:txBody>
      </p:sp>
      <p:sp>
        <p:nvSpPr>
          <p:cNvPr id="7" name="DOEF 比 MAE 选权重&#10;高出 47.54 kW&#10;&#10;平均改善不保证">
            <a:extLst xmlns:a="http://schemas.openxmlformats.org/drawingml/2006/main">
              <a:ext uri="{FF2B5EF4-FFF2-40B4-BE49-F238E27FC236}">
                <a16:creationId xmlns:a16="http://schemas.microsoft.com/office/drawing/2014/main" id="{CEABAF20-AE2B-45A1-AFB4-ABB91907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019425"/>
            <a:ext cx="33432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rPr>
              <a:t>DOEF 比 MAE 选权重</a:t>
            </a:r>
          </a:p>
          <a:p xmlns:a="http://schemas.openxmlformats.org/drawingml/2006/main">
            <a:pPr algn="l">
              <a:defRPr sz="1800" b="0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rPr>
              <a:t>高出 47.54 kW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rPr>
              <a:t>平均改善不保证逐日最优</a:t>
            </a:r>
          </a:p>
        </p:txBody>
      </p:sp>
      <p:sp>
        <p:nvSpPr>
          <p:cNvPr id="8" name="Joey · 2017-12-14：两策略日峰差最大的测试日（事后选取">
            <a:extLst xmlns:a="http://schemas.openxmlformats.org/drawingml/2006/main">
              <a:ext uri="{FF2B5EF4-FFF2-40B4-BE49-F238E27FC236}">
                <a16:creationId xmlns:a16="http://schemas.microsoft.com/office/drawing/2014/main" id="{1D8C5433-7226-47AB-9766-25B755AE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38725"/>
            <a:ext cx="11087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rPr>
              <a:t>Joey · 2017-12-14：两策略日峰差最大的测试日（事后选取）</a:t>
            </a:r>
          </a:p>
        </p:txBody>
      </p:sp>
      <p:sp>
        <p:nvSpPr>
          <p:cNvPr id="9" name="适用范围：固定 8 栋建筑、一个测试月与既定电池配置">
            <a:extLst xmlns:a="http://schemas.openxmlformats.org/drawingml/2006/main">
              <a:ext uri="{FF2B5EF4-FFF2-40B4-BE49-F238E27FC236}">
                <a16:creationId xmlns:a16="http://schemas.microsoft.com/office/drawing/2014/main" id="{C9FF17FE-E95E-4548-A0F7-774A0CDB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00700"/>
            <a:ext cx="1108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rPr>
              <a:t>适用范围：固定 8 栋建筑、一个测试月与既定电池配置</a:t>
            </a:r>
          </a:p>
        </p:txBody>
      </p:sp>
      <p:sp>
        <p:nvSpPr>
          <p:cNvPr id="10" name="削峰率 =（无储能整段峰值 − 调度后整段峰值）/ 无储能整段峰值 ×">
            <a:extLst xmlns:a="http://schemas.openxmlformats.org/drawingml/2006/main">
              <a:ext uri="{FF2B5EF4-FFF2-40B4-BE49-F238E27FC236}">
                <a16:creationId xmlns:a16="http://schemas.microsoft.com/office/drawing/2014/main" id="{3C2A1227-AE84-4A3D-B8F0-1E520237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rPr>
              <a:t>削峰率 =（无储能整段峰值 − 调度后整段峰值）/ 无储能整段峰值 × 100%</a:t>
            </a:r>
          </a:p>
        </p:txBody>
      </p:sp>
    </p:spTree>
    <p:extLst>
      <p:ext uri="{BB962C8B-B14F-4D97-AF65-F5344CB8AC3E}">
        <p14:creationId xmlns:p14="http://schemas.microsoft.com/office/powerpoint/2010/main" val="13752295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9 系统展示：离线仿真回放与结果比较">
            <a:extLst xmlns:a="http://schemas.openxmlformats.org/drawingml/2006/main">
              <a:ext uri="{FF2B5EF4-FFF2-40B4-BE49-F238E27FC236}">
                <a16:creationId xmlns:a16="http://schemas.microsoft.com/office/drawing/2014/main" id="{AA64DD93-E4CA-4035-B9C3-D357779D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334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rPr>
              <a:t>09 系统展示：离线仿真回放与结果比较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38242-4A90-4AD6-8F9B-5A7EA9FA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3ED"/>
            </a:solidFill>
          </a:ln>
        </p:spPr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8FF647C9-D20A-4288-8C21-153072E7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05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10F2A-6864-4E2F-B442-1D997F7765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68e5101f54466"/>
          <a:srcRect xmlns:a="http://schemas.openxmlformats.org/drawingml/2006/main" l="2000" t="28000" r="2000" b="20000"/>
          <a:stretch xmlns:a="http://schemas.openxmlformats.org/drawingml/2006/main"/>
        </p:blipFill>
        <p:spPr>
          <a:xfrm xmlns:a="http://schemas.openxmlformats.org/drawingml/2006/main">
            <a:off x="552450" y="1952625"/>
            <a:ext cx="8134350" cy="3476625"/>
          </a:xfrm>
          <a:prstGeom xmlns:a="http://schemas.openxmlformats.org/drawingml/2006/main" prst="rect">
            <a:avLst/>
          </a:prstGeom>
        </p:spPr>
      </p:pic>
      <p:sp>
        <p:nvSpPr>
          <p:cNvPr id="5" name="已实现">
            <a:extLst xmlns:a="http://schemas.openxmlformats.org/drawingml/2006/main">
              <a:ext uri="{FF2B5EF4-FFF2-40B4-BE49-F238E27FC236}">
                <a16:creationId xmlns:a16="http://schemas.microsoft.com/office/drawing/2014/main" id="{F3FB21FC-D436-4CEB-A373-B32EC2E0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19275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6" name="八建筑自动巡演&#10;&#10;电池配置与结果核对&#10;&#10;多方法削峰比较&#10;&#10;本地或便携 ">
            <a:extLst xmlns:a="http://schemas.openxmlformats.org/drawingml/2006/main">
              <a:ext uri="{FF2B5EF4-FFF2-40B4-BE49-F238E27FC236}">
                <a16:creationId xmlns:a16="http://schemas.microsoft.com/office/drawing/2014/main" id="{41430EBF-FF7E-41CF-A869-F66806E5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24125"/>
            <a:ext cx="2524125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rPr>
              <a:t>八建筑自动巡演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rPr>
              <a:t>电池配置与结果核对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rPr>
              <a:t>多方法削峰比较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rPr>
              <a:t>本地或便携 HTML 回放</a:t>
            </a:r>
          </a:p>
        </p:txBody>
      </p:sp>
      <p:sp>
        <p:nvSpPr>
          <p:cNvPr id="7" name="系统定位：离线仿真验证工具，用于多建筑调度结果回放与核对">
            <a:extLst xmlns:a="http://schemas.openxmlformats.org/drawingml/2006/main">
              <a:ext uri="{FF2B5EF4-FFF2-40B4-BE49-F238E27FC236}">
                <a16:creationId xmlns:a16="http://schemas.microsoft.com/office/drawing/2014/main" id="{29B35A50-E6D0-4995-B155-F7D13670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00725"/>
            <a:ext cx="11087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rPr>
              <a:t>系统定位：离线仿真验证工具，用于多建筑调度结果回放与核对</a:t>
            </a:r>
          </a:p>
        </p:txBody>
      </p:sp>
    </p:spTree>
    <p:extLst>
      <p:ext uri="{BB962C8B-B14F-4D97-AF65-F5344CB8AC3E}">
        <p14:creationId xmlns:p14="http://schemas.microsoft.com/office/powerpoint/2010/main" val="8123925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10 应用价值：辅助比较建筑储能削峰方案">
            <a:extLst xmlns:a="http://schemas.openxmlformats.org/drawingml/2006/main">
              <a:ext uri="{FF2B5EF4-FFF2-40B4-BE49-F238E27FC236}">
                <a16:creationId xmlns:a16="http://schemas.microsoft.com/office/drawing/2014/main" id="{E5FFAB40-FA60-4D3C-916A-B30361B0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334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rPr>
              <a:t>10 应用价值：辅助比较建筑储能削峰方案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DE7C4-8093-46E4-9A47-59880395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3ED"/>
            </a:solidFill>
          </a:ln>
        </p:spPr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B29F154E-86B9-4A7F-A3AD-718F2101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05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已完成：从预测组合、约束调度到结果展示的离线验证流程">
            <a:extLst xmlns:a="http://schemas.openxmlformats.org/drawingml/2006/main">
              <a:ext uri="{FF2B5EF4-FFF2-40B4-BE49-F238E27FC236}">
                <a16:creationId xmlns:a16="http://schemas.microsoft.com/office/drawing/2014/main" id="{F7F89FE6-A220-4288-83FB-0CA31D74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FAB"/>
                </a:solidFill>
                <a:latin typeface="Microsoft YaHei"/>
                <a:ea typeface="Microsoft YaHei"/>
                <a:cs typeface="Microsoft YaHei"/>
              </a:rPr>
              <a:t>已完成：从预测组合、约束调度到结果展示的离线验证流程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34667-FBDB-46FE-96BF-A531C075BFDF}"/>
              </a:ext>
            </a:extLst>
          </p:cNvPr>
          <p:cNvGraphicFramePr/>
          <p:nvPr/>
        </p:nvGraphicFramePr>
        <p:xfrm>
          <a:off xmlns:a="http://schemas.openxmlformats.org/drawingml/2006/main" x="552450" y="2619375"/>
          <a:ext xmlns:a="http://schemas.openxmlformats.org/drawingml/2006/main" cx="11087100" cy="2514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848600"/>
              </a:tblGrid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可支持的工作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T w="5715">
                      <a:solidFill>
                        <a:srgbClr val="D8E3ED"/>
                      </a:solidFill>
                      <a:prstDash val="solid"/>
                    </a:lnT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14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已有成果提供的依据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T w="5715">
                      <a:solidFill>
                        <a:srgbClr val="D8E3ED"/>
                      </a:solidFill>
                      <a:prstDash val="solid"/>
                    </a:lnT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142B4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预测方法比较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统一数据切分与电池约束，同时比较误差和调度效果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逐建筑方案评估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展示各楼融合权重、后悔值与削峰率，保留失效案例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实验复核与演示</a:t>
                      </a:r>
                    </a:p>
                  </a:txBody>
                  <a:tcPr marL="133350" marR="133350" marT="66675" marB="66675" anchor="ctr">
                    <a:lnL w="5715">
                      <a:solidFill>
                        <a:srgbClr val="D8E3ED"/>
                      </a:solidFill>
                      <a:prstDash val="solid"/>
                    </a:lnL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42B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保存预测及调度输出，通过 GUI 核对配置与结果</a:t>
                      </a:r>
                    </a:p>
                  </a:txBody>
                  <a:tcPr marL="133350" marR="133350" marT="66675" marB="66675" anchor="ctr">
                    <a:lnR w="5715">
                      <a:solidFill>
                        <a:srgbClr val="D8E3ED"/>
                      </a:solidFill>
                      <a:prstDash val="solid"/>
                    </a:lnR>
                    <a:lnB w="5715">
                      <a:solidFill>
                        <a:srgbClr val="D8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应用价值：让预测方法的选择有削峰结果可依据、有实验过程可核对">
            <a:extLst xmlns:a="http://schemas.openxmlformats.org/drawingml/2006/main">
              <a:ext uri="{FF2B5EF4-FFF2-40B4-BE49-F238E27FC236}">
                <a16:creationId xmlns:a16="http://schemas.microsoft.com/office/drawing/2014/main" id="{2BAD61DA-0765-4B33-9C3E-5103ED0B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2B40"/>
                </a:solidFill>
                <a:latin typeface="Microsoft YaHei"/>
                <a:ea typeface="Microsoft YaHei"/>
                <a:cs typeface="Microsoft YaHei"/>
              </a:rPr>
              <a:t>应用价值：让预测方法的选择有削峰结果可依据、有实验过程可核对</a:t>
            </a:r>
          </a:p>
        </p:txBody>
      </p:sp>
      <p:sp>
        <p:nvSpPr>
          <p:cNvPr id="7" name="结果口径：建筑储能离线仿真，不直接换算为现场电费、能耗或碳减排收益">
            <a:extLst xmlns:a="http://schemas.openxmlformats.org/drawingml/2006/main">
              <a:ext uri="{FF2B5EF4-FFF2-40B4-BE49-F238E27FC236}">
                <a16:creationId xmlns:a16="http://schemas.microsoft.com/office/drawing/2014/main" id="{E30E0B0D-D721-4BDC-99F2-954EBF85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D80"/>
                </a:solidFill>
                <a:latin typeface="Microsoft YaHei"/>
                <a:ea typeface="Microsoft YaHei"/>
                <a:cs typeface="Microsoft YaHei"/>
              </a:rPr>
              <a:t>结果口径：建筑储能离线仿真，不直接换算为现场电费、能耗或碳减排收益</a:t>
            </a:r>
          </a:p>
        </p:txBody>
      </p:sp>
    </p:spTree>
    <p:extLst>
      <p:ext uri="{BB962C8B-B14F-4D97-AF65-F5344CB8AC3E}">
        <p14:creationId xmlns:p14="http://schemas.microsoft.com/office/powerpoint/2010/main" val="39551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11 总结与展望：方法、结果与适用边界">
            <a:extLst xmlns:a="http://schemas.openxmlformats.org/drawingml/2006/main">
              <a:ext uri="{FF2B5EF4-FFF2-40B4-BE49-F238E27FC236}">
                <a16:creationId xmlns:a16="http://schemas.microsoft.com/office/drawing/2014/main" id="{C86F2393-F57B-4BF6-8AE1-1EF9783E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334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 总结与展望：方法、结果与适用边界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E8564-7B7B-4F48-988C-4F30F5B2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54"/>
            </a:solidFill>
          </a:ln>
        </p:spPr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8B3AE987-6DFA-4234-A419-0F4286A4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05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9AAF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9AAF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AAFC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核心方法">
            <a:extLst xmlns:a="http://schemas.openxmlformats.org/drawingml/2006/main">
              <a:ext uri="{FF2B5EF4-FFF2-40B4-BE49-F238E27FC236}">
                <a16:creationId xmlns:a16="http://schemas.microsoft.com/office/drawing/2014/main" id="{308E8F36-0D42-46B4-B02F-85024873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81175"/>
            <a:ext cx="171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BDE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8BD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BDEA"/>
                </a:solidFill>
                <a:latin typeface="Microsoft YaHei"/>
                <a:ea typeface="Microsoft YaHei"/>
                <a:cs typeface="Microsoft YaHei"/>
              </a:rPr>
              <a:t>核心方法</a:t>
            </a:r>
          </a:p>
        </p:txBody>
      </p:sp>
      <p:sp>
        <p:nvSpPr>
          <p:cNvPr id="5" name="用验证集调度后悔值，逐楼选择&#10;LightGBM 与 DayWeek 的">
            <a:extLst xmlns:a="http://schemas.openxmlformats.org/drawingml/2006/main">
              <a:ext uri="{FF2B5EF4-FFF2-40B4-BE49-F238E27FC236}">
                <a16:creationId xmlns:a16="http://schemas.microsoft.com/office/drawing/2014/main" id="{7DC2F3ED-585A-47DF-B5D3-DB02BC45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704975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用验证集调度后悔值，逐楼选择</a:t>
            </a:r>
          </a:p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LightGBM 与 DayWeek 的融合权重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4266BE-26D7-4C7A-BE97-3AF1331D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54"/>
            </a:solidFill>
          </a:ln>
        </p:spPr>
      </p:sp>
      <p:sp>
        <p:nvSpPr>
          <p:cNvPr id="7" name="核心结果">
            <a:extLst xmlns:a="http://schemas.openxmlformats.org/drawingml/2006/main">
              <a:ext uri="{FF2B5EF4-FFF2-40B4-BE49-F238E27FC236}">
                <a16:creationId xmlns:a16="http://schemas.microsoft.com/office/drawing/2014/main" id="{E55A0752-EE88-4BFE-AD7B-1AE66E42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171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BDE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8BD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BDEA"/>
                </a:solidFill>
                <a:latin typeface="Microsoft YaHei"/>
                <a:ea typeface="Microsoft YaHei"/>
                <a:cs typeface="Microsoft YaHei"/>
              </a:rPr>
              <a:t>核心结果</a:t>
            </a:r>
          </a:p>
        </p:txBody>
      </p:sp>
      <p:sp>
        <p:nvSpPr>
          <p:cNvPr id="8" name="相对 LightGBM：归一化 MAE −6.36%，后悔值 −3.6">
            <a:extLst xmlns:a="http://schemas.openxmlformats.org/drawingml/2006/main">
              <a:ext uri="{FF2B5EF4-FFF2-40B4-BE49-F238E27FC236}">
                <a16:creationId xmlns:a16="http://schemas.microsoft.com/office/drawing/2014/main" id="{DBCFF787-3C23-4350-97B8-FBB0A20C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752725"/>
            <a:ext cx="9048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相对 LightGBM：归一化 MAE −6.36%，后悔值 −3.61%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 胜 2 平；差值区间不跨 0；仿真平均削峰 6.44%，存在失效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6D960-B0A6-477C-9E1B-4421D04C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242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54"/>
            </a:solidFill>
          </a:ln>
        </p:spPr>
      </p:sp>
      <p:sp>
        <p:nvSpPr>
          <p:cNvPr id="10" name="适用边界">
            <a:extLst xmlns:a="http://schemas.openxmlformats.org/drawingml/2006/main">
              <a:ext uri="{FF2B5EF4-FFF2-40B4-BE49-F238E27FC236}">
                <a16:creationId xmlns:a16="http://schemas.microsoft.com/office/drawing/2014/main" id="{D7F9A3F7-45B3-46F0-AA90-736D7DE0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71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BDE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8BD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BDEA"/>
                </a:solidFill>
                <a:latin typeface="Microsoft YaHei"/>
                <a:ea typeface="Microsoft YaHei"/>
                <a:cs typeface="Microsoft YaHei"/>
              </a:rPr>
              <a:t>适用边界</a:t>
            </a:r>
          </a:p>
        </p:txBody>
      </p:sp>
      <p:sp>
        <p:nvSpPr>
          <p:cNvPr id="11" name="BDG2 固定 8 栋办公楼 · 测试月 2017-12&#10;电池容量为训">
            <a:extLst xmlns:a="http://schemas.openxmlformats.org/drawingml/2006/main">
              <a:ext uri="{FF2B5EF4-FFF2-40B4-BE49-F238E27FC236}">
                <a16:creationId xmlns:a16="http://schemas.microsoft.com/office/drawing/2014/main" id="{E596B263-95E6-4624-A564-B0F7D862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876675"/>
            <a:ext cx="9048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BDG2 固定 8 栋办公楼 · 测试月 2017-12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电池容量为训练期平均日用电量的 10%，往返效率 90%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88C48D-A139-44E1-B09A-39E27834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054"/>
            </a:solidFill>
          </a:ln>
        </p:spPr>
      </p:sp>
      <p:sp>
        <p:nvSpPr>
          <p:cNvPr id="13" name="后续验证">
            <a:extLst xmlns:a="http://schemas.openxmlformats.org/drawingml/2006/main">
              <a:ext uri="{FF2B5EF4-FFF2-40B4-BE49-F238E27FC236}">
                <a16:creationId xmlns:a16="http://schemas.microsoft.com/office/drawing/2014/main" id="{01B8E6A7-47DC-454D-9BD5-AE05BF91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171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BDE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8BD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BDEA"/>
                </a:solidFill>
                <a:latin typeface="Microsoft YaHei"/>
                <a:ea typeface="Microsoft YaHei"/>
                <a:cs typeface="Microsoft YaHei"/>
              </a:rPr>
              <a:t>后续验证</a:t>
            </a:r>
          </a:p>
        </p:txBody>
      </p:sp>
      <p:sp>
        <p:nvSpPr>
          <p:cNvPr id="14" name="跨月份验证：检查不同月份的效果稳定性&#10;电池参数敏感性：比较不同容量与功">
            <a:extLst xmlns:a="http://schemas.openxmlformats.org/drawingml/2006/main">
              <a:ext uri="{FF2B5EF4-FFF2-40B4-BE49-F238E27FC236}">
                <a16:creationId xmlns:a16="http://schemas.microsoft.com/office/drawing/2014/main" id="{809EC3FF-22A4-428E-B2E6-F70254CD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962525"/>
            <a:ext cx="904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跨月份验证：检查不同月份的效果稳定性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电池参数敏感性：比较不同容量与功率设置</a:t>
            </a:r>
          </a:p>
        </p:txBody>
      </p:sp>
    </p:spTree>
    <p:extLst>
      <p:ext uri="{BB962C8B-B14F-4D97-AF65-F5344CB8AC3E}">
        <p14:creationId xmlns:p14="http://schemas.microsoft.com/office/powerpoint/2010/main" val="98011342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2026-10-13T01:03:16.2290000Z</dcterms:created>
  <dcterms:modified xsi:type="dcterms:W3CDTF">2026-10-13T01:03:16.2290000Z</dcterms:modified>
</coreProperties>
</file>